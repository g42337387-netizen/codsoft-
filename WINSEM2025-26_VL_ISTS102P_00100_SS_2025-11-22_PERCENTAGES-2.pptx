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embedTrueTypeFonts="1">
  <p:sldMasterIdLst>
    <p:sldMasterId id="2147483648" r:id="rId1"/>
  </p:sldMasterIdLst>
  <p:notesMasterIdLst>
    <p:notesMasterId r:id="rId22"/>
  </p:notesMasterIdLst>
  <p:sldIdLst>
    <p:sldId id="272" r:id="rId2"/>
    <p:sldId id="271" r:id="rId3"/>
    <p:sldId id="258" r:id="rId4"/>
    <p:sldId id="306" r:id="rId5"/>
    <p:sldId id="327" r:id="rId6"/>
    <p:sldId id="328" r:id="rId7"/>
    <p:sldId id="331" r:id="rId8"/>
    <p:sldId id="330" r:id="rId9"/>
    <p:sldId id="336" r:id="rId10"/>
    <p:sldId id="332" r:id="rId11"/>
    <p:sldId id="329" r:id="rId12"/>
    <p:sldId id="334" r:id="rId13"/>
    <p:sldId id="337" r:id="rId14"/>
    <p:sldId id="338" r:id="rId15"/>
    <p:sldId id="341" r:id="rId16"/>
    <p:sldId id="339" r:id="rId17"/>
    <p:sldId id="335" r:id="rId18"/>
    <p:sldId id="333" r:id="rId19"/>
    <p:sldId id="340" r:id="rId20"/>
    <p:sldId id="289" r:id="rId21"/>
  </p:sldIdLst>
  <p:sldSz cx="12192000" cy="6858000"/>
  <p:notesSz cx="6858000" cy="9144000"/>
  <p:embeddedFontLst>
    <p:embeddedFont>
      <p:font typeface="Nunito Sans" pitchFamily="2" charset="0"/>
      <p:regular r:id="rId23"/>
      <p:bold r:id="rId24"/>
      <p:italic r:id="rId25"/>
      <p:boldItalic r:id="rId26"/>
    </p:embeddedFont>
    <p:embeddedFont>
      <p:font typeface="Nunito Sans SemiBold" pitchFamily="2" charset="0"/>
      <p:bold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05136"/>
    <a:srgbClr val="303030"/>
    <a:srgbClr val="4A4A4A"/>
    <a:srgbClr val="3D3D3D"/>
    <a:srgbClr val="212121"/>
    <a:srgbClr val="000000"/>
    <a:srgbClr val="131313"/>
    <a:srgbClr val="F69180"/>
    <a:srgbClr val="FBD0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94" autoAdjust="0"/>
    <p:restoredTop sz="75948" autoAdjust="0"/>
  </p:normalViewPr>
  <p:slideViewPr>
    <p:cSldViewPr>
      <p:cViewPr varScale="1">
        <p:scale>
          <a:sx n="62" d="100"/>
          <a:sy n="62" d="100"/>
        </p:scale>
        <p:origin x="1243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66" d="100"/>
          <a:sy n="66" d="100"/>
        </p:scale>
        <p:origin x="1733" y="-4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99A3E1-D0AF-40CA-9CA4-BE00645EFE64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AB6876-1BF1-4B88-890A-0B4E46201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491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94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Nunito Sans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448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284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2390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B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Formula for Percentage (increase/decrease)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=(Difference/base value) *100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(4−2)/2 *100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100%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4869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Formula for percentage (increase/decrease) = (difference/base value) *100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{(20−10)/20} *100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50%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8727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D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Formula for % (increase/decrease) = (difference/base value) *100 = {(20−10)/10} *100 = 100%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4104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C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Formula for Successive increase = (a+ b+ (ab/100))</a:t>
            </a:r>
            <a:br>
              <a:rPr lang="en-US" dirty="0"/>
            </a:b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(successive % increase) = 10+20+(10*20/100) = 32%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8106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D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Assume, initial price = Rs.100Given that 20% is increased, 20% of 100 = Rs.20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 price = 100 + 20 = Rs.120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20% is decreased, 20% of 120 = Rs.24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Therefore, New price = Rs.120-24 = Rs.96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Difference between initial price and new price = Rs.100-94 =Rs.4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percentage = (4/100) x 100 = 4%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Hence, the new price is 4% less than the original price.</a:t>
            </a: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5637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 us take the initial fraction as x/y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Question says that numerator increases by 40% and denominator decreases by 30%.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can express this as, [100x+40x /100 ]/ [100y−30y/ 100 ] = 1.4x /0.7y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given that this new value = 1/2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1.4x/0.7y = 1/2 2x/y = 1 /2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 /y = 1 /4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i.e. The initial fraction is 1/4</a:t>
            </a: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738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</a:t>
            </a:r>
            <a:r>
              <a:rPr 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Assume price of sugar =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100 , increased by 20 % =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120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Assume amount spent =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100 , increased 8% =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108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Decreased sugar consumption = (12 / 120)*100 = 10 % </a:t>
            </a:r>
          </a:p>
          <a:p>
            <a:endParaRPr lang="en-US" sz="1200" b="1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4277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</a:t>
            </a:r>
            <a:r>
              <a:rPr 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Initially rate was Rs.8 /kg. Now, the rate is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10/kg. The increase was Rs.10 - Rs.8 =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2/kg. So there is a 2/8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= 1/4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[1/n] increase,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Hence, the decrease should be 1/5 [1/n+1] = 20%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6201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</a:t>
            </a:r>
            <a:r>
              <a:rPr 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 the fraction be n/d. Now, after 20% increase, numerator will be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(n + 20% of n) = 1.2n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10% decrease, denominator will be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 - 10% of d) = 0.9d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Given that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1.2n / 0.9d = 16 /21=&gt; 4n/ 3d  = 16/21</a:t>
            </a:r>
            <a:br>
              <a:rPr lang="en-US" dirty="0"/>
            </a:b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Thus, original fraction = 4/7.</a:t>
            </a:r>
            <a:endParaRPr lang="en-US" sz="1200" b="1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4545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</a:t>
            </a:r>
            <a:r>
              <a:rPr 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there are successive increase or decrease of p%, q% and %r to a valve, the effective multiplication factor is given by: {(100±p/100)(100±q/100)(100±r/100)}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1000(0.8)(0.75)</a:t>
            </a:r>
            <a:br>
              <a:rPr lang="en-US" dirty="0"/>
            </a:b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br>
              <a:rPr lang="en-US" dirty="0"/>
            </a:b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Initial area = 1000 m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Area after 20% decrease = 1000 x (1 - 0.2) = 1000 x 0.8 = 800 m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Now, area after 25% decrease = 800 x (1 - 0.25) = 800 x 0.75 = 600 m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endParaRPr lang="en-US" sz="1200" b="1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101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</a:t>
            </a:r>
            <a:r>
              <a:rPr 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1.15A − 0.8B = 38 -----------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Also,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Given that: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+ B = 50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0.8A + 0.8B = 0.8 × 50 = 40 ---------- (ii)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adding both the equations we get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1.95A = 78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=&gt; A = 40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B =10</a:t>
            </a:r>
            <a:endParaRPr lang="en-US" sz="1200" b="1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7424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</a:t>
            </a:r>
            <a:r>
              <a:rPr 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Initial salary =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10000.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Salary at the end of the first year =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(10000 + 20% of 10000) =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12000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Salary at the end of the second year =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(12000 - 20% of 12000) =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9600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Thus, salary at the end of the second year is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9600.</a:t>
            </a:r>
            <a:endParaRPr lang="en-US" sz="1200" b="1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1688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</a:t>
            </a:r>
            <a:r>
              <a:rPr 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 the price and expenditure be 100% initially,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now, price has increased by 20%      = 100+20 = 120%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       increase in expenditure is 12% = 100+12 = 112%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                                    % decrease  = [(120-112)/120]*100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                                                         = 6.67% </a:t>
            </a:r>
            <a:endParaRPr lang="en-US" sz="1200" b="1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1706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C</a:t>
            </a: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(Quantity X Rate) = Price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initial =&gt; 1 x 1 = 1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 =&gt; 0.7 x 1.25 = 0.875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Decrease in price = (0.125/1) × 100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12.5%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1708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</a:t>
            </a:r>
            <a:r>
              <a:rPr 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 the initial base be b, height be h and area be a and increase in height be x per cent. We know that area of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triangle is a=1/2 x b x h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Now, according to the question,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(1/2) x (1.4 b) x {(100+x)h/100} = 1.6a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=&gt; (1/2) x (1.4 b) x {(100+x)h/100} = 1.6 x 1/2 x b x h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=&gt; (100 + x) = 1.6/1.4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=&gt; x 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14.28 </a:t>
            </a:r>
            <a:endParaRPr lang="en-US" sz="1200" b="1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2043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33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C296F98-1F06-5861-8A86-97BF0C6542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578" y="3105000"/>
            <a:ext cx="5110844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884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Here is where the title goes. Sometimes it could be two lines too"/>
          <p:cNvSpPr txBox="1"/>
          <p:nvPr/>
        </p:nvSpPr>
        <p:spPr>
          <a:xfrm>
            <a:off x="2228195" y="1789871"/>
            <a:ext cx="8458198" cy="746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6789" tIns="26789" rIns="26789" bIns="26789">
            <a:spAutoFit/>
          </a:bodyPr>
          <a:lstStyle>
            <a:lvl1pPr>
              <a:defRPr sz="9600">
                <a:solidFill>
                  <a:srgbClr val="000000"/>
                </a:solidFill>
              </a:defRPr>
            </a:lvl1pPr>
          </a:lstStyle>
          <a:p>
            <a:r>
              <a:rPr lang="en-US" sz="4500" b="1" dirty="0">
                <a:solidFill>
                  <a:schemeClr val="bg1"/>
                </a:solidFill>
                <a:latin typeface="Nunito Sans" panose="00000500000000000000" pitchFamily="2" charset="0"/>
              </a:rPr>
              <a:t>Topic/Course</a:t>
            </a:r>
            <a:endParaRPr sz="45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sp>
        <p:nvSpPr>
          <p:cNvPr id="12" name="Here is where the title goes. Sometimes it could be two lines too">
            <a:extLst>
              <a:ext uri="{FF2B5EF4-FFF2-40B4-BE49-F238E27FC236}">
                <a16:creationId xmlns:a16="http://schemas.microsoft.com/office/drawing/2014/main" id="{B5763151-1884-4565-B779-CF2D697C82C8}"/>
              </a:ext>
            </a:extLst>
          </p:cNvPr>
          <p:cNvSpPr txBox="1"/>
          <p:nvPr/>
        </p:nvSpPr>
        <p:spPr>
          <a:xfrm>
            <a:off x="2228196" y="2514600"/>
            <a:ext cx="6745013" cy="284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6789" tIns="26789" rIns="26789" bIns="26789">
            <a:spAutoFit/>
          </a:bodyPr>
          <a:lstStyle>
            <a:lvl1pPr>
              <a:defRPr sz="9600">
                <a:solidFill>
                  <a:srgbClr val="000000"/>
                </a:solidFill>
              </a:defRPr>
            </a:lvl1pPr>
          </a:lstStyle>
          <a:p>
            <a:r>
              <a:rPr lang="en-US" sz="1500" b="1" dirty="0">
                <a:solidFill>
                  <a:schemeClr val="bg1"/>
                </a:solidFill>
                <a:latin typeface="Nunito Sans" panose="00000500000000000000" pitchFamily="2" charset="0"/>
              </a:rPr>
              <a:t>Sub-Topic (Example: name of college)</a:t>
            </a:r>
            <a:endParaRPr sz="15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4BA18A-B0F2-4D62-9B28-7B486D4C70CF}"/>
              </a:ext>
            </a:extLst>
          </p:cNvPr>
          <p:cNvSpPr txBox="1"/>
          <p:nvPr/>
        </p:nvSpPr>
        <p:spPr>
          <a:xfrm>
            <a:off x="1015554" y="1740939"/>
            <a:ext cx="101608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Nunito Sans SemiBold" panose="00000700000000000000" pitchFamily="2" charset="0"/>
              </a:rPr>
              <a:t>VIT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037F44-B579-465E-912D-7578628D7D24}"/>
              </a:ext>
            </a:extLst>
          </p:cNvPr>
          <p:cNvSpPr/>
          <p:nvPr/>
        </p:nvSpPr>
        <p:spPr>
          <a:xfrm>
            <a:off x="1110149" y="1640233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3E87E8-CF0B-EFB2-CC4C-9575AA3966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5867400"/>
            <a:ext cx="4876800" cy="618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544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51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re is where the title goes. Sometimes it could be two lines too">
            <a:extLst>
              <a:ext uri="{FF2B5EF4-FFF2-40B4-BE49-F238E27FC236}">
                <a16:creationId xmlns:a16="http://schemas.microsoft.com/office/drawing/2014/main" id="{456C9966-3D51-4F1F-BF70-A36692846596}"/>
              </a:ext>
            </a:extLst>
          </p:cNvPr>
          <p:cNvSpPr txBox="1"/>
          <p:nvPr/>
        </p:nvSpPr>
        <p:spPr>
          <a:xfrm>
            <a:off x="0" y="2743200"/>
            <a:ext cx="12192000" cy="885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6789" tIns="26789" rIns="26789" bIns="26789">
            <a:spAutoFit/>
          </a:bodyPr>
          <a:lstStyle>
            <a:lvl1pPr>
              <a:defRPr sz="9600">
                <a:solidFill>
                  <a:srgbClr val="000000"/>
                </a:solidFill>
              </a:defRPr>
            </a:lvl1pPr>
          </a:lstStyle>
          <a:p>
            <a:pPr algn="ctr"/>
            <a:r>
              <a:rPr lang="en-US" sz="5400" b="1" dirty="0">
                <a:solidFill>
                  <a:schemeClr val="bg1"/>
                </a:solidFill>
                <a:latin typeface="Nunito Sans" panose="00000500000000000000" pitchFamily="2" charset="0"/>
              </a:rPr>
              <a:t>Percentage - Increase / Decrease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1B153C-B272-233F-5C8E-D003103AB1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5638800"/>
            <a:ext cx="4876800" cy="618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581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bg1"/>
                </a:solidFill>
                <a:latin typeface="Nunito Sans" panose="00000500000000000000" pitchFamily="2" charset="0"/>
              </a:rPr>
              <a:t>Percentage - Increase / Decrease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69481" y="6400800"/>
            <a:ext cx="45719" cy="381000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685800" y="1103530"/>
            <a:ext cx="8077200" cy="4611469"/>
            <a:chOff x="975907" y="-76200"/>
            <a:chExt cx="7300912" cy="4391033"/>
          </a:xfrm>
        </p:grpSpPr>
        <p:grpSp>
          <p:nvGrpSpPr>
            <p:cNvPr id="4" name="Group 3"/>
            <p:cNvGrpSpPr/>
            <p:nvPr/>
          </p:nvGrpSpPr>
          <p:grpSpPr>
            <a:xfrm>
              <a:off x="975907" y="-76200"/>
              <a:ext cx="7300912" cy="4391033"/>
              <a:chOff x="685800" y="1295816"/>
              <a:chExt cx="7300912" cy="4391033"/>
            </a:xfrm>
          </p:grpSpPr>
          <p:pic>
            <p:nvPicPr>
              <p:cNvPr id="2" name="Picture 1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5800" y="1295816"/>
                <a:ext cx="7300912" cy="4391033"/>
              </a:xfrm>
              <a:prstGeom prst="rect">
                <a:avLst/>
              </a:prstGeom>
            </p:spPr>
          </p:pic>
          <p:sp>
            <p:nvSpPr>
              <p:cNvPr id="3" name="TextBox 2"/>
              <p:cNvSpPr txBox="1"/>
              <p:nvPr/>
            </p:nvSpPr>
            <p:spPr>
              <a:xfrm>
                <a:off x="6553200" y="5105400"/>
                <a:ext cx="1219200" cy="457200"/>
              </a:xfrm>
              <a:prstGeom prst="rect">
                <a:avLst/>
              </a:prstGeom>
              <a:solidFill>
                <a:srgbClr val="F2F2F2"/>
              </a:solidFill>
            </p:spPr>
            <p:txBody>
              <a:bodyPr wrap="square" rtlCol="0">
                <a:spAutoFit/>
              </a:bodyPr>
              <a:lstStyle/>
              <a:p>
                <a:endParaRPr lang="en-US" dirty="0"/>
              </a:p>
            </p:txBody>
          </p:sp>
        </p:grpSp>
        <p:sp>
          <p:nvSpPr>
            <p:cNvPr id="8" name="TextBox 7"/>
            <p:cNvSpPr txBox="1"/>
            <p:nvPr/>
          </p:nvSpPr>
          <p:spPr>
            <a:xfrm>
              <a:off x="6858000" y="3962400"/>
              <a:ext cx="152400" cy="253916"/>
            </a:xfrm>
            <a:prstGeom prst="rect">
              <a:avLst/>
            </a:prstGeom>
            <a:solidFill>
              <a:srgbClr val="F2F2F2"/>
            </a:solidFill>
          </p:spPr>
          <p:txBody>
            <a:bodyPr wrap="square" rtlCol="0">
              <a:spAutoFit/>
            </a:bodyPr>
            <a:lstStyle/>
            <a:p>
              <a:endParaRPr lang="en-US" sz="1050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1C77F46-C832-836A-D1E3-0302DBE6F76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61722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33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The price of a pencil is increased from </a:t>
            </a:r>
            <a:r>
              <a:rPr lang="en-US" sz="2500" dirty="0" err="1">
                <a:latin typeface="Nunito Sans" panose="00000500000000000000" pitchFamily="2" charset="0"/>
              </a:rPr>
              <a:t>Rs</a:t>
            </a:r>
            <a:r>
              <a:rPr lang="en-US" sz="2500" dirty="0">
                <a:latin typeface="Nunito Sans" panose="00000500000000000000" pitchFamily="2" charset="0"/>
              </a:rPr>
              <a:t>. 2 to </a:t>
            </a:r>
            <a:r>
              <a:rPr lang="en-US" sz="2500" dirty="0" err="1">
                <a:latin typeface="Nunito Sans" panose="00000500000000000000" pitchFamily="2" charset="0"/>
              </a:rPr>
              <a:t>Rs</a:t>
            </a:r>
            <a:r>
              <a:rPr lang="en-US" sz="2500" dirty="0">
                <a:latin typeface="Nunito Sans" panose="00000500000000000000" pitchFamily="2" charset="0"/>
              </a:rPr>
              <a:t>. 4. What is the percentage increase?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50%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100%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40%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30%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C0D3800-CFBD-F0BB-CC3A-021BE7FB66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61722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502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The number of pens in a box decreased from 20 to 10. What is the percentage decrease in the number of pens?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50%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100%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20%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200%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2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E790FA-AB40-FD10-09C9-291AFA8710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61722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777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If rate of interest changes from 10% to 20% then what is the percentage change?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10%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50%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75%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100%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3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454D38A-CC1B-7377-6C86-1AD4E71D4F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61722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463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A bus increases its speed by 10%. After that, it again increases its speed by 20%. By what percentage is the bus’s final speed greater than its original speed?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30%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31%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32%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33%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B80B5E-4A64-D273-D3A1-CBE9637663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61722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749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The price of an article is increased by 20% and then decreased by 20%. The final price as compared to the original price is ___________.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4% more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20% more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20% less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4% less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5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CBB81D-FE83-AEC0-9B7D-FC7C7DDD96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61722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891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If the numerator of a fraction is increased by 40% and the denominator is decreased by 30% the fraction becomes 1/2. Find the original number.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1/4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1/6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1/7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1/8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6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04BE35-67CA-6867-97EA-FB5D8BFC90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61722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059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The price of sugar has increased by 20%. </a:t>
            </a:r>
            <a:r>
              <a:rPr lang="en-US" sz="2500" dirty="0" err="1">
                <a:latin typeface="Nunito Sans" panose="00000500000000000000" pitchFamily="2" charset="0"/>
              </a:rPr>
              <a:t>Anu</a:t>
            </a:r>
            <a:r>
              <a:rPr lang="en-US" sz="2500" dirty="0">
                <a:latin typeface="Nunito Sans" panose="00000500000000000000" pitchFamily="2" charset="0"/>
              </a:rPr>
              <a:t> has decided to only spend 8% more than she initially did on sugar. Find the percentage by which she needs to reduce the sugar consumption.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10%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12%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14%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16.4%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EF58385-9A73-12E2-4D49-B871BB0A7CC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61722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301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Sugar is now being sold at </a:t>
            </a:r>
            <a:r>
              <a:rPr lang="en-US" sz="2500" dirty="0" err="1">
                <a:latin typeface="Nunito Sans" panose="00000500000000000000" pitchFamily="2" charset="0"/>
              </a:rPr>
              <a:t>Rs</a:t>
            </a:r>
            <a:r>
              <a:rPr lang="en-US" sz="2500" dirty="0">
                <a:latin typeface="Nunito Sans" panose="00000500000000000000" pitchFamily="2" charset="0"/>
              </a:rPr>
              <a:t>. 10/kg. Till last week, the cost of it was </a:t>
            </a:r>
            <a:r>
              <a:rPr lang="en-US" sz="2500" dirty="0" err="1">
                <a:latin typeface="Nunito Sans" panose="00000500000000000000" pitchFamily="2" charset="0"/>
              </a:rPr>
              <a:t>Rs</a:t>
            </a:r>
            <a:r>
              <a:rPr lang="en-US" sz="2500" dirty="0">
                <a:latin typeface="Nunito Sans" panose="00000500000000000000" pitchFamily="2" charset="0"/>
              </a:rPr>
              <a:t>. 8/kg. Find by how much percent a family should reduce its consumption, to keep the expenditure the same.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10%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20%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30%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40%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8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C0D7BD-CC7F-80F4-336A-EA2917172C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61722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309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If the numerator of a fraction is increased by 20% and its denominator is decreased by 10%, the fraction becomes 16/21. Find the original fraction.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5/7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2/7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4/7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3/7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9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272DD0-F90F-B102-5C6C-0D60F795BD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61722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871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The area of a rectangle first decreases by 20% and again decreases by 25%. What will be the new area if the area was initially 1000 m</a:t>
            </a:r>
            <a:r>
              <a:rPr lang="en-US" sz="2500" baseline="30000" dirty="0">
                <a:latin typeface="Nunito Sans" panose="00000500000000000000" pitchFamily="2" charset="0"/>
              </a:rPr>
              <a:t>2</a:t>
            </a:r>
            <a:r>
              <a:rPr lang="en-US" sz="2500" dirty="0">
                <a:latin typeface="Nunito Sans" panose="00000500000000000000" pitchFamily="2" charset="0"/>
              </a:rPr>
              <a:t> 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600 m</a:t>
            </a:r>
            <a:r>
              <a:rPr lang="en-US" sz="2500" baseline="30000" dirty="0">
                <a:latin typeface="Nunito Sans" panose="00000500000000000000" pitchFamily="2" charset="0"/>
              </a:rPr>
              <a:t>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620 m</a:t>
            </a:r>
            <a:r>
              <a:rPr lang="en-US" sz="2500" baseline="30000" dirty="0">
                <a:latin typeface="Nunito Sans" panose="00000500000000000000" pitchFamily="2" charset="0"/>
              </a:rPr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615 m</a:t>
            </a:r>
            <a:r>
              <a:rPr lang="en-US" sz="2500" baseline="30000" dirty="0">
                <a:latin typeface="Nunito Sans" panose="00000500000000000000" pitchFamily="2" charset="0"/>
              </a:rPr>
              <a:t>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592 m</a:t>
            </a:r>
            <a:r>
              <a:rPr lang="en-US" sz="2500" baseline="30000" dirty="0">
                <a:latin typeface="Nunito Sans" panose="00000500000000000000" pitchFamily="2" charset="0"/>
              </a:rPr>
              <a:t>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BEEB1C-6230-F4D0-23D8-6F13D3CAF3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61722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033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A + B = 50. Then A increases by 15 percent and B decreases by 20 percent. What is the value of B if A – B = 38 after the change?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8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40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668B08-5141-B47D-E2BB-E4E3D2B11D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61722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436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 err="1">
                <a:latin typeface="Nunito Sans" panose="00000500000000000000" pitchFamily="2" charset="0"/>
              </a:rPr>
              <a:t>Vipul’s</a:t>
            </a:r>
            <a:r>
              <a:rPr lang="en-US" sz="2500" dirty="0">
                <a:latin typeface="Nunito Sans" panose="00000500000000000000" pitchFamily="2" charset="0"/>
              </a:rPr>
              <a:t> salary is increased by 20% at the end of the first year of his service, but due to his poor performance, his salary decreased by 20% at the end of the second year. If his initial salary was </a:t>
            </a:r>
            <a:r>
              <a:rPr lang="en-US" sz="2500" dirty="0" err="1">
                <a:latin typeface="Nunito Sans" panose="00000500000000000000" pitchFamily="2" charset="0"/>
              </a:rPr>
              <a:t>Rs</a:t>
            </a:r>
            <a:r>
              <a:rPr lang="en-US" sz="2500" dirty="0">
                <a:latin typeface="Nunito Sans" panose="00000500000000000000" pitchFamily="2" charset="0"/>
              </a:rPr>
              <a:t>. 10000, then what will be his salary at the end of the second year?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Rs</a:t>
            </a:r>
            <a:r>
              <a:rPr lang="en-US" sz="2500" dirty="0">
                <a:latin typeface="Nunito Sans" panose="00000500000000000000" pitchFamily="2" charset="0"/>
              </a:rPr>
              <a:t>. 9655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Rs</a:t>
            </a:r>
            <a:r>
              <a:rPr lang="en-US" sz="2500" dirty="0">
                <a:latin typeface="Nunito Sans" panose="00000500000000000000" pitchFamily="2" charset="0"/>
              </a:rPr>
              <a:t>. 9625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Rs</a:t>
            </a:r>
            <a:r>
              <a:rPr lang="en-US" sz="2500" dirty="0">
                <a:latin typeface="Nunito Sans" panose="00000500000000000000" pitchFamily="2" charset="0"/>
              </a:rPr>
              <a:t>. 9600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 err="1">
                <a:latin typeface="Nunito Sans" panose="00000500000000000000" pitchFamily="2" charset="0"/>
              </a:rPr>
              <a:t>Rs</a:t>
            </a:r>
            <a:r>
              <a:rPr lang="en-US" sz="2500" dirty="0">
                <a:latin typeface="Nunito Sans" panose="00000500000000000000" pitchFamily="2" charset="0"/>
              </a:rPr>
              <a:t>. 9675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12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821C57-8404-FDD2-6377-854802BB85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61722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0284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If the price of fuel increases by 20% and </a:t>
            </a:r>
            <a:r>
              <a:rPr lang="en-US" sz="2500" dirty="0" err="1">
                <a:latin typeface="Nunito Sans" panose="00000500000000000000" pitchFamily="2" charset="0"/>
              </a:rPr>
              <a:t>Jagan</a:t>
            </a:r>
            <a:r>
              <a:rPr lang="en-US" sz="2500" dirty="0">
                <a:latin typeface="Nunito Sans" panose="00000500000000000000" pitchFamily="2" charset="0"/>
              </a:rPr>
              <a:t> intends to spend only an additional 12% on fuel, then by what percentage must he reduce the quantity of fuel purchased?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6.67%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10%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8%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4%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13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914EBE-554C-558F-74C9-26DC855B0C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61722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0470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The Shopkeeper increased the price of a product by 25% so that customer finds it difficult to purchase the required amount. But somehow the customer managed to purchase only 70% of the required amount. What is the net difference in the expenditure on that product?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10% more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12% more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12.5% more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15% more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4A81C5-4DC3-BCC8-1C58-6A1170CE58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61722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8864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The base of the triangle is increased by 40%. What can be the maximum percentage increase in the length of the height so that the increase in area is restricted to a maximum of 60%?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14.95%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14.98%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14.28%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14.45%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15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C4A614-6156-E199-3C3D-1896729962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61722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3574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D71EE1CC-5860-4236-A6FD-5629645019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355158">
            <a:off x="-214550" y="3101269"/>
            <a:ext cx="4219796" cy="3942674"/>
          </a:xfrm>
          <a:custGeom>
            <a:avLst/>
            <a:gdLst>
              <a:gd name="connsiteX0" fmla="*/ 0 w 4219796"/>
              <a:gd name="connsiteY0" fmla="*/ 0 h 3942674"/>
              <a:gd name="connsiteX1" fmla="*/ 4219796 w 4219796"/>
              <a:gd name="connsiteY1" fmla="*/ 0 h 3942674"/>
              <a:gd name="connsiteX2" fmla="*/ 4219796 w 4219796"/>
              <a:gd name="connsiteY2" fmla="*/ 3547546 h 3942674"/>
              <a:gd name="connsiteX3" fmla="*/ 408778 w 4219796"/>
              <a:gd name="connsiteY3" fmla="*/ 3942674 h 394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9796" h="3942674">
                <a:moveTo>
                  <a:pt x="0" y="0"/>
                </a:moveTo>
                <a:lnTo>
                  <a:pt x="4219796" y="0"/>
                </a:lnTo>
                <a:lnTo>
                  <a:pt x="4219796" y="3547546"/>
                </a:lnTo>
                <a:lnTo>
                  <a:pt x="408778" y="3942674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29A662-E105-4DCD-B841-5AE7DE607E52}"/>
              </a:ext>
            </a:extLst>
          </p:cNvPr>
          <p:cNvSpPr/>
          <p:nvPr/>
        </p:nvSpPr>
        <p:spPr>
          <a:xfrm>
            <a:off x="0" y="2438400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rgbClr val="F05136"/>
                </a:solidFill>
                <a:latin typeface="Nunito Sans" panose="00000500000000000000" pitchFamily="2" charset="0"/>
              </a:rPr>
              <a:t>THANK YOU</a:t>
            </a:r>
            <a:endParaRPr lang="en-US" sz="8000" b="1" dirty="0">
              <a:solidFill>
                <a:srgbClr val="F05136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68260E-1942-99A2-2FAB-EDD1F8D40E0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5867400"/>
            <a:ext cx="4876800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36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1810</Words>
  <Application>Microsoft Office PowerPoint</Application>
  <PresentationFormat>Widescreen</PresentationFormat>
  <Paragraphs>216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Nunito Sans</vt:lpstr>
      <vt:lpstr>Nunito Sans SemiBold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2019-07-10T08:30:58Z</dcterms:created>
  <dcterms:modified xsi:type="dcterms:W3CDTF">2024-09-14T06:35:05Z</dcterms:modified>
</cp:coreProperties>
</file>