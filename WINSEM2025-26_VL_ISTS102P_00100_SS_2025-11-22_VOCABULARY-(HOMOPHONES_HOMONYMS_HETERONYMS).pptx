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37"/>
  </p:notesMasterIdLst>
  <p:sldIdLst>
    <p:sldId id="272" r:id="rId2"/>
    <p:sldId id="271" r:id="rId3"/>
    <p:sldId id="258" r:id="rId4"/>
    <p:sldId id="345" r:id="rId5"/>
    <p:sldId id="344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289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Nunito Sans" panose="00000500000000000000" pitchFamily="2" charset="0"/>
      <p:regular r:id="rId42"/>
      <p:bold r:id="rId43"/>
      <p:italic r:id="rId44"/>
      <p:boldItalic r:id="rId45"/>
    </p:embeddedFont>
    <p:embeddedFont>
      <p:font typeface="Nunito Sans SemiBold" panose="00000700000000000000" pitchFamily="2" charset="0"/>
      <p:bold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74405" autoAdjust="0"/>
  </p:normalViewPr>
  <p:slideViewPr>
    <p:cSldViewPr>
      <p:cViewPr varScale="1">
        <p:scale>
          <a:sx n="37" d="100"/>
          <a:sy n="37" d="100"/>
        </p:scale>
        <p:origin x="1070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1733" y="-7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1/18/2020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7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75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78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84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70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00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91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42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68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75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13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84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7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62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49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70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85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11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40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297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137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285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02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2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115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572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110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68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070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571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268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4ED726-F685-44A1-B8DD-C121D1926D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66" y="2952750"/>
            <a:ext cx="3566067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latin typeface="Nunito Sans SemiBold" panose="00000700000000000000" pitchFamily="2" charset="0"/>
              </a:rPr>
              <a:t>VIT</a:t>
            </a:r>
            <a:endParaRPr lang="en-US" sz="6000" dirty="0">
              <a:latin typeface="Nunito Sans SemiBold" panose="000007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93392" cy="43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152400" y="1981200"/>
            <a:ext cx="12192000" cy="2547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VOCABULARY (HOMOPHONES,HOMONYMS</a:t>
            </a:r>
            <a:r>
              <a:rPr lang="en-US" sz="54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,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HETERONYMS</a:t>
            </a:r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b="1" dirty="0">
                <a:latin typeface="Nunito Sans" panose="00000500000000000000" pitchFamily="2" charset="0"/>
              </a:rPr>
              <a:t>HOMONYMS</a:t>
            </a:r>
            <a:r>
              <a:rPr lang="en-US" sz="2500" dirty="0">
                <a:latin typeface="Nunito Sans" panose="00000500000000000000" pitchFamily="2" charset="0"/>
              </a:rPr>
              <a:t> are words that </a:t>
            </a:r>
            <a:r>
              <a:rPr lang="en-US" sz="2500" b="1" dirty="0">
                <a:latin typeface="Nunito Sans" panose="00000500000000000000" pitchFamily="2" charset="0"/>
              </a:rPr>
              <a:t>sound alike but have different meanings</a:t>
            </a:r>
            <a:r>
              <a:rPr lang="en-US" sz="2500" dirty="0">
                <a:latin typeface="Nunito Sans" panose="00000500000000000000" pitchFamily="2" charset="0"/>
              </a:rPr>
              <a:t>. </a:t>
            </a:r>
            <a:endParaRPr lang="en-US" sz="2500" dirty="0" smtClean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b="1" dirty="0" smtClean="0">
                <a:latin typeface="Nunito Sans" panose="00000500000000000000" pitchFamily="2" charset="0"/>
              </a:rPr>
              <a:t>HOMOPHONES</a:t>
            </a:r>
            <a:r>
              <a:rPr lang="en-US" sz="2500" dirty="0" smtClean="0">
                <a:latin typeface="Nunito Sans" panose="00000500000000000000" pitchFamily="2" charset="0"/>
              </a:rPr>
              <a:t> </a:t>
            </a:r>
            <a:r>
              <a:rPr lang="en-US" sz="2500" dirty="0">
                <a:latin typeface="Nunito Sans" panose="00000500000000000000" pitchFamily="2" charset="0"/>
              </a:rPr>
              <a:t>are a type of homonym that also </a:t>
            </a:r>
            <a:r>
              <a:rPr lang="en-US" sz="2500" b="1" dirty="0">
                <a:latin typeface="Nunito Sans" panose="00000500000000000000" pitchFamily="2" charset="0"/>
              </a:rPr>
              <a:t>sound alike </a:t>
            </a:r>
            <a:r>
              <a:rPr lang="en-US" sz="2500" dirty="0">
                <a:latin typeface="Nunito Sans" panose="00000500000000000000" pitchFamily="2" charset="0"/>
              </a:rPr>
              <a:t>and have </a:t>
            </a:r>
            <a:r>
              <a:rPr lang="en-US" sz="2500" b="1" dirty="0">
                <a:latin typeface="Nunito Sans" panose="00000500000000000000" pitchFamily="2" charset="0"/>
              </a:rPr>
              <a:t>different meanings</a:t>
            </a:r>
            <a:r>
              <a:rPr lang="en-US" sz="2500" dirty="0">
                <a:latin typeface="Nunito Sans" panose="00000500000000000000" pitchFamily="2" charset="0"/>
              </a:rPr>
              <a:t>, but have </a:t>
            </a:r>
            <a:r>
              <a:rPr lang="en-US" sz="2500" b="1" dirty="0">
                <a:latin typeface="Nunito Sans" panose="00000500000000000000" pitchFamily="2" charset="0"/>
              </a:rPr>
              <a:t>different spellings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b="1" dirty="0" smtClean="0">
                <a:latin typeface="Nunito Sans" panose="00000500000000000000" pitchFamily="2" charset="0"/>
              </a:rPr>
              <a:t>HOMOGRAPHS</a:t>
            </a:r>
            <a:r>
              <a:rPr lang="en-US" sz="2500" dirty="0" smtClean="0">
                <a:latin typeface="Nunito Sans" panose="00000500000000000000" pitchFamily="2" charset="0"/>
              </a:rPr>
              <a:t> are words that are </a:t>
            </a:r>
            <a:r>
              <a:rPr lang="en-US" sz="2500" b="1" dirty="0" smtClean="0">
                <a:latin typeface="Nunito Sans" panose="00000500000000000000" pitchFamily="2" charset="0"/>
              </a:rPr>
              <a:t>spelled the same </a:t>
            </a:r>
            <a:r>
              <a:rPr lang="en-US" sz="2500" dirty="0" smtClean="0">
                <a:latin typeface="Nunito Sans" panose="00000500000000000000" pitchFamily="2" charset="0"/>
              </a:rPr>
              <a:t>but have </a:t>
            </a:r>
            <a:r>
              <a:rPr lang="en-US" sz="2500" b="1" dirty="0" smtClean="0">
                <a:latin typeface="Nunito Sans" panose="00000500000000000000" pitchFamily="2" charset="0"/>
              </a:rPr>
              <a:t>different meanings.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 smtClean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b="1" dirty="0" smtClean="0">
                <a:latin typeface="Nunito Sans" panose="00000500000000000000" pitchFamily="2" charset="0"/>
              </a:rPr>
              <a:t>HETERONYMS</a:t>
            </a:r>
            <a:r>
              <a:rPr lang="en-US" sz="2500" dirty="0" smtClean="0">
                <a:latin typeface="Nunito Sans" panose="00000500000000000000" pitchFamily="2" charset="0"/>
              </a:rPr>
              <a:t> </a:t>
            </a:r>
            <a:r>
              <a:rPr lang="en-US" sz="2500" dirty="0">
                <a:latin typeface="Nunito Sans" panose="00000500000000000000" pitchFamily="2" charset="0"/>
              </a:rPr>
              <a:t>are a type of homograph that are also </a:t>
            </a:r>
            <a:r>
              <a:rPr lang="en-US" sz="2500" b="1" dirty="0">
                <a:latin typeface="Nunito Sans" panose="00000500000000000000" pitchFamily="2" charset="0"/>
              </a:rPr>
              <a:t>spelled the same </a:t>
            </a:r>
            <a:r>
              <a:rPr lang="en-US" sz="2500" dirty="0">
                <a:latin typeface="Nunito Sans" panose="00000500000000000000" pitchFamily="2" charset="0"/>
              </a:rPr>
              <a:t>and have </a:t>
            </a:r>
            <a:r>
              <a:rPr lang="en-US" sz="2500" b="1" dirty="0">
                <a:latin typeface="Nunito Sans" panose="00000500000000000000" pitchFamily="2" charset="0"/>
              </a:rPr>
              <a:t>different meanings</a:t>
            </a:r>
            <a:r>
              <a:rPr lang="en-US" sz="2500" dirty="0">
                <a:latin typeface="Nunito Sans" panose="00000500000000000000" pitchFamily="2" charset="0"/>
              </a:rPr>
              <a:t>, but </a:t>
            </a:r>
            <a:r>
              <a:rPr lang="en-US" sz="2500" b="1" dirty="0">
                <a:latin typeface="Nunito Sans" panose="00000500000000000000" pitchFamily="2" charset="0"/>
              </a:rPr>
              <a:t>sound different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642479" y="329620"/>
            <a:ext cx="114339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VOCABULARY (HOMOPHONES,HOMONYMS,HETERONYMS</a:t>
            </a:r>
            <a:r>
              <a:rPr lang="en-US" sz="3000" b="1" dirty="0">
                <a:solidFill>
                  <a:schemeClr val="bg1"/>
                </a:solidFill>
                <a:latin typeface="Nunito Sans" panose="00000500000000000000" pitchFamily="2" charset="0"/>
              </a:rPr>
              <a:t>)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4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err="1">
                <a:latin typeface="Nunito Sans" panose="00000500000000000000" pitchFamily="2" charset="0"/>
              </a:rPr>
              <a:t>Prasanna</a:t>
            </a:r>
            <a:r>
              <a:rPr lang="en-US" sz="2500" dirty="0">
                <a:latin typeface="Nunito Sans" panose="00000500000000000000" pitchFamily="2" charset="0"/>
              </a:rPr>
              <a:t> had a good —– for </a:t>
            </a:r>
            <a:r>
              <a:rPr lang="en-US" sz="2500" dirty="0" smtClean="0">
                <a:latin typeface="Nunito Sans" panose="00000500000000000000" pitchFamily="2" charset="0"/>
              </a:rPr>
              <a:t>stage.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trup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troop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trupe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troupe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1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 _______ of you must do the work.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some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same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 of these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We _______ several trucks on the highway.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passed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past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Passing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8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The </a:t>
            </a:r>
            <a:r>
              <a:rPr lang="en-US" sz="2500" dirty="0">
                <a:latin typeface="Nunito Sans" panose="00000500000000000000" pitchFamily="2" charset="0"/>
              </a:rPr>
              <a:t>TV has lost __________ picture.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it's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it 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of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 of the Above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4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0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Get up my </a:t>
            </a:r>
            <a:r>
              <a:rPr lang="en-US" sz="2500" dirty="0" smtClean="0">
                <a:latin typeface="Nunito Sans" panose="00000500000000000000" pitchFamily="2" charset="0"/>
              </a:rPr>
              <a:t>_________.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sun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soon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9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In the forest, you might see a grizzly __________.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Bear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Barer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Bariest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6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8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Don't get too close to the bear, it might ________ you!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Byte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Bite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Bytes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Beats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7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 can see my house from ______.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hear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here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hearer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 smtClean="0">
                <a:latin typeface="Nunito Sans" panose="00000500000000000000" pitchFamily="2" charset="0"/>
              </a:rPr>
              <a:t>hearest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8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8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I </a:t>
            </a:r>
            <a:r>
              <a:rPr lang="en-US" sz="2500" dirty="0">
                <a:latin typeface="Nunito Sans" panose="00000500000000000000" pitchFamily="2" charset="0"/>
              </a:rPr>
              <a:t>feel ____________.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week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weak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Weaker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Weakest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9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 didn't ____ what she said.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hear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here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heares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10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0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little pianist took a ___ after he finished playing his </a:t>
            </a:r>
            <a:r>
              <a:rPr lang="en-US" sz="2500" dirty="0" err="1">
                <a:latin typeface="Nunito Sans" panose="00000500000000000000" pitchFamily="2" charset="0"/>
              </a:rPr>
              <a:t>sonatina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bough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11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9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person ___ car is in front of the store must move it immediately.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who's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whose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12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8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Queen ___ the Prime Minister good bye at the end of their meeting.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13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2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pianist liked to wear sleeveless dresses to show off her ___ arms.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bear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14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1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boat was sinking so we had to ___ water as we rowed back to shore.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bail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15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4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wine ___ had twenty years of practice purchasing and pricing wine.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cellar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seller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16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He was ___ unprepared for the warm reception that her family gave him.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holy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wholly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17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6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___ of free speech supports the notion of censor-free publication.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principal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principle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18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3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She ___ a yellow ribbon on her front gate to welcome her husband home.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tide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tied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19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0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 don't mean to ___ you but I need to talk to you again about my novel.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boar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20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23362" y="431578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</a:t>
            </a:r>
            <a:r>
              <a:rPr lang="en-US" sz="2500" b="1" dirty="0" smtClean="0">
                <a:latin typeface="Nunito Sans" panose="00000500000000000000" pitchFamily="2" charset="0"/>
              </a:rPr>
              <a:t>)</a:t>
            </a:r>
            <a:endParaRPr lang="en-US" sz="2500" b="1" dirty="0">
              <a:latin typeface="Nunito Sa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21462" y="431578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boor</a:t>
            </a:r>
          </a:p>
        </p:txBody>
      </p:sp>
    </p:spTree>
    <p:extLst>
      <p:ext uri="{BB962C8B-B14F-4D97-AF65-F5344CB8AC3E}">
        <p14:creationId xmlns:p14="http://schemas.microsoft.com/office/powerpoint/2010/main" val="27336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You </a:t>
            </a:r>
            <a:r>
              <a:rPr lang="en-US" sz="2500" dirty="0">
                <a:latin typeface="Nunito Sans" panose="00000500000000000000" pitchFamily="2" charset="0"/>
              </a:rPr>
              <a:t>can lead </a:t>
            </a:r>
            <a:r>
              <a:rPr lang="en-US" sz="2500" dirty="0" smtClean="0">
                <a:latin typeface="Nunito Sans" panose="00000500000000000000" pitchFamily="2" charset="0"/>
              </a:rPr>
              <a:t>someone </a:t>
            </a:r>
            <a:r>
              <a:rPr lang="en-US" sz="2500" dirty="0">
                <a:latin typeface="Nunito Sans" panose="00000500000000000000" pitchFamily="2" charset="0"/>
              </a:rPr>
              <a:t>to </a:t>
            </a:r>
            <a:r>
              <a:rPr lang="en-US" sz="2500" dirty="0" smtClean="0">
                <a:latin typeface="Nunito Sans" panose="00000500000000000000" pitchFamily="2" charset="0"/>
              </a:rPr>
              <a:t>“</a:t>
            </a:r>
            <a:r>
              <a:rPr lang="en-US" sz="2500" b="1" dirty="0" smtClean="0">
                <a:latin typeface="Nunito Sans" panose="00000500000000000000" pitchFamily="2" charset="0"/>
              </a:rPr>
              <a:t>lead”</a:t>
            </a:r>
            <a:r>
              <a:rPr lang="en-US" sz="2500" dirty="0" smtClean="0">
                <a:latin typeface="Nunito Sans" panose="00000500000000000000" pitchFamily="2" charset="0"/>
              </a:rPr>
              <a:t>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7569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3316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7569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3316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the metallic element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21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8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So he plays everyone, the coach can </a:t>
            </a:r>
            <a:r>
              <a:rPr lang="en-US" sz="2500" dirty="0" smtClean="0">
                <a:latin typeface="Nunito Sans" panose="00000500000000000000" pitchFamily="2" charset="0"/>
              </a:rPr>
              <a:t>“</a:t>
            </a:r>
            <a:r>
              <a:rPr lang="en-US" sz="2500" b="1" dirty="0" smtClean="0">
                <a:latin typeface="Nunito Sans" panose="00000500000000000000" pitchFamily="2" charset="0"/>
              </a:rPr>
              <a:t>alternate”</a:t>
            </a:r>
            <a:r>
              <a:rPr lang="en-US" sz="2500" dirty="0" smtClean="0">
                <a:latin typeface="Nunito Sans" panose="00000500000000000000" pitchFamily="2" charset="0"/>
              </a:rPr>
              <a:t> </a:t>
            </a:r>
            <a:r>
              <a:rPr lang="en-US" sz="2500" dirty="0">
                <a:latin typeface="Nunito Sans" panose="00000500000000000000" pitchFamily="2" charset="0"/>
              </a:rPr>
              <a:t>between the team's </a:t>
            </a:r>
            <a:r>
              <a:rPr lang="en-US" sz="2500" dirty="0" smtClean="0">
                <a:latin typeface="Nunito Sans" panose="00000500000000000000" pitchFamily="2" charset="0"/>
              </a:rPr>
              <a:t>alternates.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807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2554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807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switch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2554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substitutes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22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5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You won't see many bass </a:t>
            </a:r>
            <a:r>
              <a:rPr lang="en-US" sz="2500" dirty="0" smtClean="0">
                <a:latin typeface="Nunito Sans" panose="00000500000000000000" pitchFamily="2" charset="0"/>
              </a:rPr>
              <a:t>playing </a:t>
            </a:r>
            <a:r>
              <a:rPr lang="en-US" sz="2500" b="1" dirty="0" smtClean="0">
                <a:latin typeface="Nunito Sans" panose="00000500000000000000" pitchFamily="2" charset="0"/>
              </a:rPr>
              <a:t>“bass”</a:t>
            </a:r>
            <a:r>
              <a:rPr lang="en-US" sz="2500" dirty="0" smtClean="0">
                <a:latin typeface="Nunito Sans" panose="00000500000000000000" pitchFamily="2" charset="0"/>
              </a:rPr>
              <a:t>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musical instrument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fish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23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8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The lawyer </a:t>
            </a:r>
            <a:r>
              <a:rPr lang="en-US" sz="2500" b="1" dirty="0" smtClean="0">
                <a:latin typeface="Nunito Sans" panose="00000500000000000000" pitchFamily="2" charset="0"/>
              </a:rPr>
              <a:t>“objected”</a:t>
            </a:r>
            <a:r>
              <a:rPr lang="en-US" sz="2500" dirty="0" smtClean="0">
                <a:latin typeface="Nunito Sans" panose="00000500000000000000" pitchFamily="2" charset="0"/>
              </a:rPr>
              <a:t> to </a:t>
            </a:r>
            <a:r>
              <a:rPr lang="en-US" sz="2500" dirty="0">
                <a:latin typeface="Nunito Sans" panose="00000500000000000000" pitchFamily="2" charset="0"/>
              </a:rPr>
              <a:t>the object </a:t>
            </a:r>
            <a:r>
              <a:rPr lang="en-US" sz="2500" dirty="0" smtClean="0">
                <a:latin typeface="Nunito Sans" panose="00000500000000000000" pitchFamily="2" charset="0"/>
              </a:rPr>
              <a:t>in </a:t>
            </a:r>
            <a:r>
              <a:rPr lang="en-US" sz="2500" dirty="0">
                <a:latin typeface="Nunito Sans" panose="00000500000000000000" pitchFamily="2" charset="0"/>
              </a:rPr>
              <a:t>Exhibit A.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item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raised </a:t>
            </a:r>
            <a:r>
              <a:rPr lang="en-US" sz="2500" dirty="0">
                <a:latin typeface="Nunito Sans" panose="00000500000000000000" pitchFamily="2" charset="0"/>
              </a:rPr>
              <a:t>a </a:t>
            </a:r>
            <a:r>
              <a:rPr lang="en-US" sz="2500" dirty="0" smtClean="0">
                <a:latin typeface="Nunito Sans" panose="00000500000000000000" pitchFamily="2" charset="0"/>
              </a:rPr>
              <a:t>concern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24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3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To you, I </a:t>
            </a:r>
            <a:r>
              <a:rPr lang="en-US" sz="2500" dirty="0" smtClean="0">
                <a:latin typeface="Nunito Sans" panose="00000500000000000000" pitchFamily="2" charset="0"/>
              </a:rPr>
              <a:t>present </a:t>
            </a:r>
            <a:r>
              <a:rPr lang="en-US" sz="2500" dirty="0">
                <a:latin typeface="Nunito Sans" panose="00000500000000000000" pitchFamily="2" charset="0"/>
              </a:rPr>
              <a:t>this </a:t>
            </a:r>
            <a:r>
              <a:rPr lang="en-US" sz="2500" b="1" dirty="0" smtClean="0">
                <a:latin typeface="Nunito Sans" panose="00000500000000000000" pitchFamily="2" charset="0"/>
              </a:rPr>
              <a:t>“present”</a:t>
            </a:r>
            <a:r>
              <a:rPr lang="en-US" sz="2500" dirty="0" smtClean="0">
                <a:latin typeface="Nunito Sans" panose="00000500000000000000" pitchFamily="2" charset="0"/>
              </a:rPr>
              <a:t>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item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give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25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7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The </a:t>
            </a:r>
            <a:r>
              <a:rPr lang="en-US" sz="2500" b="1" dirty="0" smtClean="0">
                <a:latin typeface="Nunito Sans" panose="00000500000000000000" pitchFamily="2" charset="0"/>
              </a:rPr>
              <a:t>“convict”</a:t>
            </a:r>
            <a:r>
              <a:rPr lang="en-US" sz="2500" dirty="0" smtClean="0">
                <a:latin typeface="Nunito Sans" panose="00000500000000000000" pitchFamily="2" charset="0"/>
              </a:rPr>
              <a:t> had </a:t>
            </a:r>
            <a:r>
              <a:rPr lang="en-US" sz="2500" dirty="0">
                <a:latin typeface="Nunito Sans" panose="00000500000000000000" pitchFamily="2" charset="0"/>
              </a:rPr>
              <a:t>been convicted </a:t>
            </a:r>
            <a:r>
              <a:rPr lang="en-US" sz="2500" dirty="0" smtClean="0">
                <a:latin typeface="Nunito Sans" panose="00000500000000000000" pitchFamily="2" charset="0"/>
              </a:rPr>
              <a:t>of </a:t>
            </a:r>
            <a:r>
              <a:rPr lang="en-US" sz="2500" dirty="0">
                <a:latin typeface="Nunito Sans" panose="00000500000000000000" pitchFamily="2" charset="0"/>
              </a:rPr>
              <a:t>planning an escape.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person </a:t>
            </a:r>
            <a:r>
              <a:rPr lang="en-US" sz="2500" dirty="0">
                <a:latin typeface="Nunito Sans" panose="00000500000000000000" pitchFamily="2" charset="0"/>
              </a:rPr>
              <a:t>in </a:t>
            </a:r>
            <a:r>
              <a:rPr lang="en-US" sz="2500" dirty="0" smtClean="0">
                <a:latin typeface="Nunito Sans" panose="00000500000000000000" pitchFamily="2" charset="0"/>
              </a:rPr>
              <a:t>jail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found </a:t>
            </a:r>
            <a:r>
              <a:rPr lang="en-US" sz="2500" dirty="0" smtClean="0">
                <a:latin typeface="Nunito Sans" panose="00000500000000000000" pitchFamily="2" charset="0"/>
              </a:rPr>
              <a:t>guilty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26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1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The </a:t>
            </a:r>
            <a:r>
              <a:rPr lang="en-US" sz="2500" b="1" dirty="0" smtClean="0">
                <a:latin typeface="Nunito Sans" panose="00000500000000000000" pitchFamily="2" charset="0"/>
              </a:rPr>
              <a:t>“Polish” </a:t>
            </a:r>
            <a:r>
              <a:rPr lang="en-US" sz="2500" dirty="0" smtClean="0">
                <a:latin typeface="Nunito Sans" panose="00000500000000000000" pitchFamily="2" charset="0"/>
              </a:rPr>
              <a:t>lady polishes </a:t>
            </a:r>
            <a:r>
              <a:rPr lang="en-US" sz="2500" dirty="0">
                <a:latin typeface="Nunito Sans" panose="00000500000000000000" pitchFamily="2" charset="0"/>
              </a:rPr>
              <a:t>the silver.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heritage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shines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27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0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What is the meaning of the emphasized heteronym?</a:t>
            </a:r>
          </a:p>
          <a:p>
            <a:pPr algn="just"/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That </a:t>
            </a:r>
            <a:r>
              <a:rPr lang="en-US" sz="2500" b="1" dirty="0" smtClean="0">
                <a:latin typeface="Nunito Sans" panose="00000500000000000000" pitchFamily="2" charset="0"/>
              </a:rPr>
              <a:t>“permit”</a:t>
            </a:r>
            <a:r>
              <a:rPr lang="en-US" sz="2500" dirty="0" smtClean="0">
                <a:latin typeface="Nunito Sans" panose="00000500000000000000" pitchFamily="2" charset="0"/>
              </a:rPr>
              <a:t> </a:t>
            </a:r>
            <a:r>
              <a:rPr lang="en-US" sz="2500" dirty="0">
                <a:latin typeface="Nunito Sans" panose="00000500000000000000" pitchFamily="2" charset="0"/>
              </a:rPr>
              <a:t>will permit </a:t>
            </a:r>
            <a:r>
              <a:rPr lang="en-US" sz="2500" dirty="0" smtClean="0">
                <a:latin typeface="Nunito Sans" panose="00000500000000000000" pitchFamily="2" charset="0"/>
              </a:rPr>
              <a:t>you </a:t>
            </a:r>
            <a:r>
              <a:rPr lang="en-US" sz="2500" dirty="0">
                <a:latin typeface="Nunito Sans" panose="00000500000000000000" pitchFamily="2" charset="0"/>
              </a:rPr>
              <a:t>to build the addition onto your house.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grant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license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28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5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 smtClean="0">
                <a:latin typeface="Nunito Sans" panose="00000500000000000000" pitchFamily="2" charset="0"/>
              </a:rPr>
              <a:t>Identify the part of speech of the emphasized word.</a:t>
            </a:r>
          </a:p>
          <a:p>
            <a:pPr algn="just"/>
            <a:endParaRPr lang="en-US" sz="2500" b="1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The </a:t>
            </a:r>
            <a:r>
              <a:rPr lang="en-US" sz="2500" dirty="0">
                <a:latin typeface="Nunito Sans" panose="00000500000000000000" pitchFamily="2" charset="0"/>
              </a:rPr>
              <a:t>little girl wore a pretty red </a:t>
            </a:r>
            <a:r>
              <a:rPr lang="en-US" sz="2500" b="1" dirty="0" smtClean="0">
                <a:latin typeface="Nunito Sans" panose="00000500000000000000" pitchFamily="2" charset="0"/>
              </a:rPr>
              <a:t>“bow”</a:t>
            </a:r>
            <a:r>
              <a:rPr lang="en-US" sz="2500" dirty="0" smtClean="0">
                <a:latin typeface="Nunito Sans" panose="00000500000000000000" pitchFamily="2" charset="0"/>
              </a:rPr>
              <a:t> </a:t>
            </a:r>
            <a:r>
              <a:rPr lang="en-US" sz="2500" dirty="0">
                <a:latin typeface="Nunito Sans" panose="00000500000000000000" pitchFamily="2" charset="0"/>
              </a:rPr>
              <a:t>in her hair. 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The dancers always bow after their performances.</a:t>
            </a:r>
            <a:endParaRPr lang="en-US" sz="2500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Noun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Nunito Sans" panose="00000500000000000000" pitchFamily="2" charset="0"/>
              </a:rPr>
              <a:t>Verb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29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2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 smtClean="0">
                <a:latin typeface="Nunito Sans" panose="00000500000000000000" pitchFamily="2" charset="0"/>
              </a:rPr>
              <a:t>Identify the tense of the emphasized word.</a:t>
            </a:r>
          </a:p>
          <a:p>
            <a:pPr algn="just"/>
            <a:endParaRPr lang="en-US" sz="2500" b="1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Are you going to read the sports section of the newspaper? </a:t>
            </a:r>
            <a:endParaRPr lang="en-US" sz="2500" dirty="0" smtClean="0">
              <a:latin typeface="Nunito Sans" panose="00000500000000000000" pitchFamily="2" charset="0"/>
            </a:endParaRPr>
          </a:p>
          <a:p>
            <a:pPr algn="just"/>
            <a:r>
              <a:rPr lang="en-US" sz="2500" dirty="0" smtClean="0">
                <a:latin typeface="Nunito Sans" panose="00000500000000000000" pitchFamily="2" charset="0"/>
              </a:rPr>
              <a:t>I've </a:t>
            </a:r>
            <a:r>
              <a:rPr lang="en-US" sz="2500" dirty="0">
                <a:latin typeface="Nunito Sans" panose="00000500000000000000" pitchFamily="2" charset="0"/>
              </a:rPr>
              <a:t>already </a:t>
            </a:r>
            <a:r>
              <a:rPr lang="en-US" sz="2500" b="1" dirty="0" smtClean="0">
                <a:latin typeface="Nunito Sans" panose="00000500000000000000" pitchFamily="2" charset="0"/>
              </a:rPr>
              <a:t>“read”</a:t>
            </a:r>
            <a:r>
              <a:rPr lang="en-US" sz="2500" dirty="0" smtClean="0">
                <a:latin typeface="Nunito Sans" panose="00000500000000000000" pitchFamily="2" charset="0"/>
              </a:rPr>
              <a:t> </a:t>
            </a:r>
            <a:r>
              <a:rPr lang="en-US" sz="2500" dirty="0">
                <a:latin typeface="Nunito Sans" panose="00000500000000000000" pitchFamily="2" charset="0"/>
              </a:rPr>
              <a:t>this book three times.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60451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4179276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60451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present tense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4179276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past tense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</a:t>
            </a:r>
            <a:r>
              <a:rPr lang="en-US" sz="4800" b="1" dirty="0" smtClean="0">
                <a:solidFill>
                  <a:schemeClr val="bg1"/>
                </a:solidFill>
                <a:latin typeface="Nunito Sans" panose="00000500000000000000" pitchFamily="2" charset="0"/>
              </a:rPr>
              <a:t>30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0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93392" cy="43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PresentationFormat>Widescreen</PresentationFormat>
  <Paragraphs>323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Wingdings</vt:lpstr>
      <vt:lpstr>Nunito Sans</vt:lpstr>
      <vt:lpstr>Nunito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2020-01-18T05:15:16Z</dcterms:modified>
</cp:coreProperties>
</file>