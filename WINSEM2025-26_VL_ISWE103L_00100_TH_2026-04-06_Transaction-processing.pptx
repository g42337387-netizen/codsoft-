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5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15" autoAdjust="0"/>
  </p:normalViewPr>
  <p:slideViewPr>
    <p:cSldViewPr>
      <p:cViewPr>
        <p:scale>
          <a:sx n="80" d="100"/>
          <a:sy n="80" d="100"/>
        </p:scale>
        <p:origin x="11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F2ED-7FC6-4E90-B87C-53A1A89F876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AD04A-9519-4CBD-83F6-B5FB6E499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651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DB30CE-8A1A-4239-9F5E-3AB5B762BBF8}" type="slidenum">
              <a:rPr lang="en-CA"/>
              <a:pPr/>
              <a:t>1</a:t>
            </a:fld>
            <a:endParaRPr lang="en-CA"/>
          </a:p>
        </p:txBody>
      </p:sp>
      <p:sp>
        <p:nvSpPr>
          <p:cNvPr id="67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4DF9C3-8A09-4545-96E4-C0F06B264E0D}" type="slidenum">
              <a:rPr lang="en-CA"/>
              <a:pPr/>
              <a:t>2</a:t>
            </a:fld>
            <a:endParaRPr lang="en-CA"/>
          </a:p>
        </p:txBody>
      </p:sp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95B9F2-E4A3-4ACD-9C01-7C3A179074AF}" type="slidenum">
              <a:rPr lang="en-CA"/>
              <a:pPr/>
              <a:t>3</a:t>
            </a:fld>
            <a:endParaRPr lang="en-CA"/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620FD2-AE9B-413F-BF75-FE5BDA571A0E}" type="slidenum">
              <a:rPr lang="en-CA"/>
              <a:pPr/>
              <a:t>4</a:t>
            </a:fld>
            <a:endParaRPr lang="en-CA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5FD9D1-8CF9-4FA9-8E50-17EEC7D1944D}" type="slidenum">
              <a:rPr lang="en-CA"/>
              <a:pPr/>
              <a:t>5</a:t>
            </a:fld>
            <a:endParaRPr lang="en-CA"/>
          </a:p>
        </p:txBody>
      </p:sp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5C66E4-A459-498C-ADAB-3EFED427006C}" type="slidenum">
              <a:rPr lang="en-CA"/>
              <a:pPr/>
              <a:t>6</a:t>
            </a:fld>
            <a:endParaRPr lang="en-CA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F7A49B-21DA-4A62-8B7E-1099627E93D6}" type="slidenum">
              <a:rPr lang="en-CA"/>
              <a:pPr/>
              <a:t>7</a:t>
            </a:fld>
            <a:endParaRPr lang="en-CA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1080D5-9316-409C-8297-10746CB34973}" type="slidenum">
              <a:rPr lang="en-CA"/>
              <a:pPr/>
              <a:t>8</a:t>
            </a:fld>
            <a:endParaRPr lang="en-CA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4C44EB-581C-4B44-8EED-B9F5BBA52A6B}" type="slidenum">
              <a:rPr lang="en-CA"/>
              <a:pPr/>
              <a:t>9</a:t>
            </a:fld>
            <a:endParaRPr lang="en-CA"/>
          </a:p>
        </p:txBody>
      </p:sp>
      <p:sp>
        <p:nvSpPr>
          <p:cNvPr id="69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7643C6-2C22-4963-8050-67DE9C5B70E7}" type="slidenum">
              <a:rPr lang="en-CA"/>
              <a:pPr/>
              <a:t>10</a:t>
            </a:fld>
            <a:endParaRPr lang="en-CA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943F60-1C43-40A2-8300-8DC4E3562A41}" type="slidenum">
              <a:rPr lang="en-CA"/>
              <a:pPr/>
              <a:t>11</a:t>
            </a:fld>
            <a:endParaRPr lang="en-CA"/>
          </a:p>
        </p:txBody>
      </p:sp>
      <p:sp>
        <p:nvSpPr>
          <p:cNvPr id="67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A16B422-BCCA-4357-B839-EBD26036E86F}" type="slidenum">
              <a:rPr lang="en-US" altLang="en-US">
                <a:solidFill>
                  <a:prstClr val="black"/>
                </a:solidFill>
              </a:rPr>
              <a:pPr/>
              <a:t>16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3882473" y="-1562"/>
            <a:ext cx="2975527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3882473" y="8684927"/>
            <a:ext cx="2975527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55" tIns="0" rIns="18655" bIns="0" anchor="b"/>
          <a:lstStyle/>
          <a:p>
            <a:pPr algn="r" defTabSz="89106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i="1">
                <a:solidFill>
                  <a:prstClr val="black"/>
                </a:solidFill>
                <a:latin typeface="Times New Roman" pitchFamily="18" charset="0"/>
              </a:rPr>
              <a:t>18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-1553" y="8684927"/>
            <a:ext cx="2973975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-1553" y="-1562"/>
            <a:ext cx="2973975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946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3158" y="4340902"/>
            <a:ext cx="5028579" cy="41160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8614" tIns="43529" rIns="88614" bIns="43529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87FD50D-9792-4C73-BE5D-C77BBA3ECAD9}" type="slidenum">
              <a:rPr lang="en-US" altLang="en-US">
                <a:solidFill>
                  <a:prstClr val="black"/>
                </a:solidFill>
              </a:rPr>
              <a:pPr/>
              <a:t>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3882473" y="-1562"/>
            <a:ext cx="2975527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3882473" y="8684927"/>
            <a:ext cx="2975527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55" tIns="0" rIns="18655" bIns="0" anchor="b"/>
          <a:lstStyle/>
          <a:p>
            <a:pPr algn="r" defTabSz="89106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i="1">
                <a:solidFill>
                  <a:prstClr val="black"/>
                </a:solidFill>
                <a:latin typeface="Times New Roman" pitchFamily="18" charset="0"/>
              </a:rPr>
              <a:t>18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-1553" y="8684927"/>
            <a:ext cx="2973975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-1553" y="-1562"/>
            <a:ext cx="2973975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04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048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3158" y="4340902"/>
            <a:ext cx="5028579" cy="41160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8614" tIns="43529" rIns="88614" bIns="43529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B07F00C-50F2-4423-A086-8BE8E4A25197}" type="slidenum">
              <a:rPr lang="en-US" altLang="en-US">
                <a:solidFill>
                  <a:prstClr val="black"/>
                </a:solidFill>
              </a:rPr>
              <a:pPr/>
              <a:t>22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882473" y="-1562"/>
            <a:ext cx="2975527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3882473" y="8684927"/>
            <a:ext cx="2975527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55" tIns="0" rIns="18655" bIns="0" anchor="b"/>
          <a:lstStyle/>
          <a:p>
            <a:pPr algn="r" defTabSz="89106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i="1">
                <a:solidFill>
                  <a:prstClr val="black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-1553" y="8684927"/>
            <a:ext cx="2973975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-1553" y="-1562"/>
            <a:ext cx="2973975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15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151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3158" y="4340902"/>
            <a:ext cx="5028579" cy="41160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8614" tIns="43529" rIns="88614" bIns="43529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431EC8E-2881-40F3-BB51-B8D149DE8ECA}" type="slidenum">
              <a:rPr lang="en-US" altLang="en-US">
                <a:solidFill>
                  <a:prstClr val="black"/>
                </a:solidFill>
              </a:rPr>
              <a:pPr/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3882473" y="-1562"/>
            <a:ext cx="2975527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3882473" y="8684927"/>
            <a:ext cx="2975527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55" tIns="0" rIns="18655" bIns="0" anchor="b"/>
          <a:lstStyle/>
          <a:p>
            <a:pPr algn="r" defTabSz="89106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i="1">
                <a:solidFill>
                  <a:prstClr val="black"/>
                </a:solidFill>
                <a:latin typeface="Times New Roman" pitchFamily="18" charset="0"/>
              </a:rPr>
              <a:t>21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-1553" y="8684927"/>
            <a:ext cx="2973975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-1553" y="-1562"/>
            <a:ext cx="2973975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25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253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3158" y="4340902"/>
            <a:ext cx="5028579" cy="41160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8614" tIns="43529" rIns="88614" bIns="43529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3BA2CC4-AA8F-4132-BB06-D7EA650C7DF4}" type="slidenum">
              <a:rPr lang="en-US" altLang="en-US">
                <a:solidFill>
                  <a:prstClr val="black"/>
                </a:solidFill>
              </a:rPr>
              <a:pPr/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882473" y="-1562"/>
            <a:ext cx="2975527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3882473" y="8684927"/>
            <a:ext cx="2975527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655" tIns="0" rIns="18655" bIns="0" anchor="b"/>
          <a:lstStyle/>
          <a:p>
            <a:pPr algn="r" defTabSz="891069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i="1">
                <a:solidFill>
                  <a:prstClr val="black"/>
                </a:solidFill>
                <a:latin typeface="Times New Roman" pitchFamily="18" charset="0"/>
              </a:rPr>
              <a:t>22</a:t>
            </a: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-1553" y="8684927"/>
            <a:ext cx="2973975" cy="45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-1553" y="-1562"/>
            <a:ext cx="2973975" cy="4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730" tIns="44865" rIns="89730" bIns="4486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35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3738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2356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3158" y="4340902"/>
            <a:ext cx="5028579" cy="41160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8614" tIns="43529" rIns="88614" bIns="43529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0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91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1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60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3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04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9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93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97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897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64BF0-4E0A-409D-921E-A4733F93BD1B}" type="slidenum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56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FA685-0F39-455D-B31B-96CD1AF6354F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752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FFA69-FF92-459F-A447-CA8D479359F2}" type="slidenum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532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D3E7F-D544-4095-87B3-4840CE3EF4F2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4863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54750-C108-4614-BD17-A9ADA4B7DCA6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60338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83FC6-FAC6-44C3-AF48-54F27AAF5E65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9709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49470-7907-4BE0-A49D-AD829C44622B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73475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3BA61-CEAF-4704-8EBD-517E483AD96C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51732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85B09-6390-4A3D-9374-DDDC4C2E3155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3397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27CC6-A5A7-407C-BB9E-99EB6EC18F5A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68109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77894-EA5C-463E-BF4F-1B2AF07B2F9D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28401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0481C-1E35-45C3-BF70-60F7BFFDECF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6292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BDA3B-7F5B-47C3-AFB5-3E917FFBC176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004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7FC9A-2256-4792-8FCB-55D92D5D3DF7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743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32315-78A3-45BA-AADF-1DF77F060B9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5130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D2387-21FA-47B1-B67E-B2AA0C15BB8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9563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01DCE-9F04-4344-A0D7-FF35BCDC778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2802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932A6-9F5B-4A96-9AC3-7039655F10AF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8408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CEA9D-E4E3-4B8A-8626-B9AD85EA4A5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51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D9049-176B-46DA-A824-6A8D40C4B91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3412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1CB5D-16E3-451A-B53A-7B2539B6C2E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451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581A-FE24-4A5B-B0AC-D5C5EFCA08F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0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60D00-C22A-45B3-A1C0-0CB19D01965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958DE-1B9E-4023-AD8D-01ECD7C72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55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1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i="1">
              <a:solidFill>
                <a:srgbClr val="04617B">
                  <a:shade val="90000"/>
                </a:srgbClr>
              </a:solidFill>
              <a:latin typeface="Verdana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i="1">
              <a:solidFill>
                <a:srgbClr val="04617B">
                  <a:shade val="90000"/>
                </a:srgbClr>
              </a:solidFill>
              <a:latin typeface="Verdana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335EF0-BD35-4F16-8CBE-EB137F7B4F81}" type="slidenum">
              <a:rPr lang="en-US" i="1">
                <a:solidFill>
                  <a:srgbClr val="04617B">
                    <a:shade val="90000"/>
                  </a:srgbClr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i="1">
              <a:solidFill>
                <a:srgbClr val="04617B">
                  <a:shade val="90000"/>
                </a:srgbClr>
              </a:solidFill>
              <a:latin typeface="Verdana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i="1">
                <a:solidFill>
                  <a:prstClr val="black"/>
                </a:solidFill>
                <a:latin typeface="Verdana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i="1">
                <a:solidFill>
                  <a:prstClr val="black"/>
                </a:solidFill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664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5D5BE7-9068-4CDF-B2D8-A88AAFEC4603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74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869438DA-AE7D-40AC-96A6-E8D4977A3AD0}" type="slidenum">
              <a:rPr lang="en-US"/>
              <a:pPr/>
              <a:t>1</a:t>
            </a:fld>
            <a:endParaRPr lang="en-CA"/>
          </a:p>
        </p:txBody>
      </p:sp>
      <p:sp>
        <p:nvSpPr>
          <p:cNvPr id="67174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1 Introduction to Transaction Processing (1)</a:t>
            </a:r>
          </a:p>
        </p:txBody>
      </p:sp>
      <p:sp>
        <p:nvSpPr>
          <p:cNvPr id="6717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/>
              <a:t>Single-User System</a:t>
            </a:r>
            <a:r>
              <a:rPr lang="en-US"/>
              <a:t>:</a:t>
            </a:r>
          </a:p>
          <a:p>
            <a:pPr lvl="1">
              <a:lnSpc>
                <a:spcPct val="80000"/>
              </a:lnSpc>
            </a:pPr>
            <a:r>
              <a:rPr lang="en-US"/>
              <a:t>At most one user at a time can use the system. </a:t>
            </a:r>
          </a:p>
          <a:p>
            <a:pPr>
              <a:lnSpc>
                <a:spcPct val="80000"/>
              </a:lnSpc>
            </a:pPr>
            <a:r>
              <a:rPr lang="en-US" b="1"/>
              <a:t>Multiuser System</a:t>
            </a:r>
            <a:r>
              <a:rPr lang="en-US"/>
              <a:t>:</a:t>
            </a:r>
          </a:p>
          <a:p>
            <a:pPr lvl="1">
              <a:lnSpc>
                <a:spcPct val="80000"/>
              </a:lnSpc>
            </a:pPr>
            <a:r>
              <a:rPr lang="en-US"/>
              <a:t>Many users can access the system concurrently.</a:t>
            </a:r>
          </a:p>
          <a:p>
            <a:pPr>
              <a:lnSpc>
                <a:spcPct val="80000"/>
              </a:lnSpc>
            </a:pPr>
            <a:r>
              <a:rPr lang="en-US" b="1"/>
              <a:t>Concurrency</a:t>
            </a:r>
          </a:p>
          <a:p>
            <a:pPr lvl="1">
              <a:lnSpc>
                <a:spcPct val="80000"/>
              </a:lnSpc>
            </a:pPr>
            <a:r>
              <a:rPr lang="en-US" b="1"/>
              <a:t>Interleaved processing</a:t>
            </a:r>
            <a:r>
              <a:rPr lang="en-US"/>
              <a:t>:</a:t>
            </a:r>
          </a:p>
          <a:p>
            <a:pPr lvl="2">
              <a:lnSpc>
                <a:spcPct val="80000"/>
              </a:lnSpc>
            </a:pPr>
            <a:r>
              <a:rPr lang="en-US"/>
              <a:t>Concurrent execution of processes is interleaved in a single CPU</a:t>
            </a:r>
          </a:p>
          <a:p>
            <a:pPr lvl="1">
              <a:lnSpc>
                <a:spcPct val="80000"/>
              </a:lnSpc>
            </a:pPr>
            <a:r>
              <a:rPr lang="en-US" b="1"/>
              <a:t>Parallel processing</a:t>
            </a:r>
            <a:r>
              <a:rPr lang="en-US"/>
              <a:t>:</a:t>
            </a:r>
          </a:p>
          <a:p>
            <a:pPr lvl="2">
              <a:lnSpc>
                <a:spcPct val="80000"/>
              </a:lnSpc>
            </a:pPr>
            <a:r>
              <a:rPr lang="en-US"/>
              <a:t>Processes are concurrently executed in multiple CPUs. </a:t>
            </a:r>
          </a:p>
        </p:txBody>
      </p:sp>
    </p:spTree>
    <p:extLst>
      <p:ext uri="{BB962C8B-B14F-4D97-AF65-F5344CB8AC3E}">
        <p14:creationId xmlns:p14="http://schemas.microsoft.com/office/powerpoint/2010/main" val="93096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05676347-BB1F-4866-9642-DDDA060761A3}" type="slidenum">
              <a:rPr lang="en-US"/>
              <a:pPr/>
              <a:t>2</a:t>
            </a:fld>
            <a:endParaRPr lang="en-CA"/>
          </a:p>
        </p:txBody>
      </p:sp>
      <p:sp>
        <p:nvSpPr>
          <p:cNvPr id="6737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Introduction to Transaction Processing (2)</a:t>
            </a:r>
          </a:p>
        </p:txBody>
      </p:sp>
      <p:sp>
        <p:nvSpPr>
          <p:cNvPr id="6737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A </a:t>
            </a:r>
            <a:r>
              <a:rPr lang="en-US" sz="2400" b="1"/>
              <a:t>Transaction</a:t>
            </a:r>
            <a:r>
              <a:rPr lang="en-US" sz="2400"/>
              <a:t>: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Logical unit of database processing that includes one or more access operations (read -retrieval, write - insert or update, delete).</a:t>
            </a:r>
          </a:p>
          <a:p>
            <a:pPr>
              <a:lnSpc>
                <a:spcPct val="80000"/>
              </a:lnSpc>
            </a:pPr>
            <a:r>
              <a:rPr lang="en-US" sz="2400"/>
              <a:t>A transaction (set of operations) may be stand-alone specified in a high level language like SQL submitted interactively, or may be embedded within a program.</a:t>
            </a:r>
          </a:p>
          <a:p>
            <a:pPr>
              <a:lnSpc>
                <a:spcPct val="80000"/>
              </a:lnSpc>
            </a:pPr>
            <a:r>
              <a:rPr lang="en-US" sz="2400" b="1"/>
              <a:t>Transaction boundaries</a:t>
            </a:r>
            <a:r>
              <a:rPr lang="en-US" sz="2400"/>
              <a:t>: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Begin and End transaction.</a:t>
            </a:r>
          </a:p>
          <a:p>
            <a:pPr>
              <a:lnSpc>
                <a:spcPct val="80000"/>
              </a:lnSpc>
            </a:pPr>
            <a:r>
              <a:rPr lang="en-US" sz="2400"/>
              <a:t>An </a:t>
            </a:r>
            <a:r>
              <a:rPr lang="en-US" sz="2400" b="1"/>
              <a:t>application program</a:t>
            </a:r>
            <a:r>
              <a:rPr lang="en-US" sz="2400"/>
              <a:t> may contain several transactions separated by the Begin and End transaction boundaries.</a:t>
            </a:r>
          </a:p>
        </p:txBody>
      </p:sp>
    </p:spTree>
    <p:extLst>
      <p:ext uri="{BB962C8B-B14F-4D97-AF65-F5344CB8AC3E}">
        <p14:creationId xmlns:p14="http://schemas.microsoft.com/office/powerpoint/2010/main" val="347735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6BB85A51-8A3C-4DD4-80C6-A4BB3721EC32}" type="slidenum">
              <a:rPr lang="en-US"/>
              <a:pPr/>
              <a:t>3</a:t>
            </a:fld>
            <a:endParaRPr lang="en-CA"/>
          </a:p>
        </p:txBody>
      </p:sp>
      <p:sp>
        <p:nvSpPr>
          <p:cNvPr id="675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Introduction to Transaction Processing (3)</a:t>
            </a:r>
          </a:p>
        </p:txBody>
      </p:sp>
      <p:sp>
        <p:nvSpPr>
          <p:cNvPr id="6758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Basic operations are </a:t>
            </a:r>
            <a:r>
              <a:rPr lang="en-US" sz="2400" b="1" dirty="0"/>
              <a:t>read</a:t>
            </a:r>
            <a:r>
              <a:rPr lang="en-US" sz="2400" dirty="0"/>
              <a:t> and </a:t>
            </a:r>
            <a:r>
              <a:rPr lang="en-US" sz="2400" b="1" dirty="0"/>
              <a:t>write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b="1" dirty="0"/>
          </a:p>
          <a:p>
            <a:pPr lvl="1">
              <a:lnSpc>
                <a:spcPct val="90000"/>
              </a:lnSpc>
            </a:pPr>
            <a:r>
              <a:rPr lang="en-US" sz="2400" b="1" dirty="0" err="1"/>
              <a:t>read_item</a:t>
            </a:r>
            <a:r>
              <a:rPr lang="en-US" sz="2400" b="1" dirty="0"/>
              <a:t>(X</a:t>
            </a:r>
            <a:r>
              <a:rPr lang="en-US" sz="2400" dirty="0"/>
              <a:t>): Reads a database item named X into a program variable. To simplify our notation, we assume that the program variable is also named X.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 err="1"/>
              <a:t>write_item</a:t>
            </a:r>
            <a:r>
              <a:rPr lang="en-US" sz="2400" b="1" dirty="0"/>
              <a:t>(X</a:t>
            </a:r>
            <a:r>
              <a:rPr lang="en-US" sz="2400" dirty="0"/>
              <a:t>): Writes the value of program variable X into the database item named X.</a:t>
            </a:r>
          </a:p>
        </p:txBody>
      </p:sp>
    </p:spTree>
    <p:extLst>
      <p:ext uri="{BB962C8B-B14F-4D97-AF65-F5344CB8AC3E}">
        <p14:creationId xmlns:p14="http://schemas.microsoft.com/office/powerpoint/2010/main" val="198446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F03913F6-C1FD-4BC1-8981-71D5B720FEC0}" type="slidenum">
              <a:rPr lang="en-US"/>
              <a:pPr/>
              <a:t>4</a:t>
            </a:fld>
            <a:endParaRPr lang="en-CA"/>
          </a:p>
        </p:txBody>
      </p:sp>
      <p:sp>
        <p:nvSpPr>
          <p:cNvPr id="67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Introduction to Transaction Processing (4)</a:t>
            </a:r>
          </a:p>
        </p:txBody>
      </p:sp>
      <p:sp>
        <p:nvSpPr>
          <p:cNvPr id="677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READ AND WRITE OPERATIONS:</a:t>
            </a:r>
          </a:p>
          <a:p>
            <a:pPr>
              <a:lnSpc>
                <a:spcPct val="80000"/>
              </a:lnSpc>
            </a:pPr>
            <a:r>
              <a:rPr lang="en-US" sz="2400"/>
              <a:t>Basic unit of data transfer from the disk to the computer main memory is one block. In general, a data item (what is read or written) will be the field of some record in the database, although it may be a larger unit such as a record or even a whole block.</a:t>
            </a:r>
          </a:p>
          <a:p>
            <a:pPr>
              <a:lnSpc>
                <a:spcPct val="80000"/>
              </a:lnSpc>
            </a:pPr>
            <a:r>
              <a:rPr lang="en-US" sz="2400"/>
              <a:t>read_item(X) command includes the following steps: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Find the address of the disk block that contains item X.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Copy that disk block into a buffer in main memory (if that disk block is not already in some main memory buffer).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Copy item X from the buffer to the program variable named X.   </a:t>
            </a:r>
          </a:p>
        </p:txBody>
      </p:sp>
    </p:spTree>
    <p:extLst>
      <p:ext uri="{BB962C8B-B14F-4D97-AF65-F5344CB8AC3E}">
        <p14:creationId xmlns:p14="http://schemas.microsoft.com/office/powerpoint/2010/main" val="346656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515743C0-516E-44DB-8DDF-37AA3C4AE9D3}" type="slidenum">
              <a:rPr lang="en-US"/>
              <a:pPr/>
              <a:t>5</a:t>
            </a:fld>
            <a:endParaRPr lang="en-CA"/>
          </a:p>
        </p:txBody>
      </p:sp>
      <p:sp>
        <p:nvSpPr>
          <p:cNvPr id="679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Introduction to Transaction Processing (5)</a:t>
            </a:r>
          </a:p>
        </p:txBody>
      </p:sp>
      <p:sp>
        <p:nvSpPr>
          <p:cNvPr id="6799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READ AND WRITE OPERATIONS (contd.):</a:t>
            </a:r>
          </a:p>
          <a:p>
            <a:pPr>
              <a:lnSpc>
                <a:spcPct val="80000"/>
              </a:lnSpc>
            </a:pPr>
            <a:r>
              <a:rPr lang="en-US" sz="2400" b="1"/>
              <a:t>write_item(X</a:t>
            </a:r>
            <a:r>
              <a:rPr lang="en-US" sz="2400"/>
              <a:t>) command includes the following steps: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Find the address of the disk block that contains item X.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Copy that disk block into a buffer in main memory (if that disk block is not already in some main memory buffer).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Copy item X from the program variable named X into its correct location in the buffer.</a:t>
            </a:r>
          </a:p>
          <a:p>
            <a:pPr lvl="1">
              <a:lnSpc>
                <a:spcPct val="80000"/>
              </a:lnSpc>
            </a:pPr>
            <a:r>
              <a:rPr lang="en-US" sz="2100"/>
              <a:t>Store the updated block from the buffer back to disk (either immediately or at some later point in time). </a:t>
            </a:r>
          </a:p>
        </p:txBody>
      </p:sp>
    </p:spTree>
    <p:extLst>
      <p:ext uri="{BB962C8B-B14F-4D97-AF65-F5344CB8AC3E}">
        <p14:creationId xmlns:p14="http://schemas.microsoft.com/office/powerpoint/2010/main" val="400497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63EF67BB-C7C3-4D1B-BA19-987C2E4F08FD}" type="slidenum">
              <a:rPr lang="en-US"/>
              <a:pPr/>
              <a:t>6</a:t>
            </a:fld>
            <a:endParaRPr lang="en-CA"/>
          </a:p>
        </p:txBody>
      </p:sp>
      <p:sp>
        <p:nvSpPr>
          <p:cNvPr id="6819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sample transactions</a:t>
            </a:r>
          </a:p>
        </p:txBody>
      </p:sp>
      <p:sp>
        <p:nvSpPr>
          <p:cNvPr id="6819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1295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/>
              <a:t>FIGURE 17.2 Two sample transactions:</a:t>
            </a:r>
          </a:p>
          <a:p>
            <a:pPr lvl="1">
              <a:lnSpc>
                <a:spcPct val="80000"/>
              </a:lnSpc>
            </a:pPr>
            <a:r>
              <a:rPr lang="en-US"/>
              <a:t>(a) Transaction T1</a:t>
            </a:r>
          </a:p>
          <a:p>
            <a:pPr lvl="1">
              <a:lnSpc>
                <a:spcPct val="80000"/>
              </a:lnSpc>
            </a:pPr>
            <a:r>
              <a:rPr lang="en-US"/>
              <a:t>(b) Transaction T2</a:t>
            </a:r>
          </a:p>
        </p:txBody>
      </p:sp>
      <p:pic>
        <p:nvPicPr>
          <p:cNvPr id="681987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239713" y="2819400"/>
            <a:ext cx="8294687" cy="3667125"/>
          </a:xfrm>
        </p:spPr>
      </p:pic>
    </p:spTree>
    <p:extLst>
      <p:ext uri="{BB962C8B-B14F-4D97-AF65-F5344CB8AC3E}">
        <p14:creationId xmlns:p14="http://schemas.microsoft.com/office/powerpoint/2010/main" val="76505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C0F715E3-E917-40E3-A1D9-9FAB0AAE6A85}" type="slidenum">
              <a:rPr lang="en-US"/>
              <a:pPr/>
              <a:t>7</a:t>
            </a:fld>
            <a:endParaRPr lang="en-CA"/>
          </a:p>
        </p:txBody>
      </p:sp>
      <p:sp>
        <p:nvSpPr>
          <p:cNvPr id="68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Introduction to Transaction Processing (6)</a:t>
            </a:r>
          </a:p>
        </p:txBody>
      </p:sp>
      <p:sp>
        <p:nvSpPr>
          <p:cNvPr id="6840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Why Concurrency Control is needed:</a:t>
            </a:r>
          </a:p>
          <a:p>
            <a:pPr>
              <a:lnSpc>
                <a:spcPct val="80000"/>
              </a:lnSpc>
            </a:pPr>
            <a:r>
              <a:rPr lang="en-US" sz="2000" b="1"/>
              <a:t>The Lost Update Problem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This occurs when two transactions that access the same database items have their operations interleaved in a way that makes the value of some database item incorrect. </a:t>
            </a:r>
          </a:p>
          <a:p>
            <a:pPr>
              <a:lnSpc>
                <a:spcPct val="80000"/>
              </a:lnSpc>
            </a:pPr>
            <a:r>
              <a:rPr lang="en-US" sz="2000" b="1"/>
              <a:t>The Temporary Update (or Dirty Read) Problem 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This occurs when one transaction updates a database item and then the transaction fails for some reason (see Section 17.1.4).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The updated item is accessed by another transaction before it is changed back to its original value. </a:t>
            </a:r>
          </a:p>
          <a:p>
            <a:pPr>
              <a:lnSpc>
                <a:spcPct val="80000"/>
              </a:lnSpc>
            </a:pPr>
            <a:r>
              <a:rPr lang="en-US" sz="2000" b="1"/>
              <a:t>The Incorrect Summary Problem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If one transaction is calculating an aggregate summary function on a number of records while other transactions are updating some of these records, the aggregate function may calculate some values before they are updated and others after they are updated. </a:t>
            </a:r>
          </a:p>
          <a:p>
            <a:pPr lvl="1">
              <a:lnSpc>
                <a:spcPct val="80000"/>
              </a:lnSpc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94032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0FEDB72B-417F-4720-9E41-39E797C1218E}" type="slidenum">
              <a:rPr lang="en-US"/>
              <a:pPr/>
              <a:t>8</a:t>
            </a:fld>
            <a:endParaRPr lang="en-CA"/>
          </a:p>
        </p:txBody>
      </p:sp>
      <p:sp>
        <p:nvSpPr>
          <p:cNvPr id="68813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Concurrent execution is uncontrolled: (a) The lost update problem. </a:t>
            </a:r>
          </a:p>
        </p:txBody>
      </p:sp>
      <p:pic>
        <p:nvPicPr>
          <p:cNvPr id="688137" name="Picture 9" descr="fig17_03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60848"/>
            <a:ext cx="8534400" cy="3671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007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85169322-A975-48FE-9BEE-1ABCE43F51B9}" type="slidenum">
              <a:rPr lang="en-US"/>
              <a:pPr/>
              <a:t>9</a:t>
            </a:fld>
            <a:endParaRPr lang="en-CA"/>
          </a:p>
        </p:txBody>
      </p:sp>
      <p:sp>
        <p:nvSpPr>
          <p:cNvPr id="69018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Concurrent execution is uncontrolled: (b) The temporary update problem.</a:t>
            </a:r>
          </a:p>
        </p:txBody>
      </p:sp>
      <p:pic>
        <p:nvPicPr>
          <p:cNvPr id="690186" name="Picture 10" descr="fig17_03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209800"/>
            <a:ext cx="8305800" cy="3570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861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17- </a:t>
            </a:r>
            <a:fld id="{9A636C21-4220-4594-B3D9-530EDC19F7F4}" type="slidenum">
              <a:rPr lang="en-US"/>
              <a:pPr/>
              <a:t>10</a:t>
            </a:fld>
            <a:endParaRPr lang="en-CA"/>
          </a:p>
        </p:txBody>
      </p:sp>
      <p:sp>
        <p:nvSpPr>
          <p:cNvPr id="69222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Concurrent execution is uncontrolled: (c) The incorrect summary problem.</a:t>
            </a:r>
          </a:p>
        </p:txBody>
      </p:sp>
      <p:pic>
        <p:nvPicPr>
          <p:cNvPr id="692233" name="Picture 9" descr="fig17_03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752600"/>
            <a:ext cx="7696200" cy="43354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39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18- </a:t>
            </a:r>
            <a:fld id="{E46B18CF-7331-488A-84B6-6C94E88B6BD3}" type="slidenum">
              <a:rPr lang="en-US"/>
              <a:pPr/>
              <a:t>11</a:t>
            </a:fld>
            <a:endParaRPr lang="en-CA"/>
          </a:p>
        </p:txBody>
      </p:sp>
      <p:sp>
        <p:nvSpPr>
          <p:cNvPr id="6717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Concurrency Control</a:t>
            </a:r>
          </a:p>
        </p:txBody>
      </p:sp>
      <p:sp>
        <p:nvSpPr>
          <p:cNvPr id="6717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1   Purpose of Concurrency Control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To enforce Isolation (through mutual exclusion) among conflicting transactions. 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To preserve database consistency through consistency preserving execution of transactions.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To resolve read-write and write-write conflicts.</a:t>
            </a:r>
          </a:p>
          <a:p>
            <a:pPr lvl="1">
              <a:lnSpc>
                <a:spcPct val="90000"/>
              </a:lnSpc>
            </a:pPr>
            <a:endParaRPr lang="en-US" sz="2200"/>
          </a:p>
          <a:p>
            <a:pPr>
              <a:lnSpc>
                <a:spcPct val="90000"/>
              </a:lnSpc>
            </a:pPr>
            <a:r>
              <a:rPr lang="en-US" sz="2400"/>
              <a:t>Example: 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In concurrent execution environment if T1 conflicts with T2 over a data item A, then the existing concurrency control decides if T1 or T2 should get the A and if the other transaction is rolled-back or waits.  </a:t>
            </a:r>
          </a:p>
        </p:txBody>
      </p:sp>
    </p:spTree>
    <p:extLst>
      <p:ext uri="{BB962C8B-B14F-4D97-AF65-F5344CB8AC3E}">
        <p14:creationId xmlns:p14="http://schemas.microsoft.com/office/powerpoint/2010/main" val="72095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Transactions and Recovery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Desirable Properties of Transactions</a:t>
            </a:r>
            <a:br>
              <a:rPr lang="en-IN" dirty="0"/>
            </a:br>
            <a:r>
              <a:rPr lang="en-GB" altLang="en-US" dirty="0"/>
              <a:t>Atomicity and Consistency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altLang="en-US" sz="2400"/>
              <a:t>Atomicity</a:t>
            </a:r>
          </a:p>
          <a:p>
            <a:pPr lvl="1"/>
            <a:r>
              <a:rPr lang="en-GB" altLang="en-US" sz="2000"/>
              <a:t>Transactions are atomic – they don’t have parts (conceptually)</a:t>
            </a:r>
          </a:p>
          <a:p>
            <a:pPr lvl="1"/>
            <a:r>
              <a:rPr lang="en-GB" altLang="en-US" sz="2000"/>
              <a:t>can’t be executed partially; it should not be detectable that they interleave with another transaction 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altLang="en-US" sz="2400"/>
              <a:t>Consistency</a:t>
            </a:r>
          </a:p>
          <a:p>
            <a:pPr lvl="1"/>
            <a:r>
              <a:rPr lang="en-GB" altLang="en-US" sz="2000"/>
              <a:t>Transactions take the database from one consistent state into another</a:t>
            </a:r>
          </a:p>
          <a:p>
            <a:pPr lvl="1"/>
            <a:r>
              <a:rPr lang="en-GB" altLang="en-US" sz="2000"/>
              <a:t>In the middle of a transaction the database might not be consistent</a:t>
            </a:r>
          </a:p>
        </p:txBody>
      </p:sp>
    </p:spTree>
    <p:extLst>
      <p:ext uri="{BB962C8B-B14F-4D97-AF65-F5344CB8AC3E}">
        <p14:creationId xmlns:p14="http://schemas.microsoft.com/office/powerpoint/2010/main" val="160051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Transactions and Recovery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Desirable Properties of Transactions</a:t>
            </a:r>
            <a:br>
              <a:rPr lang="en-IN" dirty="0"/>
            </a:br>
            <a:r>
              <a:rPr lang="en-GB" altLang="en-US" dirty="0"/>
              <a:t>Isolation and Durability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Isolation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The effects of a transaction are not visible to other transactions until it has completed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From outside the transaction has either happened or not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To me this actually sounds like a consequence of atomicity…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Durability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Once a transaction has completed, its changes are made permanent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Even if the system crashes, the effects of a transaction must remain in place</a:t>
            </a:r>
          </a:p>
          <a:p>
            <a:pPr lvl="1">
              <a:lnSpc>
                <a:spcPct val="90000"/>
              </a:lnSpc>
            </a:pPr>
            <a:endParaRPr lang="en-GB" altLang="en-US" sz="2000"/>
          </a:p>
        </p:txBody>
      </p:sp>
    </p:spTree>
    <p:extLst>
      <p:ext uri="{BB962C8B-B14F-4D97-AF65-F5344CB8AC3E}">
        <p14:creationId xmlns:p14="http://schemas.microsoft.com/office/powerpoint/2010/main" val="156998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Serial schedule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7606077-ED0A-49BE-9F3C-CF26A013B007}" type="slidenum">
              <a:rPr lang="en-US" i="0" smtClean="0">
                <a:solidFill>
                  <a:prstClr val="black"/>
                </a:solidFill>
              </a:rPr>
              <a:pPr/>
              <a:t>14</a:t>
            </a:fld>
            <a:endParaRPr lang="en-US" i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" y="5854700"/>
            <a:ext cx="424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0">
                <a:solidFill>
                  <a:prstClr val="black"/>
                </a:solidFill>
              </a:rPr>
              <a:t>S</a:t>
            </a:r>
            <a:r>
              <a:rPr lang="en-US" sz="1400" i="0" baseline="-25000">
                <a:solidFill>
                  <a:prstClr val="black"/>
                </a:solidFill>
              </a:rPr>
              <a:t>a</a:t>
            </a:r>
            <a:r>
              <a:rPr lang="en-US" sz="1400" i="0">
                <a:solidFill>
                  <a:prstClr val="black"/>
                </a:solidFill>
              </a:rPr>
              <a:t>: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 r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</a:t>
            </a:r>
            <a:r>
              <a:rPr 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0966" name="TextBox 3"/>
          <p:cNvSpPr txBox="1">
            <a:spLocks noChangeArrowheads="1"/>
          </p:cNvSpPr>
          <p:nvPr/>
        </p:nvSpPr>
        <p:spPr bwMode="auto">
          <a:xfrm>
            <a:off x="4800600" y="5857875"/>
            <a:ext cx="41513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0">
                <a:solidFill>
                  <a:prstClr val="black"/>
                </a:solidFill>
              </a:rPr>
              <a:t>S</a:t>
            </a:r>
            <a:r>
              <a:rPr lang="en-US" sz="1400" i="0" baseline="-25000">
                <a:solidFill>
                  <a:prstClr val="black"/>
                </a:solidFill>
              </a:rPr>
              <a:t>b</a:t>
            </a:r>
            <a:r>
              <a:rPr lang="en-US" sz="1400" i="0">
                <a:solidFill>
                  <a:prstClr val="black"/>
                </a:solidFill>
              </a:rPr>
              <a:t>: r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</a:t>
            </a:r>
          </a:p>
        </p:txBody>
      </p:sp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066925"/>
            <a:ext cx="3895725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3800475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66123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/>
              <a:t>Non-serial schedule</a:t>
            </a: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D7DC1C8C-0BBD-4D9C-934F-C6EA98D86C3E}" type="slidenum">
              <a:rPr lang="en-US" i="0" smtClean="0">
                <a:solidFill>
                  <a:prstClr val="black"/>
                </a:solidFill>
              </a:rPr>
              <a:pPr/>
              <a:t>15</a:t>
            </a:fld>
            <a:endParaRPr lang="en-US" i="0">
              <a:solidFill>
                <a:prstClr val="black"/>
              </a:solidFill>
            </a:endParaRPr>
          </a:p>
        </p:txBody>
      </p:sp>
      <p:pic>
        <p:nvPicPr>
          <p:cNvPr id="358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543050"/>
            <a:ext cx="3552825" cy="391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24000"/>
            <a:ext cx="3543300" cy="377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5529263"/>
            <a:ext cx="4202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0">
                <a:solidFill>
                  <a:prstClr val="black"/>
                </a:solidFill>
              </a:rPr>
              <a:t>S</a:t>
            </a:r>
            <a:r>
              <a:rPr lang="en-US" sz="1400" i="0" baseline="-25000">
                <a:solidFill>
                  <a:prstClr val="black"/>
                </a:solidFill>
              </a:rPr>
              <a:t>c</a:t>
            </a:r>
            <a:r>
              <a:rPr lang="en-US" sz="1400" i="0">
                <a:solidFill>
                  <a:prstClr val="black"/>
                </a:solidFill>
              </a:rPr>
              <a:t>: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r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(X); r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 w</a:t>
            </a:r>
            <a:r>
              <a:rPr lang="en-US" sz="1400" i="0" baseline="-25000">
                <a:solidFill>
                  <a:prstClr val="black"/>
                </a:solidFill>
              </a:rPr>
              <a:t>2</a:t>
            </a:r>
            <a:r>
              <a:rPr lang="en-US" sz="1400" i="0">
                <a:solidFill>
                  <a:prstClr val="black"/>
                </a:solidFill>
              </a:rPr>
              <a:t>(X); w</a:t>
            </a:r>
            <a:r>
              <a:rPr lang="en-US" sz="1400" i="0" baseline="-25000">
                <a:solidFill>
                  <a:prstClr val="black"/>
                </a:solidFill>
              </a:rPr>
              <a:t>1</a:t>
            </a:r>
            <a:r>
              <a:rPr lang="en-US" sz="1400" i="0">
                <a:solidFill>
                  <a:prstClr val="black"/>
                </a:solidFill>
              </a:rPr>
              <a:t>(Y); 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343400" y="5453063"/>
            <a:ext cx="47212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0">
                <a:solidFill>
                  <a:prstClr val="black"/>
                </a:solidFill>
              </a:rPr>
              <a:t>S</a:t>
            </a:r>
            <a:r>
              <a:rPr lang="en-US" sz="1600" i="0" baseline="-25000">
                <a:solidFill>
                  <a:prstClr val="black"/>
                </a:solidFill>
              </a:rPr>
              <a:t>d</a:t>
            </a:r>
            <a:r>
              <a:rPr lang="en-US" sz="1600" i="0">
                <a:solidFill>
                  <a:prstClr val="black"/>
                </a:solidFill>
              </a:rPr>
              <a:t>: r</a:t>
            </a:r>
            <a:r>
              <a:rPr lang="en-US" sz="1600" i="0" baseline="-25000">
                <a:solidFill>
                  <a:prstClr val="black"/>
                </a:solidFill>
              </a:rPr>
              <a:t>1</a:t>
            </a:r>
            <a:r>
              <a:rPr lang="en-US" sz="1600" i="0">
                <a:solidFill>
                  <a:prstClr val="black"/>
                </a:solidFill>
              </a:rPr>
              <a:t>(X); w</a:t>
            </a:r>
            <a:r>
              <a:rPr lang="en-US" sz="1600" i="0" baseline="-25000">
                <a:solidFill>
                  <a:prstClr val="black"/>
                </a:solidFill>
              </a:rPr>
              <a:t>1</a:t>
            </a:r>
            <a:r>
              <a:rPr lang="en-US" sz="1600" i="0">
                <a:solidFill>
                  <a:prstClr val="black"/>
                </a:solidFill>
              </a:rPr>
              <a:t>(X); r</a:t>
            </a:r>
            <a:r>
              <a:rPr lang="en-US" sz="1600" i="0" baseline="-25000">
                <a:solidFill>
                  <a:prstClr val="black"/>
                </a:solidFill>
              </a:rPr>
              <a:t>2</a:t>
            </a:r>
            <a:r>
              <a:rPr lang="en-US" sz="1600" i="0">
                <a:solidFill>
                  <a:prstClr val="black"/>
                </a:solidFill>
              </a:rPr>
              <a:t>(X); w</a:t>
            </a:r>
            <a:r>
              <a:rPr lang="en-US" sz="1600" i="0" baseline="-25000">
                <a:solidFill>
                  <a:prstClr val="black"/>
                </a:solidFill>
              </a:rPr>
              <a:t>2</a:t>
            </a:r>
            <a:r>
              <a:rPr lang="en-US" sz="1600" i="0">
                <a:solidFill>
                  <a:prstClr val="black"/>
                </a:solidFill>
              </a:rPr>
              <a:t>(X); r</a:t>
            </a:r>
            <a:r>
              <a:rPr lang="en-US" sz="1600" i="0" baseline="-25000">
                <a:solidFill>
                  <a:prstClr val="black"/>
                </a:solidFill>
              </a:rPr>
              <a:t>1</a:t>
            </a:r>
            <a:r>
              <a:rPr lang="en-US" sz="1600" i="0">
                <a:solidFill>
                  <a:prstClr val="black"/>
                </a:solidFill>
              </a:rPr>
              <a:t>(Y); w</a:t>
            </a:r>
            <a:r>
              <a:rPr lang="en-US" sz="1600" i="0" baseline="-25000">
                <a:solidFill>
                  <a:prstClr val="black"/>
                </a:solidFill>
              </a:rPr>
              <a:t>1</a:t>
            </a:r>
            <a:r>
              <a:rPr lang="en-US" sz="1600" i="0">
                <a:solidFill>
                  <a:prstClr val="black"/>
                </a:solidFill>
              </a:rPr>
              <a:t>(Y)</a:t>
            </a:r>
            <a:r>
              <a:rPr lang="en-US" i="0">
                <a:solidFill>
                  <a:prstClr val="blac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7693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20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F2D95FD-F926-4D91-A3F8-A9B67CDACD20}" type="slidenum">
              <a:rPr lang="en-US" altLang="en-US" smtClean="0">
                <a:solidFill>
                  <a:srgbClr val="000000"/>
                </a:solidFill>
              </a:rPr>
              <a:pPr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2054" name="Rectangle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/>
              <a:t>Schedules</a:t>
            </a:r>
          </a:p>
        </p:txBody>
      </p:sp>
      <p:sp>
        <p:nvSpPr>
          <p:cNvPr id="2055" name="Rectangle 5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schedule</a:t>
            </a:r>
            <a:r>
              <a:rPr lang="en-US" altLang="en-US"/>
              <a:t> (or history) </a:t>
            </a:r>
            <a:r>
              <a:rPr lang="en-US" altLang="en-US" i="1"/>
              <a:t>S</a:t>
            </a:r>
            <a:r>
              <a:rPr lang="en-US" altLang="en-US"/>
              <a:t> of transactions (T1, T2 …TN) is ...</a:t>
            </a:r>
          </a:p>
          <a:p>
            <a:pPr lvl="1" eaLnBrk="1" hangingPunct="1"/>
            <a:r>
              <a:rPr lang="en-US" altLang="en-US"/>
              <a:t>an interleaving of the set of actions contained in (T1, T2 .. TN) such that the actions of any single transaction are in order</a:t>
            </a:r>
          </a:p>
          <a:p>
            <a:pPr lvl="1" eaLnBrk="1" hangingPunct="1"/>
            <a:r>
              <a:rPr lang="en-US" altLang="en-US"/>
              <a:t>interleaving of actions from transactions is allowed</a:t>
            </a:r>
          </a:p>
        </p:txBody>
      </p:sp>
    </p:spTree>
    <p:extLst>
      <p:ext uri="{BB962C8B-B14F-4D97-AF65-F5344CB8AC3E}">
        <p14:creationId xmlns:p14="http://schemas.microsoft.com/office/powerpoint/2010/main" val="169333460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30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F15663D-568C-4F9F-84EB-82F0CAD14225}" type="slidenum">
              <a:rPr lang="en-US" altLang="en-US" smtClean="0">
                <a:solidFill>
                  <a:srgbClr val="000000"/>
                </a:solidFill>
              </a:rPr>
              <a:pPr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307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/>
              <a:t>For Example</a:t>
            </a:r>
          </a:p>
        </p:txBody>
      </p:sp>
      <p:sp>
        <p:nvSpPr>
          <p:cNvPr id="3079" name="Rectangle 5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buFontTx/>
              <a:buNone/>
            </a:pPr>
            <a:r>
              <a:rPr lang="en-US" altLang="en-US"/>
              <a:t>T1(a, b, c)         T2(p, q, r, s)</a:t>
            </a:r>
          </a:p>
          <a:p>
            <a:pPr eaLnBrk="1" hangingPunct="1">
              <a:buFontTx/>
              <a:buNone/>
            </a:pPr>
            <a:r>
              <a:rPr lang="en-US" altLang="en-US"/>
              <a:t>These are schedules:</a:t>
            </a:r>
          </a:p>
          <a:p>
            <a:pPr lvl="1" eaLnBrk="1" hangingPunct="1"/>
            <a:r>
              <a:rPr lang="en-US" altLang="en-US"/>
              <a:t>S1:  (a, b, p, c, q, r, s)</a:t>
            </a:r>
          </a:p>
          <a:p>
            <a:pPr lvl="1" eaLnBrk="1" hangingPunct="1"/>
            <a:r>
              <a:rPr lang="en-US" altLang="en-US"/>
              <a:t>S2:  (p, a, q, b, c, r, s)</a:t>
            </a:r>
          </a:p>
          <a:p>
            <a:pPr lvl="1" eaLnBrk="1" hangingPunct="1"/>
            <a:r>
              <a:rPr lang="en-US" altLang="en-US"/>
              <a:t>S3:  (a, b, c, p, q, r, s)</a:t>
            </a:r>
          </a:p>
          <a:p>
            <a:pPr eaLnBrk="1" hangingPunct="1">
              <a:buFontTx/>
              <a:buNone/>
            </a:pPr>
            <a:r>
              <a:rPr lang="en-US" altLang="en-US"/>
              <a:t>This is not:</a:t>
            </a:r>
          </a:p>
          <a:p>
            <a:pPr lvl="1" eaLnBrk="1" hangingPunct="1"/>
            <a:r>
              <a:rPr lang="en-US" altLang="en-US"/>
              <a:t>S4: (s, r, c, b, a, p, q)</a:t>
            </a:r>
          </a:p>
        </p:txBody>
      </p:sp>
    </p:spTree>
    <p:extLst>
      <p:ext uri="{BB962C8B-B14F-4D97-AF65-F5344CB8AC3E}">
        <p14:creationId xmlns:p14="http://schemas.microsoft.com/office/powerpoint/2010/main" val="17088479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58989EA-D1BA-4F84-AC57-E34E0EF0DB4A}" type="slidenum">
              <a:rPr lang="en-US" altLang="en-US" smtClean="0">
                <a:solidFill>
                  <a:srgbClr val="000000"/>
                </a:solidFill>
              </a:rPr>
              <a:pPr/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Acceptable Schedules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Serial Schedules</a:t>
            </a:r>
          </a:p>
          <a:p>
            <a:pPr lvl="1" eaLnBrk="1" hangingPunct="1"/>
            <a:r>
              <a:rPr lang="en-US" altLang="en-US"/>
              <a:t>transactions run one at a time from start to finish; no interleaving. </a:t>
            </a:r>
          </a:p>
          <a:p>
            <a:pPr eaLnBrk="1" hangingPunct="1"/>
            <a:r>
              <a:rPr lang="en-US" altLang="en-US"/>
              <a:t>Serializable Schedules</a:t>
            </a:r>
          </a:p>
          <a:p>
            <a:pPr lvl="1" eaLnBrk="1" hangingPunct="1"/>
            <a:r>
              <a:rPr lang="en-US" altLang="en-US"/>
              <a:t>are equivalent to some serial schedule of the same transactions</a:t>
            </a:r>
          </a:p>
          <a:p>
            <a:pPr lvl="1" eaLnBrk="1" hangingPunct="1"/>
            <a:r>
              <a:rPr lang="en-US" altLang="en-US"/>
              <a:t>final state is what some serial schedule would have produced.</a:t>
            </a:r>
          </a:p>
        </p:txBody>
      </p:sp>
    </p:spTree>
    <p:extLst>
      <p:ext uri="{BB962C8B-B14F-4D97-AF65-F5344CB8AC3E}">
        <p14:creationId xmlns:p14="http://schemas.microsoft.com/office/powerpoint/2010/main" val="85401159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5C9DA64-4B94-458A-82D2-744992554CC6}" type="slidenum">
              <a:rPr lang="en-US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Correctness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 assume that a serial schedule is correct assuming that:</a:t>
            </a:r>
          </a:p>
          <a:p>
            <a:pPr lvl="1" eaLnBrk="1" hangingPunct="1"/>
            <a:r>
              <a:rPr lang="en-US" altLang="en-US"/>
              <a:t>transactions are independent; they do not depend on each other</a:t>
            </a:r>
          </a:p>
          <a:p>
            <a:pPr lvl="1" eaLnBrk="1" hangingPunct="1"/>
            <a:r>
              <a:rPr lang="en-US" altLang="en-US"/>
              <a:t>each transaction is correct if executed on its own</a:t>
            </a:r>
          </a:p>
          <a:p>
            <a:pPr eaLnBrk="1" hangingPunct="1"/>
            <a:r>
              <a:rPr lang="en-US" altLang="en-US"/>
              <a:t>So, why not just use serial schedules?</a:t>
            </a:r>
          </a:p>
        </p:txBody>
      </p:sp>
    </p:spTree>
    <p:extLst>
      <p:ext uri="{BB962C8B-B14F-4D97-AF65-F5344CB8AC3E}">
        <p14:creationId xmlns:p14="http://schemas.microsoft.com/office/powerpoint/2010/main" val="302673321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A4DE269-E9AB-469D-B613-BE62196F639E}" type="slidenum">
              <a:rPr lang="en-US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Because ...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Limits concurrency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wastes resources that could be utilized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for example, if a transaction is busy with I/O, the CPU could be used for another transaction.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Concurrency generally decreases the response time of shorter transactions because they don’t have to wait for longer transactions to complete.</a:t>
            </a:r>
          </a:p>
        </p:txBody>
      </p:sp>
    </p:spTree>
    <p:extLst>
      <p:ext uri="{BB962C8B-B14F-4D97-AF65-F5344CB8AC3E}">
        <p14:creationId xmlns:p14="http://schemas.microsoft.com/office/powerpoint/2010/main" val="799829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D8347D7-0B2A-413F-8509-0CDEA59ED8AC}" type="slidenum">
              <a:rPr lang="en-US" altLang="en-US" smtClean="0">
                <a:solidFill>
                  <a:srgbClr val="000000"/>
                </a:solidFill>
              </a:rPr>
              <a:pPr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Serializability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Some non-serial schedules produce correct results; others don’t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Serializability theory is used to ensure that only those schedules which produce correct results are used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schedule </a:t>
            </a:r>
            <a:r>
              <a:rPr lang="en-US" altLang="en-US" i="1"/>
              <a:t>S</a:t>
            </a:r>
            <a:r>
              <a:rPr lang="en-US" altLang="en-US"/>
              <a:t> of n transactions is </a:t>
            </a:r>
            <a:r>
              <a:rPr lang="en-US" altLang="en-US" b="1" i="1"/>
              <a:t>serializable</a:t>
            </a:r>
            <a:r>
              <a:rPr lang="en-US" altLang="en-US"/>
              <a:t> if it is equivalent to some serial schedule of the same n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9033072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5CEB4C3-E4FC-4230-92AB-5F25445E5FCE}" type="slidenum">
              <a:rPr lang="en-US" altLang="en-US" smtClean="0">
                <a:solidFill>
                  <a:srgbClr val="000000"/>
                </a:solidFill>
              </a:rPr>
              <a:pPr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6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70" name="Rectangle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/>
              <a:t>Conflict Equivalence</a:t>
            </a:r>
          </a:p>
        </p:txBody>
      </p:sp>
      <p:sp>
        <p:nvSpPr>
          <p:cNvPr id="112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3352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2 operations in a schedule </a:t>
            </a:r>
            <a:r>
              <a:rPr lang="en-US" altLang="en-US" b="1" i="1"/>
              <a:t>conflict</a:t>
            </a:r>
            <a:r>
              <a:rPr lang="en-US" altLang="en-US"/>
              <a:t> if</a:t>
            </a:r>
          </a:p>
          <a:p>
            <a:pPr lvl="1" eaLnBrk="1" hangingPunct="1"/>
            <a:r>
              <a:rPr lang="en-US" altLang="en-US"/>
              <a:t>they belong to different transactions</a:t>
            </a:r>
          </a:p>
          <a:p>
            <a:pPr lvl="1" eaLnBrk="1" hangingPunct="1"/>
            <a:r>
              <a:rPr lang="en-US" altLang="en-US"/>
              <a:t>they access same item X</a:t>
            </a:r>
          </a:p>
          <a:p>
            <a:pPr lvl="1" eaLnBrk="1" hangingPunct="1"/>
            <a:r>
              <a:rPr lang="en-US" altLang="en-US"/>
              <a:t>one of the operations is a write_item(X)</a:t>
            </a:r>
          </a:p>
          <a:p>
            <a:pPr eaLnBrk="1" hangingPunct="1"/>
            <a:endParaRPr lang="en-US" altLang="en-US"/>
          </a:p>
        </p:txBody>
      </p:sp>
      <p:grpSp>
        <p:nvGrpSpPr>
          <p:cNvPr id="11272" name="Group 6"/>
          <p:cNvGrpSpPr>
            <a:grpSpLocks/>
          </p:cNvGrpSpPr>
          <p:nvPr/>
        </p:nvGrpSpPr>
        <p:grpSpPr bwMode="auto">
          <a:xfrm>
            <a:off x="685800" y="4267200"/>
            <a:ext cx="1066800" cy="1244600"/>
            <a:chOff x="432" y="2688"/>
            <a:chExt cx="672" cy="784"/>
          </a:xfrm>
        </p:grpSpPr>
        <p:sp>
          <p:nvSpPr>
            <p:cNvPr id="11285" name="Text Box 7"/>
            <p:cNvSpPr txBox="1">
              <a:spLocks noChangeArrowheads="1"/>
            </p:cNvSpPr>
            <p:nvPr/>
          </p:nvSpPr>
          <p:spPr bwMode="auto">
            <a:xfrm>
              <a:off x="576" y="2688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T1</a:t>
              </a:r>
            </a:p>
          </p:txBody>
        </p:sp>
        <p:sp>
          <p:nvSpPr>
            <p:cNvPr id="11286" name="Text Box 8"/>
            <p:cNvSpPr txBox="1">
              <a:spLocks noChangeArrowheads="1"/>
            </p:cNvSpPr>
            <p:nvPr/>
          </p:nvSpPr>
          <p:spPr bwMode="auto">
            <a:xfrm>
              <a:off x="566" y="2954"/>
              <a:ext cx="52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r(X)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w(X)</a:t>
              </a:r>
            </a:p>
          </p:txBody>
        </p:sp>
        <p:sp>
          <p:nvSpPr>
            <p:cNvPr id="11287" name="Line 9"/>
            <p:cNvSpPr>
              <a:spLocks noChangeShapeType="1"/>
            </p:cNvSpPr>
            <p:nvPr/>
          </p:nvSpPr>
          <p:spPr bwMode="auto">
            <a:xfrm>
              <a:off x="432" y="2976"/>
              <a:ext cx="6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srgbClr val="000000"/>
                </a:solidFill>
              </a:endParaRPr>
            </a:p>
          </p:txBody>
        </p:sp>
      </p:grpSp>
      <p:grpSp>
        <p:nvGrpSpPr>
          <p:cNvPr id="11273" name="Group 10"/>
          <p:cNvGrpSpPr>
            <a:grpSpLocks/>
          </p:cNvGrpSpPr>
          <p:nvPr/>
        </p:nvGrpSpPr>
        <p:grpSpPr bwMode="auto">
          <a:xfrm>
            <a:off x="2209800" y="4267200"/>
            <a:ext cx="1066800" cy="1609725"/>
            <a:chOff x="432" y="2688"/>
            <a:chExt cx="672" cy="1014"/>
          </a:xfrm>
        </p:grpSpPr>
        <p:sp>
          <p:nvSpPr>
            <p:cNvPr id="11282" name="Text Box 11"/>
            <p:cNvSpPr txBox="1">
              <a:spLocks noChangeArrowheads="1"/>
            </p:cNvSpPr>
            <p:nvPr/>
          </p:nvSpPr>
          <p:spPr bwMode="auto">
            <a:xfrm>
              <a:off x="576" y="2688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T2</a:t>
              </a:r>
            </a:p>
          </p:txBody>
        </p:sp>
        <p:sp>
          <p:nvSpPr>
            <p:cNvPr id="11283" name="Text Box 12"/>
            <p:cNvSpPr txBox="1">
              <a:spLocks noChangeArrowheads="1"/>
            </p:cNvSpPr>
            <p:nvPr/>
          </p:nvSpPr>
          <p:spPr bwMode="auto">
            <a:xfrm>
              <a:off x="566" y="2954"/>
              <a:ext cx="52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r(X)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000000"/>
                  </a:solidFill>
                  <a:latin typeface="Times New Roman" pitchFamily="18" charset="0"/>
                </a:rPr>
                <a:t>w(X)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284" name="Line 13"/>
            <p:cNvSpPr>
              <a:spLocks noChangeShapeType="1"/>
            </p:cNvSpPr>
            <p:nvPr/>
          </p:nvSpPr>
          <p:spPr bwMode="auto">
            <a:xfrm>
              <a:off x="432" y="2976"/>
              <a:ext cx="6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srgbClr val="000000"/>
                </a:solidFill>
              </a:endParaRPr>
            </a:p>
          </p:txBody>
        </p:sp>
      </p:grpSp>
      <p:sp>
        <p:nvSpPr>
          <p:cNvPr id="11274" name="Text Box 14"/>
          <p:cNvSpPr txBox="1">
            <a:spLocks noChangeArrowheads="1"/>
          </p:cNvSpPr>
          <p:nvPr/>
        </p:nvSpPr>
        <p:spPr bwMode="auto">
          <a:xfrm>
            <a:off x="4327525" y="4765675"/>
            <a:ext cx="4073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S1: r1(X), r2(X), w1(X), w2(X)</a:t>
            </a:r>
          </a:p>
        </p:txBody>
      </p:sp>
      <p:sp>
        <p:nvSpPr>
          <p:cNvPr id="11275" name="Line 15"/>
          <p:cNvSpPr>
            <a:spLocks noChangeShapeType="1"/>
          </p:cNvSpPr>
          <p:nvPr/>
        </p:nvSpPr>
        <p:spPr bwMode="auto">
          <a:xfrm>
            <a:off x="5105400" y="53340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76" name="Line 16"/>
          <p:cNvSpPr>
            <a:spLocks noChangeShapeType="1"/>
          </p:cNvSpPr>
          <p:nvPr/>
        </p:nvSpPr>
        <p:spPr bwMode="auto">
          <a:xfrm>
            <a:off x="5105400" y="5638800"/>
            <a:ext cx="2743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77" name="Line 17"/>
          <p:cNvSpPr>
            <a:spLocks noChangeShapeType="1"/>
          </p:cNvSpPr>
          <p:nvPr/>
        </p:nvSpPr>
        <p:spPr bwMode="auto">
          <a:xfrm flipV="1">
            <a:off x="7848600" y="53340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78" name="Line 18"/>
          <p:cNvSpPr>
            <a:spLocks noChangeShapeType="1"/>
          </p:cNvSpPr>
          <p:nvPr/>
        </p:nvSpPr>
        <p:spPr bwMode="auto">
          <a:xfrm>
            <a:off x="6019800" y="5257800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79" name="Line 19"/>
          <p:cNvSpPr>
            <a:spLocks noChangeShapeType="1"/>
          </p:cNvSpPr>
          <p:nvPr/>
        </p:nvSpPr>
        <p:spPr bwMode="auto">
          <a:xfrm>
            <a:off x="6019800" y="54102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80" name="Line 20"/>
          <p:cNvSpPr>
            <a:spLocks noChangeShapeType="1"/>
          </p:cNvSpPr>
          <p:nvPr/>
        </p:nvSpPr>
        <p:spPr bwMode="auto">
          <a:xfrm flipV="1">
            <a:off x="7010400" y="5257800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1281" name="Text Box 21"/>
          <p:cNvSpPr txBox="1">
            <a:spLocks noChangeArrowheads="1"/>
          </p:cNvSpPr>
          <p:nvPr/>
        </p:nvSpPr>
        <p:spPr bwMode="auto">
          <a:xfrm>
            <a:off x="5013325" y="5908675"/>
            <a:ext cx="298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Conflicting Operations</a:t>
            </a:r>
          </a:p>
        </p:txBody>
      </p:sp>
    </p:spTree>
    <p:extLst>
      <p:ext uri="{BB962C8B-B14F-4D97-AF65-F5344CB8AC3E}">
        <p14:creationId xmlns:p14="http://schemas.microsoft.com/office/powerpoint/2010/main" val="23450957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C5BAD57-A0B4-4704-A35A-596127A63833}" type="slidenum">
              <a:rPr lang="en-US" altLang="en-US" smtClean="0">
                <a:solidFill>
                  <a:srgbClr val="000000"/>
                </a:solidFill>
              </a:rPr>
              <a:pPr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Conflict Serializability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Some schedules are </a:t>
            </a:r>
            <a:r>
              <a:rPr lang="en-US" altLang="en-US" dirty="0" err="1"/>
              <a:t>serializable</a:t>
            </a:r>
            <a:r>
              <a:rPr lang="en-US" altLang="en-US" dirty="0"/>
              <a:t>, some are not.</a:t>
            </a:r>
          </a:p>
          <a:p>
            <a:pPr eaLnBrk="1" hangingPunct="1"/>
            <a:r>
              <a:rPr lang="en-US" altLang="en-US" dirty="0"/>
              <a:t>A handy algorithm allows us to determine if a schedule is conflict </a:t>
            </a:r>
            <a:r>
              <a:rPr lang="en-US" altLang="en-US" dirty="0" err="1"/>
              <a:t>serializable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(although a DBMS would simply use protocols to guarantee that a schedule will be </a:t>
            </a:r>
            <a:r>
              <a:rPr lang="en-US" altLang="en-US" dirty="0" err="1"/>
              <a:t>serializable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04201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24672BA-531D-405B-989D-7FFC96440B9B}" type="slidenum">
              <a:rPr lang="en-US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Conflict Serializability Test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400"/>
              <a:t>create a node for each transaction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for each case where T</a:t>
            </a:r>
            <a:r>
              <a:rPr lang="en-US" altLang="en-US" sz="2400" baseline="-25000"/>
              <a:t>k</a:t>
            </a:r>
            <a:r>
              <a:rPr lang="en-US" altLang="en-US" sz="2400"/>
              <a:t> executes a read_item(X) after a write_item(X) executed by T</a:t>
            </a:r>
            <a:r>
              <a:rPr lang="en-US" altLang="en-US" sz="2400" baseline="-25000"/>
              <a:t>i</a:t>
            </a:r>
            <a:r>
              <a:rPr lang="en-US" altLang="en-US" sz="2400"/>
              <a:t>, create an edge (T</a:t>
            </a:r>
            <a:r>
              <a:rPr lang="en-US" altLang="en-US" sz="2400" baseline="-25000"/>
              <a:t>i</a:t>
            </a:r>
            <a:r>
              <a:rPr lang="en-US" altLang="en-US" sz="2400"/>
              <a:t> -&gt; Tk)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for each case where T</a:t>
            </a:r>
            <a:r>
              <a:rPr lang="en-US" altLang="en-US" sz="2400" baseline="-25000"/>
              <a:t>k</a:t>
            </a:r>
            <a:r>
              <a:rPr lang="en-US" altLang="en-US" sz="2400"/>
              <a:t> executes write_item(X) after T</a:t>
            </a:r>
            <a:r>
              <a:rPr lang="en-US" altLang="en-US" sz="2400" baseline="-25000"/>
              <a:t>i</a:t>
            </a:r>
            <a:r>
              <a:rPr lang="en-US" altLang="en-US" sz="2400"/>
              <a:t> executes a read_item(X), create an edge (T</a:t>
            </a:r>
            <a:r>
              <a:rPr lang="en-US" altLang="en-US" sz="2400" baseline="-25000"/>
              <a:t>i </a:t>
            </a:r>
            <a:r>
              <a:rPr lang="en-US" altLang="en-US" sz="2400"/>
              <a:t>-&gt; T</a:t>
            </a:r>
            <a:r>
              <a:rPr lang="en-US" altLang="en-US" sz="2400" baseline="-25000"/>
              <a:t>k</a:t>
            </a:r>
            <a:r>
              <a:rPr lang="en-US" altLang="en-US" sz="2400"/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for each case where T</a:t>
            </a:r>
            <a:r>
              <a:rPr lang="en-US" altLang="en-US" sz="2400" baseline="-25000"/>
              <a:t>k</a:t>
            </a:r>
            <a:r>
              <a:rPr lang="en-US" altLang="en-US" sz="2400"/>
              <a:t> executes a write_item(X) after T</a:t>
            </a:r>
            <a:r>
              <a:rPr lang="en-US" altLang="en-US" sz="2400" baseline="-25000"/>
              <a:t>i</a:t>
            </a:r>
            <a:r>
              <a:rPr lang="en-US" altLang="en-US" sz="2400"/>
              <a:t> executes a write item(X), create an edge (T</a:t>
            </a:r>
            <a:r>
              <a:rPr lang="en-US" altLang="en-US" sz="2400" baseline="-25000"/>
              <a:t>i </a:t>
            </a:r>
            <a:r>
              <a:rPr lang="en-US" altLang="en-US" sz="2400"/>
              <a:t>-&gt; T</a:t>
            </a:r>
            <a:r>
              <a:rPr lang="en-US" altLang="en-US" sz="2400" baseline="-25000"/>
              <a:t>k</a:t>
            </a:r>
            <a:r>
              <a:rPr lang="en-US" altLang="en-US" sz="2400"/>
              <a:t>)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400"/>
              <a:t>if the graph has no cycles, it is serializable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400"/>
              <a:t>NOTE - Edges are only created if one of the operations in T</a:t>
            </a:r>
            <a:r>
              <a:rPr lang="en-US" altLang="en-US" sz="2400" baseline="-25000"/>
              <a:t>i</a:t>
            </a:r>
            <a:r>
              <a:rPr lang="en-US" altLang="en-US" sz="2400"/>
              <a:t> appears in the schedule </a:t>
            </a:r>
            <a:r>
              <a:rPr lang="en-US" altLang="en-US" sz="2400" i="1"/>
              <a:t>before</a:t>
            </a:r>
            <a:r>
              <a:rPr lang="en-US" altLang="en-US" sz="2400"/>
              <a:t> some </a:t>
            </a:r>
            <a:r>
              <a:rPr lang="en-US" altLang="en-US" sz="2400" i="1"/>
              <a:t>conflicting operation</a:t>
            </a:r>
            <a:r>
              <a:rPr lang="en-US" altLang="en-US" sz="2400"/>
              <a:t> in T</a:t>
            </a:r>
            <a:r>
              <a:rPr lang="en-US" altLang="en-US" sz="2400" baseline="-25000"/>
              <a:t>k</a:t>
            </a:r>
            <a:r>
              <a:rPr lang="en-US" alt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515715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1D277B4-E1E0-4479-8982-51E6BE31D1EB}" type="slidenum">
              <a:rPr lang="en-US" altLang="en-US" smtClean="0">
                <a:solidFill>
                  <a:srgbClr val="000000"/>
                </a:solidFill>
              </a:rPr>
              <a:pPr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eaLnBrk="1" hangingPunct="1"/>
            <a:r>
              <a:rPr lang="en-US" altLang="en-US"/>
              <a:t>Serializability Examples</a:t>
            </a:r>
          </a:p>
        </p:txBody>
      </p:sp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1676400" y="2374900"/>
            <a:ext cx="1989138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X:=X-10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read_item(Y)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Y:=Y+10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write_item(Y)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706438" y="59642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3144838" y="59642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354263" y="1600200"/>
            <a:ext cx="536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T1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5402263" y="1600200"/>
            <a:ext cx="536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T2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724400" y="2895600"/>
            <a:ext cx="1978025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X:=X-20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write_item(X)</a:t>
            </a:r>
          </a:p>
          <a:p>
            <a:pPr eaLnBrk="0" fontAlgn="base" latinLnBrk="1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4211638" y="1628775"/>
            <a:ext cx="0" cy="425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1781175" y="2154238"/>
            <a:ext cx="5319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1316038" y="2847975"/>
            <a:ext cx="0" cy="2271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457200" y="3352800"/>
            <a:ext cx="757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6781800" y="3886200"/>
            <a:ext cx="2189163" cy="5413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000000"/>
                </a:solidFill>
              </a:rPr>
              <a:t>serializable?</a:t>
            </a:r>
          </a:p>
        </p:txBody>
      </p:sp>
    </p:spTree>
    <p:extLst>
      <p:ext uri="{BB962C8B-B14F-4D97-AF65-F5344CB8AC3E}">
        <p14:creationId xmlns:p14="http://schemas.microsoft.com/office/powerpoint/2010/main" val="187360755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7FBFF77-C261-4E51-8D7C-20010B267CFF}" type="slidenum">
              <a:rPr lang="en-US" altLang="en-US" smtClean="0">
                <a:solidFill>
                  <a:srgbClr val="000000"/>
                </a:solidFill>
              </a:rPr>
              <a:pPr/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Serializability Test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990600" y="16764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T1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4572000" y="16764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T2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981200" y="3657600"/>
            <a:ext cx="124142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Read (x)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Write(x)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Read(y)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Write(y)</a:t>
            </a: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3652838" y="3622675"/>
            <a:ext cx="12319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Read(x)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Write(x)</a:t>
            </a:r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1143000" y="37338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200025" y="4537075"/>
            <a:ext cx="82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Time</a:t>
            </a:r>
          </a:p>
        </p:txBody>
      </p:sp>
      <p:cxnSp>
        <p:nvCxnSpPr>
          <p:cNvPr id="82954" name="AutoShape 10"/>
          <p:cNvCxnSpPr>
            <a:cxnSpLocks noChangeShapeType="1"/>
            <a:stCxn id="15365" idx="2"/>
            <a:endCxn id="15366" idx="2"/>
          </p:cNvCxnSpPr>
          <p:nvPr/>
        </p:nvCxnSpPr>
        <p:spPr bwMode="auto">
          <a:xfrm rot="16200000" flipH="1">
            <a:off x="3042444" y="343694"/>
            <a:ext cx="1588" cy="3581400"/>
          </a:xfrm>
          <a:prstGeom prst="curvedConnector3">
            <a:avLst>
              <a:gd name="adj1" fmla="val 14400000"/>
            </a:avLst>
          </a:prstGeom>
          <a:noFill/>
          <a:ln w="25400">
            <a:solidFill>
              <a:srgbClr val="FF0000"/>
            </a:solidFill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955" name="AutoShape 11"/>
          <p:cNvCxnSpPr>
            <a:cxnSpLocks noChangeShapeType="1"/>
            <a:stCxn id="15365" idx="0"/>
            <a:endCxn id="15366" idx="0"/>
          </p:cNvCxnSpPr>
          <p:nvPr/>
        </p:nvCxnSpPr>
        <p:spPr bwMode="auto">
          <a:xfrm rot="5400000" flipV="1">
            <a:off x="3042444" y="-113506"/>
            <a:ext cx="1588" cy="3581400"/>
          </a:xfrm>
          <a:prstGeom prst="curvedConnector3">
            <a:avLst>
              <a:gd name="adj1" fmla="val -14400000"/>
            </a:avLst>
          </a:prstGeom>
          <a:noFill/>
          <a:ln w="19050">
            <a:solidFill>
              <a:schemeClr val="accent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73" name="Text Box 12"/>
          <p:cNvSpPr txBox="1">
            <a:spLocks noChangeArrowheads="1"/>
          </p:cNvSpPr>
          <p:nvPr/>
        </p:nvSpPr>
        <p:spPr bwMode="auto">
          <a:xfrm>
            <a:off x="2162175" y="27844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</a:rPr>
              <a:t>T1                  T2</a:t>
            </a:r>
          </a:p>
        </p:txBody>
      </p:sp>
      <p:sp>
        <p:nvSpPr>
          <p:cNvPr id="82957" name="AutoShape 13"/>
          <p:cNvSpPr>
            <a:spLocks/>
          </p:cNvSpPr>
          <p:nvPr/>
        </p:nvSpPr>
        <p:spPr bwMode="auto">
          <a:xfrm>
            <a:off x="4953000" y="3962400"/>
            <a:ext cx="381000" cy="838200"/>
          </a:xfrm>
          <a:prstGeom prst="rightBrace">
            <a:avLst>
              <a:gd name="adj1" fmla="val 18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5562600" y="4114800"/>
            <a:ext cx="374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3000">
                <a:solidFill>
                  <a:srgbClr val="FF0000"/>
                </a:solidFill>
                <a:latin typeface="Times New Roman" pitchFamily="18" charset="0"/>
              </a:rPr>
              <a:t>2</a:t>
            </a:r>
            <a:endParaRPr lang="en-US" altLang="en-US" sz="30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2959" name="AutoShape 15"/>
          <p:cNvSpPr>
            <a:spLocks/>
          </p:cNvSpPr>
          <p:nvPr/>
        </p:nvSpPr>
        <p:spPr bwMode="auto">
          <a:xfrm>
            <a:off x="4876800" y="4495800"/>
            <a:ext cx="385763" cy="990600"/>
          </a:xfrm>
          <a:prstGeom prst="rightBrace">
            <a:avLst>
              <a:gd name="adj1" fmla="val 21399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5487988" y="4608513"/>
            <a:ext cx="374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3000">
                <a:solidFill>
                  <a:srgbClr val="333399"/>
                </a:solidFill>
                <a:latin typeface="Times New Roman" pitchFamily="18" charset="0"/>
              </a:rPr>
              <a:t>3</a:t>
            </a:r>
            <a:endParaRPr lang="en-US" altLang="en-US" sz="300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 flipV="1">
            <a:off x="3200400" y="4267200"/>
            <a:ext cx="4572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2962" name="Line 18"/>
          <p:cNvSpPr>
            <a:spLocks noChangeShapeType="1"/>
          </p:cNvSpPr>
          <p:nvPr/>
        </p:nvSpPr>
        <p:spPr bwMode="auto">
          <a:xfrm flipH="1" flipV="1">
            <a:off x="3200400" y="4724400"/>
            <a:ext cx="457200" cy="609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7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2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829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8" grpId="0"/>
      <p:bldP spid="82958" grpId="1"/>
      <p:bldP spid="82960" grpId="0"/>
      <p:bldP spid="82961" grpId="0" animBg="1"/>
      <p:bldP spid="829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D35B964-4894-4F82-B9E6-9DCEB2FEED9E}" type="slidenum">
              <a:rPr lang="en-US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830263" y="5181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3268663" y="5181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2478088" y="817563"/>
            <a:ext cx="536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T1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1981200" y="1600200"/>
            <a:ext cx="1989138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X:=X-10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read_item(Y)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Y:=Y+10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write_item(Y)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526088" y="817563"/>
            <a:ext cx="536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T2</a:t>
            </a:r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4848225" y="1655763"/>
            <a:ext cx="1978025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read_item(X)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X:=X-20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write_item(X)</a:t>
            </a:r>
          </a:p>
          <a:p>
            <a:pPr eaLnBrk="0" fontAlgn="base" latinLnBrk="1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4335463" y="846138"/>
            <a:ext cx="0" cy="425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1905000" y="1371600"/>
            <a:ext cx="5319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1439863" y="2065338"/>
            <a:ext cx="0" cy="2271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581025" y="2570163"/>
            <a:ext cx="757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6019800" y="5105400"/>
            <a:ext cx="2176463" cy="528638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000000"/>
                </a:solidFill>
              </a:rPr>
              <a:t>serializable?</a:t>
            </a:r>
          </a:p>
        </p:txBody>
      </p:sp>
    </p:spTree>
    <p:extLst>
      <p:ext uri="{BB962C8B-B14F-4D97-AF65-F5344CB8AC3E}">
        <p14:creationId xmlns:p14="http://schemas.microsoft.com/office/powerpoint/2010/main" val="61805427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174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BDE08F7-5BF6-4DA4-9B6D-56E3142C07E0}" type="slidenum">
              <a:rPr lang="en-US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41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905000"/>
            <a:ext cx="2743200" cy="3733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CA" altLang="en-US" sz="2800"/>
              <a:t>T1</a:t>
            </a:r>
          </a:p>
          <a:p>
            <a:pPr eaLnBrk="1" hangingPunct="1">
              <a:buFontTx/>
              <a:buNone/>
            </a:pPr>
            <a:r>
              <a:rPr lang="en-CA" altLang="en-US" sz="2800"/>
              <a:t>read_item(x)</a:t>
            </a:r>
          </a:p>
          <a:p>
            <a:pPr eaLnBrk="1" hangingPunct="1">
              <a:buFontTx/>
              <a:buNone/>
            </a:pPr>
            <a:r>
              <a:rPr lang="en-CA" altLang="en-US" sz="2800"/>
              <a:t>write_item(x)</a:t>
            </a:r>
          </a:p>
          <a:p>
            <a:pPr eaLnBrk="1" hangingPunct="1">
              <a:buFontTx/>
              <a:buNone/>
            </a:pPr>
            <a:endParaRPr lang="en-CA" altLang="en-US" sz="2800"/>
          </a:p>
          <a:p>
            <a:pPr eaLnBrk="1" hangingPunct="1">
              <a:buFontTx/>
              <a:buNone/>
            </a:pPr>
            <a:endParaRPr lang="en-CA" altLang="en-US" sz="2800"/>
          </a:p>
          <a:p>
            <a:pPr eaLnBrk="1" hangingPunct="1">
              <a:buFontTx/>
              <a:buNone/>
            </a:pPr>
            <a:r>
              <a:rPr lang="en-CA" altLang="en-US" sz="2800"/>
              <a:t>read_item(y)</a:t>
            </a:r>
          </a:p>
          <a:p>
            <a:pPr eaLnBrk="1" hangingPunct="1">
              <a:buFontTx/>
              <a:buNone/>
            </a:pPr>
            <a:r>
              <a:rPr lang="en-CA" altLang="en-US" sz="2800"/>
              <a:t>write_item(y)</a:t>
            </a:r>
            <a:endParaRPr lang="en-US" altLang="en-US" sz="2800"/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05000"/>
            <a:ext cx="2514600" cy="2743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CA" altLang="en-US" sz="2800"/>
              <a:t>T2</a:t>
            </a:r>
          </a:p>
          <a:p>
            <a:pPr algn="ctr" eaLnBrk="1" hangingPunct="1">
              <a:buFontTx/>
              <a:buNone/>
            </a:pPr>
            <a:endParaRPr lang="en-CA" altLang="en-US" sz="2800"/>
          </a:p>
          <a:p>
            <a:pPr eaLnBrk="1" hangingPunct="1"/>
            <a:endParaRPr lang="en-CA" altLang="en-US" sz="2800"/>
          </a:p>
          <a:p>
            <a:pPr eaLnBrk="1" hangingPunct="1">
              <a:buFontTx/>
              <a:buNone/>
            </a:pPr>
            <a:r>
              <a:rPr lang="en-CA" altLang="en-US" sz="2800"/>
              <a:t>read_item(x)</a:t>
            </a:r>
          </a:p>
          <a:p>
            <a:pPr eaLnBrk="1" hangingPunct="1">
              <a:buFontTx/>
              <a:buNone/>
            </a:pPr>
            <a:r>
              <a:rPr lang="en-CA" altLang="en-US" sz="2800"/>
              <a:t>write_item(x)</a:t>
            </a:r>
            <a:endParaRPr lang="en-US" altLang="en-US" sz="2800"/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>
            <a:off x="1439863" y="1989138"/>
            <a:ext cx="7937" cy="3116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457200" y="3124200"/>
            <a:ext cx="757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2133600" y="3048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2400">
                <a:solidFill>
                  <a:srgbClr val="000000"/>
                </a:solidFill>
                <a:latin typeface="Times New Roman" pitchFamily="18" charset="0"/>
              </a:rPr>
              <a:t>T1</a:t>
            </a: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5867400" y="3048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2400">
                <a:solidFill>
                  <a:srgbClr val="000000"/>
                </a:solidFill>
                <a:latin typeface="Times New Roman" pitchFamily="18" charset="0"/>
              </a:rPr>
              <a:t>T2</a:t>
            </a:r>
            <a:endParaRPr lang="en-US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87051" name="AutoShape 11"/>
          <p:cNvCxnSpPr>
            <a:cxnSpLocks noChangeShapeType="1"/>
          </p:cNvCxnSpPr>
          <p:nvPr/>
        </p:nvCxnSpPr>
        <p:spPr bwMode="auto">
          <a:xfrm rot="16200000" flipH="1">
            <a:off x="4304506" y="-951706"/>
            <a:ext cx="1588" cy="3581400"/>
          </a:xfrm>
          <a:prstGeom prst="curvedConnector3">
            <a:avLst>
              <a:gd name="adj1" fmla="val 14400000"/>
            </a:avLst>
          </a:prstGeom>
          <a:noFill/>
          <a:ln w="25400">
            <a:solidFill>
              <a:srgbClr val="FF0000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052" name="AutoShape 12"/>
          <p:cNvSpPr>
            <a:spLocks/>
          </p:cNvSpPr>
          <p:nvPr/>
        </p:nvSpPr>
        <p:spPr bwMode="auto">
          <a:xfrm>
            <a:off x="7315200" y="2438400"/>
            <a:ext cx="381000" cy="2020888"/>
          </a:xfrm>
          <a:prstGeom prst="rightBrace">
            <a:avLst>
              <a:gd name="adj1" fmla="val 44201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7772400" y="3200400"/>
            <a:ext cx="374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3000">
                <a:solidFill>
                  <a:srgbClr val="FF0000"/>
                </a:solidFill>
                <a:latin typeface="Times New Roman" pitchFamily="18" charset="0"/>
              </a:rPr>
              <a:t>2</a:t>
            </a:r>
            <a:endParaRPr lang="en-US" altLang="en-US" sz="30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4800600" y="5029200"/>
            <a:ext cx="2514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 fontAlgn="base">
              <a:spcBef>
                <a:spcPct val="20000"/>
              </a:spcBef>
              <a:spcAft>
                <a:spcPct val="0"/>
              </a:spcAft>
            </a:pPr>
            <a:r>
              <a:rPr lang="en-CA" altLang="en-US" sz="3600" b="1">
                <a:solidFill>
                  <a:srgbClr val="FF0000"/>
                </a:solidFill>
              </a:rPr>
              <a:t>Done!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>
            <a:off x="3886200" y="2819400"/>
            <a:ext cx="7620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7058" name="Line 18"/>
          <p:cNvSpPr>
            <a:spLocks noChangeShapeType="1"/>
          </p:cNvSpPr>
          <p:nvPr/>
        </p:nvSpPr>
        <p:spPr bwMode="auto">
          <a:xfrm flipH="1" flipV="1">
            <a:off x="3962400" y="3276600"/>
            <a:ext cx="6858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7059" name="AutoShape 19"/>
          <p:cNvSpPr>
            <a:spLocks/>
          </p:cNvSpPr>
          <p:nvPr/>
        </p:nvSpPr>
        <p:spPr bwMode="auto">
          <a:xfrm>
            <a:off x="6781800" y="2971800"/>
            <a:ext cx="381000" cy="954088"/>
          </a:xfrm>
          <a:prstGeom prst="rightBrace">
            <a:avLst>
              <a:gd name="adj1" fmla="val 20868"/>
              <a:gd name="adj2" fmla="val 50000"/>
            </a:avLst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7086600" y="3200400"/>
            <a:ext cx="374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3000">
                <a:solidFill>
                  <a:srgbClr val="333399"/>
                </a:solidFill>
                <a:latin typeface="Times New Roman" pitchFamily="18" charset="0"/>
              </a:rPr>
              <a:t>1</a:t>
            </a:r>
            <a:endParaRPr lang="en-US" altLang="en-US" sz="3000">
              <a:solidFill>
                <a:srgbClr val="333399"/>
              </a:solidFill>
              <a:latin typeface="Times New Roman" pitchFamily="18" charset="0"/>
            </a:endParaRPr>
          </a:p>
        </p:txBody>
      </p:sp>
      <p:cxnSp>
        <p:nvCxnSpPr>
          <p:cNvPr id="87061" name="AutoShape 21"/>
          <p:cNvCxnSpPr>
            <a:cxnSpLocks noChangeShapeType="1"/>
          </p:cNvCxnSpPr>
          <p:nvPr/>
        </p:nvCxnSpPr>
        <p:spPr bwMode="auto">
          <a:xfrm rot="16200000" flipH="1">
            <a:off x="4304506" y="-799306"/>
            <a:ext cx="1588" cy="3581400"/>
          </a:xfrm>
          <a:prstGeom prst="curvedConnector3">
            <a:avLst>
              <a:gd name="adj1" fmla="val 14400000"/>
            </a:avLst>
          </a:prstGeom>
          <a:noFill/>
          <a:ln w="25400">
            <a:solidFill>
              <a:schemeClr val="accent2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062" name="AutoShape 22"/>
          <p:cNvSpPr>
            <a:spLocks/>
          </p:cNvSpPr>
          <p:nvPr/>
        </p:nvSpPr>
        <p:spPr bwMode="auto">
          <a:xfrm>
            <a:off x="8001000" y="29718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2225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sp>
        <p:nvSpPr>
          <p:cNvPr id="87063" name="Text Box 23"/>
          <p:cNvSpPr txBox="1">
            <a:spLocks noChangeArrowheads="1"/>
          </p:cNvSpPr>
          <p:nvPr/>
        </p:nvSpPr>
        <p:spPr bwMode="auto">
          <a:xfrm>
            <a:off x="8382000" y="3429000"/>
            <a:ext cx="374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A" altLang="en-US" sz="3000">
                <a:solidFill>
                  <a:srgbClr val="9900FF"/>
                </a:solidFill>
                <a:latin typeface="Times New Roman" pitchFamily="18" charset="0"/>
              </a:rPr>
              <a:t>3</a:t>
            </a:r>
            <a:endParaRPr lang="en-US" altLang="en-US" sz="3000">
              <a:solidFill>
                <a:srgbClr val="9900FF"/>
              </a:solidFill>
              <a:latin typeface="Times New Roman" pitchFamily="18" charset="0"/>
            </a:endParaRPr>
          </a:p>
        </p:txBody>
      </p:sp>
      <p:sp>
        <p:nvSpPr>
          <p:cNvPr id="87064" name="Line 24"/>
          <p:cNvSpPr>
            <a:spLocks noChangeShapeType="1"/>
          </p:cNvSpPr>
          <p:nvPr/>
        </p:nvSpPr>
        <p:spPr bwMode="auto">
          <a:xfrm flipH="1" flipV="1">
            <a:off x="3886200" y="3352800"/>
            <a:ext cx="685800" cy="838200"/>
          </a:xfrm>
          <a:prstGeom prst="line">
            <a:avLst/>
          </a:prstGeom>
          <a:noFill/>
          <a:ln w="38100">
            <a:solidFill>
              <a:srgbClr val="99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000000"/>
              </a:solidFill>
            </a:endParaRPr>
          </a:p>
        </p:txBody>
      </p:sp>
      <p:cxnSp>
        <p:nvCxnSpPr>
          <p:cNvPr id="87065" name="AutoShape 25"/>
          <p:cNvCxnSpPr>
            <a:cxnSpLocks noChangeShapeType="1"/>
          </p:cNvCxnSpPr>
          <p:nvPr/>
        </p:nvCxnSpPr>
        <p:spPr bwMode="auto">
          <a:xfrm rot="16200000" flipH="1">
            <a:off x="4304506" y="-1104106"/>
            <a:ext cx="1588" cy="3581400"/>
          </a:xfrm>
          <a:prstGeom prst="curvedConnector3">
            <a:avLst>
              <a:gd name="adj1" fmla="val 14400000"/>
            </a:avLst>
          </a:prstGeom>
          <a:noFill/>
          <a:ln w="25400">
            <a:solidFill>
              <a:srgbClr val="9900FF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11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3" grpId="0"/>
      <p:bldP spid="87053" grpId="1"/>
      <p:bldP spid="87055" grpId="0" animBg="1"/>
      <p:bldP spid="87058" grpId="0" animBg="1"/>
      <p:bldP spid="87060" grpId="0"/>
      <p:bldP spid="87060" grpId="1"/>
      <p:bldP spid="87063" grpId="0"/>
      <p:bldP spid="87063" grpId="1"/>
      <p:bldP spid="870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serial schedules.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5976" y="1124744"/>
            <a:ext cx="4782798" cy="5733256"/>
          </a:xfrm>
        </p:spPr>
        <p:txBody>
          <a:bodyPr/>
          <a:lstStyle/>
          <a:p>
            <a:r>
              <a:rPr lang="en-US" sz="2000" dirty="0"/>
              <a:t>Here node </a:t>
            </a:r>
            <a:r>
              <a:rPr lang="en-US" sz="2000" b="1" dirty="0"/>
              <a:t>T2</a:t>
            </a:r>
            <a:r>
              <a:rPr lang="en-US" sz="2000" dirty="0"/>
              <a:t> has </a:t>
            </a:r>
            <a:r>
              <a:rPr lang="en-US" sz="2000" dirty="0" err="1"/>
              <a:t>indegree</a:t>
            </a:r>
            <a:r>
              <a:rPr lang="en-US" sz="2000" dirty="0"/>
              <a:t> </a:t>
            </a:r>
            <a:r>
              <a:rPr lang="en-US" sz="2000" b="1" dirty="0"/>
              <a:t>0</a:t>
            </a:r>
            <a:r>
              <a:rPr lang="en-US" sz="2000" dirty="0"/>
              <a:t>.</a:t>
            </a:r>
          </a:p>
          <a:p>
            <a:r>
              <a:rPr lang="en-US" sz="2000" dirty="0"/>
              <a:t>So, select </a:t>
            </a:r>
            <a:r>
              <a:rPr lang="en-US" sz="2000" b="1" dirty="0"/>
              <a:t>T2</a:t>
            </a:r>
            <a:r>
              <a:rPr lang="en-US" sz="2000" dirty="0"/>
              <a:t> and remove </a:t>
            </a:r>
            <a:r>
              <a:rPr lang="en-US" sz="2000" b="1" dirty="0"/>
              <a:t>T2</a:t>
            </a:r>
            <a:r>
              <a:rPr lang="en-US" sz="2000" dirty="0"/>
              <a:t> and all edges connecting from it.</a:t>
            </a:r>
          </a:p>
          <a:p>
            <a:r>
              <a:rPr lang="en-US" sz="2000" dirty="0"/>
              <a:t>Now </a:t>
            </a:r>
            <a:r>
              <a:rPr lang="en-US" sz="2000" b="1" dirty="0"/>
              <a:t>T3</a:t>
            </a:r>
            <a:r>
              <a:rPr lang="en-US" sz="2000" dirty="0"/>
              <a:t> has </a:t>
            </a:r>
            <a:r>
              <a:rPr lang="en-US" sz="2000" dirty="0" err="1"/>
              <a:t>indegree</a:t>
            </a:r>
            <a:r>
              <a:rPr lang="en-US" sz="2000" dirty="0"/>
              <a:t> </a:t>
            </a:r>
            <a:r>
              <a:rPr lang="en-US" sz="2000" b="1" dirty="0"/>
              <a:t>0</a:t>
            </a:r>
            <a:r>
              <a:rPr lang="en-US" sz="2000" dirty="0"/>
              <a:t>. So, select </a:t>
            </a:r>
            <a:r>
              <a:rPr lang="en-US" sz="2000" b="1" dirty="0"/>
              <a:t>T3</a:t>
            </a:r>
            <a:r>
              <a:rPr lang="en-US" sz="2000" dirty="0"/>
              <a:t> and remove the edge </a:t>
            </a:r>
            <a:r>
              <a:rPr lang="en-US" sz="2000" b="1" dirty="0"/>
              <a:t>T3→T1</a:t>
            </a:r>
            <a:r>
              <a:rPr lang="en-US" sz="2000" dirty="0"/>
              <a:t>.</a:t>
            </a:r>
          </a:p>
          <a:p>
            <a:r>
              <a:rPr lang="en-US" sz="2000" dirty="0"/>
              <a:t>At the end select </a:t>
            </a:r>
            <a:r>
              <a:rPr lang="en-US" sz="2000" b="1" dirty="0"/>
              <a:t>T3</a:t>
            </a:r>
            <a:r>
              <a:rPr lang="en-US" sz="2000" dirty="0"/>
              <a:t>. So the topological Sorting is </a:t>
            </a:r>
            <a:r>
              <a:rPr lang="en-US" sz="2000" b="1" dirty="0"/>
              <a:t>T2, T3, T1</a:t>
            </a:r>
            <a:r>
              <a:rPr lang="en-US" sz="2000" dirty="0"/>
              <a:t>.</a:t>
            </a:r>
          </a:p>
          <a:p>
            <a:r>
              <a:rPr lang="en-US" sz="2000" dirty="0"/>
              <a:t>Hence, the equivalent serial schedule of given conflict </a:t>
            </a:r>
            <a:r>
              <a:rPr lang="en-US" sz="2000" dirty="0" err="1"/>
              <a:t>serializable</a:t>
            </a:r>
            <a:r>
              <a:rPr lang="en-US" sz="2000" dirty="0"/>
              <a:t> schedule is </a:t>
            </a:r>
            <a:r>
              <a:rPr lang="en-US" sz="2000" b="1" dirty="0"/>
              <a:t>T2→T3→T1</a:t>
            </a:r>
            <a:r>
              <a:rPr lang="en-US" sz="2000" dirty="0"/>
              <a:t>, i.e., </a:t>
            </a:r>
            <a:r>
              <a:rPr lang="en-US" sz="2000" b="1" dirty="0"/>
              <a:t>S2: R2(A) W2(A) W2(B) R3(C) W3(A) W3(C) R1(A) R2(B) W1(A) W1(B)</a:t>
            </a:r>
            <a:r>
              <a:rPr lang="en-US" sz="2000" dirty="0"/>
              <a:t>. </a:t>
            </a:r>
          </a:p>
          <a:p>
            <a:r>
              <a:rPr lang="en-US" sz="2000" dirty="0"/>
              <a:t>if the precedence graph has a cycle, it is easy to show that we cannot create any equivalent serial schedule, so  not </a:t>
            </a:r>
            <a:r>
              <a:rPr lang="en-US" sz="2000" dirty="0" err="1"/>
              <a:t>serializable</a:t>
            </a:r>
            <a:endParaRPr lang="en-US" sz="2000" dirty="0"/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32315-78A3-45BA-AADF-1DF77F060B95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47444"/>
            <a:ext cx="4038600" cy="283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2949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0728"/>
            <a:ext cx="8579296" cy="5145435"/>
          </a:xfrm>
        </p:spPr>
        <p:txBody>
          <a:bodyPr/>
          <a:lstStyle/>
          <a:p>
            <a:r>
              <a:rPr lang="en-IN" dirty="0"/>
              <a:t>Check whether the below schedules are conflict </a:t>
            </a:r>
            <a:r>
              <a:rPr lang="en-IN" dirty="0" err="1"/>
              <a:t>serializable</a:t>
            </a:r>
            <a:r>
              <a:rPr lang="en-IN" dirty="0"/>
              <a:t> or not using precedence graph. </a:t>
            </a:r>
          </a:p>
          <a:p>
            <a:pPr marL="0" indent="0">
              <a:buNone/>
            </a:pPr>
            <a:r>
              <a:rPr lang="en-IN" b="1" dirty="0"/>
              <a:t>S1:R</a:t>
            </a:r>
            <a:r>
              <a:rPr lang="en-IN" b="1" baseline="-25000" dirty="0"/>
              <a:t>1</a:t>
            </a:r>
            <a:r>
              <a:rPr lang="en-IN" b="1" dirty="0"/>
              <a:t>(A), R</a:t>
            </a:r>
            <a:r>
              <a:rPr lang="en-IN" b="1" baseline="-25000" dirty="0"/>
              <a:t>2</a:t>
            </a:r>
            <a:r>
              <a:rPr lang="en-IN" b="1" dirty="0"/>
              <a:t>(A), W</a:t>
            </a:r>
            <a:r>
              <a:rPr lang="en-IN" b="1" baseline="-25000" dirty="0"/>
              <a:t>2</a:t>
            </a:r>
            <a:r>
              <a:rPr lang="en-IN" b="1" dirty="0"/>
              <a:t>(A), R</a:t>
            </a:r>
            <a:r>
              <a:rPr lang="en-IN" b="1" baseline="-25000" dirty="0"/>
              <a:t>2</a:t>
            </a:r>
            <a:r>
              <a:rPr lang="en-IN" b="1" dirty="0"/>
              <a:t>(B), W</a:t>
            </a:r>
            <a:r>
              <a:rPr lang="en-IN" b="1" baseline="-25000" dirty="0"/>
              <a:t>1</a:t>
            </a:r>
            <a:r>
              <a:rPr lang="en-IN" b="1" dirty="0"/>
              <a:t>(A), R</a:t>
            </a:r>
            <a:r>
              <a:rPr lang="en-IN" b="1" baseline="-25000" dirty="0"/>
              <a:t>1</a:t>
            </a:r>
            <a:r>
              <a:rPr lang="en-IN" b="1" dirty="0"/>
              <a:t>(B), W</a:t>
            </a:r>
            <a:r>
              <a:rPr lang="en-IN" b="1" baseline="-25000" dirty="0"/>
              <a:t>1</a:t>
            </a:r>
            <a:r>
              <a:rPr lang="en-IN" b="1" dirty="0"/>
              <a:t>(B), W</a:t>
            </a:r>
            <a:r>
              <a:rPr lang="en-IN" b="1" baseline="-25000" dirty="0"/>
              <a:t>2</a:t>
            </a:r>
            <a:r>
              <a:rPr lang="en-IN" b="1" dirty="0"/>
              <a:t>(B)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S2 : R</a:t>
            </a:r>
            <a:r>
              <a:rPr lang="en-IN" b="1" baseline="-25000" dirty="0"/>
              <a:t>1</a:t>
            </a:r>
            <a:r>
              <a:rPr lang="en-IN" b="1" dirty="0"/>
              <a:t>(B), R</a:t>
            </a:r>
            <a:r>
              <a:rPr lang="en-IN" b="1" baseline="-25000" dirty="0"/>
              <a:t>3</a:t>
            </a:r>
            <a:r>
              <a:rPr lang="en-IN" b="1" dirty="0"/>
              <a:t>(C), R</a:t>
            </a:r>
            <a:r>
              <a:rPr lang="en-IN" b="1" baseline="-25000" dirty="0"/>
              <a:t>1</a:t>
            </a:r>
            <a:r>
              <a:rPr lang="en-IN" b="1" dirty="0"/>
              <a:t>(A), W</a:t>
            </a:r>
            <a:r>
              <a:rPr lang="en-IN" b="1" baseline="-25000" dirty="0"/>
              <a:t>2</a:t>
            </a:r>
            <a:r>
              <a:rPr lang="en-IN" b="1" dirty="0"/>
              <a:t>(A), W</a:t>
            </a:r>
            <a:r>
              <a:rPr lang="en-IN" b="1" baseline="-25000" dirty="0"/>
              <a:t>1</a:t>
            </a:r>
            <a:r>
              <a:rPr lang="en-IN" b="1" dirty="0"/>
              <a:t>(A), W</a:t>
            </a:r>
            <a:r>
              <a:rPr lang="en-IN" b="1" baseline="-25000" dirty="0"/>
              <a:t>2</a:t>
            </a:r>
            <a:r>
              <a:rPr lang="en-IN" b="1" dirty="0"/>
              <a:t>(B), W</a:t>
            </a:r>
            <a:r>
              <a:rPr lang="en-IN" b="1" baseline="-25000" dirty="0"/>
              <a:t>3</a:t>
            </a:r>
            <a:r>
              <a:rPr lang="en-IN" b="1" dirty="0"/>
              <a:t>(A), W</a:t>
            </a:r>
            <a:r>
              <a:rPr lang="en-IN" b="1" baseline="-25000" dirty="0"/>
              <a:t>1</a:t>
            </a:r>
            <a:r>
              <a:rPr lang="en-IN" b="1" dirty="0"/>
              <a:t>(B), W</a:t>
            </a:r>
            <a:r>
              <a:rPr lang="en-IN" b="1" baseline="-25000" dirty="0"/>
              <a:t>3</a:t>
            </a:r>
            <a:r>
              <a:rPr lang="en-IN" b="1" dirty="0"/>
              <a:t>(B), W</a:t>
            </a:r>
            <a:r>
              <a:rPr lang="en-IN" b="1" baseline="-25000" dirty="0"/>
              <a:t>3</a:t>
            </a:r>
            <a:r>
              <a:rPr lang="en-IN" b="1" dirty="0"/>
              <a:t>(C)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32315-78A3-45BA-AADF-1DF77F060B95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348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serial schedules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635080" cy="45259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3753 X2 - 2003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32315-78A3-45BA-AADF-1DF77F060B95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886" y="1556792"/>
            <a:ext cx="4426289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350360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2103</Words>
  <Application>Microsoft Office PowerPoint</Application>
  <PresentationFormat>On-screen Show (4:3)</PresentationFormat>
  <Paragraphs>294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Constantia</vt:lpstr>
      <vt:lpstr>Times New Roman</vt:lpstr>
      <vt:lpstr>Verdana</vt:lpstr>
      <vt:lpstr>Wingdings</vt:lpstr>
      <vt:lpstr>Wingdings 2</vt:lpstr>
      <vt:lpstr>Office Theme</vt:lpstr>
      <vt:lpstr>Flow</vt:lpstr>
      <vt:lpstr>blank</vt:lpstr>
      <vt:lpstr>1 Introduction to Transaction Processing (1)</vt:lpstr>
      <vt:lpstr>Introduction to Transaction Processing (2)</vt:lpstr>
      <vt:lpstr>Introduction to Transaction Processing (3)</vt:lpstr>
      <vt:lpstr>Introduction to Transaction Processing (4)</vt:lpstr>
      <vt:lpstr>Introduction to Transaction Processing (5)</vt:lpstr>
      <vt:lpstr>Two sample transactions</vt:lpstr>
      <vt:lpstr>Introduction to Transaction Processing (6)</vt:lpstr>
      <vt:lpstr>Concurrent execution is uncontrolled: (a) The lost update problem. </vt:lpstr>
      <vt:lpstr>Concurrent execution is uncontrolled: (b) The temporary update problem.</vt:lpstr>
      <vt:lpstr>Concurrent execution is uncontrolled: (c) The incorrect summary problem.</vt:lpstr>
      <vt:lpstr>Database Concurrency Control</vt:lpstr>
      <vt:lpstr>Desirable Properties of Transactions Atomicity and Consistency</vt:lpstr>
      <vt:lpstr>Desirable Properties of Transactions Isolation and Durability</vt:lpstr>
      <vt:lpstr>Serial schedule</vt:lpstr>
      <vt:lpstr>Non-serial schedule</vt:lpstr>
      <vt:lpstr>Schedules</vt:lpstr>
      <vt:lpstr>For Example</vt:lpstr>
      <vt:lpstr>Acceptable Schedules</vt:lpstr>
      <vt:lpstr>Defining Correctness</vt:lpstr>
      <vt:lpstr>Because ...</vt:lpstr>
      <vt:lpstr>Serializability</vt:lpstr>
      <vt:lpstr>Conflict Equivalence</vt:lpstr>
      <vt:lpstr>Conflict Serializability</vt:lpstr>
      <vt:lpstr>Conflict Serializability Test</vt:lpstr>
      <vt:lpstr>Serializability Examples</vt:lpstr>
      <vt:lpstr>Serializability Test</vt:lpstr>
      <vt:lpstr>PowerPoint Presentation</vt:lpstr>
      <vt:lpstr>PowerPoint Presentation</vt:lpstr>
      <vt:lpstr>equivalent serial schedules.</vt:lpstr>
      <vt:lpstr>PowerPoint Presentation</vt:lpstr>
      <vt:lpstr>equivalent serial schedules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Muthamil Selvan  T</cp:lastModifiedBy>
  <cp:revision>15</cp:revision>
  <dcterms:created xsi:type="dcterms:W3CDTF">2019-10-09T12:18:00Z</dcterms:created>
  <dcterms:modified xsi:type="dcterms:W3CDTF">2026-04-06T10:17:57Z</dcterms:modified>
</cp:coreProperties>
</file>