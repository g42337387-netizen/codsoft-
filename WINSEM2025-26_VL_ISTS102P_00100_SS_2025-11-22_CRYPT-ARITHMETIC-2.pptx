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1"/>
  </p:notesMasterIdLst>
  <p:sldIdLst>
    <p:sldId id="272" r:id="rId2"/>
    <p:sldId id="271" r:id="rId3"/>
    <p:sldId id="258" r:id="rId4"/>
    <p:sldId id="322" r:id="rId5"/>
    <p:sldId id="323" r:id="rId6"/>
    <p:sldId id="324" r:id="rId7"/>
    <p:sldId id="332" r:id="rId8"/>
    <p:sldId id="333" r:id="rId9"/>
    <p:sldId id="334" r:id="rId10"/>
    <p:sldId id="335" r:id="rId11"/>
    <p:sldId id="325" r:id="rId12"/>
    <p:sldId id="326" r:id="rId13"/>
    <p:sldId id="327" r:id="rId14"/>
    <p:sldId id="328" r:id="rId15"/>
    <p:sldId id="329" r:id="rId16"/>
    <p:sldId id="336" r:id="rId17"/>
    <p:sldId id="331" r:id="rId18"/>
    <p:sldId id="330" r:id="rId19"/>
    <p:sldId id="289" r:id="rId20"/>
  </p:sldIdLst>
  <p:sldSz cx="12192000" cy="6858000"/>
  <p:notesSz cx="6858000" cy="9144000"/>
  <p:embeddedFontLst>
    <p:embeddedFont>
      <p:font typeface="Nunito Sans" pitchFamily="2" charset="0"/>
      <p:regular r:id="rId22"/>
      <p:bold r:id="rId23"/>
      <p:italic r:id="rId24"/>
      <p:boldItalic r:id="rId25"/>
    </p:embeddedFont>
    <p:embeddedFont>
      <p:font typeface="Nunito Sans SemiBold" pitchFamily="2" charset="0"/>
      <p:bold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4899" autoAdjust="0"/>
  </p:normalViewPr>
  <p:slideViewPr>
    <p:cSldViewPr>
      <p:cViewPr varScale="1">
        <p:scale>
          <a:sx n="61" d="100"/>
          <a:sy n="61" d="100"/>
        </p:scale>
        <p:origin x="882" y="78"/>
      </p:cViewPr>
      <p:guideLst>
        <p:guide orient="horz" pos="2160"/>
        <p:guide pos="3840"/>
      </p:guideLst>
    </p:cSldViewPr>
  </p:slideViewPr>
  <p:notesTextViewPr>
    <p:cViewPr>
      <p:scale>
        <a:sx n="100" d="100"/>
        <a:sy n="100" d="100"/>
      </p:scale>
      <p:origin x="0" y="0"/>
    </p:cViewPr>
  </p:notesTextViewPr>
  <p:notesViewPr>
    <p:cSldViewPr>
      <p:cViewPr>
        <p:scale>
          <a:sx n="33" d="100"/>
          <a:sy n="33" d="100"/>
        </p:scale>
        <p:origin x="2453"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E</a:t>
            </a:r>
          </a:p>
          <a:p>
            <a:r>
              <a:rPr lang="en-US" sz="1200" b="0" i="0" kern="1200" dirty="0">
                <a:solidFill>
                  <a:schemeClr val="tx1"/>
                </a:solidFill>
                <a:effectLst/>
                <a:latin typeface="+mn-lt"/>
                <a:ea typeface="+mn-ea"/>
                <a:cs typeface="+mn-cs"/>
              </a:rPr>
              <a:t>Let us say maximum value of A, B, C is equal to 4 then we </a:t>
            </a:r>
            <a:r>
              <a:rPr lang="en-US" sz="1200" b="0" i="0" kern="1200" dirty="0" err="1">
                <a:solidFill>
                  <a:schemeClr val="tx1"/>
                </a:solidFill>
                <a:effectLst/>
                <a:latin typeface="+mn-lt"/>
                <a:ea typeface="+mn-ea"/>
                <a:cs typeface="+mn-cs"/>
              </a:rPr>
              <a:t>dont</a:t>
            </a:r>
            <a:r>
              <a:rPr lang="en-US" sz="1200" b="0" i="0" kern="1200" dirty="0">
                <a:solidFill>
                  <a:schemeClr val="tx1"/>
                </a:solidFill>
                <a:effectLst/>
                <a:latin typeface="+mn-lt"/>
                <a:ea typeface="+mn-ea"/>
                <a:cs typeface="+mn-cs"/>
              </a:rPr>
              <a:t> get any satisfactory values for ABC</a:t>
            </a:r>
            <a:br>
              <a:rPr lang="en-US" dirty="0"/>
            </a:br>
            <a:r>
              <a:rPr lang="en-US" sz="1200" b="0" i="0" kern="1200" dirty="0">
                <a:solidFill>
                  <a:schemeClr val="tx1"/>
                </a:solidFill>
                <a:effectLst/>
                <a:latin typeface="+mn-lt"/>
                <a:ea typeface="+mn-ea"/>
                <a:cs typeface="+mn-cs"/>
              </a:rPr>
              <a:t>If we take maximum value is 5 then A</a:t>
            </a:r>
            <a:r>
              <a:rPr lang="en-US" sz="1200" b="0" i="0" kern="1200" baseline="30000" dirty="0">
                <a:solidFill>
                  <a:schemeClr val="tx1"/>
                </a:solidFill>
                <a:effectLst/>
                <a:latin typeface="+mn-lt"/>
                <a:ea typeface="+mn-ea"/>
                <a:cs typeface="+mn-cs"/>
              </a:rPr>
              <a:t>3 </a:t>
            </a:r>
            <a:r>
              <a:rPr lang="en-US" sz="1200" b="0" i="0" kern="1200" dirty="0">
                <a:solidFill>
                  <a:schemeClr val="tx1"/>
                </a:solidFill>
                <a:effectLst/>
                <a:latin typeface="+mn-lt"/>
                <a:ea typeface="+mn-ea"/>
                <a:cs typeface="+mn-cs"/>
              </a:rPr>
              <a:t>= 5</a:t>
            </a:r>
            <a:r>
              <a:rPr lang="en-US" sz="1200" b="0" i="0" kern="1200" baseline="30000" dirty="0">
                <a:solidFill>
                  <a:schemeClr val="tx1"/>
                </a:solidFill>
                <a:effectLst/>
                <a:latin typeface="+mn-lt"/>
                <a:ea typeface="+mn-ea"/>
                <a:cs typeface="+mn-cs"/>
              </a:rPr>
              <a:t>3 </a:t>
            </a:r>
            <a:r>
              <a:rPr lang="en-US" sz="1200" b="0" i="0" kern="1200" dirty="0">
                <a:solidFill>
                  <a:schemeClr val="tx1"/>
                </a:solidFill>
                <a:effectLst/>
                <a:latin typeface="+mn-lt"/>
                <a:ea typeface="+mn-ea"/>
                <a:cs typeface="+mn-cs"/>
              </a:rPr>
              <a:t>= 125 as this is a three digit number one of the number is equal to 1.</a:t>
            </a:r>
            <a:br>
              <a:rPr lang="en-US" dirty="0"/>
            </a:br>
            <a:r>
              <a:rPr lang="en-US" sz="1200" b="0" i="0" kern="1200" dirty="0">
                <a:solidFill>
                  <a:schemeClr val="tx1"/>
                </a:solidFill>
                <a:effectLst/>
                <a:latin typeface="+mn-lt"/>
                <a:ea typeface="+mn-ea"/>
                <a:cs typeface="+mn-cs"/>
              </a:rPr>
              <a:t>⇒ 5</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+1</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 126. Now for 3</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 we get 153=1</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+5</a:t>
            </a:r>
            <a:r>
              <a:rPr lang="en-US" sz="1200" b="0" i="0" kern="1200" baseline="30000" dirty="0">
                <a:solidFill>
                  <a:schemeClr val="tx1"/>
                </a:solidFill>
                <a:effectLst/>
                <a:latin typeface="+mn-lt"/>
                <a:ea typeface="+mn-ea"/>
                <a:cs typeface="+mn-cs"/>
              </a:rPr>
              <a:t>3</a:t>
            </a:r>
            <a:r>
              <a:rPr lang="en-US" sz="1200" b="0" i="0" kern="1200" dirty="0">
                <a:solidFill>
                  <a:schemeClr val="tx1"/>
                </a:solidFill>
                <a:effectLst/>
                <a:latin typeface="+mn-lt"/>
                <a:ea typeface="+mn-ea"/>
                <a:cs typeface="+mn-cs"/>
              </a:rPr>
              <a:t>+3</a:t>
            </a:r>
            <a:r>
              <a:rPr lang="en-US" sz="1200" b="0" i="0" kern="1200" baseline="30000" dirty="0">
                <a:solidFill>
                  <a:schemeClr val="tx1"/>
                </a:solidFill>
                <a:effectLst/>
                <a:latin typeface="+mn-lt"/>
                <a:ea typeface="+mn-ea"/>
                <a:cs typeface="+mn-cs"/>
              </a:rPr>
              <a:t>3</a:t>
            </a:r>
            <a:br>
              <a:rPr lang="en-US" dirty="0"/>
            </a:br>
            <a:r>
              <a:rPr lang="en-US" sz="1200" b="0" i="0" kern="1200" dirty="0">
                <a:solidFill>
                  <a:schemeClr val="tx1"/>
                </a:solidFill>
                <a:effectLst/>
                <a:latin typeface="+mn-lt"/>
                <a:ea typeface="+mn-ea"/>
                <a:cs typeface="+mn-cs"/>
              </a:rPr>
              <a:t>From the above reasoning the other numbers satisfy the above relation are 370, 371 and 407.</a:t>
            </a:r>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2747408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E</a:t>
            </a:r>
          </a:p>
          <a:p>
            <a:r>
              <a:rPr lang="en-US" sz="1200" b="0" i="0" kern="1200" dirty="0">
                <a:solidFill>
                  <a:schemeClr val="tx1"/>
                </a:solidFill>
                <a:effectLst/>
                <a:latin typeface="+mn-lt"/>
                <a:ea typeface="+mn-ea"/>
                <a:cs typeface="+mn-cs"/>
              </a:rPr>
              <a:t>KANSAS+OHIO=OREGON given the value of O=5</a:t>
            </a:r>
            <a:br>
              <a:rPr lang="en-US" dirty="0"/>
            </a:br>
            <a:r>
              <a:rPr lang="en-US" sz="1200" b="0" i="0" kern="1200" dirty="0">
                <a:solidFill>
                  <a:schemeClr val="tx1"/>
                </a:solidFill>
                <a:effectLst/>
                <a:latin typeface="+mn-lt"/>
                <a:ea typeface="+mn-ea"/>
                <a:cs typeface="+mn-cs"/>
              </a:rPr>
              <a:t>KANSAS=497292</a:t>
            </a:r>
            <a:br>
              <a:rPr lang="en-US" dirty="0"/>
            </a:br>
            <a:r>
              <a:rPr lang="en-US" sz="1200" b="0" i="0" kern="1200" dirty="0">
                <a:solidFill>
                  <a:schemeClr val="tx1"/>
                </a:solidFill>
                <a:effectLst/>
                <a:latin typeface="+mn-lt"/>
                <a:ea typeface="+mn-ea"/>
                <a:cs typeface="+mn-cs"/>
              </a:rPr>
              <a:t>OHIO=5865</a:t>
            </a:r>
            <a:br>
              <a:rPr lang="en-US" dirty="0"/>
            </a:br>
            <a:r>
              <a:rPr lang="en-US" sz="1200" b="0" i="0" kern="1200" dirty="0">
                <a:solidFill>
                  <a:schemeClr val="tx1"/>
                </a:solidFill>
                <a:effectLst/>
                <a:latin typeface="+mn-lt"/>
                <a:ea typeface="+mn-ea"/>
                <a:cs typeface="+mn-cs"/>
              </a:rPr>
              <a:t>OREGON=503157</a:t>
            </a:r>
            <a:br>
              <a:rPr lang="en-US" dirty="0"/>
            </a:br>
            <a:r>
              <a:rPr lang="en-US" sz="1200" b="0" i="0" kern="1200" dirty="0">
                <a:solidFill>
                  <a:schemeClr val="tx1"/>
                </a:solidFill>
                <a:effectLst/>
                <a:latin typeface="+mn-lt"/>
                <a:ea typeface="+mn-ea"/>
                <a:cs typeface="+mn-cs"/>
              </a:rPr>
              <a:t>G+R+O+S+S=1+0+5+2+2=10</a:t>
            </a:r>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3712994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pt-BR" sz="1200" b="0" i="0" kern="1200" dirty="0">
                <a:solidFill>
                  <a:schemeClr val="tx1"/>
                </a:solidFill>
                <a:effectLst/>
                <a:latin typeface="+mn-lt"/>
                <a:ea typeface="+mn-ea"/>
                <a:cs typeface="+mn-cs"/>
              </a:rPr>
              <a:t>t h i s</a:t>
            </a:r>
            <a:br>
              <a:rPr lang="pt-BR" dirty="0"/>
            </a:br>
            <a:r>
              <a:rPr lang="pt-BR" sz="1200" b="0" i="0" kern="1200" dirty="0">
                <a:solidFill>
                  <a:schemeClr val="tx1"/>
                </a:solidFill>
                <a:effectLst/>
                <a:latin typeface="+mn-lt"/>
                <a:ea typeface="+mn-ea"/>
                <a:cs typeface="+mn-cs"/>
              </a:rPr>
              <a:t>(8 9 6 5)</a:t>
            </a:r>
            <a:br>
              <a:rPr lang="pt-BR" dirty="0"/>
            </a:br>
            <a:r>
              <a:rPr lang="pt-BR" sz="1200" b="0" i="0" kern="1200" dirty="0">
                <a:solidFill>
                  <a:schemeClr val="tx1"/>
                </a:solidFill>
                <a:effectLst/>
                <a:latin typeface="+mn-lt"/>
                <a:ea typeface="+mn-ea"/>
                <a:cs typeface="+mn-cs"/>
              </a:rPr>
              <a:t>+ i s</a:t>
            </a:r>
            <a:br>
              <a:rPr lang="pt-BR" dirty="0"/>
            </a:br>
            <a:r>
              <a:rPr lang="pt-BR" sz="1200" b="0" i="0" kern="1200" dirty="0">
                <a:solidFill>
                  <a:schemeClr val="tx1"/>
                </a:solidFill>
                <a:effectLst/>
                <a:latin typeface="+mn-lt"/>
                <a:ea typeface="+mn-ea"/>
                <a:cs typeface="+mn-cs"/>
              </a:rPr>
              <a:t>(6 5)</a:t>
            </a:r>
            <a:br>
              <a:rPr lang="pt-BR" dirty="0"/>
            </a:br>
            <a:r>
              <a:rPr lang="pt-BR" sz="1200" b="0" i="0" kern="1200" dirty="0">
                <a:solidFill>
                  <a:schemeClr val="tx1"/>
                </a:solidFill>
                <a:effectLst/>
                <a:latin typeface="+mn-lt"/>
                <a:ea typeface="+mn-ea"/>
                <a:cs typeface="+mn-cs"/>
              </a:rPr>
              <a:t>------------------</a:t>
            </a:r>
            <a:br>
              <a:rPr lang="pt-BR" dirty="0"/>
            </a:br>
            <a:r>
              <a:rPr lang="pt-BR" sz="1200" b="0" i="0" kern="1200" dirty="0">
                <a:solidFill>
                  <a:schemeClr val="tx1"/>
                </a:solidFill>
                <a:effectLst/>
                <a:latin typeface="+mn-lt"/>
                <a:ea typeface="+mn-ea"/>
                <a:cs typeface="+mn-cs"/>
              </a:rPr>
              <a:t>h e r e</a:t>
            </a:r>
            <a:br>
              <a:rPr lang="pt-BR" dirty="0"/>
            </a:br>
            <a:r>
              <a:rPr lang="pt-BR" sz="1200" b="0" i="0" kern="1200" dirty="0">
                <a:solidFill>
                  <a:schemeClr val="tx1"/>
                </a:solidFill>
                <a:effectLst/>
                <a:latin typeface="+mn-lt"/>
                <a:ea typeface="+mn-ea"/>
                <a:cs typeface="+mn-cs"/>
              </a:rPr>
              <a:t>(9 0 3 0)</a:t>
            </a:r>
            <a:br>
              <a:rPr lang="pt-BR" dirty="0"/>
            </a:br>
            <a:br>
              <a:rPr lang="pt-BR" dirty="0"/>
            </a:br>
            <a:r>
              <a:rPr lang="pt-BR" sz="1200" b="0" i="0" kern="1200" dirty="0">
                <a:solidFill>
                  <a:schemeClr val="tx1"/>
                </a:solidFill>
                <a:effectLst/>
                <a:latin typeface="+mn-lt"/>
                <a:ea typeface="+mn-ea"/>
                <a:cs typeface="+mn-cs"/>
              </a:rPr>
              <a:t>8*0+6*3*9-5 = 157</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2093653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As the result holds only 5 digits, the value of ABA should not exceed 300. 141 * 141 = 19881. So, ABA = 141. ABA + ABA = 282 which is not in the options. So, the answer is None of these.</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1460581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pt-BR" sz="1200" b="0" i="0" kern="1200" dirty="0">
                <a:solidFill>
                  <a:schemeClr val="tx1"/>
                </a:solidFill>
                <a:effectLst/>
                <a:latin typeface="+mn-lt"/>
                <a:ea typeface="+mn-ea"/>
                <a:cs typeface="+mn-cs"/>
              </a:rPr>
              <a:t>   C O C A</a:t>
            </a:r>
            <a:br>
              <a:rPr lang="pt-BR" dirty="0"/>
            </a:br>
            <a:r>
              <a:rPr lang="pt-BR" sz="1200" b="0" i="0" kern="1200" dirty="0">
                <a:solidFill>
                  <a:schemeClr val="tx1"/>
                </a:solidFill>
                <a:effectLst/>
                <a:latin typeface="+mn-lt"/>
                <a:ea typeface="+mn-ea"/>
                <a:cs typeface="+mn-cs"/>
              </a:rPr>
              <a:t>+ C O L A</a:t>
            </a:r>
            <a:br>
              <a:rPr lang="pt-BR" dirty="0"/>
            </a:br>
            <a:r>
              <a:rPr lang="pt-BR" sz="1200" b="0" i="0" kern="1200" dirty="0">
                <a:solidFill>
                  <a:schemeClr val="tx1"/>
                </a:solidFill>
                <a:effectLst/>
                <a:latin typeface="+mn-lt"/>
                <a:ea typeface="+mn-ea"/>
                <a:cs typeface="+mn-cs"/>
              </a:rPr>
              <a:t>_________ </a:t>
            </a:r>
            <a:br>
              <a:rPr lang="pt-BR" dirty="0"/>
            </a:br>
            <a:r>
              <a:rPr lang="pt-BR" sz="1200" b="0" i="0" kern="1200" dirty="0">
                <a:solidFill>
                  <a:schemeClr val="tx1"/>
                </a:solidFill>
                <a:effectLst/>
                <a:latin typeface="+mn-lt"/>
                <a:ea typeface="+mn-ea"/>
                <a:cs typeface="+mn-cs"/>
              </a:rPr>
              <a:t>O A S I S</a:t>
            </a:r>
            <a:br>
              <a:rPr lang="pt-BR" dirty="0"/>
            </a:br>
            <a:br>
              <a:rPr lang="pt-BR" dirty="0"/>
            </a:br>
            <a:r>
              <a:rPr lang="pt-BR" sz="1200" b="0" i="0" kern="1200" dirty="0">
                <a:solidFill>
                  <a:schemeClr val="tx1"/>
                </a:solidFill>
                <a:effectLst/>
                <a:latin typeface="+mn-lt"/>
                <a:ea typeface="+mn-ea"/>
                <a:cs typeface="+mn-cs"/>
              </a:rPr>
              <a:t>   8 1 8 6</a:t>
            </a:r>
            <a:br>
              <a:rPr lang="pt-BR" dirty="0"/>
            </a:br>
            <a:r>
              <a:rPr lang="pt-BR" sz="1200" b="0" i="0" kern="1200" dirty="0">
                <a:solidFill>
                  <a:schemeClr val="tx1"/>
                </a:solidFill>
                <a:effectLst/>
                <a:latin typeface="+mn-lt"/>
                <a:ea typeface="+mn-ea"/>
                <a:cs typeface="+mn-cs"/>
              </a:rPr>
              <a:t>   8 1 0 6</a:t>
            </a:r>
            <a:br>
              <a:rPr lang="pt-BR" dirty="0"/>
            </a:br>
            <a:r>
              <a:rPr lang="pt-BR" sz="1200" b="0" i="0" kern="1200" dirty="0">
                <a:solidFill>
                  <a:schemeClr val="tx1"/>
                </a:solidFill>
                <a:effectLst/>
                <a:latin typeface="+mn-lt"/>
                <a:ea typeface="+mn-ea"/>
                <a:cs typeface="+mn-cs"/>
              </a:rPr>
              <a:t>______________</a:t>
            </a:r>
            <a:br>
              <a:rPr lang="pt-BR" dirty="0"/>
            </a:br>
            <a:r>
              <a:rPr lang="pt-BR" sz="1200" b="0" i="0" kern="1200" dirty="0">
                <a:solidFill>
                  <a:schemeClr val="tx1"/>
                </a:solidFill>
                <a:effectLst/>
                <a:latin typeface="+mn-lt"/>
                <a:ea typeface="+mn-ea"/>
                <a:cs typeface="+mn-cs"/>
              </a:rPr>
              <a:t>1 6 2 9 2</a:t>
            </a:r>
            <a:br>
              <a:rPr lang="pt-BR" dirty="0"/>
            </a:br>
            <a:br>
              <a:rPr lang="pt-BR" dirty="0"/>
            </a:br>
            <a:r>
              <a:rPr lang="pt-BR" sz="1200" b="0" i="0" kern="1200" dirty="0">
                <a:solidFill>
                  <a:schemeClr val="tx1"/>
                </a:solidFill>
                <a:effectLst/>
                <a:latin typeface="+mn-lt"/>
                <a:ea typeface="+mn-ea"/>
                <a:cs typeface="+mn-cs"/>
              </a:rPr>
              <a:t>So, L=0.</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1860167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r>
              <a:rPr lang="pt-BR"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YOUR + YOU = HEART; 9426 + 942 = 10368; </a:t>
            </a:r>
          </a:p>
          <a:p>
            <a:r>
              <a:rPr lang="en-US" sz="1200" b="0" i="0" kern="1200" dirty="0">
                <a:solidFill>
                  <a:schemeClr val="tx1"/>
                </a:solidFill>
                <a:effectLst/>
                <a:latin typeface="+mn-lt"/>
                <a:ea typeface="+mn-ea"/>
                <a:cs typeface="+mn-cs"/>
              </a:rPr>
              <a:t>Y + U + R + E = 9 + 2 + 6 + 0 = 17.</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16515637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endParaRPr lang="en-US" sz="1200" b="1"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HERE = COMES - SHE</a:t>
            </a:r>
            <a:br>
              <a:rPr lang="pt-BR" dirty="0"/>
            </a:br>
            <a:r>
              <a:rPr lang="pt-BR" sz="1200" b="0" i="0" kern="1200" dirty="0">
                <a:solidFill>
                  <a:schemeClr val="tx1"/>
                </a:solidFill>
                <a:effectLst/>
                <a:latin typeface="+mn-lt"/>
                <a:ea typeface="+mn-ea"/>
                <a:cs typeface="+mn-cs"/>
              </a:rPr>
              <a:t>HERE</a:t>
            </a:r>
            <a:br>
              <a:rPr lang="pt-BR" dirty="0"/>
            </a:br>
            <a:r>
              <a:rPr lang="pt-BR" sz="1200" b="0" i="0" kern="1200" dirty="0">
                <a:solidFill>
                  <a:schemeClr val="tx1"/>
                </a:solidFill>
                <a:effectLst/>
                <a:latin typeface="+mn-lt"/>
                <a:ea typeface="+mn-ea"/>
                <a:cs typeface="+mn-cs"/>
              </a:rPr>
              <a:t>+ SHE</a:t>
            </a:r>
            <a:br>
              <a:rPr lang="pt-BR" dirty="0"/>
            </a:br>
            <a:r>
              <a:rPr lang="pt-BR" sz="1200" b="0" i="0" kern="1200" dirty="0">
                <a:solidFill>
                  <a:schemeClr val="tx1"/>
                </a:solidFill>
                <a:effectLst/>
                <a:latin typeface="+mn-lt"/>
                <a:ea typeface="+mn-ea"/>
                <a:cs typeface="+mn-cs"/>
              </a:rPr>
              <a:t>------------</a:t>
            </a:r>
            <a:br>
              <a:rPr lang="pt-BR" dirty="0"/>
            </a:br>
            <a:r>
              <a:rPr lang="pt-BR" sz="1200" b="0" i="0" kern="1200" dirty="0">
                <a:solidFill>
                  <a:schemeClr val="tx1"/>
                </a:solidFill>
                <a:effectLst/>
                <a:latin typeface="+mn-lt"/>
                <a:ea typeface="+mn-ea"/>
                <a:cs typeface="+mn-cs"/>
              </a:rPr>
              <a:t>COMES</a:t>
            </a:r>
            <a:br>
              <a:rPr lang="pt-BR" dirty="0"/>
            </a:br>
            <a:r>
              <a:rPr lang="pt-BR" sz="1200" b="0" i="0" kern="1200" dirty="0">
                <a:solidFill>
                  <a:schemeClr val="tx1"/>
                </a:solidFill>
                <a:effectLst/>
                <a:latin typeface="+mn-lt"/>
                <a:ea typeface="+mn-ea"/>
                <a:cs typeface="+mn-cs"/>
              </a:rPr>
              <a:t>------------</a:t>
            </a:r>
            <a:br>
              <a:rPr lang="pt-BR" dirty="0"/>
            </a:br>
            <a:r>
              <a:rPr lang="pt-BR" sz="1200" b="0" i="0" kern="1200" dirty="0">
                <a:solidFill>
                  <a:schemeClr val="tx1"/>
                </a:solidFill>
                <a:effectLst/>
                <a:latin typeface="+mn-lt"/>
                <a:ea typeface="+mn-ea"/>
                <a:cs typeface="+mn-cs"/>
              </a:rPr>
              <a:t>E + E = S = 8 =&gt; E = 4</a:t>
            </a:r>
            <a:br>
              <a:rPr lang="pt-BR" dirty="0"/>
            </a:br>
            <a:r>
              <a:rPr lang="pt-BR" sz="1200" b="0" i="0" kern="1200" dirty="0">
                <a:solidFill>
                  <a:schemeClr val="tx1"/>
                </a:solidFill>
                <a:effectLst/>
                <a:latin typeface="+mn-lt"/>
                <a:ea typeface="+mn-ea"/>
                <a:cs typeface="+mn-cs"/>
              </a:rPr>
              <a:t>3 digit no. + 4 digit no. = 5 digit no. =&gt; C = 1 ,O = 0, H = 9 etc</a:t>
            </a:r>
            <a:br>
              <a:rPr lang="pt-BR" dirty="0"/>
            </a:br>
            <a:r>
              <a:rPr lang="pt-BR" sz="1200" b="0" i="0" kern="1200" dirty="0">
                <a:solidFill>
                  <a:schemeClr val="tx1"/>
                </a:solidFill>
                <a:effectLst/>
                <a:latin typeface="+mn-lt"/>
                <a:ea typeface="+mn-ea"/>
                <a:cs typeface="+mn-cs"/>
              </a:rPr>
              <a:t>So 9454 + 894 = 10348</a:t>
            </a:r>
            <a:br>
              <a:rPr lang="pt-BR" dirty="0"/>
            </a:br>
            <a:r>
              <a:rPr lang="pt-BR" sz="1200" b="0" i="0" kern="1200" dirty="0">
                <a:solidFill>
                  <a:schemeClr val="tx1"/>
                </a:solidFill>
                <a:effectLst/>
                <a:latin typeface="+mn-lt"/>
                <a:ea typeface="+mn-ea"/>
                <a:cs typeface="+mn-cs"/>
              </a:rPr>
              <a:t>10348</a:t>
            </a:r>
            <a:br>
              <a:rPr lang="pt-BR" dirty="0"/>
            </a:br>
            <a:r>
              <a:rPr lang="pt-BR" sz="1200" b="0" i="0" kern="1200" dirty="0">
                <a:solidFill>
                  <a:schemeClr val="tx1"/>
                </a:solidFill>
                <a:effectLst/>
                <a:latin typeface="+mn-lt"/>
                <a:ea typeface="+mn-ea"/>
                <a:cs typeface="+mn-cs"/>
              </a:rPr>
              <a:t>- 894</a:t>
            </a:r>
            <a:br>
              <a:rPr lang="pt-BR" dirty="0"/>
            </a:br>
            <a:r>
              <a:rPr lang="pt-BR" sz="1200" b="0" i="0" kern="1200" dirty="0">
                <a:solidFill>
                  <a:schemeClr val="tx1"/>
                </a:solidFill>
                <a:effectLst/>
                <a:latin typeface="+mn-lt"/>
                <a:ea typeface="+mn-ea"/>
                <a:cs typeface="+mn-cs"/>
              </a:rPr>
              <a:t>--------</a:t>
            </a:r>
            <a:br>
              <a:rPr lang="pt-BR" dirty="0"/>
            </a:br>
            <a:r>
              <a:rPr lang="pt-BR" sz="1200" b="0" i="0" kern="1200" dirty="0">
                <a:solidFill>
                  <a:schemeClr val="tx1"/>
                </a:solidFill>
                <a:effectLst/>
                <a:latin typeface="+mn-lt"/>
                <a:ea typeface="+mn-ea"/>
                <a:cs typeface="+mn-cs"/>
              </a:rPr>
              <a:t>9454</a:t>
            </a:r>
            <a:br>
              <a:rPr lang="pt-BR" dirty="0"/>
            </a:br>
            <a:r>
              <a:rPr lang="pt-BR" sz="1200" b="0" i="0" kern="1200" dirty="0">
                <a:solidFill>
                  <a:schemeClr val="tx1"/>
                </a:solidFill>
                <a:effectLst/>
                <a:latin typeface="+mn-lt"/>
                <a:ea typeface="+mn-ea"/>
                <a:cs typeface="+mn-cs"/>
              </a:rPr>
              <a:t>-------</a:t>
            </a:r>
            <a:br>
              <a:rPr lang="pt-BR" dirty="0"/>
            </a:br>
            <a:r>
              <a:rPr lang="pt-BR" sz="1200" b="0" i="0" kern="1200" dirty="0">
                <a:solidFill>
                  <a:schemeClr val="tx1"/>
                </a:solidFill>
                <a:effectLst/>
                <a:latin typeface="+mn-lt"/>
                <a:ea typeface="+mn-ea"/>
                <a:cs typeface="+mn-cs"/>
              </a:rPr>
              <a:t>R + H + O = 5 + 9 + 0 = 14.</a:t>
            </a: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8196916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Basically you start with a few assumptions:</a:t>
            </a:r>
            <a:br>
              <a:rPr lang="en-US" dirty="0"/>
            </a:br>
            <a:r>
              <a:rPr lang="en-US" sz="1200" b="0" i="0" kern="1200" dirty="0">
                <a:solidFill>
                  <a:schemeClr val="tx1"/>
                </a:solidFill>
                <a:effectLst/>
                <a:latin typeface="+mn-lt"/>
                <a:ea typeface="+mn-ea"/>
                <a:cs typeface="+mn-cs"/>
              </a:rPr>
              <a:t>1. Each letter is a number from 0 to 9.</a:t>
            </a:r>
            <a:br>
              <a:rPr lang="en-US" dirty="0"/>
            </a:br>
            <a:r>
              <a:rPr lang="en-US" sz="1200" b="0" i="0" kern="1200" dirty="0">
                <a:solidFill>
                  <a:schemeClr val="tx1"/>
                </a:solidFill>
                <a:effectLst/>
                <a:latin typeface="+mn-lt"/>
                <a:ea typeface="+mn-ea"/>
                <a:cs typeface="+mn-cs"/>
              </a:rPr>
              <a:t>2. Each number can only be assigned to one of the letters.</a:t>
            </a:r>
            <a:br>
              <a:rPr lang="en-US" dirty="0"/>
            </a:br>
            <a:r>
              <a:rPr lang="en-US" sz="1200" b="0" i="0" kern="1200" dirty="0">
                <a:solidFill>
                  <a:schemeClr val="tx1"/>
                </a:solidFill>
                <a:effectLst/>
                <a:latin typeface="+mn-lt"/>
                <a:ea typeface="+mn-ea"/>
                <a:cs typeface="+mn-cs"/>
              </a:rPr>
              <a:t>We know that O+O=T and T has to be less than 10,</a:t>
            </a:r>
            <a:br>
              <a:rPr lang="en-US" dirty="0"/>
            </a:br>
            <a:r>
              <a:rPr lang="en-US" sz="1200" b="0" i="0" kern="1200" dirty="0">
                <a:solidFill>
                  <a:schemeClr val="tx1"/>
                </a:solidFill>
                <a:effectLst/>
                <a:latin typeface="+mn-lt"/>
                <a:ea typeface="+mn-ea"/>
                <a:cs typeface="+mn-cs"/>
              </a:rPr>
              <a:t>therefore O can be a number from 0 to 4.</a:t>
            </a:r>
            <a:br>
              <a:rPr lang="en-US" dirty="0"/>
            </a:br>
            <a:br>
              <a:rPr lang="en-US" dirty="0"/>
            </a:br>
            <a:r>
              <a:rPr lang="en-US" sz="1200" b="0" i="0" kern="1200" dirty="0">
                <a:solidFill>
                  <a:schemeClr val="tx1"/>
                </a:solidFill>
                <a:effectLst/>
                <a:latin typeface="+mn-lt"/>
                <a:ea typeface="+mn-ea"/>
                <a:cs typeface="+mn-cs"/>
              </a:rPr>
              <a:t>G+T cannot be over 20</a:t>
            </a:r>
            <a:br>
              <a:rPr lang="en-US" dirty="0"/>
            </a:br>
            <a:r>
              <a:rPr lang="en-US" sz="1200" b="0" i="0" kern="1200" dirty="0">
                <a:solidFill>
                  <a:schemeClr val="tx1"/>
                </a:solidFill>
                <a:effectLst/>
                <a:latin typeface="+mn-lt"/>
                <a:ea typeface="+mn-ea"/>
                <a:cs typeface="+mn-cs"/>
              </a:rPr>
              <a:t>(as the max. number possible in an addition is 9+9=18</a:t>
            </a:r>
            <a:br>
              <a:rPr lang="en-US" dirty="0"/>
            </a:br>
            <a:r>
              <a:rPr lang="en-US" sz="1200" b="0" i="0" kern="1200" dirty="0">
                <a:solidFill>
                  <a:schemeClr val="tx1"/>
                </a:solidFill>
                <a:effectLst/>
                <a:latin typeface="+mn-lt"/>
                <a:ea typeface="+mn-ea"/>
                <a:cs typeface="+mn-cs"/>
              </a:rPr>
              <a:t>plus any carry over from a previous sum (which at the most can be 1)</a:t>
            </a:r>
            <a:br>
              <a:rPr lang="en-US" dirty="0"/>
            </a:br>
            <a:r>
              <a:rPr lang="en-US" sz="1200" b="0" i="0" kern="1200" dirty="0">
                <a:solidFill>
                  <a:schemeClr val="tx1"/>
                </a:solidFill>
                <a:effectLst/>
                <a:latin typeface="+mn-lt"/>
                <a:ea typeface="+mn-ea"/>
                <a:cs typeface="+mn-cs"/>
              </a:rPr>
              <a:t>and therefore O can only be 0 and 1.</a:t>
            </a:r>
            <a:br>
              <a:rPr lang="en-US" dirty="0"/>
            </a:br>
            <a:br>
              <a:rPr lang="en-US" dirty="0"/>
            </a:br>
            <a:r>
              <a:rPr lang="en-US" sz="1200" b="0" i="0" kern="1200" dirty="0">
                <a:solidFill>
                  <a:schemeClr val="tx1"/>
                </a:solidFill>
                <a:effectLst/>
                <a:latin typeface="+mn-lt"/>
                <a:ea typeface="+mn-ea"/>
                <a:cs typeface="+mn-cs"/>
              </a:rPr>
              <a:t>If O is 0 then T is also 0 and one of our</a:t>
            </a:r>
            <a:br>
              <a:rPr lang="en-US" dirty="0"/>
            </a:br>
            <a:r>
              <a:rPr lang="en-US" sz="1200" b="0" i="0" kern="1200" dirty="0">
                <a:solidFill>
                  <a:schemeClr val="tx1"/>
                </a:solidFill>
                <a:effectLst/>
                <a:latin typeface="+mn-lt"/>
                <a:ea typeface="+mn-ea"/>
                <a:cs typeface="+mn-cs"/>
              </a:rPr>
              <a:t>assumptions is broken so O equals 1 and T</a:t>
            </a:r>
            <a:br>
              <a:rPr lang="en-US" dirty="0"/>
            </a:br>
            <a:r>
              <a:rPr lang="en-US" sz="1200" b="0" i="0" kern="1200" dirty="0">
                <a:solidFill>
                  <a:schemeClr val="tx1"/>
                </a:solidFill>
                <a:effectLst/>
                <a:latin typeface="+mn-lt"/>
                <a:ea typeface="+mn-ea"/>
                <a:cs typeface="+mn-cs"/>
              </a:rPr>
              <a:t>equals double that (2).</a:t>
            </a:r>
            <a:br>
              <a:rPr lang="en-US" dirty="0"/>
            </a:br>
            <a:br>
              <a:rPr lang="en-US" dirty="0"/>
            </a:br>
            <a:r>
              <a:rPr lang="en-US" sz="1200" b="0" i="0" kern="1200" dirty="0">
                <a:solidFill>
                  <a:schemeClr val="tx1"/>
                </a:solidFill>
                <a:effectLst/>
                <a:latin typeface="+mn-lt"/>
                <a:ea typeface="+mn-ea"/>
                <a:cs typeface="+mn-cs"/>
              </a:rPr>
              <a:t>So GO+TO=G1+21=OUT=1U2, G+T=OU</a:t>
            </a:r>
            <a:br>
              <a:rPr lang="en-US" dirty="0"/>
            </a:br>
            <a:r>
              <a:rPr lang="en-US" sz="1200" b="0" i="0" kern="1200" dirty="0">
                <a:solidFill>
                  <a:schemeClr val="tx1"/>
                </a:solidFill>
                <a:effectLst/>
                <a:latin typeface="+mn-lt"/>
                <a:ea typeface="+mn-ea"/>
                <a:cs typeface="+mn-cs"/>
              </a:rPr>
              <a:t>so G has to be 8 or 9, if G=9</a:t>
            </a:r>
            <a:br>
              <a:rPr lang="en-US" dirty="0"/>
            </a:br>
            <a:r>
              <a:rPr lang="en-US" sz="1200" b="0" i="0" kern="1200" dirty="0">
                <a:solidFill>
                  <a:schemeClr val="tx1"/>
                </a:solidFill>
                <a:effectLst/>
                <a:latin typeface="+mn-lt"/>
                <a:ea typeface="+mn-ea"/>
                <a:cs typeface="+mn-cs"/>
              </a:rPr>
              <a:t>then U would be 1 and that breaks our second assumptions</a:t>
            </a:r>
            <a:br>
              <a:rPr lang="en-US" dirty="0"/>
            </a:br>
            <a:r>
              <a:rPr lang="en-US" sz="1200" b="0" i="0" kern="1200" dirty="0">
                <a:solidFill>
                  <a:schemeClr val="tx1"/>
                </a:solidFill>
                <a:effectLst/>
                <a:latin typeface="+mn-lt"/>
                <a:ea typeface="+mn-ea"/>
                <a:cs typeface="+mn-cs"/>
              </a:rPr>
              <a:t>so G=8 and U=0.</a:t>
            </a:r>
            <a:br>
              <a:rPr lang="en-US" dirty="0"/>
            </a:br>
            <a:r>
              <a:rPr lang="en-US" sz="1200" b="0" i="0" kern="1200" dirty="0">
                <a:solidFill>
                  <a:schemeClr val="tx1"/>
                </a:solidFill>
                <a:effectLst/>
                <a:latin typeface="+mn-lt"/>
                <a:ea typeface="+mn-ea"/>
                <a:cs typeface="+mn-cs"/>
              </a:rPr>
              <a:t>At the end O+U+T=1+0+2=3</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1999873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Since every four-digit number is less than 10,000 and every three-digit number is less than 1,000, the sum of two such numbers is necessarily less than 11,000. This sum, though, is a five-digit number, hence is greater than 10,000. </a:t>
            </a:r>
          </a:p>
          <a:p>
            <a:r>
              <a:rPr lang="en-US" sz="1200" b="0" i="0" kern="1200" dirty="0">
                <a:solidFill>
                  <a:schemeClr val="tx1"/>
                </a:solidFill>
                <a:effectLst/>
                <a:latin typeface="+mn-lt"/>
                <a:ea typeface="+mn-ea"/>
                <a:cs typeface="+mn-cs"/>
              </a:rPr>
              <a:t>Consequently, A must be 1 and P must be 0. </a:t>
            </a:r>
          </a:p>
          <a:p>
            <a:r>
              <a:rPr lang="en-US" sz="1200" b="0" i="0" kern="1200" dirty="0">
                <a:solidFill>
                  <a:schemeClr val="tx1"/>
                </a:solidFill>
                <a:effectLst/>
                <a:latin typeface="+mn-lt"/>
                <a:ea typeface="+mn-ea"/>
                <a:cs typeface="+mn-cs"/>
              </a:rPr>
              <a:t>Further, we can conclude that T = 9. </a:t>
            </a:r>
          </a:p>
          <a:p>
            <a:r>
              <a:rPr lang="en-US" sz="1200" b="0" i="0" kern="1200" dirty="0">
                <a:solidFill>
                  <a:schemeClr val="tx1"/>
                </a:solidFill>
                <a:effectLst/>
                <a:latin typeface="+mn-lt"/>
                <a:ea typeface="+mn-ea"/>
                <a:cs typeface="+mn-cs"/>
              </a:rPr>
              <a:t>Otherwise, we would be adding a number less than 1,000 to one less than 9,000, leaving us short of the requisite total. </a:t>
            </a:r>
          </a:p>
          <a:p>
            <a:r>
              <a:rPr lang="en-US" sz="1200" b="0" i="0" kern="1200" dirty="0">
                <a:solidFill>
                  <a:schemeClr val="tx1"/>
                </a:solidFill>
                <a:effectLst/>
                <a:latin typeface="+mn-lt"/>
                <a:ea typeface="+mn-ea"/>
                <a:cs typeface="+mn-cs"/>
              </a:rPr>
              <a:t>The units column then produces E = 8 while generating a carryover of 1 into the tens column. </a:t>
            </a:r>
          </a:p>
          <a:p>
            <a:r>
              <a:rPr lang="en-US" sz="1200" b="0" i="0" kern="1200" dirty="0">
                <a:solidFill>
                  <a:schemeClr val="tx1"/>
                </a:solidFill>
                <a:effectLst/>
                <a:latin typeface="+mn-lt"/>
                <a:ea typeface="+mn-ea"/>
                <a:cs typeface="+mn-cs"/>
              </a:rPr>
              <a:t>Together with the previously found value of A, we learn from the tens column that L = 3. </a:t>
            </a:r>
          </a:p>
          <a:p>
            <a:r>
              <a:rPr lang="en-US" sz="1200" b="0" i="0" kern="1200" dirty="0">
                <a:solidFill>
                  <a:schemeClr val="tx1"/>
                </a:solidFill>
                <a:effectLst/>
                <a:latin typeface="+mn-lt"/>
                <a:ea typeface="+mn-ea"/>
                <a:cs typeface="+mn-cs"/>
              </a:rPr>
              <a:t>Finally, the hundreds column yields the equation E + H = P + 10, where the "10" is required to accommodate the needed carryover into the thousands column. </a:t>
            </a:r>
          </a:p>
          <a:p>
            <a:r>
              <a:rPr lang="en-US" sz="1200" b="0" i="0" kern="1200" dirty="0">
                <a:solidFill>
                  <a:schemeClr val="tx1"/>
                </a:solidFill>
                <a:effectLst/>
                <a:latin typeface="+mn-lt"/>
                <a:ea typeface="+mn-ea"/>
                <a:cs typeface="+mn-cs"/>
              </a:rPr>
              <a:t>When the values of E and P are substituted into this relationship, we get 8 + H = 10, from which it follows that H = 2. </a:t>
            </a:r>
          </a:p>
          <a:p>
            <a:r>
              <a:rPr lang="en-US" sz="1200" b="0" i="0" kern="1200" dirty="0">
                <a:solidFill>
                  <a:schemeClr val="tx1"/>
                </a:solidFill>
                <a:effectLst/>
                <a:latin typeface="+mn-lt"/>
                <a:ea typeface="+mn-ea"/>
                <a:cs typeface="+mn-cs"/>
              </a:rPr>
              <a:t>Therefore, the unique solution of the puzzle turns out to be 819 + 9219 = 10038.</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 + (A * E) = 3 + (1 * 8) = 11</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1914970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Obviously H = 1. From the NUN column we must have "carry 1," so G = 9, U = zero. </a:t>
            </a:r>
          </a:p>
          <a:p>
            <a:r>
              <a:rPr lang="en-US" sz="1200" b="0" i="0" kern="1200" dirty="0">
                <a:solidFill>
                  <a:schemeClr val="tx1"/>
                </a:solidFill>
                <a:effectLst/>
                <a:latin typeface="+mn-lt"/>
                <a:ea typeface="+mn-ea"/>
                <a:cs typeface="+mn-cs"/>
              </a:rPr>
              <a:t>Since we have "carry" zero or 1 or 2 from the ONOT column, correspondingly we have N + U = 10 or 9 or 8. </a:t>
            </a:r>
          </a:p>
          <a:p>
            <a:r>
              <a:rPr lang="en-US" sz="1200" b="0" i="0" kern="1200" dirty="0">
                <a:solidFill>
                  <a:schemeClr val="tx1"/>
                </a:solidFill>
                <a:effectLst/>
                <a:latin typeface="+mn-lt"/>
                <a:ea typeface="+mn-ea"/>
                <a:cs typeface="+mn-cs"/>
              </a:rPr>
              <a:t>But duplication is not allowed, so N = 8 with "carry 2" from ONOT. </a:t>
            </a:r>
          </a:p>
          <a:p>
            <a:r>
              <a:rPr lang="en-US" sz="1200" b="0" i="0" kern="1200" dirty="0">
                <a:solidFill>
                  <a:schemeClr val="tx1"/>
                </a:solidFill>
                <a:effectLst/>
                <a:latin typeface="+mn-lt"/>
                <a:ea typeface="+mn-ea"/>
                <a:cs typeface="+mn-cs"/>
              </a:rPr>
              <a:t>Hence, O + O = T + 20 - 8 = T + 12. </a:t>
            </a:r>
          </a:p>
          <a:p>
            <a:r>
              <a:rPr lang="en-US" sz="1200" b="0" i="0" kern="1200" dirty="0">
                <a:solidFill>
                  <a:schemeClr val="tx1"/>
                </a:solidFill>
                <a:effectLst/>
                <a:latin typeface="+mn-lt"/>
                <a:ea typeface="+mn-ea"/>
                <a:cs typeface="+mn-cs"/>
              </a:rPr>
              <a:t>Testing for T = 2, 4 or 6, we find only T = 2 acceptable, O = 7. So we have 87 + 908 + 87 = 1082.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H + U + N + T = 1 + 0 + 8 + 2 = 11</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1353232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In the second partial product we see D x A = D, hence A = 1. D x C and E x C both end in C, hence C = 5. D and E must be odd. Since both partial products have only three digits, neither can be 9. This leaves only 3 and 7. </a:t>
            </a:r>
          </a:p>
          <a:p>
            <a:r>
              <a:rPr lang="en-US" sz="1200" b="0" i="0" kern="1200" dirty="0">
                <a:solidFill>
                  <a:schemeClr val="tx1"/>
                </a:solidFill>
                <a:effectLst/>
                <a:latin typeface="+mn-lt"/>
                <a:ea typeface="+mn-ea"/>
                <a:cs typeface="+mn-cs"/>
              </a:rPr>
              <a:t>In the first partial product E x B is a number of two digits while in the second partial product D x B is a number of only one digit. </a:t>
            </a:r>
          </a:p>
          <a:p>
            <a:r>
              <a:rPr lang="en-US" sz="1200" b="0" i="0" kern="1200" dirty="0">
                <a:solidFill>
                  <a:schemeClr val="tx1"/>
                </a:solidFill>
                <a:effectLst/>
                <a:latin typeface="+mn-lt"/>
                <a:ea typeface="+mn-ea"/>
                <a:cs typeface="+mn-cs"/>
              </a:rPr>
              <a:t>Thus E is larger than D, so E = 7 and D = 3. Since D x B has only one digit, B must be 3 or less. </a:t>
            </a:r>
          </a:p>
          <a:p>
            <a:r>
              <a:rPr lang="en-US" sz="1200" b="0" i="0" kern="1200" dirty="0">
                <a:solidFill>
                  <a:schemeClr val="tx1"/>
                </a:solidFill>
                <a:effectLst/>
                <a:latin typeface="+mn-lt"/>
                <a:ea typeface="+mn-ea"/>
                <a:cs typeface="+mn-cs"/>
              </a:rPr>
              <a:t>The only two possibilities are 0 and 2. B cannot be zero because 7B is a two-digit number. </a:t>
            </a:r>
          </a:p>
          <a:p>
            <a:r>
              <a:rPr lang="en-US" sz="1200" b="0" i="0" kern="1200" dirty="0">
                <a:solidFill>
                  <a:schemeClr val="tx1"/>
                </a:solidFill>
                <a:effectLst/>
                <a:latin typeface="+mn-lt"/>
                <a:ea typeface="+mn-ea"/>
                <a:cs typeface="+mn-cs"/>
              </a:rPr>
              <a:t>Thus B = 2. By completing the multiplication, F = 8, E = 7, and G = 6. </a:t>
            </a:r>
          </a:p>
          <a:p>
            <a:r>
              <a:rPr lang="en-US" sz="1200" b="0" i="0" kern="1200" dirty="0">
                <a:solidFill>
                  <a:schemeClr val="tx1"/>
                </a:solidFill>
                <a:effectLst/>
                <a:latin typeface="+mn-lt"/>
                <a:ea typeface="+mn-ea"/>
                <a:cs typeface="+mn-cs"/>
              </a:rPr>
              <a:t>The answer is 125 x 37 = 4625</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686120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Here a 3-digit number is the product of a 2-digit number multiplied by itself. Basic knowledge of the laws of multiplication will immediately force the conclusion that B cannot be greater than 3.</a:t>
            </a:r>
          </a:p>
          <a:p>
            <a:r>
              <a:rPr lang="en-US" sz="1200" b="0" i="0" kern="1200" dirty="0">
                <a:solidFill>
                  <a:schemeClr val="tx1"/>
                </a:solidFill>
                <a:effectLst/>
                <a:latin typeface="+mn-lt"/>
                <a:ea typeface="+mn-ea"/>
                <a:cs typeface="+mn-cs"/>
              </a:rPr>
              <a:t>For if B is 4, and the lowest possible value, 0, is assigned to E then BE = 40. </a:t>
            </a:r>
          </a:p>
          <a:p>
            <a:r>
              <a:rPr lang="en-US" sz="1200" b="0" i="0" kern="1200" dirty="0">
                <a:solidFill>
                  <a:schemeClr val="tx1"/>
                </a:solidFill>
                <a:effectLst/>
                <a:latin typeface="+mn-lt"/>
                <a:ea typeface="+mn-ea"/>
                <a:cs typeface="+mn-cs"/>
              </a:rPr>
              <a:t>However, (40)(40) = 1,600, a 4-digit number, and the product in the puzzle to be solved has but 3 digits. </a:t>
            </a:r>
          </a:p>
          <a:p>
            <a:r>
              <a:rPr lang="en-US" sz="1200" b="0" i="0" kern="1200" dirty="0">
                <a:solidFill>
                  <a:schemeClr val="tx1"/>
                </a:solidFill>
                <a:effectLst/>
                <a:latin typeface="+mn-lt"/>
                <a:ea typeface="+mn-ea"/>
                <a:cs typeface="+mn-cs"/>
              </a:rPr>
              <a:t>Convention demands that the initial letters or symbols of </a:t>
            </a:r>
            <a:r>
              <a:rPr lang="en-US" sz="1200" b="0" i="0" kern="1200" dirty="0" err="1">
                <a:solidFill>
                  <a:schemeClr val="tx1"/>
                </a:solidFill>
                <a:effectLst/>
                <a:latin typeface="+mn-lt"/>
                <a:ea typeface="+mn-ea"/>
                <a:cs typeface="+mn-cs"/>
              </a:rPr>
              <a:t>alphametics</a:t>
            </a:r>
            <a:r>
              <a:rPr lang="en-US" sz="1200" b="0" i="0" kern="1200" dirty="0">
                <a:solidFill>
                  <a:schemeClr val="tx1"/>
                </a:solidFill>
                <a:effectLst/>
                <a:latin typeface="+mn-lt"/>
                <a:ea typeface="+mn-ea"/>
                <a:cs typeface="+mn-cs"/>
              </a:rPr>
              <a:t> cannot be 0, so B is either 1, 2, or 3. </a:t>
            </a:r>
          </a:p>
          <a:p>
            <a:r>
              <a:rPr lang="en-US" sz="1200" b="0" i="0" kern="1200" dirty="0">
                <a:solidFill>
                  <a:schemeClr val="tx1"/>
                </a:solidFill>
                <a:effectLst/>
                <a:latin typeface="+mn-lt"/>
                <a:ea typeface="+mn-ea"/>
                <a:cs typeface="+mn-cs"/>
              </a:rPr>
              <a:t>Another convention demands that 2 different letters cannot be substituted for the same digit. </a:t>
            </a:r>
          </a:p>
          <a:p>
            <a:r>
              <a:rPr lang="en-US" sz="1200" b="0" i="0" kern="1200" dirty="0">
                <a:solidFill>
                  <a:schemeClr val="tx1"/>
                </a:solidFill>
                <a:effectLst/>
                <a:latin typeface="+mn-lt"/>
                <a:ea typeface="+mn-ea"/>
                <a:cs typeface="+mn-cs"/>
              </a:rPr>
              <a:t>That is, if B turns out to be 3, then no other letter in this </a:t>
            </a:r>
            <a:r>
              <a:rPr lang="en-US" sz="1200" b="0" i="0" kern="1200" dirty="0" err="1">
                <a:solidFill>
                  <a:schemeClr val="tx1"/>
                </a:solidFill>
                <a:effectLst/>
                <a:latin typeface="+mn-lt"/>
                <a:ea typeface="+mn-ea"/>
                <a:cs typeface="+mn-cs"/>
              </a:rPr>
              <a:t>alphametic</a:t>
            </a:r>
            <a:r>
              <a:rPr lang="en-US" sz="1200" b="0" i="0" kern="1200" dirty="0">
                <a:solidFill>
                  <a:schemeClr val="tx1"/>
                </a:solidFill>
                <a:effectLst/>
                <a:latin typeface="+mn-lt"/>
                <a:ea typeface="+mn-ea"/>
                <a:cs typeface="+mn-cs"/>
              </a:rPr>
              <a:t> could stand for 3. </a:t>
            </a:r>
          </a:p>
          <a:p>
            <a:r>
              <a:rPr lang="en-US" sz="1200" b="0" i="0" kern="1200" dirty="0">
                <a:solidFill>
                  <a:schemeClr val="tx1"/>
                </a:solidFill>
                <a:effectLst/>
                <a:latin typeface="+mn-lt"/>
                <a:ea typeface="+mn-ea"/>
                <a:cs typeface="+mn-cs"/>
              </a:rPr>
              <a:t>Attention can be directed to E since much can be deduced from the fact that (E)(E) ends in B. </a:t>
            </a:r>
          </a:p>
          <a:p>
            <a:r>
              <a:rPr lang="en-US" sz="1200" b="0" i="0" kern="1200" dirty="0">
                <a:solidFill>
                  <a:schemeClr val="tx1"/>
                </a:solidFill>
                <a:effectLst/>
                <a:latin typeface="+mn-lt"/>
                <a:ea typeface="+mn-ea"/>
                <a:cs typeface="+mn-cs"/>
              </a:rPr>
              <a:t>If E equals 0, 1, 5, or 6, then the product would be a number ending in 0, 1, 5, or 6, respectively. </a:t>
            </a:r>
          </a:p>
          <a:p>
            <a:r>
              <a:rPr lang="en-US" sz="1200" b="0" i="0" kern="1200" dirty="0">
                <a:solidFill>
                  <a:schemeClr val="tx1"/>
                </a:solidFill>
                <a:effectLst/>
                <a:latin typeface="+mn-lt"/>
                <a:ea typeface="+mn-ea"/>
                <a:cs typeface="+mn-cs"/>
              </a:rPr>
              <a:t>Since the product, MOB, does not end in E, these numbers for E are eliminated. 2, 3, 4, 7, and 8 can also be eliminated as values for E, since they would yield the terminal digits of 4, 6, or 9 for MOB, and B has been established as being 1, 2, or 3. Only one value for E, 9, remains: (9) (9) = 81 so B = 1, and the </a:t>
            </a:r>
            <a:r>
              <a:rPr lang="en-US" sz="1200" b="0" i="0" kern="1200" dirty="0" err="1">
                <a:solidFill>
                  <a:schemeClr val="tx1"/>
                </a:solidFill>
                <a:effectLst/>
                <a:latin typeface="+mn-lt"/>
                <a:ea typeface="+mn-ea"/>
                <a:cs typeface="+mn-cs"/>
              </a:rPr>
              <a:t>alphametic</a:t>
            </a:r>
            <a:r>
              <a:rPr lang="en-US" sz="1200" b="0" i="0" kern="1200" dirty="0">
                <a:solidFill>
                  <a:schemeClr val="tx1"/>
                </a:solidFill>
                <a:effectLst/>
                <a:latin typeface="+mn-lt"/>
                <a:ea typeface="+mn-ea"/>
                <a:cs typeface="+mn-cs"/>
              </a:rPr>
              <a:t> is solved: </a:t>
            </a:r>
          </a:p>
          <a:p>
            <a:r>
              <a:rPr lang="en-US" sz="1200" b="0" i="0" kern="1200" dirty="0">
                <a:solidFill>
                  <a:schemeClr val="tx1"/>
                </a:solidFill>
                <a:effectLst/>
                <a:latin typeface="+mn-lt"/>
                <a:ea typeface="+mn-ea"/>
                <a:cs typeface="+mn-cs"/>
              </a:rPr>
              <a:t>(BE) (BE) = MOB is (19) (19) = 361.</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16872383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       B O B</a:t>
            </a:r>
            <a:br>
              <a:rPr lang="en-US" dirty="0"/>
            </a:br>
            <a:r>
              <a:rPr lang="en-US" sz="1200" b="0" i="0" kern="1200" dirty="0">
                <a:solidFill>
                  <a:schemeClr val="tx1"/>
                </a:solidFill>
                <a:effectLst/>
                <a:latin typeface="+mn-lt"/>
                <a:ea typeface="+mn-ea"/>
                <a:cs typeface="+mn-cs"/>
              </a:rPr>
              <a:t>          *  B O B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M E O 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M  I L O</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M E O 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M A R L E 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Here we cannot apply the logic B * B = B (5 * 5 = _5) or (6 * 6 = _6)</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alternative B = (2, 3, 4, 7, 8, 9)</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From the second line B O B * O = M I L O</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O</a:t>
            </a:r>
            <a:r>
              <a:rPr lang="en-US" sz="1200" b="0" i="0" kern="1200" dirty="0">
                <a:solidFill>
                  <a:schemeClr val="tx1"/>
                </a:solidFill>
                <a:effectLst/>
                <a:latin typeface="+mn-lt"/>
                <a:ea typeface="+mn-ea"/>
                <a:cs typeface="+mn-cs"/>
              </a:rPr>
              <a:t> * B = O</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O = 5 and B is an Odd number </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B = (3,7,9) Replace O = 5 and B = 3 and redraw the table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3 5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 3 5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          1 0 5 9</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1 7 6 5</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    1 0 5 9</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1 2 4 6 0 9</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 =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 = 5</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 = 9</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 = 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 =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L = 6</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 =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 = 7</a:t>
            </a: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16098934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E</a:t>
            </a:r>
          </a:p>
          <a:p>
            <a:r>
              <a:rPr lang="en-US" sz="1200" b="0" i="0" kern="1200" dirty="0">
                <a:solidFill>
                  <a:schemeClr val="tx1"/>
                </a:solidFill>
                <a:effectLst/>
                <a:latin typeface="+mn-lt"/>
                <a:ea typeface="+mn-ea"/>
                <a:cs typeface="+mn-cs"/>
              </a:rPr>
              <a:t>Here we are provided with the following information</a:t>
            </a:r>
            <a:br>
              <a:rPr lang="en-US" dirty="0"/>
            </a:br>
            <a:r>
              <a:rPr lang="en-US" sz="1200" b="0" i="0" kern="1200" dirty="0">
                <a:solidFill>
                  <a:schemeClr val="tx1"/>
                </a:solidFill>
                <a:effectLst/>
                <a:latin typeface="+mn-lt"/>
                <a:ea typeface="+mn-ea"/>
                <a:cs typeface="+mn-cs"/>
              </a:rPr>
              <a:t>BASE</a:t>
            </a:r>
            <a:br>
              <a:rPr lang="en-US" dirty="0"/>
            </a:br>
            <a:r>
              <a:rPr lang="en-US" sz="1200" b="0" i="0" kern="1200" dirty="0">
                <a:solidFill>
                  <a:schemeClr val="tx1"/>
                </a:solidFill>
                <a:effectLst/>
                <a:latin typeface="+mn-lt"/>
                <a:ea typeface="+mn-ea"/>
                <a:cs typeface="+mn-cs"/>
              </a:rPr>
              <a:t>+BALL</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GAMES</a:t>
            </a:r>
            <a:br>
              <a:rPr lang="en-US" dirty="0"/>
            </a:br>
            <a:r>
              <a:rPr lang="en-US" sz="1200" b="0" i="0" kern="1200" dirty="0">
                <a:solidFill>
                  <a:schemeClr val="tx1"/>
                </a:solidFill>
                <a:effectLst/>
                <a:latin typeface="+mn-lt"/>
                <a:ea typeface="+mn-ea"/>
                <a:cs typeface="+mn-cs"/>
              </a:rPr>
              <a:t>There are seven distinct digits from 10 preliminary digits that are from [0-9]:A,B,S,E,LG,M</a:t>
            </a:r>
            <a:br>
              <a:rPr lang="en-US" dirty="0"/>
            </a:br>
            <a:br>
              <a:rPr lang="en-US" dirty="0"/>
            </a:br>
            <a:r>
              <a:rPr lang="en-US" sz="1200" b="0" i="0" kern="1200" dirty="0">
                <a:solidFill>
                  <a:schemeClr val="tx1"/>
                </a:solidFill>
                <a:effectLst/>
                <a:latin typeface="+mn-lt"/>
                <a:ea typeface="+mn-ea"/>
                <a:cs typeface="+mn-cs"/>
              </a:rPr>
              <a:t>As we are just adding 2 numbers so possible carry overs are either 1 or 0</a:t>
            </a:r>
            <a:br>
              <a:rPr lang="en-US" dirty="0"/>
            </a:br>
            <a:r>
              <a:rPr lang="en-US" sz="1200" b="0" i="0" kern="1200" dirty="0">
                <a:solidFill>
                  <a:schemeClr val="tx1"/>
                </a:solidFill>
                <a:effectLst/>
                <a:latin typeface="+mn-lt"/>
                <a:ea typeface="+mn-ea"/>
                <a:cs typeface="+mn-cs"/>
              </a:rPr>
              <a:t>But, when we are adding B+B it gives us some carry that is greater than zero as both 4 digit numbers add up to form a five digit number</a:t>
            </a:r>
            <a:br>
              <a:rPr lang="en-US" dirty="0"/>
            </a:br>
            <a:r>
              <a:rPr lang="en-US" sz="1200" b="0" i="0" kern="1200" dirty="0">
                <a:solidFill>
                  <a:schemeClr val="tx1"/>
                </a:solidFill>
                <a:effectLst/>
                <a:latin typeface="+mn-lt"/>
                <a:ea typeface="+mn-ea"/>
                <a:cs typeface="+mn-cs"/>
              </a:rPr>
              <a:t>Hence, G can’t be zero</a:t>
            </a:r>
            <a:br>
              <a:rPr lang="en-US" dirty="0"/>
            </a:br>
            <a:r>
              <a:rPr lang="en-US" sz="1200" b="0" i="0" kern="1200" dirty="0">
                <a:solidFill>
                  <a:schemeClr val="tx1"/>
                </a:solidFill>
                <a:effectLst/>
                <a:latin typeface="+mn-lt"/>
                <a:ea typeface="+mn-ea"/>
                <a:cs typeface="+mn-cs"/>
              </a:rPr>
              <a:t>So, G=1</a:t>
            </a:r>
            <a:br>
              <a:rPr lang="en-US" dirty="0"/>
            </a:br>
            <a:r>
              <a:rPr lang="en-US" sz="1200" b="0" i="0" kern="1200" dirty="0">
                <a:solidFill>
                  <a:schemeClr val="tx1"/>
                </a:solidFill>
                <a:effectLst/>
                <a:latin typeface="+mn-lt"/>
                <a:ea typeface="+mn-ea"/>
                <a:cs typeface="+mn-cs"/>
              </a:rPr>
              <a:t>Now our question will look somewhat like this:</a:t>
            </a:r>
            <a:br>
              <a:rPr lang="en-US" dirty="0"/>
            </a:br>
            <a:r>
              <a:rPr lang="en-US" sz="1200" b="0" i="0" kern="1200" dirty="0">
                <a:solidFill>
                  <a:schemeClr val="tx1"/>
                </a:solidFill>
                <a:effectLst/>
                <a:latin typeface="+mn-lt"/>
                <a:ea typeface="+mn-ea"/>
                <a:cs typeface="+mn-cs"/>
              </a:rPr>
              <a:t>BASE</a:t>
            </a:r>
            <a:br>
              <a:rPr lang="en-US" dirty="0"/>
            </a:br>
            <a:r>
              <a:rPr lang="en-US" sz="1200" b="0" i="0" kern="1200" dirty="0">
                <a:solidFill>
                  <a:schemeClr val="tx1"/>
                </a:solidFill>
                <a:effectLst/>
                <a:latin typeface="+mn-lt"/>
                <a:ea typeface="+mn-ea"/>
                <a:cs typeface="+mn-cs"/>
              </a:rPr>
              <a:t>+BALL</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1 AMES</a:t>
            </a:r>
            <a:br>
              <a:rPr lang="en-US" dirty="0"/>
            </a:br>
            <a:r>
              <a:rPr lang="en-US" sz="1200" b="0" i="0" kern="1200" dirty="0">
                <a:solidFill>
                  <a:schemeClr val="tx1"/>
                </a:solidFill>
                <a:effectLst/>
                <a:latin typeface="+mn-lt"/>
                <a:ea typeface="+mn-ea"/>
                <a:cs typeface="+mn-cs"/>
              </a:rPr>
              <a:t>Then,</a:t>
            </a:r>
            <a:br>
              <a:rPr lang="en-US" dirty="0"/>
            </a:br>
            <a:r>
              <a:rPr lang="en-US" sz="1200" b="0" i="0" kern="1200" dirty="0">
                <a:solidFill>
                  <a:schemeClr val="tx1"/>
                </a:solidFill>
                <a:effectLst/>
                <a:latin typeface="+mn-lt"/>
                <a:ea typeface="+mn-ea"/>
                <a:cs typeface="+mn-cs"/>
              </a:rPr>
              <a:t>if 2 B’s are added and they are giving us value greater than equal to 10</a:t>
            </a:r>
            <a:br>
              <a:rPr lang="en-US" dirty="0"/>
            </a:br>
            <a:r>
              <a:rPr lang="en-US" sz="1200" b="0" i="0" kern="1200" dirty="0" err="1">
                <a:solidFill>
                  <a:schemeClr val="tx1"/>
                </a:solidFill>
                <a:effectLst/>
                <a:latin typeface="+mn-lt"/>
                <a:ea typeface="+mn-ea"/>
                <a:cs typeface="+mn-cs"/>
              </a:rPr>
              <a:t>Then,B</a:t>
            </a:r>
            <a:r>
              <a:rPr lang="en-US" sz="1200" b="0" i="0" kern="1200" dirty="0">
                <a:solidFill>
                  <a:schemeClr val="tx1"/>
                </a:solidFill>
                <a:effectLst/>
                <a:latin typeface="+mn-lt"/>
                <a:ea typeface="+mn-ea"/>
                <a:cs typeface="+mn-cs"/>
              </a:rPr>
              <a:t> must be greater than equal to 5</a:t>
            </a:r>
            <a:br>
              <a:rPr lang="en-US" dirty="0"/>
            </a:br>
            <a:r>
              <a:rPr lang="en-US" sz="1200" b="0" i="0" kern="1200" dirty="0">
                <a:solidFill>
                  <a:schemeClr val="tx1"/>
                </a:solidFill>
                <a:effectLst/>
                <a:latin typeface="+mn-lt"/>
                <a:ea typeface="+mn-ea"/>
                <a:cs typeface="+mn-cs"/>
              </a:rPr>
              <a:t>Consider B=9 first</a:t>
            </a:r>
            <a:br>
              <a:rPr lang="en-US" dirty="0"/>
            </a:br>
            <a:r>
              <a:rPr lang="en-US" sz="1200" b="0" i="0" kern="1200" dirty="0">
                <a:solidFill>
                  <a:schemeClr val="tx1"/>
                </a:solidFill>
                <a:effectLst/>
                <a:latin typeface="+mn-lt"/>
                <a:ea typeface="+mn-ea"/>
                <a:cs typeface="+mn-cs"/>
              </a:rPr>
              <a:t>if B=9 then A=8 which is not possible as then B+B+1 is not equal to A</a:t>
            </a:r>
            <a:br>
              <a:rPr lang="en-US" dirty="0"/>
            </a:br>
            <a:r>
              <a:rPr lang="en-US" sz="1200" b="0" i="0" kern="1200" dirty="0">
                <a:solidFill>
                  <a:schemeClr val="tx1"/>
                </a:solidFill>
                <a:effectLst/>
                <a:latin typeface="+mn-lt"/>
                <a:ea typeface="+mn-ea"/>
                <a:cs typeface="+mn-cs"/>
              </a:rPr>
              <a:t>if B=8 then A=6 which is not possible for same reason</a:t>
            </a:r>
            <a:br>
              <a:rPr lang="en-US" dirty="0"/>
            </a:br>
            <a:r>
              <a:rPr lang="en-US" sz="1200" b="0" i="0" kern="1200" dirty="0">
                <a:solidFill>
                  <a:schemeClr val="tx1"/>
                </a:solidFill>
                <a:effectLst/>
                <a:latin typeface="+mn-lt"/>
                <a:ea typeface="+mn-ea"/>
                <a:cs typeface="+mn-cs"/>
              </a:rPr>
              <a:t>Take B=7 then A=4 which is possible as it is not leaving any carry over.</a:t>
            </a:r>
            <a:br>
              <a:rPr lang="en-US" dirty="0"/>
            </a:br>
            <a:r>
              <a:rPr lang="en-US" sz="1200" b="0" i="0" kern="1200" dirty="0">
                <a:solidFill>
                  <a:schemeClr val="tx1"/>
                </a:solidFill>
                <a:effectLst/>
                <a:latin typeface="+mn-lt"/>
                <a:ea typeface="+mn-ea"/>
                <a:cs typeface="+mn-cs"/>
              </a:rPr>
              <a:t>So,</a:t>
            </a:r>
            <a:br>
              <a:rPr lang="en-US" dirty="0"/>
            </a:br>
            <a:r>
              <a:rPr lang="en-US" sz="1200" b="0" i="0" kern="1200" dirty="0">
                <a:solidFill>
                  <a:schemeClr val="tx1"/>
                </a:solidFill>
                <a:effectLst/>
                <a:latin typeface="+mn-lt"/>
                <a:ea typeface="+mn-ea"/>
                <a:cs typeface="+mn-cs"/>
              </a:rPr>
              <a:t>M=</a:t>
            </a:r>
            <a:r>
              <a:rPr lang="en-US" sz="1200" b="0" i="0" kern="1200" dirty="0" err="1">
                <a:solidFill>
                  <a:schemeClr val="tx1"/>
                </a:solidFill>
                <a:effectLst/>
                <a:latin typeface="+mn-lt"/>
                <a:ea typeface="+mn-ea"/>
                <a:cs typeface="+mn-cs"/>
              </a:rPr>
              <a:t>A+A+x</a:t>
            </a:r>
            <a:r>
              <a:rPr lang="en-US" sz="1200" b="0" i="0" kern="1200" dirty="0">
                <a:solidFill>
                  <a:schemeClr val="tx1"/>
                </a:solidFill>
                <a:effectLst/>
                <a:latin typeface="+mn-lt"/>
                <a:ea typeface="+mn-ea"/>
                <a:cs typeface="+mn-cs"/>
              </a:rPr>
              <a:t> where x is carry over from </a:t>
            </a:r>
            <a:r>
              <a:rPr lang="en-US" sz="1200" b="0" i="0" kern="1200" dirty="0" err="1">
                <a:solidFill>
                  <a:schemeClr val="tx1"/>
                </a:solidFill>
                <a:effectLst/>
                <a:latin typeface="+mn-lt"/>
                <a:ea typeface="+mn-ea"/>
                <a:cs typeface="+mn-cs"/>
              </a:rPr>
              <a:t>S+L+y</a:t>
            </a:r>
            <a:r>
              <a:rPr lang="en-US" sz="1200" b="0" i="0" kern="1200" dirty="0">
                <a:solidFill>
                  <a:schemeClr val="tx1"/>
                </a:solidFill>
                <a:effectLst/>
                <a:latin typeface="+mn-lt"/>
                <a:ea typeface="+mn-ea"/>
                <a:cs typeface="+mn-cs"/>
              </a:rPr>
              <a:t> where y is carry over from E+L</a:t>
            </a:r>
            <a:br>
              <a:rPr lang="en-US" dirty="0"/>
            </a:br>
            <a:r>
              <a:rPr lang="en-US" sz="1200" b="0" i="0" kern="1200" dirty="0">
                <a:solidFill>
                  <a:schemeClr val="tx1"/>
                </a:solidFill>
                <a:effectLst/>
                <a:latin typeface="+mn-lt"/>
                <a:ea typeface="+mn-ea"/>
                <a:cs typeface="+mn-cs"/>
              </a:rPr>
              <a:t>knowing the fact that x and y can take maximum value of 1 and minimum value of 0</a:t>
            </a:r>
            <a:br>
              <a:rPr lang="en-US" dirty="0"/>
            </a:br>
            <a:r>
              <a:rPr lang="en-US" sz="1200" b="0" i="0" kern="1200" dirty="0">
                <a:solidFill>
                  <a:schemeClr val="tx1"/>
                </a:solidFill>
                <a:effectLst/>
                <a:latin typeface="+mn-lt"/>
                <a:ea typeface="+mn-ea"/>
                <a:cs typeface="+mn-cs"/>
              </a:rPr>
              <a:t>We can say</a:t>
            </a:r>
            <a:br>
              <a:rPr lang="en-US" dirty="0"/>
            </a:br>
            <a:r>
              <a:rPr lang="en-US" sz="1200" b="0" i="0" kern="1200" dirty="0">
                <a:solidFill>
                  <a:schemeClr val="tx1"/>
                </a:solidFill>
                <a:effectLst/>
                <a:latin typeface="+mn-lt"/>
                <a:ea typeface="+mn-ea"/>
                <a:cs typeface="+mn-cs"/>
              </a:rPr>
              <a:t>M should be either 8 or 9</a:t>
            </a:r>
            <a:br>
              <a:rPr lang="en-US" dirty="0"/>
            </a:br>
            <a:r>
              <a:rPr lang="en-US" sz="1200" b="0" i="0" kern="1200" dirty="0">
                <a:solidFill>
                  <a:schemeClr val="tx1"/>
                </a:solidFill>
                <a:effectLst/>
                <a:latin typeface="+mn-lt"/>
                <a:ea typeface="+mn-ea"/>
                <a:cs typeface="+mn-cs"/>
              </a:rPr>
              <a:t>8 when x=0</a:t>
            </a:r>
            <a:br>
              <a:rPr lang="en-US" dirty="0"/>
            </a:br>
            <a:r>
              <a:rPr lang="en-US" sz="1200" b="0" i="0" kern="1200" dirty="0">
                <a:solidFill>
                  <a:schemeClr val="tx1"/>
                </a:solidFill>
                <a:effectLst/>
                <a:latin typeface="+mn-lt"/>
                <a:ea typeface="+mn-ea"/>
                <a:cs typeface="+mn-cs"/>
              </a:rPr>
              <a:t>9 when x=1</a:t>
            </a:r>
            <a:br>
              <a:rPr lang="en-US" dirty="0"/>
            </a:br>
            <a:r>
              <a:rPr lang="en-US" sz="1200" b="0" i="0" kern="1200" dirty="0">
                <a:solidFill>
                  <a:schemeClr val="tx1"/>
                </a:solidFill>
                <a:effectLst/>
                <a:latin typeface="+mn-lt"/>
                <a:ea typeface="+mn-ea"/>
                <a:cs typeface="+mn-cs"/>
              </a:rPr>
              <a:t>Assuming M=8</a:t>
            </a:r>
            <a:br>
              <a:rPr lang="en-US" dirty="0"/>
            </a:br>
            <a:r>
              <a:rPr lang="en-US" sz="1200" b="0" i="0" kern="1200" dirty="0">
                <a:solidFill>
                  <a:schemeClr val="tx1"/>
                </a:solidFill>
                <a:effectLst/>
                <a:latin typeface="+mn-lt"/>
                <a:ea typeface="+mn-ea"/>
                <a:cs typeface="+mn-cs"/>
              </a:rPr>
              <a:t>that is x=0</a:t>
            </a:r>
            <a:br>
              <a:rPr lang="en-US" dirty="0"/>
            </a:br>
            <a:r>
              <a:rPr lang="en-US" sz="1200" b="0" i="0" kern="1200" dirty="0" err="1">
                <a:solidFill>
                  <a:schemeClr val="tx1"/>
                </a:solidFill>
                <a:effectLst/>
                <a:latin typeface="+mn-lt"/>
                <a:ea typeface="+mn-ea"/>
                <a:cs typeface="+mn-cs"/>
              </a:rPr>
              <a:t>S+L+y</a:t>
            </a:r>
            <a:r>
              <a:rPr lang="en-US" sz="1200" b="0" i="0" kern="1200" dirty="0">
                <a:solidFill>
                  <a:schemeClr val="tx1"/>
                </a:solidFill>
                <a:effectLst/>
                <a:latin typeface="+mn-lt"/>
                <a:ea typeface="+mn-ea"/>
                <a:cs typeface="+mn-cs"/>
              </a:rPr>
              <a:t>=E</a:t>
            </a:r>
            <a:br>
              <a:rPr lang="en-US" dirty="0"/>
            </a:br>
            <a:r>
              <a:rPr lang="en-US" sz="1200" b="0" i="0" kern="1200" dirty="0">
                <a:solidFill>
                  <a:schemeClr val="tx1"/>
                </a:solidFill>
                <a:effectLst/>
                <a:latin typeface="+mn-lt"/>
                <a:ea typeface="+mn-ea"/>
                <a:cs typeface="+mn-cs"/>
              </a:rPr>
              <a:t>E+L= 10*</a:t>
            </a:r>
            <a:r>
              <a:rPr lang="en-US" sz="1200" b="0" i="0" kern="1200" dirty="0" err="1">
                <a:solidFill>
                  <a:schemeClr val="tx1"/>
                </a:solidFill>
                <a:effectLst/>
                <a:latin typeface="+mn-lt"/>
                <a:ea typeface="+mn-ea"/>
                <a:cs typeface="+mn-cs"/>
              </a:rPr>
              <a:t>y+S</a:t>
            </a:r>
            <a:br>
              <a:rPr lang="en-US" dirty="0"/>
            </a:br>
            <a:r>
              <a:rPr lang="en-US" sz="1200" b="0" i="0" kern="1200" dirty="0" err="1">
                <a:solidFill>
                  <a:schemeClr val="tx1"/>
                </a:solidFill>
                <a:effectLst/>
                <a:latin typeface="+mn-lt"/>
                <a:ea typeface="+mn-ea"/>
                <a:cs typeface="+mn-cs"/>
              </a:rPr>
              <a:t>S+L+y+L</a:t>
            </a:r>
            <a:r>
              <a:rPr lang="en-US" sz="1200" b="0" i="0" kern="1200" dirty="0">
                <a:solidFill>
                  <a:schemeClr val="tx1"/>
                </a:solidFill>
                <a:effectLst/>
                <a:latin typeface="+mn-lt"/>
                <a:ea typeface="+mn-ea"/>
                <a:cs typeface="+mn-cs"/>
              </a:rPr>
              <a:t>=10*</a:t>
            </a:r>
            <a:r>
              <a:rPr lang="en-US" sz="1200" b="0" i="0" kern="1200" dirty="0" err="1">
                <a:solidFill>
                  <a:schemeClr val="tx1"/>
                </a:solidFill>
                <a:effectLst/>
                <a:latin typeface="+mn-lt"/>
                <a:ea typeface="+mn-ea"/>
                <a:cs typeface="+mn-cs"/>
              </a:rPr>
              <a:t>y+S</a:t>
            </a:r>
            <a:br>
              <a:rPr lang="en-US" dirty="0"/>
            </a:br>
            <a:r>
              <a:rPr lang="en-US" sz="1200" b="0" i="0" kern="1200" dirty="0">
                <a:solidFill>
                  <a:schemeClr val="tx1"/>
                </a:solidFill>
                <a:effectLst/>
                <a:latin typeface="+mn-lt"/>
                <a:ea typeface="+mn-ea"/>
                <a:cs typeface="+mn-cs"/>
              </a:rPr>
              <a:t>2*L=9*y</a:t>
            </a:r>
            <a:br>
              <a:rPr lang="en-US" dirty="0"/>
            </a:br>
            <a:r>
              <a:rPr lang="en-US" sz="1200" b="0" i="0" kern="1200" dirty="0">
                <a:solidFill>
                  <a:schemeClr val="tx1"/>
                </a:solidFill>
                <a:effectLst/>
                <a:latin typeface="+mn-lt"/>
                <a:ea typeface="+mn-ea"/>
                <a:cs typeface="+mn-cs"/>
              </a:rPr>
              <a:t>where y can take either 0 or 1</a:t>
            </a:r>
            <a:br>
              <a:rPr lang="en-US" dirty="0"/>
            </a:br>
            <a:r>
              <a:rPr lang="en-US" sz="1200" b="0" i="0" kern="1200" dirty="0">
                <a:solidFill>
                  <a:schemeClr val="tx1"/>
                </a:solidFill>
                <a:effectLst/>
                <a:latin typeface="+mn-lt"/>
                <a:ea typeface="+mn-ea"/>
                <a:cs typeface="+mn-cs"/>
              </a:rPr>
              <a:t>if y=0 then L=0 then S and E are not </a:t>
            </a:r>
            <a:r>
              <a:rPr lang="en-US" sz="1200" b="0" i="0" kern="1200" dirty="0" err="1">
                <a:solidFill>
                  <a:schemeClr val="tx1"/>
                </a:solidFill>
                <a:effectLst/>
                <a:latin typeface="+mn-lt"/>
                <a:ea typeface="+mn-ea"/>
                <a:cs typeface="+mn-cs"/>
              </a:rPr>
              <a:t>distint</a:t>
            </a:r>
            <a:r>
              <a:rPr lang="en-US" sz="1200" b="0" i="0" kern="1200" dirty="0">
                <a:solidFill>
                  <a:schemeClr val="tx1"/>
                </a:solidFill>
                <a:effectLst/>
                <a:latin typeface="+mn-lt"/>
                <a:ea typeface="+mn-ea"/>
                <a:cs typeface="+mn-cs"/>
              </a:rPr>
              <a:t> which is not possible according to question.</a:t>
            </a:r>
            <a:br>
              <a:rPr lang="en-US" dirty="0"/>
            </a:br>
            <a:r>
              <a:rPr lang="en-US" sz="1200" b="0" i="0" kern="1200" dirty="0">
                <a:solidFill>
                  <a:schemeClr val="tx1"/>
                </a:solidFill>
                <a:effectLst/>
                <a:latin typeface="+mn-lt"/>
                <a:ea typeface="+mn-ea"/>
                <a:cs typeface="+mn-cs"/>
              </a:rPr>
              <a:t>if y=1</a:t>
            </a:r>
            <a:br>
              <a:rPr lang="en-US" dirty="0"/>
            </a:br>
            <a:r>
              <a:rPr lang="en-US" sz="1200" b="0" i="0" kern="1200" dirty="0">
                <a:solidFill>
                  <a:schemeClr val="tx1"/>
                </a:solidFill>
                <a:effectLst/>
                <a:latin typeface="+mn-lt"/>
                <a:ea typeface="+mn-ea"/>
                <a:cs typeface="+mn-cs"/>
              </a:rPr>
              <a:t>then L=4.5 which is again not possible as L must be a single digit among 0 to 9</a:t>
            </a:r>
            <a:br>
              <a:rPr lang="en-US" dirty="0"/>
            </a:br>
            <a:r>
              <a:rPr lang="en-US" sz="1200" b="0" i="0" kern="1200" dirty="0">
                <a:solidFill>
                  <a:schemeClr val="tx1"/>
                </a:solidFill>
                <a:effectLst/>
                <a:latin typeface="+mn-lt"/>
                <a:ea typeface="+mn-ea"/>
                <a:cs typeface="+mn-cs"/>
              </a:rPr>
              <a:t>So, M=8 is not possible</a:t>
            </a:r>
            <a:br>
              <a:rPr lang="en-US" dirty="0"/>
            </a:br>
            <a:r>
              <a:rPr lang="en-US" sz="1200" b="0" i="0" kern="1200" dirty="0" err="1">
                <a:solidFill>
                  <a:schemeClr val="tx1"/>
                </a:solidFill>
                <a:effectLst/>
                <a:latin typeface="+mn-lt"/>
                <a:ea typeface="+mn-ea"/>
                <a:cs typeface="+mn-cs"/>
              </a:rPr>
              <a:t>So,our</a:t>
            </a:r>
            <a:r>
              <a:rPr lang="en-US" sz="1200" b="0" i="0" kern="1200" dirty="0">
                <a:solidFill>
                  <a:schemeClr val="tx1"/>
                </a:solidFill>
                <a:effectLst/>
                <a:latin typeface="+mn-lt"/>
                <a:ea typeface="+mn-ea"/>
                <a:cs typeface="+mn-cs"/>
              </a:rPr>
              <a:t> question further reduces to</a:t>
            </a:r>
            <a:br>
              <a:rPr lang="en-US" dirty="0"/>
            </a:br>
            <a:r>
              <a:rPr lang="en-US" sz="1200" b="0" i="0" kern="1200" dirty="0">
                <a:solidFill>
                  <a:schemeClr val="tx1"/>
                </a:solidFill>
                <a:effectLst/>
                <a:latin typeface="+mn-lt"/>
                <a:ea typeface="+mn-ea"/>
                <a:cs typeface="+mn-cs"/>
              </a:rPr>
              <a:t>1</a:t>
            </a:r>
            <a:br>
              <a:rPr lang="en-US" dirty="0"/>
            </a:br>
            <a:r>
              <a:rPr lang="en-US" sz="1200" b="0" i="0" kern="1200" dirty="0">
                <a:solidFill>
                  <a:schemeClr val="tx1"/>
                </a:solidFill>
                <a:effectLst/>
                <a:latin typeface="+mn-lt"/>
                <a:ea typeface="+mn-ea"/>
                <a:cs typeface="+mn-cs"/>
              </a:rPr>
              <a:t>74SE</a:t>
            </a:r>
            <a:br>
              <a:rPr lang="en-US" dirty="0"/>
            </a:br>
            <a:r>
              <a:rPr lang="en-US" sz="1200" b="0" i="0" kern="1200" dirty="0">
                <a:solidFill>
                  <a:schemeClr val="tx1"/>
                </a:solidFill>
                <a:effectLst/>
                <a:latin typeface="+mn-lt"/>
                <a:ea typeface="+mn-ea"/>
                <a:cs typeface="+mn-cs"/>
              </a:rPr>
              <a:t>+74LL</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1 49ES</a:t>
            </a:r>
            <a:br>
              <a:rPr lang="en-US" dirty="0"/>
            </a:br>
            <a:br>
              <a:rPr lang="en-US" dirty="0"/>
            </a:br>
            <a:r>
              <a:rPr lang="en-US" sz="1200" b="0" i="0" kern="1200" dirty="0">
                <a:solidFill>
                  <a:schemeClr val="tx1"/>
                </a:solidFill>
                <a:effectLst/>
                <a:latin typeface="+mn-lt"/>
                <a:ea typeface="+mn-ea"/>
                <a:cs typeface="+mn-cs"/>
              </a:rPr>
              <a:t>Now,</a:t>
            </a:r>
            <a:br>
              <a:rPr lang="en-US" dirty="0"/>
            </a:br>
            <a:r>
              <a:rPr lang="en-US" sz="1200" b="0" i="0" kern="1200" dirty="0">
                <a:solidFill>
                  <a:schemeClr val="tx1"/>
                </a:solidFill>
                <a:effectLst/>
                <a:latin typeface="+mn-lt"/>
                <a:ea typeface="+mn-ea"/>
                <a:cs typeface="+mn-cs"/>
              </a:rPr>
              <a:t>S+L=10*1+E=10+E,and</a:t>
            </a:r>
            <a:br>
              <a:rPr lang="en-US" dirty="0"/>
            </a:br>
            <a:r>
              <a:rPr lang="en-US" sz="1200" b="0" i="0" kern="1200" dirty="0">
                <a:solidFill>
                  <a:schemeClr val="tx1"/>
                </a:solidFill>
                <a:effectLst/>
                <a:latin typeface="+mn-lt"/>
                <a:ea typeface="+mn-ea"/>
                <a:cs typeface="+mn-cs"/>
              </a:rPr>
              <a:t>E+L=10*</a:t>
            </a:r>
            <a:r>
              <a:rPr lang="en-US" sz="1200" b="0" i="0" kern="1200" dirty="0" err="1">
                <a:solidFill>
                  <a:schemeClr val="tx1"/>
                </a:solidFill>
                <a:effectLst/>
                <a:latin typeface="+mn-lt"/>
                <a:ea typeface="+mn-ea"/>
                <a:cs typeface="+mn-cs"/>
              </a:rPr>
              <a:t>y+S</a:t>
            </a:r>
            <a:br>
              <a:rPr lang="en-US" dirty="0"/>
            </a:br>
            <a:r>
              <a:rPr lang="en-US" sz="1200" b="0" i="0" kern="1200" dirty="0">
                <a:solidFill>
                  <a:schemeClr val="tx1"/>
                </a:solidFill>
                <a:effectLst/>
                <a:latin typeface="+mn-lt"/>
                <a:ea typeface="+mn-ea"/>
                <a:cs typeface="+mn-cs"/>
              </a:rPr>
              <a:t>So,</a:t>
            </a:r>
            <a:br>
              <a:rPr lang="en-US" dirty="0"/>
            </a:br>
            <a:r>
              <a:rPr lang="en-US" sz="1200" b="0" i="0" kern="1200" dirty="0">
                <a:solidFill>
                  <a:schemeClr val="tx1"/>
                </a:solidFill>
                <a:effectLst/>
                <a:latin typeface="+mn-lt"/>
                <a:ea typeface="+mn-ea"/>
                <a:cs typeface="+mn-cs"/>
              </a:rPr>
              <a:t>here y can take maximum and minimum values of 1 and 0 respectively.</a:t>
            </a:r>
            <a:br>
              <a:rPr lang="en-US" dirty="0"/>
            </a:br>
            <a:r>
              <a:rPr lang="en-US" sz="1200" b="0" i="0" kern="1200" dirty="0">
                <a:solidFill>
                  <a:schemeClr val="tx1"/>
                </a:solidFill>
                <a:effectLst/>
                <a:latin typeface="+mn-lt"/>
                <a:ea typeface="+mn-ea"/>
                <a:cs typeface="+mn-cs"/>
              </a:rPr>
              <a:t>So,</a:t>
            </a:r>
            <a:br>
              <a:rPr lang="en-US" dirty="0"/>
            </a:br>
            <a:r>
              <a:rPr lang="en-US" sz="1200" b="0" i="0" kern="1200" dirty="0">
                <a:solidFill>
                  <a:schemeClr val="tx1"/>
                </a:solidFill>
                <a:effectLst/>
                <a:latin typeface="+mn-lt"/>
                <a:ea typeface="+mn-ea"/>
                <a:cs typeface="+mn-cs"/>
              </a:rPr>
              <a:t>if y=0</a:t>
            </a:r>
            <a:br>
              <a:rPr lang="en-US" dirty="0"/>
            </a:br>
            <a:r>
              <a:rPr lang="en-US" sz="1200" b="0" i="0" kern="1200" dirty="0">
                <a:solidFill>
                  <a:schemeClr val="tx1"/>
                </a:solidFill>
                <a:effectLst/>
                <a:latin typeface="+mn-lt"/>
                <a:ea typeface="+mn-ea"/>
                <a:cs typeface="+mn-cs"/>
              </a:rPr>
              <a:t>Then,</a:t>
            </a:r>
            <a:br>
              <a:rPr lang="en-US" dirty="0"/>
            </a:br>
            <a:r>
              <a:rPr lang="en-US" sz="1200" b="0" i="0" kern="1200" dirty="0">
                <a:solidFill>
                  <a:schemeClr val="tx1"/>
                </a:solidFill>
                <a:effectLst/>
                <a:latin typeface="+mn-lt"/>
                <a:ea typeface="+mn-ea"/>
                <a:cs typeface="+mn-cs"/>
              </a:rPr>
              <a:t>E+L=</a:t>
            </a:r>
            <a:r>
              <a:rPr lang="en-US" sz="1200" b="0" i="0" kern="1200" dirty="0" err="1">
                <a:solidFill>
                  <a:schemeClr val="tx1"/>
                </a:solidFill>
                <a:effectLst/>
                <a:latin typeface="+mn-lt"/>
                <a:ea typeface="+mn-ea"/>
                <a:cs typeface="+mn-cs"/>
              </a:rPr>
              <a:t>S,or</a:t>
            </a:r>
            <a:r>
              <a:rPr lang="en-US" sz="1200" b="0" i="0" kern="1200" dirty="0">
                <a:solidFill>
                  <a:schemeClr val="tx1"/>
                </a:solidFill>
                <a:effectLst/>
                <a:latin typeface="+mn-lt"/>
                <a:ea typeface="+mn-ea"/>
                <a:cs typeface="+mn-cs"/>
              </a:rPr>
              <a:t> S-L=</a:t>
            </a:r>
            <a:r>
              <a:rPr lang="en-US" sz="1200" b="0" i="0" kern="1200" dirty="0" err="1">
                <a:solidFill>
                  <a:schemeClr val="tx1"/>
                </a:solidFill>
                <a:effectLst/>
                <a:latin typeface="+mn-lt"/>
                <a:ea typeface="+mn-ea"/>
                <a:cs typeface="+mn-cs"/>
              </a:rPr>
              <a:t>E,and</a:t>
            </a:r>
            <a:br>
              <a:rPr lang="en-US" dirty="0"/>
            </a:br>
            <a:r>
              <a:rPr lang="en-US" sz="1200" b="0" i="0" kern="1200" dirty="0">
                <a:solidFill>
                  <a:schemeClr val="tx1"/>
                </a:solidFill>
                <a:effectLst/>
                <a:latin typeface="+mn-lt"/>
                <a:ea typeface="+mn-ea"/>
                <a:cs typeface="+mn-cs"/>
              </a:rPr>
              <a:t>S+L=10+E</a:t>
            </a:r>
            <a:br>
              <a:rPr lang="en-US" dirty="0"/>
            </a:br>
            <a:r>
              <a:rPr lang="en-US" sz="1200" b="0" i="0" kern="1200" dirty="0">
                <a:solidFill>
                  <a:schemeClr val="tx1"/>
                </a:solidFill>
                <a:effectLst/>
                <a:latin typeface="+mn-lt"/>
                <a:ea typeface="+mn-ea"/>
                <a:cs typeface="+mn-cs"/>
              </a:rPr>
              <a:t>Adding both we get,</a:t>
            </a:r>
            <a:br>
              <a:rPr lang="en-US" dirty="0"/>
            </a:br>
            <a:r>
              <a:rPr lang="en-US" sz="1200" b="0" i="0" kern="1200" dirty="0">
                <a:solidFill>
                  <a:schemeClr val="tx1"/>
                </a:solidFill>
                <a:effectLst/>
                <a:latin typeface="+mn-lt"/>
                <a:ea typeface="+mn-ea"/>
                <a:cs typeface="+mn-cs"/>
              </a:rPr>
              <a:t>2*S=2*E+10</a:t>
            </a:r>
            <a:br>
              <a:rPr lang="en-US" dirty="0"/>
            </a:br>
            <a:r>
              <a:rPr lang="en-US" sz="1200" b="0" i="0" kern="1200" dirty="0">
                <a:solidFill>
                  <a:schemeClr val="tx1"/>
                </a:solidFill>
                <a:effectLst/>
                <a:latin typeface="+mn-lt"/>
                <a:ea typeface="+mn-ea"/>
                <a:cs typeface="+mn-cs"/>
              </a:rPr>
              <a:t>or</a:t>
            </a:r>
            <a:br>
              <a:rPr lang="en-US" dirty="0"/>
            </a:br>
            <a:r>
              <a:rPr lang="en-US" sz="1200" b="0" i="0" kern="1200" dirty="0">
                <a:solidFill>
                  <a:schemeClr val="tx1"/>
                </a:solidFill>
                <a:effectLst/>
                <a:latin typeface="+mn-lt"/>
                <a:ea typeface="+mn-ea"/>
                <a:cs typeface="+mn-cs"/>
              </a:rPr>
              <a:t>S=E+5</a:t>
            </a:r>
            <a:br>
              <a:rPr lang="en-US" dirty="0"/>
            </a:br>
            <a:r>
              <a:rPr lang="en-US" sz="1200" b="0" i="0" kern="1200" dirty="0">
                <a:solidFill>
                  <a:schemeClr val="tx1"/>
                </a:solidFill>
                <a:effectLst/>
                <a:latin typeface="+mn-lt"/>
                <a:ea typeface="+mn-ea"/>
                <a:cs typeface="+mn-cs"/>
              </a:rPr>
              <a:t>Subtracting 1st equation from 2nd we get</a:t>
            </a:r>
            <a:br>
              <a:rPr lang="en-US" dirty="0"/>
            </a:br>
            <a:r>
              <a:rPr lang="en-US" sz="1200" b="0" i="0" kern="1200" dirty="0">
                <a:solidFill>
                  <a:schemeClr val="tx1"/>
                </a:solidFill>
                <a:effectLst/>
                <a:latin typeface="+mn-lt"/>
                <a:ea typeface="+mn-ea"/>
                <a:cs typeface="+mn-cs"/>
              </a:rPr>
              <a:t>2*L=10</a:t>
            </a:r>
            <a:br>
              <a:rPr lang="en-US" dirty="0"/>
            </a:br>
            <a:r>
              <a:rPr lang="en-US" sz="1200" b="0" i="0" kern="1200" dirty="0">
                <a:solidFill>
                  <a:schemeClr val="tx1"/>
                </a:solidFill>
                <a:effectLst/>
                <a:latin typeface="+mn-lt"/>
                <a:ea typeface="+mn-ea"/>
                <a:cs typeface="+mn-cs"/>
              </a:rPr>
              <a:t>or L=5</a:t>
            </a:r>
            <a:br>
              <a:rPr lang="en-US" dirty="0"/>
            </a:br>
            <a:br>
              <a:rPr lang="en-US" dirty="0"/>
            </a:br>
            <a:r>
              <a:rPr lang="en-US" sz="1200" b="0" i="0" kern="1200" dirty="0" err="1">
                <a:solidFill>
                  <a:schemeClr val="tx1"/>
                </a:solidFill>
                <a:effectLst/>
                <a:latin typeface="+mn-lt"/>
                <a:ea typeface="+mn-ea"/>
                <a:cs typeface="+mn-cs"/>
              </a:rPr>
              <a:t>So,our</a:t>
            </a:r>
            <a:r>
              <a:rPr lang="en-US" sz="1200" b="0" i="0" kern="1200" dirty="0">
                <a:solidFill>
                  <a:schemeClr val="tx1"/>
                </a:solidFill>
                <a:effectLst/>
                <a:latin typeface="+mn-lt"/>
                <a:ea typeface="+mn-ea"/>
                <a:cs typeface="+mn-cs"/>
              </a:rPr>
              <a:t> question further reduces to</a:t>
            </a:r>
            <a:br>
              <a:rPr lang="en-US" dirty="0"/>
            </a:br>
            <a:r>
              <a:rPr lang="en-US" sz="1200" b="0" i="0" kern="1200" dirty="0">
                <a:solidFill>
                  <a:schemeClr val="tx1"/>
                </a:solidFill>
                <a:effectLst/>
                <a:latin typeface="+mn-lt"/>
                <a:ea typeface="+mn-ea"/>
                <a:cs typeface="+mn-cs"/>
              </a:rPr>
              <a:t>1 0</a:t>
            </a:r>
            <a:br>
              <a:rPr lang="en-US" dirty="0"/>
            </a:br>
            <a:r>
              <a:rPr lang="en-US" sz="1200" b="0" i="0" kern="1200" dirty="0">
                <a:solidFill>
                  <a:schemeClr val="tx1"/>
                </a:solidFill>
                <a:effectLst/>
                <a:latin typeface="+mn-lt"/>
                <a:ea typeface="+mn-ea"/>
                <a:cs typeface="+mn-cs"/>
              </a:rPr>
              <a:t>74SE</a:t>
            </a:r>
            <a:br>
              <a:rPr lang="en-US" dirty="0"/>
            </a:br>
            <a:r>
              <a:rPr lang="en-US" sz="1200" b="0" i="0" kern="1200" dirty="0">
                <a:solidFill>
                  <a:schemeClr val="tx1"/>
                </a:solidFill>
                <a:effectLst/>
                <a:latin typeface="+mn-lt"/>
                <a:ea typeface="+mn-ea"/>
                <a:cs typeface="+mn-cs"/>
              </a:rPr>
              <a:t>+7455</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1 49ES</a:t>
            </a:r>
            <a:br>
              <a:rPr lang="en-US" dirty="0"/>
            </a:br>
            <a:br>
              <a:rPr lang="en-US" dirty="0"/>
            </a:br>
            <a:r>
              <a:rPr lang="en-US" sz="1200" b="0" i="0" kern="1200" dirty="0">
                <a:solidFill>
                  <a:schemeClr val="tx1"/>
                </a:solidFill>
                <a:effectLst/>
                <a:latin typeface="+mn-lt"/>
                <a:ea typeface="+mn-ea"/>
                <a:cs typeface="+mn-cs"/>
              </a:rPr>
              <a:t>So,</a:t>
            </a:r>
            <a:br>
              <a:rPr lang="en-US" dirty="0"/>
            </a:br>
            <a:r>
              <a:rPr lang="en-US" sz="1200" b="0" i="0" kern="1200" dirty="0">
                <a:solidFill>
                  <a:schemeClr val="tx1"/>
                </a:solidFill>
                <a:effectLst/>
                <a:latin typeface="+mn-lt"/>
                <a:ea typeface="+mn-ea"/>
                <a:cs typeface="+mn-cs"/>
              </a:rPr>
              <a:t>E+5=</a:t>
            </a:r>
            <a:r>
              <a:rPr lang="en-US" sz="1200" b="0" i="0" kern="1200" dirty="0" err="1">
                <a:solidFill>
                  <a:schemeClr val="tx1"/>
                </a:solidFill>
                <a:effectLst/>
                <a:latin typeface="+mn-lt"/>
                <a:ea typeface="+mn-ea"/>
                <a:cs typeface="+mn-cs"/>
              </a:rPr>
              <a:t>S,and</a:t>
            </a:r>
            <a:br>
              <a:rPr lang="en-US" dirty="0"/>
            </a:br>
            <a:r>
              <a:rPr lang="en-US" sz="1200" b="0" i="0" kern="1200" dirty="0">
                <a:solidFill>
                  <a:schemeClr val="tx1"/>
                </a:solidFill>
                <a:effectLst/>
                <a:latin typeface="+mn-lt"/>
                <a:ea typeface="+mn-ea"/>
                <a:cs typeface="+mn-cs"/>
              </a:rPr>
              <a:t>S+5+0=E+10*1</a:t>
            </a:r>
            <a:br>
              <a:rPr lang="en-US" dirty="0"/>
            </a:br>
            <a:r>
              <a:rPr lang="en-US" sz="1200" b="0" i="0" kern="1200" dirty="0">
                <a:solidFill>
                  <a:schemeClr val="tx1"/>
                </a:solidFill>
                <a:effectLst/>
                <a:latin typeface="+mn-lt"/>
                <a:ea typeface="+mn-ea"/>
                <a:cs typeface="+mn-cs"/>
              </a:rPr>
              <a:t>S+5=E+10</a:t>
            </a:r>
            <a:br>
              <a:rPr lang="en-US" dirty="0"/>
            </a:br>
            <a:r>
              <a:rPr lang="en-US" sz="1200" b="0" i="0" kern="1200" dirty="0">
                <a:solidFill>
                  <a:schemeClr val="tx1"/>
                </a:solidFill>
                <a:effectLst/>
                <a:latin typeface="+mn-lt"/>
                <a:ea typeface="+mn-ea"/>
                <a:cs typeface="+mn-cs"/>
              </a:rPr>
              <a:t>S=E+5</a:t>
            </a:r>
            <a:br>
              <a:rPr lang="en-US" dirty="0"/>
            </a:br>
            <a:r>
              <a:rPr lang="en-US" sz="1200" b="0" i="0" kern="1200" dirty="0">
                <a:solidFill>
                  <a:schemeClr val="tx1"/>
                </a:solidFill>
                <a:effectLst/>
                <a:latin typeface="+mn-lt"/>
                <a:ea typeface="+mn-ea"/>
                <a:cs typeface="+mn-cs"/>
              </a:rPr>
              <a:t>Now we have to choose digits from 0,1,2,3,4,5,6,7,8,and 9 other than 1,4,7,9,and 5.</a:t>
            </a:r>
            <a:br>
              <a:rPr lang="en-US" dirty="0"/>
            </a:br>
            <a:r>
              <a:rPr lang="en-US" sz="1200" b="0" i="0" kern="1200" dirty="0" err="1">
                <a:solidFill>
                  <a:schemeClr val="tx1"/>
                </a:solidFill>
                <a:effectLst/>
                <a:latin typeface="+mn-lt"/>
                <a:ea typeface="+mn-ea"/>
                <a:cs typeface="+mn-cs"/>
              </a:rPr>
              <a:t>So,we</a:t>
            </a:r>
            <a:r>
              <a:rPr lang="en-US" sz="1200" b="0" i="0" kern="1200" dirty="0">
                <a:solidFill>
                  <a:schemeClr val="tx1"/>
                </a:solidFill>
                <a:effectLst/>
                <a:latin typeface="+mn-lt"/>
                <a:ea typeface="+mn-ea"/>
                <a:cs typeface="+mn-cs"/>
              </a:rPr>
              <a:t> can take values of E and S from 0,2,3,6,8 such that S=E+5</a:t>
            </a:r>
            <a:br>
              <a:rPr lang="en-US" dirty="0"/>
            </a:br>
            <a:r>
              <a:rPr lang="en-US" sz="1200" b="0" i="0" kern="1200" dirty="0">
                <a:solidFill>
                  <a:schemeClr val="tx1"/>
                </a:solidFill>
                <a:effectLst/>
                <a:latin typeface="+mn-lt"/>
                <a:ea typeface="+mn-ea"/>
                <a:cs typeface="+mn-cs"/>
              </a:rPr>
              <a:t>0 is there 5 can’t be chosen</a:t>
            </a:r>
            <a:br>
              <a:rPr lang="en-US" dirty="0"/>
            </a:br>
            <a:r>
              <a:rPr lang="en-US" sz="1200" b="0" i="0" kern="1200" dirty="0">
                <a:solidFill>
                  <a:schemeClr val="tx1"/>
                </a:solidFill>
                <a:effectLst/>
                <a:latin typeface="+mn-lt"/>
                <a:ea typeface="+mn-ea"/>
                <a:cs typeface="+mn-cs"/>
              </a:rPr>
              <a:t>2 is there 7 can’t be chosen</a:t>
            </a:r>
            <a:br>
              <a:rPr lang="en-US" dirty="0"/>
            </a:br>
            <a:r>
              <a:rPr lang="en-US" sz="1200" b="0" i="0" kern="1200" dirty="0">
                <a:solidFill>
                  <a:schemeClr val="tx1"/>
                </a:solidFill>
                <a:effectLst/>
                <a:latin typeface="+mn-lt"/>
                <a:ea typeface="+mn-ea"/>
                <a:cs typeface="+mn-cs"/>
              </a:rPr>
              <a:t>6 is there 11 can’t be chosen</a:t>
            </a:r>
            <a:br>
              <a:rPr lang="en-US" dirty="0"/>
            </a:br>
            <a:r>
              <a:rPr lang="en-US" sz="1200" b="0" i="0" kern="1200" dirty="0">
                <a:solidFill>
                  <a:schemeClr val="tx1"/>
                </a:solidFill>
                <a:effectLst/>
                <a:latin typeface="+mn-lt"/>
                <a:ea typeface="+mn-ea"/>
                <a:cs typeface="+mn-cs"/>
              </a:rPr>
              <a:t>8 is there 13 can’t be chosen</a:t>
            </a:r>
            <a:br>
              <a:rPr lang="en-US" dirty="0"/>
            </a:br>
            <a:r>
              <a:rPr lang="en-US" sz="1200" b="0" i="0" kern="1200" dirty="0">
                <a:solidFill>
                  <a:schemeClr val="tx1"/>
                </a:solidFill>
                <a:effectLst/>
                <a:latin typeface="+mn-lt"/>
                <a:ea typeface="+mn-ea"/>
                <a:cs typeface="+mn-cs"/>
              </a:rPr>
              <a:t>So, only possible pair left is 3 and 8 which satisfy our constraints.</a:t>
            </a:r>
            <a:br>
              <a:rPr lang="en-US" dirty="0"/>
            </a:br>
            <a:r>
              <a:rPr lang="en-US" sz="1200" b="0" i="0" kern="1200" dirty="0">
                <a:solidFill>
                  <a:schemeClr val="tx1"/>
                </a:solidFill>
                <a:effectLst/>
                <a:latin typeface="+mn-lt"/>
                <a:ea typeface="+mn-ea"/>
                <a:cs typeface="+mn-cs"/>
              </a:rPr>
              <a:t>Hence,</a:t>
            </a:r>
            <a:br>
              <a:rPr lang="en-US" dirty="0"/>
            </a:br>
            <a:r>
              <a:rPr lang="en-US" sz="1200" b="0" i="0" kern="1200" dirty="0">
                <a:solidFill>
                  <a:schemeClr val="tx1"/>
                </a:solidFill>
                <a:effectLst/>
                <a:latin typeface="+mn-lt"/>
                <a:ea typeface="+mn-ea"/>
                <a:cs typeface="+mn-cs"/>
              </a:rPr>
              <a:t>S=8 and E=3</a:t>
            </a:r>
            <a:br>
              <a:rPr lang="en-US" dirty="0"/>
            </a:br>
            <a:br>
              <a:rPr lang="en-US" dirty="0"/>
            </a:br>
            <a:r>
              <a:rPr lang="en-US" sz="1200" b="0" i="0" kern="1200" dirty="0">
                <a:solidFill>
                  <a:schemeClr val="tx1"/>
                </a:solidFill>
                <a:effectLst/>
                <a:latin typeface="+mn-lt"/>
                <a:ea typeface="+mn-ea"/>
                <a:cs typeface="+mn-cs"/>
              </a:rPr>
              <a:t>1 0</a:t>
            </a:r>
            <a:br>
              <a:rPr lang="en-US" dirty="0"/>
            </a:br>
            <a:r>
              <a:rPr lang="en-US" sz="1200" b="0" i="0" kern="1200" dirty="0">
                <a:solidFill>
                  <a:schemeClr val="tx1"/>
                </a:solidFill>
                <a:effectLst/>
                <a:latin typeface="+mn-lt"/>
                <a:ea typeface="+mn-ea"/>
                <a:cs typeface="+mn-cs"/>
              </a:rPr>
              <a:t>   7483</a:t>
            </a:r>
            <a:br>
              <a:rPr lang="en-US" dirty="0"/>
            </a:br>
            <a:r>
              <a:rPr lang="en-US" sz="1200" b="0" i="0" kern="1200" dirty="0">
                <a:solidFill>
                  <a:schemeClr val="tx1"/>
                </a:solidFill>
                <a:effectLst/>
                <a:latin typeface="+mn-lt"/>
                <a:ea typeface="+mn-ea"/>
                <a:cs typeface="+mn-cs"/>
              </a:rPr>
              <a:t>+ 7455</a:t>
            </a:r>
            <a:br>
              <a:rPr lang="en-US" dirty="0"/>
            </a:br>
            <a:r>
              <a:rPr lang="en-US" sz="1200" b="0" i="0" kern="1200" dirty="0">
                <a:solidFill>
                  <a:schemeClr val="tx1"/>
                </a:solidFill>
                <a:effectLst/>
                <a:latin typeface="+mn-lt"/>
                <a:ea typeface="+mn-ea"/>
                <a:cs typeface="+mn-cs"/>
              </a:rPr>
              <a:t>------------</a:t>
            </a:r>
            <a:br>
              <a:rPr lang="en-US" dirty="0"/>
            </a:br>
            <a:r>
              <a:rPr lang="en-US" sz="1200" b="0" i="0" kern="1200" dirty="0">
                <a:solidFill>
                  <a:schemeClr val="tx1"/>
                </a:solidFill>
                <a:effectLst/>
                <a:latin typeface="+mn-lt"/>
                <a:ea typeface="+mn-ea"/>
                <a:cs typeface="+mn-cs"/>
              </a:rPr>
              <a:t>1 4938</a:t>
            </a:r>
            <a:br>
              <a:rPr lang="en-US" dirty="0"/>
            </a:br>
            <a:r>
              <a:rPr lang="en-US" sz="1200" b="0" i="0" kern="1200" dirty="0">
                <a:solidFill>
                  <a:schemeClr val="tx1"/>
                </a:solidFill>
                <a:effectLst/>
                <a:latin typeface="+mn-lt"/>
                <a:ea typeface="+mn-ea"/>
                <a:cs typeface="+mn-cs"/>
              </a:rPr>
              <a:t>So,</a:t>
            </a:r>
            <a:br>
              <a:rPr lang="en-US" dirty="0"/>
            </a:br>
            <a:r>
              <a:rPr lang="en-US" sz="1200" b="0" i="0" kern="1200" dirty="0">
                <a:solidFill>
                  <a:schemeClr val="tx1"/>
                </a:solidFill>
                <a:effectLst/>
                <a:latin typeface="+mn-lt"/>
                <a:ea typeface="+mn-ea"/>
                <a:cs typeface="+mn-cs"/>
              </a:rPr>
              <a:t>A=4,</a:t>
            </a:r>
            <a:br>
              <a:rPr lang="en-US" dirty="0"/>
            </a:br>
            <a:r>
              <a:rPr lang="en-US" sz="1200" b="0" i="0" kern="1200" dirty="0">
                <a:solidFill>
                  <a:schemeClr val="tx1"/>
                </a:solidFill>
                <a:effectLst/>
                <a:latin typeface="+mn-lt"/>
                <a:ea typeface="+mn-ea"/>
                <a:cs typeface="+mn-cs"/>
              </a:rPr>
              <a:t>B=7,</a:t>
            </a:r>
            <a:br>
              <a:rPr lang="en-US" dirty="0"/>
            </a:br>
            <a:r>
              <a:rPr lang="en-US" sz="1200" b="0" i="0" kern="1200" dirty="0">
                <a:solidFill>
                  <a:schemeClr val="tx1"/>
                </a:solidFill>
                <a:effectLst/>
                <a:latin typeface="+mn-lt"/>
                <a:ea typeface="+mn-ea"/>
                <a:cs typeface="+mn-cs"/>
              </a:rPr>
              <a:t>S=8,</a:t>
            </a:r>
            <a:br>
              <a:rPr lang="en-US" dirty="0"/>
            </a:br>
            <a:r>
              <a:rPr lang="en-US" sz="1200" b="0" i="0" kern="1200" dirty="0">
                <a:solidFill>
                  <a:schemeClr val="tx1"/>
                </a:solidFill>
                <a:effectLst/>
                <a:latin typeface="+mn-lt"/>
                <a:ea typeface="+mn-ea"/>
                <a:cs typeface="+mn-cs"/>
              </a:rPr>
              <a:t>E=3,</a:t>
            </a:r>
            <a:br>
              <a:rPr lang="en-US" dirty="0"/>
            </a:br>
            <a:r>
              <a:rPr lang="en-US" sz="1200" b="0" i="0" kern="1200" dirty="0">
                <a:solidFill>
                  <a:schemeClr val="tx1"/>
                </a:solidFill>
                <a:effectLst/>
                <a:latin typeface="+mn-lt"/>
                <a:ea typeface="+mn-ea"/>
                <a:cs typeface="+mn-cs"/>
              </a:rPr>
              <a:t>L=5,</a:t>
            </a:r>
            <a:br>
              <a:rPr lang="en-US" dirty="0"/>
            </a:br>
            <a:r>
              <a:rPr lang="en-US" sz="1200" b="0" i="0" kern="1200" dirty="0">
                <a:solidFill>
                  <a:schemeClr val="tx1"/>
                </a:solidFill>
                <a:effectLst/>
                <a:latin typeface="+mn-lt"/>
                <a:ea typeface="+mn-ea"/>
                <a:cs typeface="+mn-cs"/>
              </a:rPr>
              <a:t>G=1,and</a:t>
            </a:r>
            <a:br>
              <a:rPr lang="en-US" dirty="0"/>
            </a:br>
            <a:r>
              <a:rPr lang="en-US" sz="1200" b="0" i="0" kern="1200" dirty="0">
                <a:solidFill>
                  <a:schemeClr val="tx1"/>
                </a:solidFill>
                <a:effectLst/>
                <a:latin typeface="+mn-lt"/>
                <a:ea typeface="+mn-ea"/>
                <a:cs typeface="+mn-cs"/>
              </a:rPr>
              <a:t>M=9</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3620060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To systematize our work we first write in a row the different letters appearing in the problem:</a:t>
            </a:r>
            <a:br>
              <a:rPr lang="en-US" dirty="0"/>
            </a:br>
            <a:br>
              <a:rPr lang="en-US" dirty="0"/>
            </a:br>
            <a:r>
              <a:rPr lang="en-US" sz="1200" b="0" i="0" kern="1200" dirty="0">
                <a:solidFill>
                  <a:schemeClr val="tx1"/>
                </a:solidFill>
                <a:effectLst/>
                <a:latin typeface="+mn-lt"/>
                <a:ea typeface="+mn-ea"/>
                <a:cs typeface="+mn-cs"/>
              </a:rPr>
              <a:t>A L E R U M W I N P</a:t>
            </a:r>
            <a:br>
              <a:rPr lang="en-US" dirty="0"/>
            </a:br>
            <a:br>
              <a:rPr lang="en-US" dirty="0"/>
            </a:br>
            <a:r>
              <a:rPr lang="en-US" sz="1200" b="0" i="0" kern="1200" dirty="0">
                <a:solidFill>
                  <a:schemeClr val="tx1"/>
                </a:solidFill>
                <a:effectLst/>
                <a:latin typeface="+mn-lt"/>
                <a:ea typeface="+mn-ea"/>
                <a:cs typeface="+mn-cs"/>
              </a:rPr>
              <a:t>Over each letter we will write its numerical equivalent when we discover it. In the columns under the various letters we will record clues and tentative hypotheses, being careful to put all related inferences on the same horizontal line. In problems of this sort the digits 0 and 1 can often be found, or at least restricted to a very few possibilities, by simple inspection. </a:t>
            </a:r>
          </a:p>
          <a:p>
            <a:r>
              <a:rPr lang="en-US" sz="1200" b="0" i="0" kern="1200" dirty="0">
                <a:solidFill>
                  <a:schemeClr val="tx1"/>
                </a:solidFill>
                <a:effectLst/>
                <a:latin typeface="+mn-lt"/>
                <a:ea typeface="+mn-ea"/>
                <a:cs typeface="+mn-cs"/>
              </a:rPr>
              <a:t>For instance, 0 can never occur as the leftmost digit of an integer, and when any number is multiplied by zero the result consists exclusively of zeros. </a:t>
            </a:r>
          </a:p>
          <a:p>
            <a:r>
              <a:rPr lang="en-US" sz="1200" b="0" i="0" kern="1200" dirty="0">
                <a:solidFill>
                  <a:schemeClr val="tx1"/>
                </a:solidFill>
                <a:effectLst/>
                <a:latin typeface="+mn-lt"/>
                <a:ea typeface="+mn-ea"/>
                <a:cs typeface="+mn-cs"/>
              </a:rPr>
              <a:t>Moreover when any number is multiplied by 1 the result is that number itself. </a:t>
            </a:r>
          </a:p>
          <a:p>
            <a:r>
              <a:rPr lang="en-US" sz="1200" b="0" i="0" kern="1200" dirty="0">
                <a:solidFill>
                  <a:schemeClr val="tx1"/>
                </a:solidFill>
                <a:effectLst/>
                <a:latin typeface="+mn-lt"/>
                <a:ea typeface="+mn-ea"/>
                <a:cs typeface="+mn-cs"/>
              </a:rPr>
              <a:t>In the present problem, however, we can identify 0 by an even simpler observation. </a:t>
            </a:r>
          </a:p>
          <a:p>
            <a:r>
              <a:rPr lang="en-US" sz="1200" b="0" i="0" kern="1200" dirty="0">
                <a:solidFill>
                  <a:schemeClr val="tx1"/>
                </a:solidFill>
                <a:effectLst/>
                <a:latin typeface="+mn-lt"/>
                <a:ea typeface="+mn-ea"/>
                <a:cs typeface="+mn-cs"/>
              </a:rPr>
              <a:t>For in the second column from the right, N plus L equals N, with nothing carried over from the column on the right. </a:t>
            </a:r>
          </a:p>
          <a:p>
            <a:r>
              <a:rPr lang="en-US" sz="1200" b="0" i="0" kern="1200" dirty="0">
                <a:solidFill>
                  <a:schemeClr val="tx1"/>
                </a:solidFill>
                <a:effectLst/>
                <a:latin typeface="+mn-lt"/>
                <a:ea typeface="+mn-ea"/>
                <a:cs typeface="+mn-cs"/>
              </a:rPr>
              <a:t>Hence L must be zero. In our search for 1 we can eliminate R, U, and M at once, since none of these, as multipliers in the second row, reproduces A L E. </a:t>
            </a:r>
          </a:p>
          <a:p>
            <a:r>
              <a:rPr lang="en-US" sz="1200" b="0" i="0" kern="1200" dirty="0">
                <a:solidFill>
                  <a:schemeClr val="tx1"/>
                </a:solidFill>
                <a:effectLst/>
                <a:latin typeface="+mn-lt"/>
                <a:ea typeface="+mn-ea"/>
                <a:cs typeface="+mn-cs"/>
              </a:rPr>
              <a:t>Moreover E cannot be 1 since U times E does not yield a product ending in U. </a:t>
            </a:r>
          </a:p>
          <a:p>
            <a:r>
              <a:rPr lang="en-US" sz="1200" b="0" i="0" kern="1200" dirty="0">
                <a:solidFill>
                  <a:schemeClr val="tx1"/>
                </a:solidFill>
                <a:effectLst/>
                <a:latin typeface="+mn-lt"/>
                <a:ea typeface="+mn-ea"/>
                <a:cs typeface="+mn-cs"/>
              </a:rPr>
              <a:t>At present, however, we have no further clues as to whether 1 is A, I, N, P, or W. Now the partial product W U W L ends in L, which we know to be 0. </a:t>
            </a:r>
          </a:p>
          <a:p>
            <a:r>
              <a:rPr lang="en-US" sz="1200" b="0" i="0" kern="1200" dirty="0">
                <a:solidFill>
                  <a:schemeClr val="tx1"/>
                </a:solidFill>
                <a:effectLst/>
                <a:latin typeface="+mn-lt"/>
                <a:ea typeface="+mn-ea"/>
                <a:cs typeface="+mn-cs"/>
              </a:rPr>
              <a:t>Hence one of the two letters U and E must be 5. Looking at the units digits of the other partial products, we see that both M x E and R x E are numbers ending in E. A moment’s reflection (or a glance at a multiplication table) shows that E must therefore be 5. </a:t>
            </a:r>
          </a:p>
          <a:p>
            <a:r>
              <a:rPr lang="en-US" sz="1200" b="0" i="0" kern="1200" dirty="0">
                <a:solidFill>
                  <a:schemeClr val="tx1"/>
                </a:solidFill>
                <a:effectLst/>
                <a:latin typeface="+mn-lt"/>
                <a:ea typeface="+mn-ea"/>
                <a:cs typeface="+mn-cs"/>
              </a:rPr>
              <a:t>But if E is 5, then both R and M must be odd, since an even number multiplied by 5 would yield a product ending in 0, which is not the case in either the first or third partial product. Moreover, by similar reasoning it is clear that U is an even number. </a:t>
            </a:r>
          </a:p>
          <a:p>
            <a:r>
              <a:rPr lang="en-US" sz="1200" b="0" i="0" kern="1200" dirty="0">
                <a:solidFill>
                  <a:schemeClr val="tx1"/>
                </a:solidFill>
                <a:effectLst/>
                <a:latin typeface="+mn-lt"/>
                <a:ea typeface="+mn-ea"/>
                <a:cs typeface="+mn-cs"/>
              </a:rPr>
              <a:t>At this point it is convenient to return to our array and list under U the various possibilities, namely 2, 4, 6, and 8. </a:t>
            </a:r>
          </a:p>
          <a:p>
            <a:r>
              <a:rPr lang="en-US" sz="1200" b="0" i="0" kern="1200" dirty="0">
                <a:solidFill>
                  <a:schemeClr val="tx1"/>
                </a:solidFill>
                <a:effectLst/>
                <a:latin typeface="+mn-lt"/>
                <a:ea typeface="+mn-ea"/>
                <a:cs typeface="+mn-cs"/>
              </a:rPr>
              <a:t>Opposite each of these we record the corresponding value of W as read from the partial product W U W L, whose last two digits are now determined since the factor A L E is known to be _05. These values of W are easily seen to be 1, 2, 3, and 4. </a:t>
            </a:r>
          </a:p>
          <a:p>
            <a:r>
              <a:rPr lang="en-US" sz="1200" b="0" i="0" kern="1200" dirty="0">
                <a:solidFill>
                  <a:schemeClr val="tx1"/>
                </a:solidFill>
                <a:effectLst/>
                <a:latin typeface="+mn-lt"/>
                <a:ea typeface="+mn-ea"/>
                <a:cs typeface="+mn-cs"/>
              </a:rPr>
              <a:t>From an inspection of the second column from the left we can now deduce the corresponding possibilities for R.</a:t>
            </a:r>
          </a:p>
          <a:p>
            <a:r>
              <a:rPr lang="en-US" sz="1200" b="0" i="0" kern="1200" dirty="0">
                <a:solidFill>
                  <a:schemeClr val="tx1"/>
                </a:solidFill>
                <a:effectLst/>
                <a:latin typeface="+mn-lt"/>
                <a:ea typeface="+mn-ea"/>
                <a:cs typeface="+mn-cs"/>
              </a:rPr>
              <a:t> As we have already noted, R must be odd; hence its value is twice W plus 1 (the 1 being necessarily carried over from the column on the right). </a:t>
            </a:r>
          </a:p>
          <a:p>
            <a:r>
              <a:rPr lang="en-US" sz="1200" b="0" i="0" kern="1200" dirty="0">
                <a:solidFill>
                  <a:schemeClr val="tx1"/>
                </a:solidFill>
                <a:effectLst/>
                <a:latin typeface="+mn-lt"/>
                <a:ea typeface="+mn-ea"/>
                <a:cs typeface="+mn-cs"/>
              </a:rPr>
              <a:t>The possible values for R are then 3, 5, 7, and 9, and our array looks like this:</a:t>
            </a:r>
          </a:p>
          <a:p>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0 5</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L E R U M W I N 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3 2 1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5 4 2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7 6 3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9 8 4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Now in the third column from the left in the example the sum of the digits W, U, and W must be more than 9, since 1 had to be carried over from this column into the column on the left. The values in the first two rows of the array are too low for this, however, hence we can cross out both of these lines. </a:t>
            </a:r>
          </a:p>
          <a:p>
            <a:r>
              <a:rPr lang="en-US" sz="1200" b="0" i="0" kern="1200" dirty="0">
                <a:solidFill>
                  <a:schemeClr val="tx1"/>
                </a:solidFill>
                <a:effectLst/>
                <a:latin typeface="+mn-lt"/>
                <a:ea typeface="+mn-ea"/>
                <a:cs typeface="+mn-cs"/>
              </a:rPr>
              <a:t>A further consideration of the sum of the digits W, U, and W in the third column from the left, coupled with the fact that M is known to be odd, shows that in the third row of the array M must be 3 while in the fourth row it must be 7. </a:t>
            </a:r>
          </a:p>
          <a:p>
            <a:r>
              <a:rPr lang="en-US" sz="1200" b="0" i="0" kern="1200" dirty="0">
                <a:solidFill>
                  <a:schemeClr val="tx1"/>
                </a:solidFill>
                <a:effectLst/>
                <a:latin typeface="+mn-lt"/>
                <a:ea typeface="+mn-ea"/>
                <a:cs typeface="+mn-cs"/>
              </a:rPr>
              <a:t>This permits us to reject the third row of the array also, for it contains 3 for both M and W, which is impossible. </a:t>
            </a:r>
          </a:p>
          <a:p>
            <a:r>
              <a:rPr lang="en-US" sz="1200" b="0" i="0" kern="1200" dirty="0">
                <a:solidFill>
                  <a:schemeClr val="tx1"/>
                </a:solidFill>
                <a:effectLst/>
                <a:latin typeface="+mn-lt"/>
                <a:ea typeface="+mn-ea"/>
                <a:cs typeface="+mn-cs"/>
              </a:rPr>
              <a:t>The correct solution must therefore be the one contained in the fourth row. </a:t>
            </a:r>
          </a:p>
          <a:p>
            <a:r>
              <a:rPr lang="en-US" sz="1200" b="0" i="0" kern="1200" dirty="0">
                <a:solidFill>
                  <a:schemeClr val="tx1"/>
                </a:solidFill>
                <a:effectLst/>
                <a:latin typeface="+mn-lt"/>
                <a:ea typeface="+mn-ea"/>
                <a:cs typeface="+mn-cs"/>
              </a:rPr>
              <a:t>Hence R is 9, U is 8, M is 7, and W is 4. Substituting these into the problem it is a simple matter to determine that A is 6, I is 2, N is 3, and P is 1. </a:t>
            </a:r>
          </a:p>
          <a:p>
            <a:r>
              <a:rPr lang="en-US" sz="1200" b="0" i="0" kern="1200" dirty="0">
                <a:solidFill>
                  <a:schemeClr val="tx1"/>
                </a:solidFill>
                <a:effectLst/>
                <a:latin typeface="+mn-lt"/>
                <a:ea typeface="+mn-ea"/>
                <a:cs typeface="+mn-cs"/>
              </a:rPr>
              <a:t>This completes the solution.</a:t>
            </a:r>
            <a:br>
              <a:rPr lang="en-US" sz="1200" b="0" i="0" kern="1200" dirty="0">
                <a:solidFill>
                  <a:schemeClr val="tx1"/>
                </a:solidFill>
                <a:effectLst/>
                <a:latin typeface="+mn-lt"/>
                <a:ea typeface="+mn-ea"/>
                <a:cs typeface="+mn-cs"/>
              </a:rPr>
            </a:b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 + R + M + P + N + E = 5 + 9 + 1 + 3 + 5 = 23</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2344889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5/18/2024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EFBBAF-C14F-D572-6991-8B9B5D604C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6474AA33-ECBF-1DCC-26E5-CCDC8C8B3A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6200333"/>
            <a:ext cx="4267200" cy="541035"/>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0" y="2743200"/>
            <a:ext cx="12192000" cy="885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pPr algn="ctr"/>
            <a:r>
              <a:rPr lang="en-US" sz="5400" b="1" dirty="0" err="1">
                <a:solidFill>
                  <a:schemeClr val="bg1"/>
                </a:solidFill>
                <a:latin typeface="Nunito Sans" panose="00000500000000000000" pitchFamily="2" charset="0"/>
              </a:rPr>
              <a:t>Cryptarithmetic</a:t>
            </a:r>
            <a:endParaRPr lang="en-US" sz="5400" b="1" dirty="0">
              <a:solidFill>
                <a:schemeClr val="bg1"/>
              </a:solidFill>
              <a:latin typeface="Nunito Sans" panose="00000500000000000000" pitchFamily="2" charset="0"/>
            </a:endParaRPr>
          </a:p>
        </p:txBody>
      </p:sp>
      <p:pic>
        <p:nvPicPr>
          <p:cNvPr id="2" name="Picture 1">
            <a:extLst>
              <a:ext uri="{FF2B5EF4-FFF2-40B4-BE49-F238E27FC236}">
                <a16:creationId xmlns:a16="http://schemas.microsoft.com/office/drawing/2014/main" id="{522ABDB3-4DE9-406E-5476-D626D298A3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96200" y="6200333"/>
            <a:ext cx="4267200" cy="541035"/>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Find the values of A, B and C if ABC=A</a:t>
            </a:r>
            <a:r>
              <a:rPr lang="en-US" sz="2500" baseline="30000" dirty="0">
                <a:latin typeface="Nunito Sans" panose="00000500000000000000" pitchFamily="2" charset="0"/>
              </a:rPr>
              <a:t>3</a:t>
            </a:r>
            <a:r>
              <a:rPr lang="en-US" sz="2500" dirty="0">
                <a:latin typeface="Nunito Sans" panose="00000500000000000000" pitchFamily="2" charset="0"/>
              </a:rPr>
              <a:t>+B</a:t>
            </a:r>
            <a:r>
              <a:rPr lang="en-US" sz="2500" baseline="30000" dirty="0">
                <a:latin typeface="Nunito Sans" panose="00000500000000000000" pitchFamily="2" charset="0"/>
              </a:rPr>
              <a:t>3</a:t>
            </a:r>
            <a:r>
              <a:rPr lang="en-US" sz="2500" dirty="0">
                <a:latin typeface="Nunito Sans" panose="00000500000000000000" pitchFamily="2" charset="0"/>
              </a:rPr>
              <a:t>+C</a:t>
            </a:r>
            <a:r>
              <a:rPr lang="en-US" sz="2500" baseline="30000" dirty="0">
                <a:latin typeface="Nunito Sans" panose="00000500000000000000" pitchFamily="2" charset="0"/>
              </a:rPr>
              <a:t>3</a:t>
            </a:r>
            <a:r>
              <a:rPr lang="en-US" sz="2500" dirty="0">
                <a:latin typeface="Nunito Sans" panose="00000500000000000000" pitchFamily="2" charset="0"/>
              </a:rPr>
              <a:t> where ABC is a three digit number.</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264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435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321</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sp>
        <p:nvSpPr>
          <p:cNvPr id="15" name="Rectangle 14">
            <a:extLst>
              <a:ext uri="{FF2B5EF4-FFF2-40B4-BE49-F238E27FC236}">
                <a16:creationId xmlns:a16="http://schemas.microsoft.com/office/drawing/2014/main" id="{EFAD326F-7428-498A-82D3-321753462543}"/>
              </a:ext>
            </a:extLst>
          </p:cNvPr>
          <p:cNvSpPr/>
          <p:nvPr/>
        </p:nvSpPr>
        <p:spPr>
          <a:xfrm>
            <a:off x="657998" y="4818267"/>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22" name="Rectangle 21">
            <a:extLst>
              <a:ext uri="{FF2B5EF4-FFF2-40B4-BE49-F238E27FC236}">
                <a16:creationId xmlns:a16="http://schemas.microsoft.com/office/drawing/2014/main" id="{D95ABC10-15CF-488C-806F-94CE71FC878A}"/>
              </a:ext>
            </a:extLst>
          </p:cNvPr>
          <p:cNvSpPr/>
          <p:nvPr/>
        </p:nvSpPr>
        <p:spPr>
          <a:xfrm>
            <a:off x="1456098" y="4818267"/>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153</a:t>
            </a:r>
          </a:p>
        </p:txBody>
      </p:sp>
      <p:pic>
        <p:nvPicPr>
          <p:cNvPr id="2" name="Picture 1">
            <a:extLst>
              <a:ext uri="{FF2B5EF4-FFF2-40B4-BE49-F238E27FC236}">
                <a16:creationId xmlns:a16="http://schemas.microsoft.com/office/drawing/2014/main" id="{229A69B9-04EC-D57B-7A09-A936134EC6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535688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If KANSAS + OHIO = OREGON and given that O = 5, then find the value of G+R+O+S+S.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12</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sp>
        <p:nvSpPr>
          <p:cNvPr id="15" name="Rectangle 14">
            <a:extLst>
              <a:ext uri="{FF2B5EF4-FFF2-40B4-BE49-F238E27FC236}">
                <a16:creationId xmlns:a16="http://schemas.microsoft.com/office/drawing/2014/main" id="{EFAD326F-7428-498A-82D3-321753462543}"/>
              </a:ext>
            </a:extLst>
          </p:cNvPr>
          <p:cNvSpPr/>
          <p:nvPr/>
        </p:nvSpPr>
        <p:spPr>
          <a:xfrm>
            <a:off x="657998" y="4818267"/>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22" name="Rectangle 21">
            <a:extLst>
              <a:ext uri="{FF2B5EF4-FFF2-40B4-BE49-F238E27FC236}">
                <a16:creationId xmlns:a16="http://schemas.microsoft.com/office/drawing/2014/main" id="{D95ABC10-15CF-488C-806F-94CE71FC878A}"/>
              </a:ext>
            </a:extLst>
          </p:cNvPr>
          <p:cNvSpPr/>
          <p:nvPr/>
        </p:nvSpPr>
        <p:spPr>
          <a:xfrm>
            <a:off x="1456098" y="4818267"/>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pic>
        <p:nvPicPr>
          <p:cNvPr id="2" name="Picture 1">
            <a:extLst>
              <a:ext uri="{FF2B5EF4-FFF2-40B4-BE49-F238E27FC236}">
                <a16:creationId xmlns:a16="http://schemas.microsoft.com/office/drawing/2014/main" id="{0A049C2D-6886-9EB1-2670-9EB30AB776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242252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a:t>
            </a:r>
            <a:r>
              <a:rPr lang="en-US" sz="2500" dirty="0" err="1">
                <a:latin typeface="Nunito Sans" panose="00000500000000000000" pitchFamily="2" charset="0"/>
              </a:rPr>
              <a:t>is+this</a:t>
            </a:r>
            <a:r>
              <a:rPr lang="en-US" sz="2500" dirty="0">
                <a:latin typeface="Nunito Sans" panose="00000500000000000000" pitchFamily="2" charset="0"/>
              </a:rPr>
              <a:t>=here, then value of numeric value of t*</a:t>
            </a:r>
            <a:r>
              <a:rPr lang="en-US" sz="2500" dirty="0" err="1">
                <a:latin typeface="Nunito Sans" panose="00000500000000000000" pitchFamily="2" charset="0"/>
              </a:rPr>
              <a:t>e+i</a:t>
            </a:r>
            <a:r>
              <a:rPr lang="en-US" sz="2500" dirty="0">
                <a:latin typeface="Nunito Sans" panose="00000500000000000000" pitchFamily="2" charset="0"/>
              </a:rPr>
              <a:t>*r*h-s is: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221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178</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157</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149</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pic>
        <p:nvPicPr>
          <p:cNvPr id="2" name="Picture 1">
            <a:extLst>
              <a:ext uri="{FF2B5EF4-FFF2-40B4-BE49-F238E27FC236}">
                <a16:creationId xmlns:a16="http://schemas.microsoft.com/office/drawing/2014/main" id="{00E00E90-3349-1A8F-B833-295036FCF4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306917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ABA*ABA=ADEEA, then find ABA+ABA.</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2E2</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141</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281</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pic>
        <p:nvPicPr>
          <p:cNvPr id="2" name="Picture 1">
            <a:extLst>
              <a:ext uri="{FF2B5EF4-FFF2-40B4-BE49-F238E27FC236}">
                <a16:creationId xmlns:a16="http://schemas.microsoft.com/office/drawing/2014/main" id="{B106BE01-4212-D454-015C-DF80B2DADE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03462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COCA + COLA = OASIS, then find L.</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14" name="Rectangle 13">
            <a:extLst>
              <a:ext uri="{FF2B5EF4-FFF2-40B4-BE49-F238E27FC236}">
                <a16:creationId xmlns:a16="http://schemas.microsoft.com/office/drawing/2014/main" id="{EFAD326F-7428-498A-82D3-321753462543}"/>
              </a:ext>
            </a:extLst>
          </p:cNvPr>
          <p:cNvSpPr/>
          <p:nvPr/>
        </p:nvSpPr>
        <p:spPr>
          <a:xfrm>
            <a:off x="657998" y="4949528"/>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15" name="Rectangle 14">
            <a:extLst>
              <a:ext uri="{FF2B5EF4-FFF2-40B4-BE49-F238E27FC236}">
                <a16:creationId xmlns:a16="http://schemas.microsoft.com/office/drawing/2014/main" id="{D95ABC10-15CF-488C-806F-94CE71FC878A}"/>
              </a:ext>
            </a:extLst>
          </p:cNvPr>
          <p:cNvSpPr/>
          <p:nvPr/>
        </p:nvSpPr>
        <p:spPr>
          <a:xfrm>
            <a:off x="1456098" y="4949528"/>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pic>
        <p:nvPicPr>
          <p:cNvPr id="2" name="Picture 1">
            <a:extLst>
              <a:ext uri="{FF2B5EF4-FFF2-40B4-BE49-F238E27FC236}">
                <a16:creationId xmlns:a16="http://schemas.microsoft.com/office/drawing/2014/main" id="{A58932A5-9EF2-0021-651D-D140281885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40293916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YOUR+YOU=HEART given O=4, then find the value of Y+U+R+E.</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pic>
        <p:nvPicPr>
          <p:cNvPr id="2" name="Picture 1">
            <a:extLst>
              <a:ext uri="{FF2B5EF4-FFF2-40B4-BE49-F238E27FC236}">
                <a16:creationId xmlns:a16="http://schemas.microsoft.com/office/drawing/2014/main" id="{4CB19F96-49A0-6469-F4F9-27E4CC9F3E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100521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HERE = COMES - SHE, (Assume s = 8). Find value of R + H + O.</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pic>
        <p:nvPicPr>
          <p:cNvPr id="2" name="Picture 1">
            <a:extLst>
              <a:ext uri="{FF2B5EF4-FFF2-40B4-BE49-F238E27FC236}">
                <a16:creationId xmlns:a16="http://schemas.microsoft.com/office/drawing/2014/main" id="{0CC79897-8B80-8D3B-E9E3-3E4ACC91D1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62130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GO+TO=OUT, O+U+T=?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89410" cy="429768"/>
          </a:xfrm>
          <a:prstGeom prst="rect">
            <a:avLst/>
          </a:prstGeom>
        </p:spPr>
      </p:pic>
      <p:pic>
        <p:nvPicPr>
          <p:cNvPr id="2" name="Picture 1">
            <a:extLst>
              <a:ext uri="{FF2B5EF4-FFF2-40B4-BE49-F238E27FC236}">
                <a16:creationId xmlns:a16="http://schemas.microsoft.com/office/drawing/2014/main" id="{EE736011-F68F-B9F5-352B-B3F310F084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2541765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EAT + THAT = APPLE, then find L + (A*E).</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pic>
        <p:nvPicPr>
          <p:cNvPr id="2" name="Picture 1">
            <a:extLst>
              <a:ext uri="{FF2B5EF4-FFF2-40B4-BE49-F238E27FC236}">
                <a16:creationId xmlns:a16="http://schemas.microsoft.com/office/drawing/2014/main" id="{FA0FE8F4-0AF3-02A0-36DB-AFF132F226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4290572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NO + GUN + NO = HUNT, then find H + U + N + 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pic>
        <p:nvPicPr>
          <p:cNvPr id="2" name="Picture 1">
            <a:extLst>
              <a:ext uri="{FF2B5EF4-FFF2-40B4-BE49-F238E27FC236}">
                <a16:creationId xmlns:a16="http://schemas.microsoft.com/office/drawing/2014/main" id="{E9D49683-4994-3ABF-2D49-91FE5CAA75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70365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(H * C) + (B * G).</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269</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350</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sp>
        <p:nvSpPr>
          <p:cNvPr id="14" name="Rectangle 13">
            <a:extLst>
              <a:ext uri="{FF2B5EF4-FFF2-40B4-BE49-F238E27FC236}">
                <a16:creationId xmlns:a16="http://schemas.microsoft.com/office/drawing/2014/main" id="{EFAD326F-7428-498A-82D3-321753462543}"/>
              </a:ext>
            </a:extLst>
          </p:cNvPr>
          <p:cNvSpPr/>
          <p:nvPr/>
        </p:nvSpPr>
        <p:spPr>
          <a:xfrm>
            <a:off x="641928" y="487928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15" name="Rectangle 14">
            <a:extLst>
              <a:ext uri="{FF2B5EF4-FFF2-40B4-BE49-F238E27FC236}">
                <a16:creationId xmlns:a16="http://schemas.microsoft.com/office/drawing/2014/main" id="{D95ABC10-15CF-488C-806F-94CE71FC878A}"/>
              </a:ext>
            </a:extLst>
          </p:cNvPr>
          <p:cNvSpPr/>
          <p:nvPr/>
        </p:nvSpPr>
        <p:spPr>
          <a:xfrm>
            <a:off x="1440028" y="487928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448</a:t>
            </a:r>
          </a:p>
        </p:txBody>
      </p:sp>
      <p:pic>
        <p:nvPicPr>
          <p:cNvPr id="1026" name="Picture 2" descr="http://i1.facenow.in/modules/emanager/ques/img/tmp_bd294168a234d758471251d6f26f02723ab1212707572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4766" y="1424818"/>
            <a:ext cx="2464034" cy="429018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67D1093D-69FA-F4CD-470E-65EC2DEC8F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36366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pt-BR" sz="2500" dirty="0">
                <a:latin typeface="Nunito Sans" panose="00000500000000000000" pitchFamily="2" charset="0"/>
              </a:rPr>
              <a:t>If (B E) (B E) = M O B, find M * O * B.</a:t>
            </a:r>
            <a:endParaRPr lang="en-US" sz="2500" dirty="0">
              <a:latin typeface="Nunito Sans" panose="00000500000000000000" pitchFamily="2" charset="0"/>
            </a:endParaRP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32</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sp>
        <p:nvSpPr>
          <p:cNvPr id="14" name="Rectangle 13">
            <a:extLst>
              <a:ext uri="{FF2B5EF4-FFF2-40B4-BE49-F238E27FC236}">
                <a16:creationId xmlns:a16="http://schemas.microsoft.com/office/drawing/2014/main" id="{EFAD326F-7428-498A-82D3-321753462543}"/>
              </a:ext>
            </a:extLst>
          </p:cNvPr>
          <p:cNvSpPr/>
          <p:nvPr/>
        </p:nvSpPr>
        <p:spPr>
          <a:xfrm>
            <a:off x="641928" y="487928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15" name="Rectangle 14">
            <a:extLst>
              <a:ext uri="{FF2B5EF4-FFF2-40B4-BE49-F238E27FC236}">
                <a16:creationId xmlns:a16="http://schemas.microsoft.com/office/drawing/2014/main" id="{D95ABC10-15CF-488C-806F-94CE71FC878A}"/>
              </a:ext>
            </a:extLst>
          </p:cNvPr>
          <p:cNvSpPr/>
          <p:nvPr/>
        </p:nvSpPr>
        <p:spPr>
          <a:xfrm>
            <a:off x="1440028" y="487928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100</a:t>
            </a:r>
          </a:p>
        </p:txBody>
      </p:sp>
      <p:pic>
        <p:nvPicPr>
          <p:cNvPr id="2" name="Picture 1">
            <a:extLst>
              <a:ext uri="{FF2B5EF4-FFF2-40B4-BE49-F238E27FC236}">
                <a16:creationId xmlns:a16="http://schemas.microsoft.com/office/drawing/2014/main" id="{5BB34E79-7690-5E70-8872-409B217F8E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518578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M + A + R.</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sp>
        <p:nvSpPr>
          <p:cNvPr id="14" name="Rectangle 13">
            <a:extLst>
              <a:ext uri="{FF2B5EF4-FFF2-40B4-BE49-F238E27FC236}">
                <a16:creationId xmlns:a16="http://schemas.microsoft.com/office/drawing/2014/main" id="{EFAD326F-7428-498A-82D3-321753462543}"/>
              </a:ext>
            </a:extLst>
          </p:cNvPr>
          <p:cNvSpPr/>
          <p:nvPr/>
        </p:nvSpPr>
        <p:spPr>
          <a:xfrm>
            <a:off x="625671" y="4876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15" name="Rectangle 14">
            <a:extLst>
              <a:ext uri="{FF2B5EF4-FFF2-40B4-BE49-F238E27FC236}">
                <a16:creationId xmlns:a16="http://schemas.microsoft.com/office/drawing/2014/main" id="{D95ABC10-15CF-488C-806F-94CE71FC878A}"/>
              </a:ext>
            </a:extLst>
          </p:cNvPr>
          <p:cNvSpPr/>
          <p:nvPr/>
        </p:nvSpPr>
        <p:spPr>
          <a:xfrm>
            <a:off x="1423771" y="4876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pic>
        <p:nvPicPr>
          <p:cNvPr id="2050" name="Picture 2" descr="http://i1.facenow.in/modules/emanager/ques/img/tmp_bd294168a234d758471251d6f26f02723ab166943016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1469260"/>
            <a:ext cx="4234410" cy="386473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50C39899-DF61-FB80-A95C-E2A029DEBE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923129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If BASE + BALL = GAMES, then find G + A + (M /E) + S.</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19</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sp>
        <p:nvSpPr>
          <p:cNvPr id="14" name="Rectangle 13">
            <a:extLst>
              <a:ext uri="{FF2B5EF4-FFF2-40B4-BE49-F238E27FC236}">
                <a16:creationId xmlns:a16="http://schemas.microsoft.com/office/drawing/2014/main" id="{EFAD326F-7428-498A-82D3-321753462543}"/>
              </a:ext>
            </a:extLst>
          </p:cNvPr>
          <p:cNvSpPr/>
          <p:nvPr/>
        </p:nvSpPr>
        <p:spPr>
          <a:xfrm>
            <a:off x="641928" y="487928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15" name="Rectangle 14">
            <a:extLst>
              <a:ext uri="{FF2B5EF4-FFF2-40B4-BE49-F238E27FC236}">
                <a16:creationId xmlns:a16="http://schemas.microsoft.com/office/drawing/2014/main" id="{D95ABC10-15CF-488C-806F-94CE71FC878A}"/>
              </a:ext>
            </a:extLst>
          </p:cNvPr>
          <p:cNvSpPr/>
          <p:nvPr/>
        </p:nvSpPr>
        <p:spPr>
          <a:xfrm>
            <a:off x="1440028" y="487928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pic>
        <p:nvPicPr>
          <p:cNvPr id="2" name="Picture 1">
            <a:extLst>
              <a:ext uri="{FF2B5EF4-FFF2-40B4-BE49-F238E27FC236}">
                <a16:creationId xmlns:a16="http://schemas.microsoft.com/office/drawing/2014/main" id="{2FA9D82D-8000-EB2B-2CA2-681B6F003D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4139088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Find the value of E + R + M + P + N + E.</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25908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31655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17" name="Rectangle 16">
            <a:extLst>
              <a:ext uri="{FF2B5EF4-FFF2-40B4-BE49-F238E27FC236}">
                <a16:creationId xmlns:a16="http://schemas.microsoft.com/office/drawing/2014/main" id="{E78CEF88-20C6-43F2-BCB5-DBF349A353D1}"/>
              </a:ext>
            </a:extLst>
          </p:cNvPr>
          <p:cNvSpPr/>
          <p:nvPr/>
        </p:nvSpPr>
        <p:spPr>
          <a:xfrm>
            <a:off x="657998" y="374032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8" name="Rectangle 17">
            <a:extLst>
              <a:ext uri="{FF2B5EF4-FFF2-40B4-BE49-F238E27FC236}">
                <a16:creationId xmlns:a16="http://schemas.microsoft.com/office/drawing/2014/main" id="{EFAD326F-7428-498A-82D3-321753462543}"/>
              </a:ext>
            </a:extLst>
          </p:cNvPr>
          <p:cNvSpPr/>
          <p:nvPr/>
        </p:nvSpPr>
        <p:spPr>
          <a:xfrm>
            <a:off x="641928" y="430452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25908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31655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a:t>
            </a:r>
          </a:p>
        </p:txBody>
      </p:sp>
      <p:sp>
        <p:nvSpPr>
          <p:cNvPr id="25" name="Rectangle 24">
            <a:extLst>
              <a:ext uri="{FF2B5EF4-FFF2-40B4-BE49-F238E27FC236}">
                <a16:creationId xmlns:a16="http://schemas.microsoft.com/office/drawing/2014/main" id="{BEF40363-1296-4F6B-8656-D47D96B64330}"/>
              </a:ext>
            </a:extLst>
          </p:cNvPr>
          <p:cNvSpPr/>
          <p:nvPr/>
        </p:nvSpPr>
        <p:spPr>
          <a:xfrm>
            <a:off x="1456098" y="374032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23</a:t>
            </a:r>
          </a:p>
        </p:txBody>
      </p:sp>
      <p:sp>
        <p:nvSpPr>
          <p:cNvPr id="26" name="Rectangle 25">
            <a:extLst>
              <a:ext uri="{FF2B5EF4-FFF2-40B4-BE49-F238E27FC236}">
                <a16:creationId xmlns:a16="http://schemas.microsoft.com/office/drawing/2014/main" id="{D95ABC10-15CF-488C-806F-94CE71FC878A}"/>
              </a:ext>
            </a:extLst>
          </p:cNvPr>
          <p:cNvSpPr/>
          <p:nvPr/>
        </p:nvSpPr>
        <p:spPr>
          <a:xfrm>
            <a:off x="1440028" y="430452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sp>
        <p:nvSpPr>
          <p:cNvPr id="14" name="Rectangle 13">
            <a:extLst>
              <a:ext uri="{FF2B5EF4-FFF2-40B4-BE49-F238E27FC236}">
                <a16:creationId xmlns:a16="http://schemas.microsoft.com/office/drawing/2014/main" id="{EFAD326F-7428-498A-82D3-321753462543}"/>
              </a:ext>
            </a:extLst>
          </p:cNvPr>
          <p:cNvSpPr/>
          <p:nvPr/>
        </p:nvSpPr>
        <p:spPr>
          <a:xfrm>
            <a:off x="641928" y="4879289"/>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E)</a:t>
            </a:r>
          </a:p>
        </p:txBody>
      </p:sp>
      <p:sp>
        <p:nvSpPr>
          <p:cNvPr id="15" name="Rectangle 14">
            <a:extLst>
              <a:ext uri="{FF2B5EF4-FFF2-40B4-BE49-F238E27FC236}">
                <a16:creationId xmlns:a16="http://schemas.microsoft.com/office/drawing/2014/main" id="{D95ABC10-15CF-488C-806F-94CE71FC878A}"/>
              </a:ext>
            </a:extLst>
          </p:cNvPr>
          <p:cNvSpPr/>
          <p:nvPr/>
        </p:nvSpPr>
        <p:spPr>
          <a:xfrm>
            <a:off x="1440028" y="4879289"/>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pic>
        <p:nvPicPr>
          <p:cNvPr id="8194" name="Picture 2" descr="http://i1.facenow.in/modules/emanager/ques/img/tmp_bd294168a234d758471251d6f26f02723ab11867587706.png"/>
          <p:cNvPicPr>
            <a:picLocks noChangeAspect="1" noChangeArrowheads="1"/>
          </p:cNvPicPr>
          <p:nvPr/>
        </p:nvPicPr>
        <p:blipFill rotWithShape="1">
          <a:blip r:embed="rId3">
            <a:extLst>
              <a:ext uri="{28A0092B-C50C-407E-A947-70E740481C1C}">
                <a14:useLocalDpi xmlns:a14="http://schemas.microsoft.com/office/drawing/2010/main" val="0"/>
              </a:ext>
            </a:extLst>
          </a:blip>
          <a:srcRect t="6024"/>
          <a:stretch/>
        </p:blipFill>
        <p:spPr bwMode="auto">
          <a:xfrm>
            <a:off x="6528572" y="1288197"/>
            <a:ext cx="2844028" cy="529096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CD02289-855D-320D-560B-4E67850A48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1931291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75536988-676D-2634-0E59-C7832D3FC3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226544"/>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3887</Words>
  <Application>Microsoft Office PowerPoint</Application>
  <PresentationFormat>Widescreen</PresentationFormat>
  <Paragraphs>271</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Nunito Sans</vt:lpstr>
      <vt:lpstr>Nunito Sans SemiBold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2024-05-18T11:19:11Z</dcterms:modified>
</cp:coreProperties>
</file>