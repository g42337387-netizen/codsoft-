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35A236-CDD1-4394-A76A-54BCD9D3988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072F0-3141-49EA-9B26-9B5D36C8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46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072F0-3141-49EA-9B26-9B5D36C8928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848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9727" y="154304"/>
            <a:ext cx="33077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70048"/>
            <a:ext cx="4037076" cy="41879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551"/>
            <a:ext cx="1522476" cy="2365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76" y="0"/>
            <a:ext cx="1603248" cy="11414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6028" y="6096000"/>
            <a:ext cx="993648" cy="7620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8252" y="0"/>
            <a:ext cx="765048" cy="1208532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238" y="152780"/>
            <a:ext cx="9864191" cy="10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EBEBE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1252" y="1161326"/>
            <a:ext cx="8704580" cy="4417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3592" y="2226056"/>
            <a:ext cx="4760595" cy="1902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00" spc="-220" dirty="0"/>
              <a:t>Working</a:t>
            </a:r>
            <a:r>
              <a:rPr sz="4400" spc="-85" dirty="0"/>
              <a:t> </a:t>
            </a:r>
            <a:r>
              <a:rPr sz="4400" spc="-550" dirty="0"/>
              <a:t>In</a:t>
            </a:r>
            <a:r>
              <a:rPr sz="4400" spc="-70" dirty="0"/>
              <a:t> </a:t>
            </a:r>
            <a:r>
              <a:rPr sz="4400" spc="-90" dirty="0"/>
              <a:t>Teams</a:t>
            </a:r>
            <a:endParaRPr sz="4400"/>
          </a:p>
          <a:p>
            <a:pPr marR="102870" algn="ctr">
              <a:lnSpc>
                <a:spcPct val="100000"/>
              </a:lnSpc>
              <a:spcBef>
                <a:spcPts val="4210"/>
              </a:spcBef>
            </a:pPr>
            <a:r>
              <a:rPr sz="4400" dirty="0"/>
              <a:t>Module</a:t>
            </a:r>
            <a:r>
              <a:rPr sz="4400" spc="-125" dirty="0"/>
              <a:t> </a:t>
            </a:r>
            <a:r>
              <a:rPr sz="4400" spc="-434" dirty="0"/>
              <a:t>VI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95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z="4200" spc="-190" dirty="0"/>
              <a:t>Introduction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1156817" y="1474978"/>
            <a:ext cx="8742680" cy="419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</a:pPr>
            <a:r>
              <a:rPr sz="1900" spc="16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spc="19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Team(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group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people)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3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400" spc="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created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carry</a:t>
            </a:r>
            <a:r>
              <a:rPr sz="2400" b="1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r>
              <a:rPr sz="2400" b="1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1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b="1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joint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assignment.</a:t>
            </a:r>
            <a:r>
              <a:rPr sz="2400" b="1" spc="16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2400" b="1" spc="16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2400" b="1" spc="16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together</a:t>
            </a:r>
            <a:r>
              <a:rPr sz="2400" b="1" spc="16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b="1" spc="16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carry</a:t>
            </a:r>
            <a:r>
              <a:rPr sz="2400" b="1" spc="16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r>
              <a:rPr sz="2400" b="1" spc="16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task/project.</a:t>
            </a:r>
            <a:endParaRPr sz="2400">
              <a:latin typeface="Tahoma"/>
              <a:cs typeface="Tahoma"/>
            </a:endParaRPr>
          </a:p>
          <a:p>
            <a:pPr marL="355600" marR="6985" indent="-343535" algn="just">
              <a:lnSpc>
                <a:spcPct val="100400"/>
              </a:lnSpc>
              <a:spcBef>
                <a:spcPts val="985"/>
              </a:spcBef>
            </a:pPr>
            <a:r>
              <a:rPr sz="1900" spc="16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spc="34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Understand</a:t>
            </a:r>
            <a:r>
              <a:rPr sz="2400" spc="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spc="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enhance</a:t>
            </a:r>
            <a:r>
              <a:rPr sz="2400" spc="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communication</a:t>
            </a:r>
            <a:r>
              <a:rPr sz="2400" spc="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between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individual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developers,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within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teams/across</a:t>
            </a:r>
            <a:r>
              <a:rPr sz="24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teams</a:t>
            </a:r>
            <a:endParaRPr sz="2400">
              <a:latin typeface="Tahoma"/>
              <a:cs typeface="Tahoma"/>
            </a:endParaRPr>
          </a:p>
          <a:p>
            <a:pPr marL="355600" marR="6985" indent="-343535" algn="just">
              <a:lnSpc>
                <a:spcPct val="100400"/>
              </a:lnSpc>
              <a:spcBef>
                <a:spcPts val="975"/>
              </a:spcBef>
            </a:pPr>
            <a:r>
              <a:rPr sz="1900" spc="16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spc="204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400" spc="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sz="2400" spc="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4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400" spc="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sometimes</a:t>
            </a:r>
            <a:r>
              <a:rPr sz="2400" spc="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referred</a:t>
            </a:r>
            <a:r>
              <a:rPr sz="2400" b="1" spc="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b="1" spc="4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2400" b="1" spc="4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b="1" spc="45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people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working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1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54965" algn="l"/>
                <a:tab pos="3035935" algn="l"/>
                <a:tab pos="5325745" algn="l"/>
                <a:tab pos="6276975" algn="l"/>
                <a:tab pos="6854190" algn="l"/>
                <a:tab pos="8430260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Communication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genres(types)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refer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methods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communication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95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727" y="152780"/>
            <a:ext cx="54502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/>
              <a:t>Communication</a:t>
            </a:r>
            <a:r>
              <a:rPr sz="4200" spc="-275" dirty="0"/>
              <a:t> </a:t>
            </a:r>
            <a:r>
              <a:rPr sz="4200" spc="-90" dirty="0"/>
              <a:t>Plan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941019" y="1407922"/>
            <a:ext cx="9361805" cy="42017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256540">
              <a:lnSpc>
                <a:spcPct val="80000"/>
              </a:lnSpc>
              <a:spcBef>
                <a:spcPts val="620"/>
              </a:spcBef>
            </a:pP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Collaborative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nature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will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influence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200" spc="-70" dirty="0">
                <a:solidFill>
                  <a:srgbClr val="FFFFFF"/>
                </a:solidFill>
                <a:latin typeface="Verdana"/>
                <a:cs typeface="Verdana"/>
              </a:rPr>
              <a:t>stages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spc="-105" dirty="0">
                <a:solidFill>
                  <a:srgbClr val="FFFFFF"/>
                </a:solidFill>
                <a:latin typeface="Tahoma"/>
                <a:cs typeface="Tahoma"/>
              </a:rPr>
              <a:t>Stepwise</a:t>
            </a:r>
            <a:r>
              <a:rPr sz="22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Planning</a:t>
            </a:r>
            <a:endParaRPr sz="2200">
              <a:latin typeface="Tahoma"/>
              <a:cs typeface="Tahoma"/>
            </a:endParaRPr>
          </a:p>
          <a:p>
            <a:pPr marL="355600" marR="76835" indent="-343535">
              <a:lnSpc>
                <a:spcPct val="80000"/>
              </a:lnSpc>
              <a:spcBef>
                <a:spcPts val="1015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Identify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Verdana"/>
                <a:cs typeface="Verdana"/>
              </a:rPr>
              <a:t>scope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objectives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Verdana"/>
                <a:cs typeface="Verdana"/>
              </a:rPr>
              <a:t>stakeholders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identified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communication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channels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established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Identify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infrastructure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Organizational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3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identified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ts val="2375"/>
              </a:lnSpc>
              <a:spcBef>
                <a:spcPts val="470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Analyze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characteristics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Decision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son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29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  <a:p>
            <a:pPr marL="355600">
              <a:lnSpc>
                <a:spcPts val="2375"/>
              </a:lnSpc>
            </a:pPr>
            <a:r>
              <a:rPr sz="2200" spc="10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executed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Estimate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effort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14" dirty="0">
                <a:solidFill>
                  <a:srgbClr val="FFFFFF"/>
                </a:solidFill>
                <a:latin typeface="Verdana"/>
                <a:cs typeface="Verdana"/>
              </a:rPr>
              <a:t>each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/>
                <a:cs typeface="Verdana"/>
              </a:rPr>
              <a:t>activity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Developer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Productivity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Identify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/>
                <a:cs typeface="Verdana"/>
              </a:rPr>
              <a:t>activity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60" dirty="0">
                <a:solidFill>
                  <a:srgbClr val="FFFFFF"/>
                </a:solidFill>
                <a:latin typeface="Verdana"/>
                <a:cs typeface="Verdana"/>
              </a:rPr>
              <a:t>risks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Continued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availability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staff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Allocate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Verdana"/>
                <a:cs typeface="Verdana"/>
              </a:rPr>
              <a:t>resources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/>
                <a:cs typeface="Verdana"/>
              </a:rPr>
              <a:t>H/w</a:t>
            </a:r>
            <a:r>
              <a:rPr sz="22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S/w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/>
                <a:cs typeface="Verdana"/>
              </a:rPr>
              <a:t>resource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allocation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ts val="2380"/>
              </a:lnSpc>
              <a:spcBef>
                <a:spcPts val="480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Review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publicize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22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communication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plan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publicize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endParaRPr sz="2200">
              <a:latin typeface="Verdana"/>
              <a:cs typeface="Verdana"/>
            </a:endParaRPr>
          </a:p>
          <a:p>
            <a:pPr marL="355600">
              <a:lnSpc>
                <a:spcPts val="2380"/>
              </a:lnSpc>
            </a:pPr>
            <a:r>
              <a:rPr sz="2200" spc="45" dirty="0">
                <a:solidFill>
                  <a:srgbClr val="FFFFFF"/>
                </a:solidFill>
                <a:latin typeface="Verdana"/>
                <a:cs typeface="Verdana"/>
              </a:rPr>
              <a:t>produced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95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051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Becoming</a:t>
            </a:r>
            <a:r>
              <a:rPr spc="-145" dirty="0"/>
              <a:t> </a:t>
            </a:r>
            <a:r>
              <a:rPr spc="215" dirty="0"/>
              <a:t>a</a:t>
            </a:r>
            <a:r>
              <a:rPr spc="-130" dirty="0"/>
              <a:t> </a:t>
            </a:r>
            <a:r>
              <a:rPr spc="-65" dirty="0"/>
              <a:t>Team-</a:t>
            </a:r>
            <a:r>
              <a:rPr spc="-140" dirty="0"/>
              <a:t> </a:t>
            </a:r>
            <a:r>
              <a:rPr spc="-95" dirty="0"/>
              <a:t>how</a:t>
            </a:r>
            <a:r>
              <a:rPr spc="-140" dirty="0"/>
              <a:t> </a:t>
            </a:r>
            <a:r>
              <a:rPr spc="-65" dirty="0"/>
              <a:t>teams</a:t>
            </a:r>
            <a:r>
              <a:rPr spc="-140" dirty="0"/>
              <a:t> </a:t>
            </a:r>
            <a:r>
              <a:rPr dirty="0"/>
              <a:t>are</a:t>
            </a:r>
            <a:r>
              <a:rPr spc="-140" dirty="0"/>
              <a:t> </a:t>
            </a:r>
            <a:r>
              <a:rPr spc="-10" dirty="0"/>
              <a:t>formed?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335582"/>
            <a:ext cx="9549765" cy="440245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spc="-19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stages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development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ts val="2510"/>
              </a:lnSpc>
              <a:spcBef>
                <a:spcPts val="740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6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b="1" spc="-95" dirty="0">
                <a:solidFill>
                  <a:srgbClr val="FFFFFF"/>
                </a:solidFill>
                <a:latin typeface="Tahoma"/>
                <a:cs typeface="Tahoma"/>
              </a:rPr>
              <a:t>Forming</a:t>
            </a:r>
            <a:r>
              <a:rPr sz="22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members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get</a:t>
            </a:r>
            <a:r>
              <a:rPr sz="22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2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55" dirty="0">
                <a:solidFill>
                  <a:srgbClr val="FFFFFF"/>
                </a:solidFill>
                <a:latin typeface="Tahoma"/>
                <a:cs typeface="Tahoma"/>
              </a:rPr>
              <a:t>know</a:t>
            </a:r>
            <a:r>
              <a:rPr sz="22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85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9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22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frame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rules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  <a:p>
            <a:pPr marL="756285">
              <a:lnSpc>
                <a:spcPts val="2510"/>
              </a:lnSpc>
            </a:pP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work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together</a:t>
            </a:r>
            <a:endParaRPr sz="2200">
              <a:latin typeface="Verdana"/>
              <a:cs typeface="Verdana"/>
            </a:endParaRPr>
          </a:p>
          <a:p>
            <a:pPr marL="756285" marR="574675" indent="-287020">
              <a:lnSpc>
                <a:spcPts val="2380"/>
              </a:lnSpc>
              <a:spcBef>
                <a:spcPts val="1025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204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b="1" spc="-120" dirty="0">
                <a:solidFill>
                  <a:srgbClr val="FFFFFF"/>
                </a:solidFill>
                <a:latin typeface="Tahoma"/>
                <a:cs typeface="Tahoma"/>
              </a:rPr>
              <a:t>Storming</a:t>
            </a:r>
            <a:r>
              <a:rPr sz="22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conflicts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rise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among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members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operations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when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they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try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exert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leadership</a:t>
            </a:r>
            <a:endParaRPr sz="2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4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b="1" spc="-85" dirty="0">
                <a:solidFill>
                  <a:srgbClr val="FFFFFF"/>
                </a:solidFill>
                <a:latin typeface="Tahoma"/>
                <a:cs typeface="Tahoma"/>
              </a:rPr>
              <a:t>Norming</a:t>
            </a:r>
            <a:r>
              <a:rPr sz="22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Conflicts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solved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r>
              <a:rPr sz="22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0" dirty="0">
                <a:solidFill>
                  <a:srgbClr val="FFFFFF"/>
                </a:solidFill>
                <a:latin typeface="Tahoma"/>
                <a:cs typeface="Tahoma"/>
              </a:rPr>
              <a:t>identity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emerges</a:t>
            </a:r>
            <a:endParaRPr sz="2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745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7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b="1" spc="-114" dirty="0">
                <a:solidFill>
                  <a:srgbClr val="FFFFFF"/>
                </a:solidFill>
                <a:latin typeface="Tahoma"/>
                <a:cs typeface="Tahoma"/>
              </a:rPr>
              <a:t>Performing</a:t>
            </a:r>
            <a:r>
              <a:rPr sz="22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start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FFFFFF"/>
                </a:solidFill>
                <a:latin typeface="Verdana"/>
                <a:cs typeface="Verdana"/>
              </a:rPr>
              <a:t>working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tasks</a:t>
            </a:r>
            <a:endParaRPr sz="2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730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b="1" spc="-60" dirty="0">
                <a:solidFill>
                  <a:srgbClr val="FFFFFF"/>
                </a:solidFill>
                <a:latin typeface="Tahoma"/>
                <a:cs typeface="Tahoma"/>
              </a:rPr>
              <a:t>Adjourning</a:t>
            </a:r>
            <a:r>
              <a:rPr sz="22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Group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disbands/disperses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200">
              <a:latin typeface="Verdana"/>
              <a:cs typeface="Verdana"/>
            </a:endParaRPr>
          </a:p>
          <a:p>
            <a:pPr marL="469900">
              <a:lnSpc>
                <a:spcPts val="2510"/>
              </a:lnSpc>
              <a:spcBef>
                <a:spcPts val="5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8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spc="-25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general,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specific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building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activities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2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2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0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carried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out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endParaRPr sz="2200">
              <a:latin typeface="Verdana"/>
              <a:cs typeface="Verdana"/>
            </a:endParaRPr>
          </a:p>
          <a:p>
            <a:pPr marL="756285">
              <a:lnSpc>
                <a:spcPts val="2510"/>
              </a:lnSpc>
            </a:pPr>
            <a:r>
              <a:rPr sz="2200" spc="70" dirty="0">
                <a:solidFill>
                  <a:srgbClr val="FFFFFF"/>
                </a:solidFill>
                <a:latin typeface="Verdana"/>
                <a:cs typeface="Verdana"/>
              </a:rPr>
              <a:t>ice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breaking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95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3055" y="925829"/>
            <a:ext cx="78041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4136390" algn="l"/>
              </a:tabLst>
            </a:pPr>
            <a:r>
              <a:rPr sz="1750" b="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b="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35" dirty="0">
                <a:solidFill>
                  <a:srgbClr val="FFFFFF"/>
                </a:solidFill>
              </a:rPr>
              <a:t>Different</a:t>
            </a:r>
            <a:r>
              <a:rPr sz="2200" spc="-10" dirty="0">
                <a:solidFill>
                  <a:srgbClr val="FFFFFF"/>
                </a:solidFill>
              </a:rPr>
              <a:t> </a:t>
            </a:r>
            <a:r>
              <a:rPr sz="2200" spc="-40" dirty="0">
                <a:solidFill>
                  <a:srgbClr val="FFFFFF"/>
                </a:solidFill>
              </a:rPr>
              <a:t>types</a:t>
            </a:r>
            <a:r>
              <a:rPr sz="2200" spc="-15" dirty="0">
                <a:solidFill>
                  <a:srgbClr val="FFFFFF"/>
                </a:solidFill>
              </a:rPr>
              <a:t> </a:t>
            </a:r>
            <a:r>
              <a:rPr sz="2200" spc="-80" dirty="0">
                <a:solidFill>
                  <a:srgbClr val="FFFFFF"/>
                </a:solidFill>
              </a:rPr>
              <a:t>of</a:t>
            </a:r>
            <a:r>
              <a:rPr sz="2200" spc="-25" dirty="0">
                <a:solidFill>
                  <a:srgbClr val="FFFFFF"/>
                </a:solidFill>
              </a:rPr>
              <a:t> </a:t>
            </a:r>
            <a:r>
              <a:rPr sz="2200" dirty="0">
                <a:solidFill>
                  <a:srgbClr val="FFFFFF"/>
                </a:solidFill>
              </a:rPr>
              <a:t>people</a:t>
            </a:r>
            <a:r>
              <a:rPr sz="2200" spc="-10" dirty="0">
                <a:solidFill>
                  <a:srgbClr val="FFFFFF"/>
                </a:solidFill>
              </a:rPr>
              <a:t> </a:t>
            </a:r>
            <a:r>
              <a:rPr sz="2200" spc="-25" dirty="0">
                <a:solidFill>
                  <a:srgbClr val="FFFFFF"/>
                </a:solidFill>
              </a:rPr>
              <a:t>in</a:t>
            </a:r>
            <a:r>
              <a:rPr sz="2200" dirty="0">
                <a:solidFill>
                  <a:srgbClr val="FFFFFF"/>
                </a:solidFill>
              </a:rPr>
              <a:t>	</a:t>
            </a:r>
            <a:r>
              <a:rPr sz="2200" spc="130" dirty="0">
                <a:solidFill>
                  <a:srgbClr val="FFFFFF"/>
                </a:solidFill>
              </a:rPr>
              <a:t>a</a:t>
            </a:r>
            <a:r>
              <a:rPr sz="2200" spc="-65" dirty="0">
                <a:solidFill>
                  <a:srgbClr val="FFFFFF"/>
                </a:solidFill>
              </a:rPr>
              <a:t> </a:t>
            </a:r>
            <a:r>
              <a:rPr sz="2200" dirty="0">
                <a:solidFill>
                  <a:srgbClr val="FFFFFF"/>
                </a:solidFill>
              </a:rPr>
              <a:t>team</a:t>
            </a:r>
            <a:r>
              <a:rPr sz="2200" spc="-45" dirty="0">
                <a:solidFill>
                  <a:srgbClr val="FFFFFF"/>
                </a:solidFill>
              </a:rPr>
              <a:t> </a:t>
            </a:r>
            <a:r>
              <a:rPr sz="2200" spc="-100" dirty="0">
                <a:solidFill>
                  <a:srgbClr val="FFFFFF"/>
                </a:solidFill>
              </a:rPr>
              <a:t>to</a:t>
            </a:r>
            <a:r>
              <a:rPr sz="2200" spc="-60" dirty="0">
                <a:solidFill>
                  <a:srgbClr val="FFFFFF"/>
                </a:solidFill>
              </a:rPr>
              <a:t> </a:t>
            </a:r>
            <a:r>
              <a:rPr sz="2200" spc="55" dirty="0">
                <a:solidFill>
                  <a:srgbClr val="FFFFFF"/>
                </a:solidFill>
              </a:rPr>
              <a:t>balance</a:t>
            </a:r>
            <a:r>
              <a:rPr sz="2200" spc="-55" dirty="0">
                <a:solidFill>
                  <a:srgbClr val="FFFFFF"/>
                </a:solidFill>
              </a:rPr>
              <a:t> </a:t>
            </a:r>
            <a:r>
              <a:rPr sz="2200" spc="-80" dirty="0">
                <a:solidFill>
                  <a:srgbClr val="FFFFFF"/>
                </a:solidFill>
              </a:rPr>
              <a:t>(Belbin)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0255" y="1258671"/>
            <a:ext cx="8535035" cy="43167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0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chair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Good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at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running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meetings(organizer),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strong,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calm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8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plant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good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at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generating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ideas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7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monitor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good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at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evaluating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ideas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potential</a:t>
            </a:r>
            <a:r>
              <a:rPr sz="20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solutions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1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shaper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one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orients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teams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attention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2492375" algn="l"/>
              </a:tabLst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9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sz="20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worker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providing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good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working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environment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495040" algn="l"/>
              </a:tabLst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7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resource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investigator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54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finding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resources/information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3305810" algn="l"/>
              </a:tabLst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8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completer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finisher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concerns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completing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tasks</a:t>
            </a:r>
            <a:endParaRPr sz="2000" dirty="0">
              <a:latin typeface="Verdana"/>
              <a:cs typeface="Verdana"/>
            </a:endParaRPr>
          </a:p>
          <a:p>
            <a:pPr marL="299085" marR="489584" indent="-287020">
              <a:lnSpc>
                <a:spcPts val="2160"/>
              </a:lnSpc>
              <a:spcBef>
                <a:spcPts val="104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0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worker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Good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player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undertakes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less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attractive</a:t>
            </a:r>
            <a:r>
              <a:rPr sz="20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rgbClr val="FFFFFF"/>
                </a:solidFill>
                <a:latin typeface="Tahoma"/>
                <a:cs typeface="Tahoma"/>
              </a:rPr>
              <a:t>task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needed</a:t>
            </a:r>
            <a:r>
              <a:rPr sz="20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teams</a:t>
            </a: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success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4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b="1" spc="-254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general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335" dirty="0">
                <a:solidFill>
                  <a:srgbClr val="FFFFFF"/>
                </a:solidFill>
                <a:latin typeface="Tahoma"/>
                <a:cs typeface="Tahoma"/>
              </a:rPr>
              <a:t>30%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people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cannot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7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classified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above</a:t>
            </a:r>
            <a:r>
              <a:rPr sz="1900" b="1" spc="-10" dirty="0">
                <a:solidFill>
                  <a:srgbClr val="FFFFFF"/>
                </a:solidFill>
                <a:latin typeface="Tahoma"/>
                <a:cs typeface="Tahoma"/>
              </a:rPr>
              <a:t>(Belbin)</a:t>
            </a:r>
            <a:endParaRPr sz="19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95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238" y="152780"/>
            <a:ext cx="9864191" cy="633584"/>
          </a:xfrm>
          <a:prstGeom prst="rect">
            <a:avLst/>
          </a:prstGeom>
        </p:spPr>
        <p:txBody>
          <a:bodyPr vert="horz" wrap="square" lIns="0" tIns="261696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Group</a:t>
            </a:r>
            <a:r>
              <a:rPr sz="2400" spc="-204" dirty="0"/>
              <a:t> </a:t>
            </a:r>
            <a:r>
              <a:rPr sz="2400" spc="-65" dirty="0"/>
              <a:t>Performance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1156817" y="982659"/>
            <a:ext cx="9505315" cy="35131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600" spc="-35" dirty="0">
                <a:solidFill>
                  <a:srgbClr val="FFFFFF"/>
                </a:solidFill>
                <a:latin typeface="Verdana"/>
                <a:cs typeface="Verdana"/>
              </a:rPr>
              <a:t>Judgments</a:t>
            </a:r>
            <a:r>
              <a:rPr sz="16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16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needed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about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10" dirty="0">
                <a:solidFill>
                  <a:srgbClr val="FFFFFF"/>
                </a:solidFill>
                <a:latin typeface="Tahoma"/>
                <a:cs typeface="Tahoma"/>
              </a:rPr>
              <a:t>tasks</a:t>
            </a:r>
            <a:r>
              <a:rPr sz="16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Tahoma"/>
                <a:cs typeface="Tahoma"/>
              </a:rPr>
              <a:t>best</a:t>
            </a:r>
            <a:r>
              <a:rPr sz="16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carried</a:t>
            </a:r>
            <a:r>
              <a:rPr sz="16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endParaRPr sz="16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collectively</a:t>
            </a:r>
            <a:r>
              <a:rPr sz="16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which</a:t>
            </a:r>
            <a:r>
              <a:rPr sz="16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best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carried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out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individuals.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600" spc="-25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6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certain</a:t>
            </a:r>
            <a:r>
              <a:rPr sz="16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cases,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Verdana"/>
                <a:cs typeface="Verdana"/>
              </a:rPr>
              <a:t>Groups</a:t>
            </a:r>
            <a:r>
              <a:rPr sz="16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6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16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40" dirty="0">
                <a:solidFill>
                  <a:srgbClr val="FFFFFF"/>
                </a:solidFill>
                <a:latin typeface="Tahoma"/>
                <a:cs typeface="Tahoma"/>
              </a:rPr>
              <a:t>effective</a:t>
            </a:r>
            <a:r>
              <a:rPr sz="16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than</a:t>
            </a:r>
            <a:r>
              <a:rPr sz="16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working</a:t>
            </a:r>
            <a:r>
              <a:rPr sz="16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alone.</a:t>
            </a:r>
            <a:endParaRPr sz="16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Some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yield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80" dirty="0">
                <a:solidFill>
                  <a:srgbClr val="FFFFFF"/>
                </a:solidFill>
                <a:latin typeface="Verdana"/>
                <a:cs typeface="Verdana"/>
              </a:rPr>
              <a:t>result;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Some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slow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down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60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Categorizing</a:t>
            </a:r>
            <a:r>
              <a:rPr sz="16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group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tasks</a:t>
            </a:r>
            <a:endParaRPr sz="16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6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Tahoma"/>
                <a:cs typeface="Tahoma"/>
              </a:rPr>
              <a:t>Additive</a:t>
            </a:r>
            <a:r>
              <a:rPr sz="16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30" dirty="0">
                <a:solidFill>
                  <a:srgbClr val="FFFFFF"/>
                </a:solidFill>
                <a:latin typeface="Tahoma"/>
                <a:cs typeface="Tahoma"/>
              </a:rPr>
              <a:t>Tasks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16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efforts</a:t>
            </a:r>
            <a:r>
              <a:rPr sz="16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FFFFFF"/>
                </a:solidFill>
                <a:latin typeface="Verdana"/>
                <a:cs typeface="Verdana"/>
              </a:rPr>
              <a:t>each</a:t>
            </a:r>
            <a:r>
              <a:rPr sz="16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member</a:t>
            </a:r>
            <a:r>
              <a:rPr sz="16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95" dirty="0">
                <a:solidFill>
                  <a:srgbClr val="FFFFFF"/>
                </a:solidFill>
                <a:latin typeface="Verdana"/>
                <a:cs typeface="Verdana"/>
              </a:rPr>
              <a:t>added</a:t>
            </a:r>
            <a:endParaRPr sz="16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1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Compensatory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30" dirty="0">
                <a:solidFill>
                  <a:srgbClr val="FFFFFF"/>
                </a:solidFill>
                <a:latin typeface="Tahoma"/>
                <a:cs typeface="Tahoma"/>
              </a:rPr>
              <a:t>Tasks</a:t>
            </a:r>
            <a:r>
              <a:rPr sz="16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6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16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errors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6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Verdana"/>
                <a:cs typeface="Verdana"/>
              </a:rPr>
              <a:t>some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6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compensated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16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input</a:t>
            </a:r>
            <a:r>
              <a:rPr sz="16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6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endParaRPr sz="1600" dirty="0">
              <a:latin typeface="Verdana"/>
              <a:cs typeface="Verdana"/>
            </a:endParaRPr>
          </a:p>
          <a:p>
            <a:pPr marL="756285" marR="258445" indent="-287020">
              <a:lnSpc>
                <a:spcPct val="100000"/>
              </a:lnSpc>
              <a:spcBef>
                <a:spcPts val="990"/>
              </a:spcBef>
              <a:tabLst>
                <a:tab pos="3124835" algn="l"/>
              </a:tabLst>
            </a:pPr>
            <a:r>
              <a:rPr sz="160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ahoma"/>
                <a:cs typeface="Tahoma"/>
              </a:rPr>
              <a:t>Disjunctive</a:t>
            </a:r>
            <a:r>
              <a:rPr sz="16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tasks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600" spc="-28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16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Only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one</a:t>
            </a:r>
            <a:r>
              <a:rPr sz="16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correct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answer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Verdana"/>
                <a:cs typeface="Verdana"/>
              </a:rPr>
              <a:t>(all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Verdana"/>
                <a:cs typeface="Verdana"/>
              </a:rPr>
              <a:t>accepting</a:t>
            </a:r>
            <a:r>
              <a:rPr sz="16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one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sz="16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answer)</a:t>
            </a:r>
            <a:endParaRPr sz="1600" dirty="0">
              <a:latin typeface="Verdana"/>
              <a:cs typeface="Verdana"/>
            </a:endParaRPr>
          </a:p>
          <a:p>
            <a:pPr marL="756285" marR="292100" indent="-287020">
              <a:lnSpc>
                <a:spcPct val="100000"/>
              </a:lnSpc>
              <a:spcBef>
                <a:spcPts val="994"/>
              </a:spcBef>
            </a:pPr>
            <a:r>
              <a:rPr sz="160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204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1600" b="1" spc="-30" dirty="0">
                <a:solidFill>
                  <a:srgbClr val="FFFFFF"/>
                </a:solidFill>
                <a:latin typeface="Tahoma"/>
                <a:cs typeface="Tahoma"/>
              </a:rPr>
              <a:t>Conjunctive</a:t>
            </a:r>
            <a:r>
              <a:rPr sz="16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Tahoma"/>
                <a:cs typeface="Tahoma"/>
              </a:rPr>
              <a:t>tasks</a:t>
            </a:r>
            <a:r>
              <a:rPr sz="16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1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16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cooperative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attitude</a:t>
            </a:r>
            <a:r>
              <a:rPr sz="16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3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6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productive.</a:t>
            </a:r>
            <a:r>
              <a:rPr sz="16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Overall </a:t>
            </a:r>
            <a:r>
              <a:rPr sz="1600" spc="-114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16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29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6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45" dirty="0">
                <a:solidFill>
                  <a:srgbClr val="FFFFFF"/>
                </a:solidFill>
                <a:latin typeface="Verdana"/>
                <a:cs typeface="Verdana"/>
              </a:rPr>
              <a:t>completed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only</a:t>
            </a:r>
            <a:r>
              <a:rPr sz="16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when</a:t>
            </a:r>
            <a:r>
              <a:rPr sz="16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1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/>
                <a:cs typeface="Verdana"/>
              </a:rPr>
              <a:t>participants</a:t>
            </a:r>
            <a:r>
              <a:rPr sz="16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complete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B736B1-E9C2-14E9-0AAB-9CA5F9657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6" y="4786162"/>
            <a:ext cx="7411484" cy="1843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95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727" y="152780"/>
            <a:ext cx="43243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5" dirty="0"/>
              <a:t>Decision</a:t>
            </a:r>
            <a:r>
              <a:rPr sz="4200" spc="-190" dirty="0"/>
              <a:t> </a:t>
            </a:r>
            <a:r>
              <a:rPr sz="4200" spc="-10" dirty="0"/>
              <a:t>Making</a:t>
            </a:r>
            <a:endParaRPr sz="42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b="1" spc="-10" dirty="0">
                <a:latin typeface="Tahoma"/>
                <a:cs typeface="Tahoma"/>
              </a:rPr>
              <a:t>Categories</a:t>
            </a:r>
            <a:r>
              <a:rPr sz="2200" b="1" spc="-155" dirty="0">
                <a:latin typeface="Tahoma"/>
                <a:cs typeface="Tahoma"/>
              </a:rPr>
              <a:t> </a:t>
            </a:r>
            <a:r>
              <a:rPr sz="2200" b="1" spc="-75" dirty="0">
                <a:latin typeface="Tahoma"/>
                <a:cs typeface="Tahoma"/>
              </a:rPr>
              <a:t>of</a:t>
            </a:r>
            <a:r>
              <a:rPr sz="2200" b="1" spc="-85" dirty="0">
                <a:latin typeface="Tahoma"/>
                <a:cs typeface="Tahoma"/>
              </a:rPr>
              <a:t> </a:t>
            </a:r>
            <a:r>
              <a:rPr sz="2200" b="1" dirty="0">
                <a:latin typeface="Tahoma"/>
                <a:cs typeface="Tahoma"/>
              </a:rPr>
              <a:t>decision</a:t>
            </a:r>
            <a:r>
              <a:rPr sz="2200" b="1" spc="-130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making</a:t>
            </a:r>
            <a:endParaRPr sz="2200">
              <a:latin typeface="Tahoma"/>
              <a:cs typeface="Tahoma"/>
            </a:endParaRPr>
          </a:p>
          <a:p>
            <a:pPr marL="756285" marR="5080" indent="-287020">
              <a:lnSpc>
                <a:spcPts val="2150"/>
              </a:lnSpc>
              <a:spcBef>
                <a:spcPts val="104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38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b="1" spc="-95" dirty="0">
                <a:solidFill>
                  <a:srgbClr val="EA6212"/>
                </a:solidFill>
                <a:latin typeface="Tahoma"/>
                <a:cs typeface="Tahoma"/>
              </a:rPr>
              <a:t>Structured</a:t>
            </a:r>
            <a:r>
              <a:rPr b="1" spc="-40" dirty="0">
                <a:solidFill>
                  <a:srgbClr val="EA6212"/>
                </a:solidFill>
                <a:latin typeface="Tahoma"/>
                <a:cs typeface="Tahoma"/>
              </a:rPr>
              <a:t> </a:t>
            </a:r>
            <a:r>
              <a:rPr spc="-285" dirty="0"/>
              <a:t>–</a:t>
            </a:r>
            <a:r>
              <a:rPr spc="-125" dirty="0"/>
              <a:t> </a:t>
            </a:r>
            <a:r>
              <a:rPr spc="-95" dirty="0"/>
              <a:t>simple,</a:t>
            </a:r>
            <a:r>
              <a:rPr spc="-170" dirty="0"/>
              <a:t> </a:t>
            </a:r>
            <a:r>
              <a:rPr spc="-65" dirty="0"/>
              <a:t>routine</a:t>
            </a:r>
            <a:r>
              <a:rPr spc="-160" dirty="0"/>
              <a:t> </a:t>
            </a:r>
            <a:r>
              <a:rPr spc="-45" dirty="0"/>
              <a:t>decisions</a:t>
            </a:r>
            <a:r>
              <a:rPr spc="-125" dirty="0"/>
              <a:t> </a:t>
            </a:r>
            <a:r>
              <a:rPr spc="-20" dirty="0"/>
              <a:t>where</a:t>
            </a:r>
            <a:r>
              <a:rPr spc="-150" dirty="0"/>
              <a:t> </a:t>
            </a:r>
            <a:r>
              <a:rPr spc="-130" dirty="0"/>
              <a:t>rules</a:t>
            </a:r>
            <a:r>
              <a:rPr spc="-150" dirty="0"/>
              <a:t> </a:t>
            </a:r>
            <a:r>
              <a:rPr spc="125" dirty="0"/>
              <a:t>can</a:t>
            </a:r>
            <a:r>
              <a:rPr spc="-140" dirty="0"/>
              <a:t> </a:t>
            </a:r>
            <a:r>
              <a:rPr spc="105" dirty="0"/>
              <a:t>be</a:t>
            </a:r>
            <a:r>
              <a:rPr spc="-140" dirty="0"/>
              <a:t> </a:t>
            </a:r>
            <a:r>
              <a:rPr spc="-10" dirty="0"/>
              <a:t>applied straightforward.</a:t>
            </a:r>
            <a:endParaRPr sz="1600">
              <a:latin typeface="Tahoma"/>
              <a:cs typeface="Tahoma"/>
            </a:endParaRPr>
          </a:p>
          <a:p>
            <a:pPr marL="469265">
              <a:lnSpc>
                <a:spcPct val="100000"/>
              </a:lnSpc>
              <a:spcBef>
                <a:spcPts val="74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4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b="1" spc="-105" dirty="0">
                <a:solidFill>
                  <a:srgbClr val="EA6212"/>
                </a:solidFill>
                <a:latin typeface="Tahoma"/>
                <a:cs typeface="Tahoma"/>
              </a:rPr>
              <a:t>Unstructured</a:t>
            </a:r>
            <a:r>
              <a:rPr b="1" spc="-20" dirty="0">
                <a:solidFill>
                  <a:srgbClr val="EA6212"/>
                </a:solidFill>
                <a:latin typeface="Tahoma"/>
                <a:cs typeface="Tahoma"/>
              </a:rPr>
              <a:t> </a:t>
            </a:r>
            <a:r>
              <a:rPr spc="-285" dirty="0"/>
              <a:t>–</a:t>
            </a:r>
            <a:r>
              <a:rPr spc="-100" dirty="0"/>
              <a:t> </a:t>
            </a:r>
            <a:r>
              <a:rPr spc="-20" dirty="0"/>
              <a:t>complex,</a:t>
            </a:r>
            <a:r>
              <a:rPr spc="-120" dirty="0"/>
              <a:t> </a:t>
            </a:r>
            <a:r>
              <a:rPr spc="-10" dirty="0"/>
              <a:t>often</a:t>
            </a:r>
            <a:r>
              <a:rPr spc="-114" dirty="0"/>
              <a:t> </a:t>
            </a:r>
            <a:r>
              <a:rPr spc="-65" dirty="0"/>
              <a:t>require</a:t>
            </a:r>
            <a:r>
              <a:rPr spc="-114" dirty="0"/>
              <a:t> </a:t>
            </a:r>
            <a:r>
              <a:rPr spc="165" dirty="0"/>
              <a:t>a</a:t>
            </a:r>
            <a:r>
              <a:rPr spc="-105" dirty="0"/>
              <a:t> </a:t>
            </a:r>
            <a:r>
              <a:rPr dirty="0"/>
              <a:t>degree</a:t>
            </a:r>
            <a:r>
              <a:rPr spc="-10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creativity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b="1" spc="-35" dirty="0">
                <a:latin typeface="Tahoma"/>
                <a:cs typeface="Tahoma"/>
              </a:rPr>
              <a:t>Mental</a:t>
            </a:r>
            <a:r>
              <a:rPr sz="2200" b="1" spc="-50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Obstacles</a:t>
            </a:r>
            <a:r>
              <a:rPr sz="2200" b="1" spc="-70" dirty="0">
                <a:latin typeface="Tahoma"/>
                <a:cs typeface="Tahoma"/>
              </a:rPr>
              <a:t> </a:t>
            </a:r>
            <a:r>
              <a:rPr sz="2200" b="1" spc="-100" dirty="0">
                <a:latin typeface="Tahoma"/>
                <a:cs typeface="Tahoma"/>
              </a:rPr>
              <a:t>to</a:t>
            </a:r>
            <a:r>
              <a:rPr sz="2200" b="1" spc="-50" dirty="0">
                <a:latin typeface="Tahoma"/>
                <a:cs typeface="Tahoma"/>
              </a:rPr>
              <a:t> </a:t>
            </a:r>
            <a:r>
              <a:rPr sz="2200" b="1" dirty="0">
                <a:latin typeface="Tahoma"/>
                <a:cs typeface="Tahoma"/>
              </a:rPr>
              <a:t>good</a:t>
            </a:r>
            <a:r>
              <a:rPr sz="2200" b="1" spc="-50" dirty="0">
                <a:latin typeface="Tahoma"/>
                <a:cs typeface="Tahoma"/>
              </a:rPr>
              <a:t> </a:t>
            </a:r>
            <a:r>
              <a:rPr sz="2200" b="1" dirty="0">
                <a:latin typeface="Tahoma"/>
                <a:cs typeface="Tahoma"/>
              </a:rPr>
              <a:t>decision</a:t>
            </a:r>
            <a:r>
              <a:rPr sz="2200" b="1" spc="-50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making</a:t>
            </a:r>
            <a:endParaRPr sz="2200">
              <a:latin typeface="Tahoma"/>
              <a:cs typeface="Tahoma"/>
            </a:endParaRPr>
          </a:p>
          <a:p>
            <a:pPr marL="756285" marR="497840" indent="-287020">
              <a:lnSpc>
                <a:spcPts val="2380"/>
              </a:lnSpc>
              <a:spcBef>
                <a:spcPts val="1030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7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spc="-95" dirty="0"/>
              <a:t>Faulty</a:t>
            </a:r>
            <a:r>
              <a:rPr sz="2200" spc="-165" dirty="0"/>
              <a:t> </a:t>
            </a:r>
            <a:r>
              <a:rPr sz="2200" spc="-114" dirty="0"/>
              <a:t>heuristics</a:t>
            </a:r>
            <a:r>
              <a:rPr sz="2200" spc="-160" dirty="0"/>
              <a:t> </a:t>
            </a:r>
            <a:r>
              <a:rPr sz="2200" spc="-165" dirty="0"/>
              <a:t>(rules</a:t>
            </a:r>
            <a:r>
              <a:rPr sz="2200" spc="-110" dirty="0"/>
              <a:t> </a:t>
            </a:r>
            <a:r>
              <a:rPr sz="2200" dirty="0"/>
              <a:t>of</a:t>
            </a:r>
            <a:r>
              <a:rPr sz="2200" spc="-155" dirty="0"/>
              <a:t> </a:t>
            </a:r>
            <a:r>
              <a:rPr sz="2200" spc="-40" dirty="0"/>
              <a:t>thumb</a:t>
            </a:r>
            <a:r>
              <a:rPr sz="2200" spc="-140" dirty="0"/>
              <a:t> </a:t>
            </a:r>
            <a:r>
              <a:rPr sz="2200" spc="-25" dirty="0"/>
              <a:t>may</a:t>
            </a:r>
            <a:r>
              <a:rPr sz="2200" spc="-165" dirty="0"/>
              <a:t> </a:t>
            </a:r>
            <a:r>
              <a:rPr sz="2200" spc="105" dirty="0"/>
              <a:t>be</a:t>
            </a:r>
            <a:r>
              <a:rPr sz="2200" spc="-145" dirty="0"/>
              <a:t> </a:t>
            </a:r>
            <a:r>
              <a:rPr sz="2200" spc="-114" dirty="0"/>
              <a:t>useful,</a:t>
            </a:r>
            <a:r>
              <a:rPr sz="2200" spc="-125" dirty="0"/>
              <a:t> </a:t>
            </a:r>
            <a:r>
              <a:rPr sz="2200" spc="-20" dirty="0"/>
              <a:t>but</a:t>
            </a:r>
            <a:r>
              <a:rPr sz="2200" spc="-145" dirty="0"/>
              <a:t> </a:t>
            </a:r>
            <a:r>
              <a:rPr sz="2200" spc="-25" dirty="0"/>
              <a:t>may </a:t>
            </a:r>
            <a:r>
              <a:rPr sz="2200" spc="-10" dirty="0"/>
              <a:t>mislead)</a:t>
            </a:r>
            <a:endParaRPr sz="2200">
              <a:latin typeface="Lucida Sans Unicode"/>
              <a:cs typeface="Lucida Sans Unicode"/>
            </a:endParaRPr>
          </a:p>
          <a:p>
            <a:pPr marL="469265">
              <a:lnSpc>
                <a:spcPct val="100000"/>
              </a:lnSpc>
              <a:spcBef>
                <a:spcPts val="690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9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/>
              <a:t>When</a:t>
            </a:r>
            <a:r>
              <a:rPr sz="2200" spc="-95" dirty="0"/>
              <a:t> </a:t>
            </a:r>
            <a:r>
              <a:rPr sz="2200" spc="-195" dirty="0"/>
              <a:t>its</a:t>
            </a:r>
            <a:r>
              <a:rPr sz="2200" spc="-155" dirty="0"/>
              <a:t> </a:t>
            </a:r>
            <a:r>
              <a:rPr sz="2200" dirty="0"/>
              <a:t>based</a:t>
            </a:r>
            <a:r>
              <a:rPr sz="2200" spc="-125" dirty="0"/>
              <a:t> </a:t>
            </a:r>
            <a:r>
              <a:rPr sz="2200" spc="-70" dirty="0"/>
              <a:t>only</a:t>
            </a:r>
            <a:r>
              <a:rPr sz="2200" spc="-140" dirty="0"/>
              <a:t> </a:t>
            </a:r>
            <a:r>
              <a:rPr sz="2200" dirty="0"/>
              <a:t>on</a:t>
            </a:r>
            <a:r>
              <a:rPr sz="2200" spc="-130" dirty="0"/>
              <a:t> </a:t>
            </a:r>
            <a:r>
              <a:rPr sz="2200" spc="-10" dirty="0"/>
              <a:t>information</a:t>
            </a:r>
            <a:endParaRPr sz="2200">
              <a:latin typeface="Lucida Sans Unicode"/>
              <a:cs typeface="Lucida Sans Unicode"/>
            </a:endParaRPr>
          </a:p>
          <a:p>
            <a:pPr marL="469265">
              <a:lnSpc>
                <a:spcPct val="100000"/>
              </a:lnSpc>
              <a:spcBef>
                <a:spcPts val="735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8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spc="-30" dirty="0"/>
              <a:t>Based</a:t>
            </a:r>
            <a:r>
              <a:rPr sz="2200" spc="-130" dirty="0"/>
              <a:t> </a:t>
            </a:r>
            <a:r>
              <a:rPr sz="2200" dirty="0"/>
              <a:t>on</a:t>
            </a:r>
            <a:r>
              <a:rPr sz="2200" spc="-135" dirty="0"/>
              <a:t> </a:t>
            </a:r>
            <a:r>
              <a:rPr sz="2200" spc="-70" dirty="0"/>
              <a:t>stereotypes</a:t>
            </a:r>
            <a:r>
              <a:rPr sz="2200" spc="-160" dirty="0"/>
              <a:t> </a:t>
            </a:r>
            <a:r>
              <a:rPr sz="2200" spc="-95" dirty="0"/>
              <a:t>(fixed</a:t>
            </a:r>
            <a:r>
              <a:rPr sz="2200" spc="-105" dirty="0"/>
              <a:t> </a:t>
            </a:r>
            <a:r>
              <a:rPr sz="2200" spc="-10" dirty="0"/>
              <a:t>idea)</a:t>
            </a:r>
            <a:endParaRPr sz="2200">
              <a:latin typeface="Lucida Sans Unicode"/>
              <a:cs typeface="Lucida Sans Unicode"/>
            </a:endParaRPr>
          </a:p>
          <a:p>
            <a:pPr marL="469265">
              <a:lnSpc>
                <a:spcPct val="100000"/>
              </a:lnSpc>
              <a:spcBef>
                <a:spcPts val="745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21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spc="-40" dirty="0"/>
              <a:t>Escalation</a:t>
            </a:r>
            <a:r>
              <a:rPr sz="2200" spc="-135" dirty="0"/>
              <a:t> </a:t>
            </a:r>
            <a:r>
              <a:rPr sz="2200" dirty="0"/>
              <a:t>of</a:t>
            </a:r>
            <a:r>
              <a:rPr sz="2200" spc="-114" dirty="0"/>
              <a:t> </a:t>
            </a:r>
            <a:r>
              <a:rPr sz="2200" spc="-30" dirty="0"/>
              <a:t>commitment</a:t>
            </a:r>
            <a:r>
              <a:rPr sz="2200" spc="-140" dirty="0"/>
              <a:t> </a:t>
            </a:r>
            <a:r>
              <a:rPr sz="2200" spc="-310" dirty="0"/>
              <a:t>–</a:t>
            </a:r>
            <a:r>
              <a:rPr sz="2200" spc="-100" dirty="0"/>
              <a:t> </a:t>
            </a:r>
            <a:r>
              <a:rPr sz="2200" dirty="0"/>
              <a:t>adopting</a:t>
            </a:r>
            <a:r>
              <a:rPr sz="2200" spc="-130" dirty="0"/>
              <a:t> </a:t>
            </a:r>
            <a:r>
              <a:rPr sz="2200" spc="170" dirty="0"/>
              <a:t>a</a:t>
            </a:r>
            <a:r>
              <a:rPr sz="2200" spc="-114" dirty="0"/>
              <a:t> </a:t>
            </a:r>
            <a:r>
              <a:rPr sz="2200" spc="-70" dirty="0"/>
              <a:t>failure</a:t>
            </a:r>
            <a:r>
              <a:rPr sz="2200" spc="-114" dirty="0"/>
              <a:t> </a:t>
            </a:r>
            <a:r>
              <a:rPr sz="2200" spc="-10" dirty="0"/>
              <a:t>model</a:t>
            </a:r>
            <a:endParaRPr sz="2200">
              <a:latin typeface="Lucida Sans Unicode"/>
              <a:cs typeface="Lucida Sans Unicode"/>
            </a:endParaRPr>
          </a:p>
          <a:p>
            <a:pPr marL="469265">
              <a:lnSpc>
                <a:spcPct val="100000"/>
              </a:lnSpc>
              <a:spcBef>
                <a:spcPts val="730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19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spc="-95" dirty="0"/>
              <a:t>Information</a:t>
            </a:r>
            <a:r>
              <a:rPr sz="2200" spc="-135" dirty="0"/>
              <a:t> </a:t>
            </a:r>
            <a:r>
              <a:rPr sz="2200" dirty="0"/>
              <a:t>overload</a:t>
            </a:r>
            <a:r>
              <a:rPr sz="2200" spc="-130" dirty="0"/>
              <a:t> </a:t>
            </a:r>
            <a:r>
              <a:rPr sz="2200" spc="-310" dirty="0"/>
              <a:t>–</a:t>
            </a:r>
            <a:r>
              <a:rPr sz="2200" spc="-125" dirty="0"/>
              <a:t> </a:t>
            </a:r>
            <a:r>
              <a:rPr sz="2200" dirty="0"/>
              <a:t>too</a:t>
            </a:r>
            <a:r>
              <a:rPr sz="2200" spc="-120" dirty="0"/>
              <a:t> </a:t>
            </a:r>
            <a:r>
              <a:rPr sz="2200" dirty="0"/>
              <a:t>much</a:t>
            </a:r>
            <a:r>
              <a:rPr sz="2200" spc="-125" dirty="0"/>
              <a:t> </a:t>
            </a:r>
            <a:r>
              <a:rPr sz="2200" spc="-10" dirty="0"/>
              <a:t>information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628" rIns="0" bIns="0" rtlCol="0">
            <a:spAutoFit/>
          </a:bodyPr>
          <a:lstStyle/>
          <a:p>
            <a:pPr marL="556895">
              <a:lnSpc>
                <a:spcPct val="100000"/>
              </a:lnSpc>
              <a:spcBef>
                <a:spcPts val="100"/>
              </a:spcBef>
            </a:pPr>
            <a:r>
              <a:rPr sz="4200" b="0" dirty="0">
                <a:latin typeface="Verdana"/>
                <a:cs typeface="Verdana"/>
              </a:rPr>
              <a:t>Group</a:t>
            </a:r>
            <a:r>
              <a:rPr sz="4200" b="0" spc="-250" dirty="0">
                <a:latin typeface="Verdana"/>
                <a:cs typeface="Verdana"/>
              </a:rPr>
              <a:t> </a:t>
            </a:r>
            <a:r>
              <a:rPr sz="4200" b="0" spc="-65" dirty="0">
                <a:latin typeface="Verdana"/>
                <a:cs typeface="Verdana"/>
              </a:rPr>
              <a:t>Decision</a:t>
            </a:r>
            <a:r>
              <a:rPr sz="4200" b="0" spc="-250" dirty="0">
                <a:latin typeface="Verdana"/>
                <a:cs typeface="Verdana"/>
              </a:rPr>
              <a:t> </a:t>
            </a:r>
            <a:r>
              <a:rPr sz="4200" b="0" spc="-10" dirty="0">
                <a:latin typeface="Verdana"/>
                <a:cs typeface="Verdana"/>
              </a:rPr>
              <a:t>Making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4125" y="1673733"/>
            <a:ext cx="8692515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8750" indent="-343535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Decisions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Verdana"/>
                <a:cs typeface="Verdana"/>
              </a:rPr>
              <a:t>made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whole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more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likely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FFFFFF"/>
                </a:solidFill>
                <a:latin typeface="Verdana"/>
                <a:cs typeface="Verdana"/>
              </a:rPr>
              <a:t>accepted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than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those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imposed.</a:t>
            </a:r>
            <a:endParaRPr sz="240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Brainstorming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techniques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help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groups,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but,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research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states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people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often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90" dirty="0">
                <a:solidFill>
                  <a:srgbClr val="FFFFFF"/>
                </a:solidFill>
                <a:latin typeface="Tahoma"/>
                <a:cs typeface="Tahoma"/>
              </a:rPr>
              <a:t>come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ideas 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individually</a:t>
            </a:r>
            <a:r>
              <a:rPr sz="24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than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1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38" y="473709"/>
            <a:ext cx="93592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dirty="0">
                <a:latin typeface="Verdana"/>
                <a:cs typeface="Verdana"/>
              </a:rPr>
              <a:t>Obstacles</a:t>
            </a:r>
            <a:r>
              <a:rPr sz="4200" b="0" spc="-310" dirty="0">
                <a:latin typeface="Verdana"/>
                <a:cs typeface="Verdana"/>
              </a:rPr>
              <a:t> </a:t>
            </a:r>
            <a:r>
              <a:rPr sz="4200" b="0" spc="-10" dirty="0">
                <a:latin typeface="Verdana"/>
                <a:cs typeface="Verdana"/>
              </a:rPr>
              <a:t>to</a:t>
            </a:r>
            <a:r>
              <a:rPr sz="4200" b="0" spc="-320" dirty="0">
                <a:latin typeface="Verdana"/>
                <a:cs typeface="Verdana"/>
              </a:rPr>
              <a:t> </a:t>
            </a:r>
            <a:r>
              <a:rPr sz="4200" b="0" dirty="0">
                <a:latin typeface="Verdana"/>
                <a:cs typeface="Verdana"/>
              </a:rPr>
              <a:t>group</a:t>
            </a:r>
            <a:r>
              <a:rPr sz="4200" b="0" spc="-305" dirty="0">
                <a:latin typeface="Verdana"/>
                <a:cs typeface="Verdana"/>
              </a:rPr>
              <a:t> </a:t>
            </a:r>
            <a:r>
              <a:rPr sz="4200" b="0" spc="-30" dirty="0">
                <a:latin typeface="Verdana"/>
                <a:cs typeface="Verdana"/>
              </a:rPr>
              <a:t>decision</a:t>
            </a:r>
            <a:r>
              <a:rPr sz="4200" b="0" spc="-355" dirty="0">
                <a:latin typeface="Verdana"/>
                <a:cs typeface="Verdana"/>
              </a:rPr>
              <a:t> </a:t>
            </a:r>
            <a:r>
              <a:rPr sz="4200" b="0" spc="-10" dirty="0">
                <a:latin typeface="Verdana"/>
                <a:cs typeface="Verdana"/>
              </a:rPr>
              <a:t>making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463" y="1565910"/>
            <a:ext cx="10340340" cy="407860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consuming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Conflicts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within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group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Decision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unduly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influenced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dominant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personalities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4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28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general,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people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modify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personal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judgements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conform 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norms,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attitudes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Verdana"/>
                <a:cs typeface="Verdana"/>
              </a:rPr>
              <a:t>developed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group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over time</a:t>
            </a:r>
            <a:endParaRPr sz="2400">
              <a:latin typeface="Verdana"/>
              <a:cs typeface="Verdana"/>
            </a:endParaRPr>
          </a:p>
          <a:p>
            <a:pPr marL="355600" marR="431165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observed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Verdana"/>
                <a:cs typeface="Verdana"/>
              </a:rPr>
              <a:t>people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75" dirty="0">
                <a:solidFill>
                  <a:srgbClr val="FFFFFF"/>
                </a:solidFill>
                <a:latin typeface="Tahoma"/>
                <a:cs typeface="Tahoma"/>
              </a:rPr>
              <a:t>sometimes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decisions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carry 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80" dirty="0">
                <a:solidFill>
                  <a:srgbClr val="FFFFFF"/>
                </a:solidFill>
                <a:latin typeface="Tahoma"/>
                <a:cs typeface="Tahoma"/>
              </a:rPr>
              <a:t>risk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than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65" dirty="0">
                <a:solidFill>
                  <a:srgbClr val="FFFFFF"/>
                </a:solidFill>
                <a:latin typeface="Tahoma"/>
                <a:cs typeface="Tahoma"/>
              </a:rPr>
              <a:t>risk.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4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7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termed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risky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shift.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179" rIns="0" bIns="0" rtlCol="0">
            <a:spAutoFit/>
          </a:bodyPr>
          <a:lstStyle/>
          <a:p>
            <a:pPr marL="501015" marR="5080">
              <a:lnSpc>
                <a:spcPct val="100000"/>
              </a:lnSpc>
              <a:spcBef>
                <a:spcPts val="95"/>
              </a:spcBef>
            </a:pPr>
            <a:r>
              <a:rPr sz="2800" b="0" spc="-65" dirty="0">
                <a:latin typeface="Verdana"/>
                <a:cs typeface="Verdana"/>
              </a:rPr>
              <a:t>Measures</a:t>
            </a:r>
            <a:r>
              <a:rPr sz="2800" b="0" spc="-185" dirty="0">
                <a:latin typeface="Verdana"/>
                <a:cs typeface="Verdana"/>
              </a:rPr>
              <a:t> </a:t>
            </a:r>
            <a:r>
              <a:rPr sz="2800" spc="-100" dirty="0"/>
              <a:t>to</a:t>
            </a:r>
            <a:r>
              <a:rPr sz="2800" spc="-50" dirty="0"/>
              <a:t> </a:t>
            </a:r>
            <a:r>
              <a:rPr sz="2800" dirty="0"/>
              <a:t>reduce</a:t>
            </a:r>
            <a:r>
              <a:rPr sz="2800" spc="-55" dirty="0"/>
              <a:t> </a:t>
            </a:r>
            <a:r>
              <a:rPr sz="2800" spc="-90" dirty="0"/>
              <a:t>the</a:t>
            </a:r>
            <a:r>
              <a:rPr sz="2800" spc="-45" dirty="0"/>
              <a:t> </a:t>
            </a:r>
            <a:r>
              <a:rPr sz="2800" spc="-10" dirty="0"/>
              <a:t>disadvantages</a:t>
            </a:r>
            <a:r>
              <a:rPr sz="2800" spc="-15" dirty="0"/>
              <a:t> </a:t>
            </a:r>
            <a:r>
              <a:rPr sz="2800" b="0" dirty="0">
                <a:latin typeface="Verdana"/>
                <a:cs typeface="Verdana"/>
              </a:rPr>
              <a:t>of</a:t>
            </a:r>
            <a:r>
              <a:rPr sz="2800" b="0" spc="-215" dirty="0">
                <a:latin typeface="Verdana"/>
                <a:cs typeface="Verdana"/>
              </a:rPr>
              <a:t> </a:t>
            </a:r>
            <a:r>
              <a:rPr sz="2800" b="0" spc="-10" dirty="0">
                <a:latin typeface="Verdana"/>
                <a:cs typeface="Verdana"/>
              </a:rPr>
              <a:t>group </a:t>
            </a:r>
            <a:r>
              <a:rPr sz="2800" b="0" spc="-20" dirty="0">
                <a:latin typeface="Verdana"/>
                <a:cs typeface="Verdana"/>
              </a:rPr>
              <a:t>decision</a:t>
            </a:r>
            <a:r>
              <a:rPr sz="2800" b="0" spc="-210" dirty="0">
                <a:latin typeface="Verdana"/>
                <a:cs typeface="Verdana"/>
              </a:rPr>
              <a:t> </a:t>
            </a:r>
            <a:r>
              <a:rPr sz="2800" spc="-90" dirty="0"/>
              <a:t>(Delphi</a:t>
            </a:r>
            <a:r>
              <a:rPr sz="2800" spc="-35" dirty="0"/>
              <a:t> </a:t>
            </a:r>
            <a:r>
              <a:rPr sz="2800" spc="-10" dirty="0"/>
              <a:t>technique)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420" y="1512849"/>
            <a:ext cx="9135745" cy="479171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following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procedure</a:t>
            </a:r>
            <a:r>
              <a:rPr sz="22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29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carried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out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cooperation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number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experts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29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enlisted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problem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29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presented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experts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experts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record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recommendations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These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recommendations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Verdana"/>
                <a:cs typeface="Verdana"/>
              </a:rPr>
              <a:t>collected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reproduced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200" spc="55" dirty="0">
                <a:solidFill>
                  <a:srgbClr val="FFFFFF"/>
                </a:solidFill>
                <a:latin typeface="Verdana"/>
                <a:cs typeface="Verdana"/>
              </a:rPr>
              <a:t>collected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responses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recirculated</a:t>
            </a:r>
            <a:endParaRPr sz="2200" dirty="0">
              <a:latin typeface="Verdana"/>
              <a:cs typeface="Verdana"/>
            </a:endParaRPr>
          </a:p>
          <a:p>
            <a:pPr marL="355600" marR="533400" indent="-343535">
              <a:lnSpc>
                <a:spcPts val="2380"/>
              </a:lnSpc>
              <a:spcBef>
                <a:spcPts val="1025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experts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comment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ideas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/>
                <a:cs typeface="Verdana"/>
              </a:rPr>
              <a:t>modify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their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recommendations</a:t>
            </a:r>
            <a:r>
              <a:rPr sz="22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if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so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moved</a:t>
            </a:r>
            <a:endParaRPr sz="2200" dirty="0">
              <a:latin typeface="Verdana"/>
              <a:cs typeface="Verdana"/>
            </a:endParaRPr>
          </a:p>
          <a:p>
            <a:pPr marL="355600" marR="260985" indent="-343535">
              <a:lnSpc>
                <a:spcPts val="2380"/>
              </a:lnSpc>
              <a:spcBef>
                <a:spcPts val="1005"/>
              </a:spcBef>
              <a:tabLst>
                <a:tab pos="355600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265" dirty="0">
                <a:solidFill>
                  <a:srgbClr val="FFFFFF"/>
                </a:solidFill>
                <a:latin typeface="Verdana"/>
                <a:cs typeface="Verdana"/>
              </a:rPr>
              <a:t>If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leader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detects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consensus,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then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process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3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concluded, </a:t>
            </a:r>
            <a:r>
              <a:rPr sz="2200" spc="-70" dirty="0">
                <a:solidFill>
                  <a:srgbClr val="FFFFFF"/>
                </a:solidFill>
                <a:latin typeface="Verdana"/>
                <a:cs typeface="Verdana"/>
              </a:rPr>
              <a:t>otherwise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comments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recirculated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experts.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ts val="2510"/>
              </a:lnSpc>
              <a:spcBef>
                <a:spcPts val="690"/>
              </a:spcBef>
            </a:pP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Adv: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12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0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carried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out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/>
                <a:cs typeface="Verdana"/>
              </a:rPr>
              <a:t>experts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Verdana"/>
                <a:cs typeface="Verdana"/>
              </a:rPr>
              <a:t>dispersed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geographically.</a:t>
            </a:r>
            <a:r>
              <a:rPr sz="22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/>
                <a:cs typeface="Verdana"/>
              </a:rPr>
              <a:t>But,</a:t>
            </a:r>
            <a:endParaRPr sz="2200" dirty="0">
              <a:latin typeface="Verdana"/>
              <a:cs typeface="Verdana"/>
            </a:endParaRPr>
          </a:p>
          <a:p>
            <a:pPr marL="12700">
              <a:lnSpc>
                <a:spcPts val="2510"/>
              </a:lnSpc>
            </a:pP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process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may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0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10" dirty="0">
                <a:solidFill>
                  <a:srgbClr val="FFFFFF"/>
                </a:solidFill>
                <a:latin typeface="Verdana"/>
                <a:cs typeface="Verdana"/>
              </a:rPr>
              <a:t>time-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consuming</a:t>
            </a:r>
            <a:endParaRPr sz="2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2194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Organization</a:t>
            </a:r>
            <a:r>
              <a:rPr spc="-10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60" dirty="0"/>
              <a:t>Team</a:t>
            </a:r>
            <a:r>
              <a:rPr spc="-80" dirty="0"/>
              <a:t> </a:t>
            </a:r>
            <a:r>
              <a:rPr spc="-185" dirty="0"/>
              <a:t>Structures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474978"/>
            <a:ext cx="9020810" cy="382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657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Large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s/w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development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companies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usually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organized </a:t>
            </a:r>
            <a:r>
              <a:rPr sz="2400" b="1" spc="-125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departments.</a:t>
            </a:r>
            <a:endParaRPr sz="2400">
              <a:latin typeface="Tahoma"/>
              <a:cs typeface="Tahoma"/>
            </a:endParaRPr>
          </a:p>
          <a:p>
            <a:pPr marL="12700" marR="1201420">
              <a:lnSpc>
                <a:spcPct val="100000"/>
              </a:lnSpc>
              <a:spcBef>
                <a:spcPts val="994"/>
              </a:spcBef>
            </a:pPr>
            <a:r>
              <a:rPr sz="2400" spc="-320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product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ahoma"/>
                <a:cs typeface="Tahoma"/>
              </a:rPr>
              <a:t>lines,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70" dirty="0">
                <a:solidFill>
                  <a:srgbClr val="FFFFFF"/>
                </a:solidFill>
                <a:latin typeface="Tahoma"/>
                <a:cs typeface="Tahoma"/>
              </a:rPr>
              <a:t>staff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specialization,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category,</a:t>
            </a:r>
            <a:r>
              <a:rPr sz="24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geographical</a:t>
            </a:r>
            <a:r>
              <a:rPr sz="2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location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etc</a:t>
            </a:r>
            <a:endParaRPr sz="2400">
              <a:latin typeface="Verdana"/>
              <a:cs typeface="Verdana"/>
            </a:endParaRPr>
          </a:p>
          <a:p>
            <a:pPr marL="12700" marR="156845">
              <a:lnSpc>
                <a:spcPct val="100000"/>
              </a:lnSpc>
              <a:spcBef>
                <a:spcPts val="1000"/>
              </a:spcBef>
            </a:pP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Eg.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/>
                <a:cs typeface="Verdana"/>
              </a:rPr>
              <a:t>Academic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programmes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at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5" dirty="0">
                <a:solidFill>
                  <a:srgbClr val="FFFFFF"/>
                </a:solidFill>
                <a:latin typeface="Verdana"/>
                <a:cs typeface="Verdana"/>
              </a:rPr>
              <a:t>VIT-</a:t>
            </a:r>
            <a:r>
              <a:rPr sz="2400" spc="-30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schools-</a:t>
            </a:r>
            <a:r>
              <a:rPr sz="2400" spc="-30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departments, </a:t>
            </a:r>
            <a:r>
              <a:rPr sz="2400" spc="70" dirty="0">
                <a:solidFill>
                  <a:srgbClr val="FFFFFF"/>
                </a:solidFill>
                <a:latin typeface="Verdana"/>
                <a:cs typeface="Verdana"/>
              </a:rPr>
              <a:t>etc</a:t>
            </a:r>
            <a:endParaRPr sz="240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spc="-65" dirty="0">
                <a:solidFill>
                  <a:srgbClr val="FFFFFF"/>
                </a:solidFill>
                <a:latin typeface="Tahoma"/>
                <a:cs typeface="Tahoma"/>
              </a:rPr>
              <a:t>Department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35" dirty="0">
                <a:solidFill>
                  <a:srgbClr val="FFFFFF"/>
                </a:solidFill>
                <a:latin typeface="Tahoma"/>
                <a:cs typeface="Tahoma"/>
              </a:rPr>
              <a:t>Structure-</a:t>
            </a:r>
            <a:r>
              <a:rPr sz="2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2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department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organized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into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teams?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Structure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teams</a:t>
            </a:r>
            <a:r>
              <a:rPr sz="24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structured?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727" y="154304"/>
            <a:ext cx="4724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Department</a:t>
            </a:r>
            <a:r>
              <a:rPr spc="-100" dirty="0"/>
              <a:t> </a:t>
            </a:r>
            <a:r>
              <a:rPr spc="-185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9727" y="1173632"/>
            <a:ext cx="9063355" cy="452818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Types: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Functional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format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format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Matrix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format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200">
              <a:latin typeface="Verdana"/>
              <a:cs typeface="Verdana"/>
            </a:endParaRPr>
          </a:p>
          <a:p>
            <a:pPr marL="354965" marR="217170" indent="-342900">
              <a:lnSpc>
                <a:spcPct val="80000"/>
              </a:lnSpc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1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functional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organization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3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organization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Verdana"/>
                <a:cs typeface="Verdana"/>
              </a:rPr>
              <a:t>staff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are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grouped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areas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7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40" dirty="0">
                <a:solidFill>
                  <a:srgbClr val="FFFFFF"/>
                </a:solidFill>
                <a:latin typeface="Tahoma"/>
                <a:cs typeface="Tahoma"/>
              </a:rPr>
              <a:t>specialization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Verdana"/>
                <a:cs typeface="Verdana"/>
              </a:rPr>
              <a:t>managed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person 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FFFFFF"/>
                </a:solidFill>
                <a:latin typeface="Verdana"/>
                <a:cs typeface="Verdana"/>
              </a:rPr>
              <a:t>expertise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2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area.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ts val="2375"/>
              </a:lnSpc>
              <a:spcBef>
                <a:spcPts val="470"/>
              </a:spcBef>
              <a:tabLst>
                <a:tab pos="354965" algn="l"/>
              </a:tabLst>
            </a:pPr>
            <a:r>
              <a:rPr sz="175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200" spc="-25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2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2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organization</a:t>
            </a:r>
            <a:r>
              <a:rPr sz="2200" b="1" spc="-4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22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teams</a:t>
            </a:r>
            <a:r>
              <a:rPr sz="22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2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55" dirty="0">
                <a:solidFill>
                  <a:srgbClr val="FFFFFF"/>
                </a:solidFill>
                <a:latin typeface="Tahoma"/>
                <a:cs typeface="Tahoma"/>
              </a:rPr>
              <a:t>formed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achieve</a:t>
            </a:r>
            <a:endParaRPr sz="2200">
              <a:latin typeface="Tahoma"/>
              <a:cs typeface="Tahoma"/>
            </a:endParaRPr>
          </a:p>
          <a:p>
            <a:pPr marL="354965">
              <a:lnSpc>
                <a:spcPts val="2375"/>
              </a:lnSpc>
            </a:pP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specific</a:t>
            </a:r>
            <a:r>
              <a:rPr sz="22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55" dirty="0">
                <a:solidFill>
                  <a:srgbClr val="FFFFFF"/>
                </a:solidFill>
                <a:latin typeface="Tahoma"/>
                <a:cs typeface="Tahoma"/>
              </a:rPr>
              <a:t>projects</a:t>
            </a:r>
            <a:r>
              <a:rPr sz="22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led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endParaRPr sz="2200">
              <a:latin typeface="Tahoma"/>
              <a:cs typeface="Tahoma"/>
            </a:endParaRPr>
          </a:p>
          <a:p>
            <a:pPr marL="354965" marR="5080" indent="-342900" algn="just">
              <a:lnSpc>
                <a:spcPts val="2110"/>
              </a:lnSpc>
              <a:spcBef>
                <a:spcPts val="990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200" spc="-90" dirty="0">
                <a:solidFill>
                  <a:srgbClr val="FFFFFF"/>
                </a:solidFill>
                <a:latin typeface="Verdana"/>
                <a:cs typeface="Verdana"/>
              </a:rPr>
              <a:t>While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17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45" dirty="0">
                <a:solidFill>
                  <a:srgbClr val="FFFFFF"/>
                </a:solidFill>
                <a:latin typeface="Verdana"/>
                <a:cs typeface="Verdana"/>
              </a:rPr>
              <a:t>matrix</a:t>
            </a:r>
            <a:r>
              <a:rPr sz="2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organization</a:t>
            </a:r>
            <a:r>
              <a:rPr sz="22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combines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aspects</a:t>
            </a:r>
            <a:r>
              <a:rPr sz="22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both</a:t>
            </a:r>
            <a:r>
              <a:rPr sz="22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functional </a:t>
            </a:r>
            <a:r>
              <a:rPr sz="2200" spc="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2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Verdana"/>
                <a:cs typeface="Verdana"/>
              </a:rPr>
              <a:t>structures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/>
                <a:cs typeface="Verdana"/>
              </a:rPr>
              <a:t>such</a:t>
            </a:r>
            <a:r>
              <a:rPr sz="22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2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2200" b="1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30" dirty="0">
                <a:solidFill>
                  <a:srgbClr val="FFFFFF"/>
                </a:solidFill>
                <a:latin typeface="Tahoma"/>
                <a:cs typeface="Tahoma"/>
              </a:rPr>
              <a:t>members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90" dirty="0">
                <a:solidFill>
                  <a:srgbClr val="FFFFFF"/>
                </a:solidFill>
                <a:latin typeface="Tahoma"/>
                <a:cs typeface="Tahoma"/>
              </a:rPr>
              <a:t>report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50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22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80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2200" b="1" spc="-60" dirty="0">
                <a:solidFill>
                  <a:srgbClr val="FFFFFF"/>
                </a:solidFill>
                <a:latin typeface="Tahoma"/>
                <a:cs typeface="Tahoma"/>
              </a:rPr>
              <a:t>functional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r>
              <a:rPr sz="22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2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22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8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2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22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3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2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ahoma"/>
                <a:cs typeface="Tahoma"/>
              </a:rPr>
              <a:t>managers.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Department</a:t>
            </a:r>
            <a:r>
              <a:rPr spc="-100" dirty="0"/>
              <a:t> </a:t>
            </a:r>
            <a:r>
              <a:rPr spc="-185" dirty="0"/>
              <a:t>Structure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608" y="1272539"/>
            <a:ext cx="9977628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Department</a:t>
            </a:r>
            <a:r>
              <a:rPr spc="-100" dirty="0"/>
              <a:t> </a:t>
            </a:r>
            <a:r>
              <a:rPr spc="-185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474978"/>
            <a:ext cx="782002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Matrix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format: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flexible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resource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allocation,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efficient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knowledge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sharing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projects,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strong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focus,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though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it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lead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confusion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or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conflict</a:t>
            </a:r>
            <a:r>
              <a:rPr sz="24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due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competing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priorities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multiple managers.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7158" y="3090672"/>
            <a:ext cx="6187441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3709"/>
            <a:ext cx="20104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spc="-165" dirty="0">
                <a:latin typeface="Verdana"/>
                <a:cs typeface="Verdana"/>
              </a:rPr>
              <a:t>Benefits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617" y="1726438"/>
            <a:ext cx="8792210" cy="391223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6350" indent="-343535" algn="just">
              <a:lnSpc>
                <a:spcPts val="2160"/>
              </a:lnSpc>
              <a:spcBef>
                <a:spcPts val="37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59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Efficient</a:t>
            </a:r>
            <a:r>
              <a:rPr sz="20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knowledge</a:t>
            </a:r>
            <a:r>
              <a:rPr sz="2000" b="1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sharing:</a:t>
            </a:r>
            <a:r>
              <a:rPr sz="20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Specialists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 share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expertise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across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different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projects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functional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areas,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breaking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down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traditional practices.</a:t>
            </a:r>
            <a:endParaRPr sz="2000">
              <a:latin typeface="Verdana"/>
              <a:cs typeface="Verdana"/>
            </a:endParaRPr>
          </a:p>
          <a:p>
            <a:pPr marL="355600" marR="6985" indent="-343535" algn="just">
              <a:lnSpc>
                <a:spcPts val="2150"/>
              </a:lnSpc>
              <a:spcBef>
                <a:spcPts val="1019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95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b="1" spc="-70" dirty="0">
                <a:solidFill>
                  <a:srgbClr val="FFFFFF"/>
                </a:solidFill>
                <a:latin typeface="Tahoma"/>
                <a:cs typeface="Tahoma"/>
              </a:rPr>
              <a:t>Flexibility:</a:t>
            </a:r>
            <a:r>
              <a:rPr sz="2000" b="1" spc="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Resources</a:t>
            </a:r>
            <a:r>
              <a:rPr sz="2000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000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be</a:t>
            </a:r>
            <a:r>
              <a:rPr sz="2000" spc="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allocated</a:t>
            </a:r>
            <a:r>
              <a:rPr sz="2000" spc="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dynamically</a:t>
            </a:r>
            <a:r>
              <a:rPr sz="2000" spc="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000" spc="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needs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different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projects.</a:t>
            </a:r>
            <a:endParaRPr sz="2000">
              <a:latin typeface="Verdana"/>
              <a:cs typeface="Verdana"/>
            </a:endParaRPr>
          </a:p>
          <a:p>
            <a:pPr marL="355600" marR="5080" indent="-343535" algn="just">
              <a:lnSpc>
                <a:spcPts val="2160"/>
              </a:lnSpc>
              <a:spcBef>
                <a:spcPts val="100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5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Skill</a:t>
            </a:r>
            <a:r>
              <a:rPr sz="2000" b="1" spc="4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development:</a:t>
            </a:r>
            <a:r>
              <a:rPr sz="2000" b="1" spc="4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sz="2000" spc="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members</a:t>
            </a:r>
            <a:r>
              <a:rPr sz="2000" spc="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gain</a:t>
            </a:r>
            <a:r>
              <a:rPr sz="2000" spc="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valuable</a:t>
            </a:r>
            <a:r>
              <a:rPr sz="2000" spc="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experience</a:t>
            </a:r>
            <a:r>
              <a:rPr sz="2000" spc="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by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working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various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projects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interacting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different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teams.</a:t>
            </a:r>
            <a:endParaRPr sz="2000">
              <a:latin typeface="Verdana"/>
              <a:cs typeface="Verdana"/>
            </a:endParaRPr>
          </a:p>
          <a:p>
            <a:pPr marL="355600" marR="6350" indent="-343535" algn="just">
              <a:lnSpc>
                <a:spcPct val="90000"/>
              </a:lnSpc>
              <a:spcBef>
                <a:spcPts val="96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4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b="1" spc="-70" dirty="0">
                <a:solidFill>
                  <a:srgbClr val="FFFFFF"/>
                </a:solidFill>
                <a:latin typeface="Tahoma"/>
                <a:cs typeface="Tahoma"/>
              </a:rPr>
              <a:t>Strong</a:t>
            </a:r>
            <a:r>
              <a:rPr sz="2000" b="1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000" b="1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focus:</a:t>
            </a:r>
            <a:r>
              <a:rPr sz="2000" b="1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managers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focus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goals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while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functional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managers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focus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technical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details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long-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term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department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health.</a:t>
            </a:r>
            <a:endParaRPr sz="2000">
              <a:latin typeface="Verdana"/>
              <a:cs typeface="Verdana"/>
            </a:endParaRPr>
          </a:p>
          <a:p>
            <a:pPr marL="355600" marR="6350" indent="-343535" algn="just">
              <a:lnSpc>
                <a:spcPts val="2380"/>
              </a:lnSpc>
              <a:spcBef>
                <a:spcPts val="1035"/>
              </a:spcBef>
            </a:pPr>
            <a:r>
              <a:rPr sz="1750" spc="15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750" spc="42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Efficient</a:t>
            </a:r>
            <a:r>
              <a:rPr sz="2200" spc="48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handling</a:t>
            </a:r>
            <a:r>
              <a:rPr sz="2200" spc="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00" spc="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problems</a:t>
            </a:r>
            <a:r>
              <a:rPr sz="2200" spc="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associated</a:t>
            </a:r>
            <a:r>
              <a:rPr sz="2200" spc="48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200" spc="4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manpower turnover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628" rIns="0" bIns="0" rtlCol="0">
            <a:spAutoFit/>
          </a:bodyPr>
          <a:lstStyle/>
          <a:p>
            <a:pPr marL="556895">
              <a:lnSpc>
                <a:spcPct val="100000"/>
              </a:lnSpc>
              <a:spcBef>
                <a:spcPts val="100"/>
              </a:spcBef>
            </a:pPr>
            <a:r>
              <a:rPr sz="4200" b="0" spc="40" dirty="0">
                <a:latin typeface="Verdana"/>
                <a:cs typeface="Verdana"/>
              </a:rPr>
              <a:t>Drawback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81252" y="1161326"/>
            <a:ext cx="9305748" cy="3788434"/>
          </a:xfrm>
          <a:prstGeom prst="rect">
            <a:avLst/>
          </a:prstGeom>
        </p:spPr>
        <p:txBody>
          <a:bodyPr vert="horz" wrap="square" lIns="0" tIns="932395" rIns="0" bIns="0" rtlCol="0">
            <a:spAutoFit/>
          </a:bodyPr>
          <a:lstStyle/>
          <a:p>
            <a:pPr marL="556260" marR="390525" indent="-342900">
              <a:lnSpc>
                <a:spcPct val="100000"/>
              </a:lnSpc>
              <a:spcBef>
                <a:spcPts val="105"/>
              </a:spcBef>
              <a:tabLst>
                <a:tab pos="555625" algn="l"/>
              </a:tabLst>
            </a:pPr>
            <a:r>
              <a:rPr sz="160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b="1" spc="-60" dirty="0">
                <a:latin typeface="Tahoma"/>
                <a:cs typeface="Tahoma"/>
              </a:rPr>
              <a:t>Confusion:</a:t>
            </a:r>
            <a:r>
              <a:rPr b="1" spc="-15" dirty="0">
                <a:latin typeface="Tahoma"/>
                <a:cs typeface="Tahoma"/>
              </a:rPr>
              <a:t> </a:t>
            </a:r>
            <a:r>
              <a:rPr spc="-55" dirty="0"/>
              <a:t>Employees</a:t>
            </a:r>
            <a:r>
              <a:rPr spc="-150" dirty="0"/>
              <a:t> </a:t>
            </a:r>
            <a:r>
              <a:rPr spc="-25" dirty="0"/>
              <a:t>may</a:t>
            </a:r>
            <a:r>
              <a:rPr spc="-130" dirty="0"/>
              <a:t> </a:t>
            </a:r>
            <a:r>
              <a:rPr spc="95" dirty="0"/>
              <a:t>become</a:t>
            </a:r>
            <a:r>
              <a:rPr spc="-130" dirty="0"/>
              <a:t> </a:t>
            </a:r>
            <a:r>
              <a:rPr dirty="0"/>
              <a:t>confused</a:t>
            </a:r>
            <a:r>
              <a:rPr spc="-125" dirty="0"/>
              <a:t> </a:t>
            </a:r>
            <a:r>
              <a:rPr dirty="0"/>
              <a:t>when</a:t>
            </a:r>
            <a:r>
              <a:rPr spc="-125" dirty="0"/>
              <a:t> </a:t>
            </a:r>
            <a:r>
              <a:rPr spc="-10" dirty="0"/>
              <a:t>receiving </a:t>
            </a:r>
            <a:r>
              <a:rPr dirty="0"/>
              <a:t>conflicting</a:t>
            </a:r>
            <a:r>
              <a:rPr spc="-130" dirty="0"/>
              <a:t> </a:t>
            </a:r>
            <a:r>
              <a:rPr spc="-100" dirty="0"/>
              <a:t>instructions</a:t>
            </a:r>
            <a:r>
              <a:rPr spc="-160" dirty="0"/>
              <a:t> </a:t>
            </a:r>
            <a:r>
              <a:rPr spc="-85" dirty="0"/>
              <a:t>from</a:t>
            </a:r>
            <a:r>
              <a:rPr spc="-125" dirty="0"/>
              <a:t> </a:t>
            </a:r>
            <a:r>
              <a:rPr dirty="0"/>
              <a:t>two</a:t>
            </a:r>
            <a:r>
              <a:rPr spc="-175" dirty="0"/>
              <a:t> </a:t>
            </a:r>
            <a:r>
              <a:rPr spc="-25" dirty="0"/>
              <a:t>managers</a:t>
            </a:r>
            <a:r>
              <a:rPr spc="-155" dirty="0"/>
              <a:t> </a:t>
            </a:r>
            <a:r>
              <a:rPr spc="-50" dirty="0"/>
              <a:t>(Conflicts</a:t>
            </a:r>
            <a:r>
              <a:rPr spc="-114" dirty="0"/>
              <a:t> </a:t>
            </a:r>
            <a:r>
              <a:rPr spc="125" dirty="0"/>
              <a:t>can</a:t>
            </a:r>
            <a:r>
              <a:rPr spc="-120" dirty="0"/>
              <a:t> </a:t>
            </a:r>
            <a:r>
              <a:rPr spc="45" dirty="0"/>
              <a:t>occur between</a:t>
            </a:r>
            <a:r>
              <a:rPr spc="-155" dirty="0"/>
              <a:t> </a:t>
            </a:r>
            <a:r>
              <a:rPr spc="-10" dirty="0"/>
              <a:t>project</a:t>
            </a:r>
            <a:r>
              <a:rPr spc="-120" dirty="0"/>
              <a:t> </a:t>
            </a:r>
            <a:r>
              <a:rPr spc="-20" dirty="0"/>
              <a:t>managers</a:t>
            </a:r>
            <a:r>
              <a:rPr spc="-140" dirty="0"/>
              <a:t> </a:t>
            </a:r>
            <a:r>
              <a:rPr spc="70" dirty="0"/>
              <a:t>and</a:t>
            </a:r>
            <a:r>
              <a:rPr spc="-110" dirty="0"/>
              <a:t> </a:t>
            </a:r>
            <a:r>
              <a:rPr spc="-20" dirty="0"/>
              <a:t>functional</a:t>
            </a:r>
            <a:r>
              <a:rPr spc="-170" dirty="0"/>
              <a:t> </a:t>
            </a:r>
            <a:r>
              <a:rPr spc="-10" dirty="0"/>
              <a:t>managers)</a:t>
            </a:r>
            <a:endParaRPr dirty="0">
              <a:latin typeface="Tahoma"/>
              <a:cs typeface="Tahoma"/>
            </a:endParaRPr>
          </a:p>
          <a:p>
            <a:pPr marL="213360">
              <a:lnSpc>
                <a:spcPct val="100000"/>
              </a:lnSpc>
              <a:spcBef>
                <a:spcPts val="1010"/>
              </a:spcBef>
              <a:tabLst>
                <a:tab pos="555625" algn="l"/>
              </a:tabLst>
            </a:pPr>
            <a:r>
              <a:rPr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b="1" spc="-80" dirty="0">
                <a:latin typeface="Tahoma"/>
                <a:cs typeface="Tahoma"/>
              </a:rPr>
              <a:t>Frequent</a:t>
            </a:r>
            <a:r>
              <a:rPr b="1" spc="-5" dirty="0">
                <a:latin typeface="Tahoma"/>
                <a:cs typeface="Tahoma"/>
              </a:rPr>
              <a:t> </a:t>
            </a:r>
            <a:r>
              <a:rPr b="1" spc="-125" dirty="0">
                <a:latin typeface="Tahoma"/>
                <a:cs typeface="Tahoma"/>
              </a:rPr>
              <a:t>shifting</a:t>
            </a:r>
            <a:r>
              <a:rPr b="1" spc="-20" dirty="0">
                <a:latin typeface="Tahoma"/>
                <a:cs typeface="Tahoma"/>
              </a:rPr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75" dirty="0"/>
              <a:t>staff</a:t>
            </a:r>
            <a:r>
              <a:rPr spc="-175" dirty="0"/>
              <a:t> </a:t>
            </a:r>
            <a:r>
              <a:rPr dirty="0"/>
              <a:t>by</a:t>
            </a:r>
            <a:r>
              <a:rPr spc="-130" dirty="0"/>
              <a:t> </a:t>
            </a:r>
            <a:r>
              <a:rPr spc="-20" dirty="0"/>
              <a:t>functional</a:t>
            </a:r>
            <a:r>
              <a:rPr spc="-155" dirty="0"/>
              <a:t> </a:t>
            </a:r>
            <a:r>
              <a:rPr spc="-25" dirty="0"/>
              <a:t>managers</a:t>
            </a:r>
            <a:r>
              <a:rPr spc="-145" dirty="0"/>
              <a:t> </a:t>
            </a:r>
            <a:r>
              <a:rPr spc="-215" dirty="0"/>
              <a:t>is</a:t>
            </a:r>
            <a:r>
              <a:rPr spc="-120" dirty="0"/>
              <a:t> </a:t>
            </a:r>
            <a:r>
              <a:rPr spc="165" dirty="0"/>
              <a:t>a</a:t>
            </a:r>
            <a:r>
              <a:rPr spc="-145" dirty="0"/>
              <a:t> </a:t>
            </a:r>
            <a:r>
              <a:rPr spc="45" dirty="0"/>
              <a:t>concern</a:t>
            </a:r>
            <a:endParaRPr dirty="0">
              <a:latin typeface="Tahoma"/>
              <a:cs typeface="Tahoma"/>
            </a:endParaRPr>
          </a:p>
          <a:p>
            <a:pPr marL="556260" marR="313055" indent="-342900">
              <a:lnSpc>
                <a:spcPct val="100000"/>
              </a:lnSpc>
              <a:spcBef>
                <a:spcPts val="995"/>
              </a:spcBef>
              <a:tabLst>
                <a:tab pos="555625" algn="l"/>
              </a:tabLst>
            </a:pPr>
            <a:r>
              <a:rPr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b="1" spc="-95" dirty="0">
                <a:latin typeface="Tahoma"/>
                <a:cs typeface="Tahoma"/>
              </a:rPr>
              <a:t>Power</a:t>
            </a:r>
            <a:r>
              <a:rPr b="1" spc="-25" dirty="0">
                <a:latin typeface="Tahoma"/>
                <a:cs typeface="Tahoma"/>
              </a:rPr>
              <a:t> </a:t>
            </a:r>
            <a:r>
              <a:rPr b="1" spc="-95" dirty="0">
                <a:latin typeface="Tahoma"/>
                <a:cs typeface="Tahoma"/>
              </a:rPr>
              <a:t>struggles:</a:t>
            </a:r>
            <a:r>
              <a:rPr b="1" spc="-35" dirty="0">
                <a:latin typeface="Tahoma"/>
                <a:cs typeface="Tahoma"/>
              </a:rPr>
              <a:t> </a:t>
            </a:r>
            <a:r>
              <a:rPr spc="-114" dirty="0"/>
              <a:t>The</a:t>
            </a:r>
            <a:r>
              <a:rPr spc="-130" dirty="0"/>
              <a:t> </a:t>
            </a:r>
            <a:r>
              <a:rPr spc="80" dirty="0"/>
              <a:t>balance</a:t>
            </a:r>
            <a:r>
              <a:rPr spc="-14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power</a:t>
            </a:r>
            <a:r>
              <a:rPr spc="-150" dirty="0"/>
              <a:t> </a:t>
            </a:r>
            <a:r>
              <a:rPr spc="45" dirty="0"/>
              <a:t>between</a:t>
            </a:r>
            <a:r>
              <a:rPr spc="-160" dirty="0"/>
              <a:t> </a:t>
            </a:r>
            <a:r>
              <a:rPr spc="-20" dirty="0"/>
              <a:t>functional</a:t>
            </a:r>
            <a:r>
              <a:rPr spc="-155" dirty="0"/>
              <a:t> </a:t>
            </a:r>
            <a:r>
              <a:rPr spc="40" dirty="0"/>
              <a:t>and </a:t>
            </a:r>
            <a:r>
              <a:rPr spc="-10" dirty="0"/>
              <a:t>project</a:t>
            </a:r>
            <a:r>
              <a:rPr spc="-114" dirty="0"/>
              <a:t> </a:t>
            </a:r>
            <a:r>
              <a:rPr spc="-20" dirty="0"/>
              <a:t>managers</a:t>
            </a:r>
            <a:r>
              <a:rPr spc="-125" dirty="0"/>
              <a:t> </a:t>
            </a:r>
            <a:r>
              <a:rPr dirty="0"/>
              <a:t>needs</a:t>
            </a:r>
            <a:r>
              <a:rPr spc="-125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105" dirty="0"/>
              <a:t>be</a:t>
            </a:r>
            <a:r>
              <a:rPr spc="-105" dirty="0"/>
              <a:t> </a:t>
            </a:r>
            <a:r>
              <a:rPr dirty="0"/>
              <a:t>clear</a:t>
            </a:r>
            <a:r>
              <a:rPr spc="-135" dirty="0"/>
              <a:t> </a:t>
            </a:r>
            <a:r>
              <a:rPr spc="-10" dirty="0"/>
              <a:t>to</a:t>
            </a:r>
            <a:r>
              <a:rPr spc="-130" dirty="0"/>
              <a:t> </a:t>
            </a:r>
            <a:r>
              <a:rPr dirty="0"/>
              <a:t>avoid</a:t>
            </a:r>
            <a:r>
              <a:rPr spc="-100" dirty="0"/>
              <a:t> </a:t>
            </a:r>
            <a:r>
              <a:rPr spc="-10" dirty="0"/>
              <a:t>conflicts.</a:t>
            </a:r>
            <a:endParaRPr dirty="0">
              <a:latin typeface="Tahoma"/>
              <a:cs typeface="Tahoma"/>
            </a:endParaRPr>
          </a:p>
          <a:p>
            <a:pPr marL="213360">
              <a:lnSpc>
                <a:spcPct val="100000"/>
              </a:lnSpc>
              <a:spcBef>
                <a:spcPts val="994"/>
              </a:spcBef>
              <a:tabLst>
                <a:tab pos="555625" algn="l"/>
              </a:tabLst>
            </a:pPr>
            <a:r>
              <a:rPr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b="1" spc="-125" dirty="0">
                <a:latin typeface="Tahoma"/>
                <a:cs typeface="Tahoma"/>
              </a:rPr>
              <a:t>Work</a:t>
            </a:r>
            <a:r>
              <a:rPr b="1" spc="5" dirty="0">
                <a:latin typeface="Tahoma"/>
                <a:cs typeface="Tahoma"/>
              </a:rPr>
              <a:t> </a:t>
            </a:r>
            <a:r>
              <a:rPr b="1" spc="-25" dirty="0">
                <a:latin typeface="Tahoma"/>
                <a:cs typeface="Tahoma"/>
              </a:rPr>
              <a:t>overload:</a:t>
            </a:r>
            <a:r>
              <a:rPr b="1" spc="-20" dirty="0">
                <a:latin typeface="Tahoma"/>
                <a:cs typeface="Tahoma"/>
              </a:rPr>
              <a:t> </a:t>
            </a:r>
            <a:r>
              <a:rPr spc="-60" dirty="0"/>
              <a:t>Team</a:t>
            </a:r>
            <a:r>
              <a:rPr spc="-120" dirty="0"/>
              <a:t> </a:t>
            </a:r>
            <a:r>
              <a:rPr spc="-60" dirty="0"/>
              <a:t>members</a:t>
            </a:r>
            <a:r>
              <a:rPr spc="-140" dirty="0"/>
              <a:t> </a:t>
            </a:r>
            <a:r>
              <a:rPr spc="125" dirty="0"/>
              <a:t>can</a:t>
            </a:r>
            <a:r>
              <a:rPr spc="-100" dirty="0"/>
              <a:t> </a:t>
            </a:r>
            <a:r>
              <a:rPr spc="105" dirty="0"/>
              <a:t>be</a:t>
            </a:r>
            <a:r>
              <a:rPr spc="-125" dirty="0"/>
              <a:t> </a:t>
            </a:r>
            <a:r>
              <a:rPr dirty="0"/>
              <a:t>overloaded</a:t>
            </a:r>
            <a:r>
              <a:rPr spc="-125" dirty="0"/>
              <a:t> </a:t>
            </a:r>
            <a:r>
              <a:rPr spc="-75" dirty="0"/>
              <a:t>with</a:t>
            </a:r>
            <a:r>
              <a:rPr spc="-120" dirty="0"/>
              <a:t> </a:t>
            </a:r>
            <a:r>
              <a:rPr spc="-10" dirty="0"/>
              <a:t>demands</a:t>
            </a:r>
            <a:endParaRPr dirty="0">
              <a:latin typeface="Tahoma"/>
              <a:cs typeface="Tahoma"/>
            </a:endParaRPr>
          </a:p>
          <a:p>
            <a:pPr marL="556260">
              <a:lnSpc>
                <a:spcPct val="100000"/>
              </a:lnSpc>
            </a:pPr>
            <a:r>
              <a:rPr spc="-85" dirty="0"/>
              <a:t>from</a:t>
            </a:r>
            <a:r>
              <a:rPr spc="-95" dirty="0"/>
              <a:t> </a:t>
            </a:r>
            <a:r>
              <a:rPr spc="-70" dirty="0"/>
              <a:t>multiple</a:t>
            </a:r>
            <a:r>
              <a:rPr spc="-140" dirty="0"/>
              <a:t> </a:t>
            </a:r>
            <a:r>
              <a:rPr spc="-35" dirty="0"/>
              <a:t>managers,</a:t>
            </a:r>
            <a:r>
              <a:rPr spc="-145" dirty="0"/>
              <a:t> </a:t>
            </a:r>
            <a:r>
              <a:rPr spc="-40" dirty="0"/>
              <a:t>potentially</a:t>
            </a:r>
            <a:r>
              <a:rPr spc="-145" dirty="0"/>
              <a:t> </a:t>
            </a:r>
            <a:r>
              <a:rPr dirty="0"/>
              <a:t>leading</a:t>
            </a:r>
            <a:r>
              <a:rPr spc="-90" dirty="0"/>
              <a:t> </a:t>
            </a:r>
            <a:r>
              <a:rPr spc="-10" dirty="0"/>
              <a:t>to</a:t>
            </a:r>
            <a:r>
              <a:rPr spc="-125" dirty="0"/>
              <a:t> </a:t>
            </a:r>
            <a:r>
              <a:rPr spc="-10" dirty="0"/>
              <a:t>burnout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727" y="154304"/>
            <a:ext cx="3307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Team</a:t>
            </a:r>
            <a:r>
              <a:rPr spc="-190" dirty="0"/>
              <a:t> </a:t>
            </a:r>
            <a:r>
              <a:rPr spc="-195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845" y="1204086"/>
            <a:ext cx="10567035" cy="10102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Chief</a:t>
            </a:r>
            <a:r>
              <a:rPr sz="2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Programmer</a:t>
            </a:r>
            <a:r>
              <a:rPr sz="2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Team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(More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efficient</a:t>
            </a:r>
            <a:r>
              <a:rPr sz="240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small</a:t>
            </a:r>
            <a:r>
              <a:rPr sz="24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simple</a:t>
            </a: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projects)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spc="-70" dirty="0">
                <a:solidFill>
                  <a:srgbClr val="FFFFFF"/>
                </a:solidFill>
                <a:latin typeface="Tahoma"/>
                <a:cs typeface="Tahoma"/>
              </a:rPr>
              <a:t>Drawback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More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 responsibilities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Chief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programmer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4220" y="2534411"/>
            <a:ext cx="5076444" cy="39334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Team</a:t>
            </a:r>
            <a:r>
              <a:rPr spc="-190" dirty="0"/>
              <a:t> </a:t>
            </a:r>
            <a:r>
              <a:rPr spc="-195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474978"/>
            <a:ext cx="74904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Democratic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/>
                <a:cs typeface="Verdana"/>
              </a:rPr>
              <a:t>Team(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decisions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through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discussions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among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all)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9779" y="2630423"/>
            <a:ext cx="6091428" cy="33436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Team</a:t>
            </a:r>
            <a:r>
              <a:rPr spc="-190" dirty="0"/>
              <a:t> </a:t>
            </a:r>
            <a:r>
              <a:rPr spc="-195" dirty="0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474978"/>
            <a:ext cx="3338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Mixed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Control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367" y="1566672"/>
            <a:ext cx="4838699" cy="49347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3362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Coordination</a:t>
            </a:r>
            <a:r>
              <a:rPr spc="-185" dirty="0"/>
              <a:t> </a:t>
            </a:r>
            <a:r>
              <a:rPr spc="-10" dirty="0"/>
              <a:t>Dependencies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348105"/>
            <a:ext cx="6779895" cy="29819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Shared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/>
                <a:cs typeface="Verdana"/>
              </a:rPr>
              <a:t>resources 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technical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support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Producer-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(right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time)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/>
                <a:cs typeface="Verdana"/>
              </a:rPr>
              <a:t>relationships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235" dirty="0">
                <a:solidFill>
                  <a:srgbClr val="FFFFFF"/>
                </a:solidFill>
                <a:latin typeface="Verdana"/>
                <a:cs typeface="Verdana"/>
              </a:rPr>
              <a:t>Task-</a:t>
            </a:r>
            <a:r>
              <a:rPr sz="2400" spc="-120" dirty="0">
                <a:solidFill>
                  <a:srgbClr val="FFFFFF"/>
                </a:solidFill>
                <a:latin typeface="Verdana"/>
                <a:cs typeface="Verdana"/>
              </a:rPr>
              <a:t>subtask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dependencies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Accessibility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(right</a:t>
            </a:r>
            <a:r>
              <a:rPr sz="24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/>
                <a:cs typeface="Verdana"/>
              </a:rPr>
              <a:t>place)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dependencies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25" dirty="0">
                <a:solidFill>
                  <a:srgbClr val="FFFFFF"/>
                </a:solidFill>
                <a:latin typeface="Verdana"/>
                <a:cs typeface="Verdana"/>
              </a:rPr>
              <a:t>Usability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(right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thing)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dependencies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Fit</a:t>
            </a:r>
            <a:r>
              <a:rPr sz="24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requirements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727" y="154304"/>
            <a:ext cx="4871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Communication</a:t>
            </a:r>
            <a:r>
              <a:rPr spc="-135" dirty="0"/>
              <a:t> </a:t>
            </a:r>
            <a:r>
              <a:rPr spc="-114" dirty="0"/>
              <a:t>Plans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348105"/>
            <a:ext cx="2933700" cy="29819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What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Who/Target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Purpose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When/Frequency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Type/Method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Responsibility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7622" y="5221351"/>
            <a:ext cx="27552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1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orientation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People</a:t>
            </a:r>
            <a:r>
              <a:rPr sz="24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orientation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727" y="154304"/>
            <a:ext cx="2448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Leadership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6452" y="818769"/>
            <a:ext cx="9747885" cy="597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11430" indent="-342900" algn="just">
              <a:lnSpc>
                <a:spcPct val="100000"/>
              </a:lnSpc>
              <a:spcBef>
                <a:spcPts val="10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Coercive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b="1" spc="-285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2000" b="1" spc="21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force(treat)</a:t>
            </a:r>
            <a:r>
              <a:rPr sz="2000" b="1" spc="21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someone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do.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Ability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influence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someone's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behavior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through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threat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punishment</a:t>
            </a:r>
            <a:endParaRPr sz="2000" dirty="0">
              <a:latin typeface="Verdana"/>
              <a:cs typeface="Verdana"/>
            </a:endParaRPr>
          </a:p>
          <a:p>
            <a:pPr marL="354965" marR="10160" indent="-342900" algn="just">
              <a:lnSpc>
                <a:spcPct val="100000"/>
              </a:lnSpc>
              <a:spcBef>
                <a:spcPts val="99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155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Connection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those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power.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They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leverage</a:t>
            </a:r>
            <a:r>
              <a:rPr sz="200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their</a:t>
            </a:r>
            <a:r>
              <a:rPr sz="200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network</a:t>
            </a:r>
            <a:r>
              <a:rPr sz="2000" spc="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secure</a:t>
            </a:r>
            <a:r>
              <a:rPr sz="20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partnerships,</a:t>
            </a:r>
            <a:r>
              <a:rPr sz="200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gain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new</a:t>
            </a:r>
            <a:r>
              <a:rPr sz="200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clients,</a:t>
            </a:r>
            <a:r>
              <a:rPr sz="2000" spc="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000" spc="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find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funding.</a:t>
            </a:r>
            <a:endParaRPr sz="2000" dirty="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18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Legitimate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persons</a:t>
            </a:r>
            <a:r>
              <a:rPr sz="20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title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position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held</a:t>
            </a:r>
            <a:endParaRPr sz="2000" dirty="0">
              <a:latin typeface="Verdana"/>
              <a:cs typeface="Verdana"/>
            </a:endParaRPr>
          </a:p>
          <a:p>
            <a:pPr marL="354965" marR="8255" indent="-342900" algn="just">
              <a:lnSpc>
                <a:spcPct val="100000"/>
              </a:lnSpc>
              <a:spcBef>
                <a:spcPts val="994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10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Reward</a:t>
            </a:r>
            <a:r>
              <a:rPr sz="2000" spc="3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000" spc="3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3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3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ability</a:t>
            </a:r>
            <a:r>
              <a:rPr sz="2000" spc="3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000" spc="3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3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leader</a:t>
            </a:r>
            <a:r>
              <a:rPr sz="2000" spc="3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3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influence</a:t>
            </a:r>
            <a:r>
              <a:rPr sz="2000" spc="3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sz="2000" spc="3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000" spc="3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offering </a:t>
            </a:r>
            <a:r>
              <a:rPr sz="2000" b="1" spc="-70" dirty="0">
                <a:solidFill>
                  <a:srgbClr val="FFFFFF"/>
                </a:solidFill>
                <a:latin typeface="Tahoma"/>
                <a:cs typeface="Tahoma"/>
              </a:rPr>
              <a:t>positive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incentives</a:t>
            </a:r>
            <a:r>
              <a:rPr sz="20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rewards</a:t>
            </a: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(holder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give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rewards)</a:t>
            </a:r>
            <a:endParaRPr sz="2000" dirty="0">
              <a:latin typeface="Verdana"/>
              <a:cs typeface="Verdana"/>
            </a:endParaRPr>
          </a:p>
          <a:p>
            <a:pPr marL="354965" marR="6985" indent="-342900" algn="just">
              <a:lnSpc>
                <a:spcPct val="99800"/>
              </a:lnSpc>
              <a:spcBef>
                <a:spcPts val="101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Expert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ability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influence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sz="20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000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000" spc="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one's</a:t>
            </a:r>
            <a:r>
              <a:rPr sz="2000" spc="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specialized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knowledge,</a:t>
            </a:r>
            <a:r>
              <a:rPr sz="2000" b="1" spc="2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skills,</a:t>
            </a:r>
            <a:r>
              <a:rPr sz="2000" b="1" spc="2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000" b="1" spc="2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expertise</a:t>
            </a:r>
            <a:r>
              <a:rPr sz="2000" b="1" spc="2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000" b="1" spc="2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spc="1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b="1" spc="2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particular</a:t>
            </a:r>
            <a:r>
              <a:rPr sz="2000" b="1" spc="28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area</a:t>
            </a:r>
            <a:r>
              <a:rPr sz="2000" b="1" spc="29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(person</a:t>
            </a:r>
            <a:r>
              <a:rPr sz="2000" spc="17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specialization)</a:t>
            </a:r>
            <a:endParaRPr sz="2000" dirty="0">
              <a:latin typeface="Verdana"/>
              <a:cs typeface="Verdana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1005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80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Information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ability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influence</a:t>
            </a:r>
            <a:r>
              <a:rPr sz="2000" spc="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through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controlling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sharing</a:t>
            </a:r>
            <a:r>
              <a:rPr sz="20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valuable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information,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data,</a:t>
            </a:r>
            <a:r>
              <a:rPr sz="20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knowledge</a:t>
            </a:r>
            <a:r>
              <a:rPr sz="20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(has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exclusive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information)</a:t>
            </a:r>
            <a:endParaRPr sz="2000" dirty="0">
              <a:latin typeface="Verdana"/>
              <a:cs typeface="Verdana"/>
            </a:endParaRPr>
          </a:p>
          <a:p>
            <a:pPr marL="354965" marR="8255" indent="-342900" algn="just">
              <a:lnSpc>
                <a:spcPct val="100000"/>
              </a:lnSpc>
              <a:spcBef>
                <a:spcPts val="1000"/>
              </a:spcBef>
            </a:pPr>
            <a:r>
              <a:rPr sz="1600" spc="12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600" spc="5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Referent</a:t>
            </a:r>
            <a:r>
              <a:rPr sz="200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power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000" spc="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type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0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influence</a:t>
            </a:r>
            <a:r>
              <a:rPr sz="2000" spc="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0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stems</a:t>
            </a:r>
            <a:r>
              <a:rPr sz="20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leader's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personal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charisma,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/>
                <a:cs typeface="Verdana"/>
              </a:rPr>
              <a:t>integrity,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friendliness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000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inspires</a:t>
            </a:r>
            <a:r>
              <a:rPr sz="20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follow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them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out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respect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admiration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FFFFFF"/>
                </a:solidFill>
                <a:latin typeface="Verdana"/>
                <a:cs typeface="Verdana"/>
              </a:rPr>
              <a:t>(inspire</a:t>
            </a:r>
            <a:r>
              <a:rPr sz="20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sz="20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leadership)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C7A7E-E571-1FEB-1836-42422FD1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5849"/>
            <a:ext cx="8253873" cy="612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83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368C5-7FD5-B2C3-B186-E04A53F33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-76200"/>
            <a:ext cx="5424905" cy="6781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F6C47-7F3E-E06C-CA9D-F3549684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-152400"/>
            <a:ext cx="7467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26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521" y="1526794"/>
            <a:ext cx="180975" cy="1657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Leadership</a:t>
            </a:r>
            <a:r>
              <a:rPr spc="-190" dirty="0"/>
              <a:t> </a:t>
            </a:r>
            <a:r>
              <a:rPr spc="-170" dirty="0"/>
              <a:t>Styles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6817" y="1348105"/>
            <a:ext cx="9265920" cy="30943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Directive</a:t>
            </a:r>
            <a:r>
              <a:rPr sz="24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autocrat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4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decisions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alone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close</a:t>
            </a:r>
            <a:r>
              <a:rPr sz="24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supervision</a:t>
            </a:r>
            <a:endParaRPr sz="2400" dirty="0">
              <a:latin typeface="Verdana"/>
              <a:cs typeface="Verdana"/>
            </a:endParaRPr>
          </a:p>
          <a:p>
            <a:pPr marL="355600" marR="8890" indent="-343535">
              <a:lnSpc>
                <a:spcPct val="100000"/>
              </a:lnSpc>
              <a:spcBef>
                <a:spcPts val="1000"/>
              </a:spcBef>
              <a:tabLst>
                <a:tab pos="354965" algn="l"/>
                <a:tab pos="2002789" algn="l"/>
                <a:tab pos="3465829" algn="l"/>
                <a:tab pos="3733165" algn="l"/>
                <a:tab pos="4744720" algn="l"/>
                <a:tab pos="6259830" algn="l"/>
                <a:tab pos="7360284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Permissive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autocrat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34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decisions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alone,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subordinates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freedom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4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implementation</a:t>
            </a:r>
            <a:endParaRPr sz="2400" dirty="0">
              <a:latin typeface="Verdana"/>
              <a:cs typeface="Verdana"/>
            </a:endParaRPr>
          </a:p>
          <a:p>
            <a:pPr marL="355600" marR="8890" indent="-343535">
              <a:lnSpc>
                <a:spcPct val="100000"/>
              </a:lnSpc>
              <a:spcBef>
                <a:spcPts val="994"/>
              </a:spcBef>
              <a:tabLst>
                <a:tab pos="354965" algn="l"/>
                <a:tab pos="4621530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Directive</a:t>
            </a:r>
            <a:r>
              <a:rPr sz="2400" spc="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democrat</a:t>
            </a:r>
            <a:r>
              <a:rPr sz="2400" b="1" spc="25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9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400" spc="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	decisions</a:t>
            </a:r>
            <a:r>
              <a:rPr sz="2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FFFFFF"/>
                </a:solidFill>
                <a:latin typeface="Tahoma"/>
                <a:cs typeface="Tahoma"/>
              </a:rPr>
              <a:t>participatively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close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supervision</a:t>
            </a:r>
            <a:endParaRPr sz="24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1010"/>
              </a:spcBef>
              <a:tabLst>
                <a:tab pos="354965" algn="l"/>
                <a:tab pos="2126615" algn="l"/>
                <a:tab pos="3909695" algn="l"/>
                <a:tab pos="4298315" algn="l"/>
                <a:tab pos="5430520" algn="l"/>
                <a:tab pos="7067550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Permissive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democrat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34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decisions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participatively,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subordinates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freedom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implementation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0F41-C1A7-14C3-6FC0-A68BB3E8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BF4F6-D034-0D52-D575-6136F7755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563ED-1D81-88CA-0DFD-6E279C70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6172200" cy="678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24D343-D9BE-B7B7-AA33-B563EADD6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76200"/>
            <a:ext cx="64008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7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1585</Words>
  <Application>Microsoft Office PowerPoint</Application>
  <PresentationFormat>Widescreen</PresentationFormat>
  <Paragraphs>168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Lucida Sans Unicode</vt:lpstr>
      <vt:lpstr>Tahoma</vt:lpstr>
      <vt:lpstr>Times New Roman</vt:lpstr>
      <vt:lpstr>Verdana</vt:lpstr>
      <vt:lpstr>Office Theme</vt:lpstr>
      <vt:lpstr>Working In Teams Module VI</vt:lpstr>
      <vt:lpstr>Introduction</vt:lpstr>
      <vt:lpstr>Communication Plan</vt:lpstr>
      <vt:lpstr>Becoming a Team- how teams are formed?</vt:lpstr>
      <vt:lpstr>▶ Different types of people in a team to balance (Belbin)</vt:lpstr>
      <vt:lpstr>Group Performance</vt:lpstr>
      <vt:lpstr>Decision Making</vt:lpstr>
      <vt:lpstr>Group Decision Making</vt:lpstr>
      <vt:lpstr>Obstacles to group decision making</vt:lpstr>
      <vt:lpstr>Measures to reduce the disadvantages of group decision (Delphi technique)</vt:lpstr>
      <vt:lpstr>Organization and Team Structures</vt:lpstr>
      <vt:lpstr>Department Structure</vt:lpstr>
      <vt:lpstr>Department Structure</vt:lpstr>
      <vt:lpstr>Department Structure</vt:lpstr>
      <vt:lpstr>Benefits</vt:lpstr>
      <vt:lpstr>Drawback</vt:lpstr>
      <vt:lpstr>Team Structure</vt:lpstr>
      <vt:lpstr>Team Structure</vt:lpstr>
      <vt:lpstr>Team Structure</vt:lpstr>
      <vt:lpstr>Coordination Dependencies</vt:lpstr>
      <vt:lpstr>Communication Plans</vt:lpstr>
      <vt:lpstr>Leadership</vt:lpstr>
      <vt:lpstr>PowerPoint Presentation</vt:lpstr>
      <vt:lpstr>PowerPoint Presentation</vt:lpstr>
      <vt:lpstr>Leadership Styles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Wise Project Planning</dc:title>
  <dc:creator>Admin</dc:creator>
  <cp:lastModifiedBy>santhi navaganesh</cp:lastModifiedBy>
  <cp:revision>7</cp:revision>
  <dcterms:created xsi:type="dcterms:W3CDTF">2026-03-29T12:04:39Z</dcterms:created>
  <dcterms:modified xsi:type="dcterms:W3CDTF">2026-03-31T07:54:20Z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2026-03-29T00:00:00Z</vt:filetime>
  </property>
  <property fmtid="{D5CDD505-2E9C-101B-9397-08002B2CF9AE}" pid="5" name="Producer">
    <vt:lpwstr>Microsoft® PowerPoint® 2013</vt:lpwstr>
  </property>
</Properties>
</file>