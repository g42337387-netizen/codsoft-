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4785" y="1612849"/>
            <a:ext cx="6686550" cy="1301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578" y="215900"/>
            <a:ext cx="10222204" cy="112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1154" y="1706626"/>
            <a:ext cx="9579610" cy="287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cs=0&amp;sca_esv=b1dd116babca6fd0&amp;sxsrf=AE3TifP3Qapt_g2gVcKMoNO5nD8aboDsPQ%3A1761542746571&amp;q=motivation-hygiene%2Btheory&amp;sa=X&amp;ved=2ahUKEwjLs4qN0sOQAxVc3TgGHS7yC70QxccNegQIBBAB&amp;mstk=AUtExfCIRKp3bQYG2SoBeZfxRmQM2DAnOep5Zkuo7NZkhA40a8j9p_MWQu5iWXDOGfECOsJCsSt8spm9dOG00NDfKd1RmX-wDqjJqW8tMt05m3N5lulSkc4QeYQszN-77t0IODDHhtBopR__X9tI-HBsv2poHoxbfLhp19EK9LWeqsp9Xkc&amp;csui=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772920" marR="5080" indent="-1760855">
              <a:lnSpc>
                <a:spcPts val="4750"/>
              </a:lnSpc>
              <a:spcBef>
                <a:spcPts val="705"/>
              </a:spcBef>
            </a:pPr>
            <a:r>
              <a:rPr dirty="0"/>
              <a:t>Managing</a:t>
            </a:r>
            <a:r>
              <a:rPr spc="-35" dirty="0"/>
              <a:t> </a:t>
            </a:r>
            <a:r>
              <a:rPr dirty="0"/>
              <a:t>People</a:t>
            </a:r>
            <a:r>
              <a:rPr spc="-20" dirty="0"/>
              <a:t> </a:t>
            </a:r>
            <a:r>
              <a:rPr dirty="0"/>
              <a:t>in </a:t>
            </a:r>
            <a:r>
              <a:rPr spc="-10" dirty="0"/>
              <a:t>Software 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5446" y="3424173"/>
            <a:ext cx="24834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imes New Roman"/>
                <a:cs typeface="Times New Roman"/>
              </a:rPr>
              <a:t>Module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spc="-25" dirty="0">
                <a:latin typeface="Times New Roman"/>
                <a:cs typeface="Times New Roman"/>
              </a:rPr>
              <a:t>VI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0964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imes New Roman"/>
                <a:cs typeface="Times New Roman"/>
              </a:rPr>
              <a:t>Main</a:t>
            </a:r>
            <a:r>
              <a:rPr sz="4000" b="1" spc="-9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Concerns</a:t>
            </a:r>
            <a:r>
              <a:rPr sz="4000" b="1" spc="-6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during</a:t>
            </a:r>
            <a:r>
              <a:rPr sz="4000" b="1" spc="-8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the</a:t>
            </a:r>
            <a:r>
              <a:rPr sz="4000" b="1" spc="-8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course</a:t>
            </a:r>
            <a:r>
              <a:rPr sz="4000" b="1" spc="-8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of</a:t>
            </a:r>
            <a:r>
              <a:rPr sz="4000" b="1" spc="-9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a</a:t>
            </a:r>
            <a:r>
              <a:rPr sz="4000" b="1" spc="-8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project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281" y="2016148"/>
            <a:ext cx="294068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Staff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Selection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Staff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Development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Staff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Motivation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Staff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Well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3459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727" y="356996"/>
            <a:ext cx="4816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libri Light"/>
                <a:cs typeface="Calibri Light"/>
              </a:rPr>
              <a:t>Stepwise</a:t>
            </a:r>
            <a:r>
              <a:rPr sz="3600" spc="-175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Planning</a:t>
            </a:r>
            <a:r>
              <a:rPr sz="3600" spc="-17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for</a:t>
            </a:r>
            <a:r>
              <a:rPr sz="3600" spc="-16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Staff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4824" y="1167536"/>
            <a:ext cx="10560050" cy="49498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dirty="0">
                <a:latin typeface="Calibri"/>
                <a:cs typeface="Calibri"/>
              </a:rPr>
              <a:t>Steps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7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Scope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Objectives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Objectives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Health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Safety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staff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during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Infrastructure</a:t>
            </a:r>
            <a:endParaRPr sz="2200">
              <a:latin typeface="Calibri"/>
              <a:cs typeface="Calibri"/>
            </a:endParaRPr>
          </a:p>
          <a:p>
            <a:pPr marL="756285" lvl="1" indent="-342900">
              <a:lnSpc>
                <a:spcPts val="2055"/>
              </a:lnSpc>
              <a:spcBef>
                <a:spcPts val="60"/>
              </a:spcBef>
              <a:buFont typeface="Arial MT"/>
              <a:buChar char="•"/>
              <a:tabLst>
                <a:tab pos="756285" algn="l"/>
              </a:tabLst>
            </a:pPr>
            <a:r>
              <a:rPr sz="1900" dirty="0">
                <a:latin typeface="Calibri"/>
                <a:cs typeface="Calibri"/>
              </a:rPr>
              <a:t>Although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project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leaders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might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little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control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organizational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structure</a:t>
            </a:r>
            <a:r>
              <a:rPr sz="1900" b="1" spc="-10" dirty="0">
                <a:latin typeface="Calibri"/>
                <a:cs typeface="Calibri"/>
              </a:rPr>
              <a:t>,</a:t>
            </a:r>
            <a:r>
              <a:rPr sz="1900" b="1" spc="-7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they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need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to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be</a:t>
            </a:r>
            <a:endParaRPr sz="1900">
              <a:latin typeface="Calibri"/>
              <a:cs typeface="Calibri"/>
            </a:endParaRPr>
          </a:p>
          <a:p>
            <a:pPr marL="756285">
              <a:lnSpc>
                <a:spcPts val="2055"/>
              </a:lnSpc>
            </a:pPr>
            <a:r>
              <a:rPr sz="1900" b="1" spc="-10" dirty="0">
                <a:latin typeface="Calibri"/>
                <a:cs typeface="Calibri"/>
              </a:rPr>
              <a:t>aware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of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its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implications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4-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Activities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scope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will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enhance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staff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motivation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Activity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Risks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Many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risks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project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success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related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staffing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identified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Allocate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</a:t>
            </a:r>
            <a:endParaRPr sz="2200">
              <a:latin typeface="Calibri"/>
              <a:cs typeface="Calibri"/>
            </a:endParaRPr>
          </a:p>
          <a:p>
            <a:pPr marL="698500" marR="160655" lvl="1" indent="-229235">
              <a:lnSpc>
                <a:spcPts val="192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qualities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individual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members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staff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staff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activities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ts val="216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NOTE: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(Step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0-select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3-</a:t>
            </a:r>
            <a:r>
              <a:rPr sz="2000" dirty="0">
                <a:latin typeface="Calibri"/>
                <a:cs typeface="Calibri"/>
              </a:rPr>
              <a:t>analyse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characteristics,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5-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effort,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8-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publicize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plan)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3459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661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Understanding</a:t>
            </a:r>
            <a:r>
              <a:rPr sz="3600" spc="-215" dirty="0"/>
              <a:t> </a:t>
            </a:r>
            <a:r>
              <a:rPr sz="3600" spc="-10" dirty="0"/>
              <a:t>Behaviour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56817" y="1344308"/>
            <a:ext cx="10502900" cy="28378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People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practical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experience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aspect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4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individual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behavior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development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40"/>
              </a:lnSpc>
            </a:pPr>
            <a:r>
              <a:rPr sz="2400" b="1" dirty="0">
                <a:latin typeface="Times New Roman"/>
                <a:cs typeface="Times New Roman"/>
              </a:rPr>
              <a:t>environments,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adopt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methods.</a:t>
            </a:r>
            <a:endParaRPr sz="2400">
              <a:latin typeface="Times New Roman"/>
              <a:cs typeface="Times New Roman"/>
            </a:endParaRPr>
          </a:p>
          <a:p>
            <a:pPr marL="239395" marR="49530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Positivist</a:t>
            </a:r>
            <a:r>
              <a:rPr sz="2400" b="1" spc="-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Approach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input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output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on 	</a:t>
            </a:r>
            <a:r>
              <a:rPr sz="2400" b="1" spc="-10" dirty="0">
                <a:latin typeface="Times New Roman"/>
                <a:cs typeface="Times New Roman"/>
              </a:rPr>
              <a:t>experimentation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Organizational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explains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people’s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behavior.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“If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situation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i="1" dirty="0">
                <a:latin typeface="Times New Roman"/>
                <a:cs typeface="Times New Roman"/>
              </a:rPr>
              <a:t>likely</a:t>
            </a:r>
            <a:r>
              <a:rPr sz="2400" i="1" spc="-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result”.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(Generally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-10" dirty="0">
                <a:latin typeface="Times New Roman"/>
                <a:cs typeface="Times New Roman"/>
              </a:rPr>
              <a:t> follow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3459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0742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Organizational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Behaviour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175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A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6817" y="1344308"/>
            <a:ext cx="8763000" cy="27628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30" dirty="0">
                <a:latin typeface="Times New Roman"/>
                <a:cs typeface="Times New Roman"/>
              </a:rPr>
              <a:t>Taylor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suggested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basic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30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best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people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job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30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instruct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best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methods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3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incentives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workers.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(“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pay”)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3459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279" y="311607"/>
            <a:ext cx="6447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Organizational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Behaviour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175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A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Background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5434" y="971676"/>
            <a:ext cx="10295255" cy="552450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400" spc="-3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attitudes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labelled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Theory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Donald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McGregor: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Theory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X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holds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that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 err="1">
                <a:latin typeface="Times New Roman"/>
                <a:cs typeface="Times New Roman"/>
              </a:rPr>
              <a:t>i</a:t>
            </a:r>
            <a:r>
              <a:rPr lang="en-IN" sz="2400" b="1" dirty="0">
                <a:latin typeface="Times New Roman"/>
                <a:cs typeface="Times New Roman"/>
              </a:rPr>
              <a:t>n</a:t>
            </a:r>
            <a:r>
              <a:rPr sz="2400" b="1" dirty="0" err="1">
                <a:latin typeface="Times New Roman"/>
                <a:cs typeface="Times New Roman"/>
              </a:rPr>
              <a:t>nate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dislike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work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therefore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coercion(pressure),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direction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control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avoid</a:t>
            </a:r>
            <a:r>
              <a:rPr sz="2400" b="1" spc="-10" dirty="0">
                <a:latin typeface="Times New Roman"/>
                <a:cs typeface="Times New Roman"/>
              </a:rPr>
              <a:t> responsibility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Theory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Y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holds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5" dirty="0">
                <a:latin typeface="Times New Roman"/>
                <a:cs typeface="Times New Roman"/>
              </a:rPr>
              <a:t>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play;</a:t>
            </a:r>
            <a:endParaRPr sz="2400" dirty="0">
              <a:latin typeface="Times New Roman"/>
              <a:cs typeface="Times New Roman"/>
            </a:endParaRPr>
          </a:p>
          <a:p>
            <a:pPr marL="696595" marR="193040" lvl="1" indent="-227329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Times New Roman"/>
                <a:cs typeface="Times New Roman"/>
              </a:rPr>
              <a:t>External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controller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coercion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only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ways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bringing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about 	</a:t>
            </a:r>
            <a:r>
              <a:rPr sz="2400" b="1" dirty="0">
                <a:latin typeface="Times New Roman"/>
                <a:cs typeface="Times New Roman"/>
              </a:rPr>
              <a:t>effort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towards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organization’s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ends;</a:t>
            </a:r>
            <a:endParaRPr sz="2400" dirty="0">
              <a:latin typeface="Times New Roman"/>
              <a:cs typeface="Times New Roman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1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Times New Roman"/>
                <a:cs typeface="Times New Roman"/>
              </a:rPr>
              <a:t>Commitment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function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rewards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associated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their 	achievement;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learn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accept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further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seek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responsibility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 dirty="0">
              <a:latin typeface="Times New Roman"/>
              <a:cs typeface="Times New Roman"/>
            </a:endParaRPr>
          </a:p>
          <a:p>
            <a:pPr marL="696595" marR="182880" lvl="1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exercise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imagination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other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creative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qualities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widely 	distributed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3459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877" y="266471"/>
            <a:ext cx="10219690" cy="59975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200" b="1" dirty="0">
                <a:latin typeface="Times New Roman"/>
                <a:cs typeface="Times New Roman"/>
              </a:rPr>
              <a:t>Selecting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Right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Person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Job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Times New Roman"/>
                <a:cs typeface="Times New Roman"/>
              </a:rPr>
              <a:t>It’s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select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right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person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job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(Taylor).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experienced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programmer better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graduate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degree?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recruitment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process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241300" marR="215900" indent="-229235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  <a:tab pos="7895590" algn="l"/>
              </a:tabLst>
            </a:pPr>
            <a:r>
              <a:rPr sz="2200" b="1" dirty="0">
                <a:latin typeface="Times New Roman"/>
                <a:cs typeface="Times New Roman"/>
              </a:rPr>
              <a:t>Meredith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Belbin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distinguishes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”eligible”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“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suitable”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candidates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highlight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difference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candidate's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formal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qualifications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their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actual </a:t>
            </a:r>
            <a:r>
              <a:rPr sz="2200" b="1" dirty="0">
                <a:latin typeface="Times New Roman"/>
                <a:cs typeface="Times New Roman"/>
              </a:rPr>
              <a:t>behavioral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job</a:t>
            </a:r>
            <a:r>
              <a:rPr sz="2200" spc="-20" dirty="0">
                <a:latin typeface="Times New Roman"/>
                <a:cs typeface="Times New Roman"/>
              </a:rPr>
              <a:t>).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3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35" dirty="0">
                <a:latin typeface="Times New Roman"/>
                <a:cs typeface="Times New Roman"/>
              </a:rPr>
              <a:t>Over-</a:t>
            </a:r>
            <a:r>
              <a:rPr sz="2200" b="1" dirty="0">
                <a:latin typeface="Times New Roman"/>
                <a:cs typeface="Times New Roman"/>
              </a:rPr>
              <a:t>relying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eligibility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hiring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poor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fits,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prioritizing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suitability</a:t>
            </a:r>
            <a:r>
              <a:rPr sz="2200" spc="-10" dirty="0">
                <a:latin typeface="Times New Roman"/>
                <a:cs typeface="Times New Roman"/>
              </a:rPr>
              <a:t>—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training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skill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gaps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employee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retention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engagement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sz="2200" b="1" spc="-10" dirty="0">
                <a:latin typeface="Times New Roman"/>
                <a:cs typeface="Times New Roman"/>
              </a:rPr>
              <a:t>General</a:t>
            </a:r>
            <a:r>
              <a:rPr sz="2200" b="1" spc="-1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Approach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followed: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  <a:tab pos="3684270" algn="l"/>
              </a:tabLst>
            </a:pP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specification</a:t>
            </a:r>
            <a:r>
              <a:rPr sz="2200" dirty="0">
                <a:latin typeface="Times New Roman"/>
                <a:cs typeface="Times New Roman"/>
              </a:rPr>
              <a:t>	-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carried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out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holder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profile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qualities,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qualification,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education,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experience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Obtain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applicants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advertisement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Examine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CV’s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holders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profile</a:t>
            </a:r>
            <a:endParaRPr sz="2200">
              <a:latin typeface="Times New Roman"/>
              <a:cs typeface="Times New Roman"/>
            </a:endParaRPr>
          </a:p>
          <a:p>
            <a:pPr marL="698500" marR="365125" lvl="1" indent="-228600">
              <a:lnSpc>
                <a:spcPts val="238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Interviews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conduct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interviews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select.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Selection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‘aptitude </a:t>
            </a:r>
            <a:r>
              <a:rPr sz="2200" dirty="0">
                <a:latin typeface="Times New Roman"/>
                <a:cs typeface="Times New Roman"/>
              </a:rPr>
              <a:t>tests,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personality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tests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examination’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578" y="215900"/>
            <a:ext cx="2512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761" y="1265935"/>
            <a:ext cx="10455910" cy="4978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4254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Taylorist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rewards based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effort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team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relate 	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10" dirty="0">
                <a:latin typeface="Times New Roman"/>
                <a:cs typeface="Times New Roman"/>
              </a:rPr>
              <a:t> produced.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Maslow’s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(Psychologist)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hierarchy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needs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Motivating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individuals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vary-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eg.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strong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motivator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motivated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things 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life.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Also,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growth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needs-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interested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	</a:t>
            </a: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simple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way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earning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 living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  <a:tab pos="313245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Herzbeg’s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two-</a:t>
            </a:r>
            <a:r>
              <a:rPr sz="2400" b="1" spc="-10" dirty="0">
                <a:latin typeface="Times New Roman"/>
                <a:cs typeface="Times New Roman"/>
              </a:rPr>
              <a:t>factor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theory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satisfaction-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’motivation-</a:t>
            </a:r>
            <a:r>
              <a:rPr sz="24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hygiene</a:t>
            </a:r>
            <a:r>
              <a:rPr sz="2400" b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theory</a:t>
            </a:r>
            <a:r>
              <a:rPr sz="2400" b="1" spc="-10" dirty="0">
                <a:latin typeface="Times New Roman"/>
                <a:cs typeface="Times New Roman"/>
              </a:rPr>
              <a:t>’</a:t>
            </a:r>
            <a:endParaRPr sz="2400">
              <a:latin typeface="Times New Roman"/>
              <a:cs typeface="Times New Roman"/>
            </a:endParaRPr>
          </a:p>
          <a:p>
            <a:pPr marL="697230" marR="613410" lvl="1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Hygiene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factors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(like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salary,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security,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conditions)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prevent 	</a:t>
            </a:r>
            <a:r>
              <a:rPr sz="2400" dirty="0">
                <a:latin typeface="Times New Roman"/>
                <a:cs typeface="Times New Roman"/>
              </a:rPr>
              <a:t>dissatisfaction,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motivate,</a:t>
            </a:r>
            <a:endParaRPr sz="2400">
              <a:latin typeface="Times New Roman"/>
              <a:cs typeface="Times New Roman"/>
            </a:endParaRPr>
          </a:p>
          <a:p>
            <a:pPr marL="697230" marR="380365" lvl="1" indent="-227329" algn="just">
              <a:lnSpc>
                <a:spcPct val="90000"/>
              </a:lnSpc>
              <a:spcBef>
                <a:spcPts val="46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while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motivators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achievement,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recognition,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 itself)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	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satisfaction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Motivators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feel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sense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job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3875" rIns="0" bIns="0" rtlCol="0">
            <a:spAutoFit/>
          </a:bodyPr>
          <a:lstStyle/>
          <a:p>
            <a:pPr marL="695960">
              <a:lnSpc>
                <a:spcPct val="100000"/>
              </a:lnSpc>
              <a:spcBef>
                <a:spcPts val="105"/>
              </a:spcBef>
            </a:pPr>
            <a:r>
              <a:rPr dirty="0"/>
              <a:t>Expectancy</a:t>
            </a:r>
            <a:r>
              <a:rPr spc="-35" dirty="0"/>
              <a:t> </a:t>
            </a:r>
            <a:r>
              <a:rPr dirty="0"/>
              <a:t>theory</a:t>
            </a:r>
            <a:r>
              <a:rPr spc="-25" dirty="0"/>
              <a:t> </a:t>
            </a:r>
            <a:r>
              <a:rPr dirty="0"/>
              <a:t>of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522" y="1676780"/>
            <a:ext cx="9959975" cy="41294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Expectancy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motivational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suggests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</a:t>
            </a:r>
            <a:r>
              <a:rPr sz="2400" i="1" dirty="0">
                <a:latin typeface="Times New Roman"/>
                <a:cs typeface="Times New Roman"/>
              </a:rPr>
              <a:t>individuals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are 	</a:t>
            </a:r>
            <a:r>
              <a:rPr sz="2400" i="1" dirty="0">
                <a:latin typeface="Times New Roman"/>
                <a:cs typeface="Times New Roman"/>
              </a:rPr>
              <a:t>motivated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b="1" i="1" dirty="0">
                <a:latin typeface="Times New Roman"/>
                <a:cs typeface="Times New Roman"/>
              </a:rPr>
              <a:t>act</a:t>
            </a:r>
            <a:r>
              <a:rPr sz="2400" b="1" i="1" spc="-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based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on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their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belief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that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their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effort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will</a:t>
            </a:r>
            <a:r>
              <a:rPr sz="2400" b="1" i="1" spc="-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lead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spc="-20" dirty="0">
                <a:latin typeface="Times New Roman"/>
                <a:cs typeface="Times New Roman"/>
              </a:rPr>
              <a:t>good 	</a:t>
            </a:r>
            <a:r>
              <a:rPr sz="2400" b="1" i="1" dirty="0">
                <a:latin typeface="Times New Roman"/>
                <a:cs typeface="Times New Roman"/>
              </a:rPr>
              <a:t>performance,</a:t>
            </a:r>
            <a:r>
              <a:rPr sz="2400" b="1" i="1" spc="-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good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performance</a:t>
            </a:r>
            <a:r>
              <a:rPr sz="2400" b="1" i="1" spc="-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will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lead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desired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reward,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and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reward 	</a:t>
            </a:r>
            <a:r>
              <a:rPr sz="2400" b="1" i="1" dirty="0">
                <a:latin typeface="Times New Roman"/>
                <a:cs typeface="Times New Roman"/>
              </a:rPr>
              <a:t>itself</a:t>
            </a:r>
            <a:r>
              <a:rPr sz="2400" b="1" i="1" spc="-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is valuable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them’.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b="1" dirty="0">
                <a:latin typeface="Times New Roman"/>
                <a:cs typeface="Times New Roman"/>
              </a:rPr>
              <a:t>expectancy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theory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motivation</a:t>
            </a:r>
            <a:endParaRPr sz="2400">
              <a:latin typeface="Times New Roman"/>
              <a:cs typeface="Times New Roman"/>
            </a:endParaRPr>
          </a:p>
          <a:p>
            <a:pPr marL="696595" lvl="1" indent="-227329">
              <a:lnSpc>
                <a:spcPts val="2735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sz="2400" b="1" dirty="0">
                <a:latin typeface="Times New Roman"/>
                <a:cs typeface="Times New Roman"/>
              </a:rPr>
              <a:t>Expectancy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belief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working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harder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will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lead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</a:t>
            </a:r>
            <a:endParaRPr sz="2400">
              <a:latin typeface="Times New Roman"/>
              <a:cs typeface="Times New Roman"/>
            </a:endParaRPr>
          </a:p>
          <a:p>
            <a:pPr marL="697865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(e.g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person)</a:t>
            </a:r>
            <a:endParaRPr sz="2400">
              <a:latin typeface="Times New Roman"/>
              <a:cs typeface="Times New Roman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sz="2400" b="1" dirty="0">
                <a:latin typeface="Times New Roman"/>
                <a:cs typeface="Times New Roman"/>
              </a:rPr>
              <a:t>Instrumentality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belief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rewarded</a:t>
            </a:r>
            <a:endParaRPr sz="2400">
              <a:latin typeface="Times New Roman"/>
              <a:cs typeface="Times New Roman"/>
            </a:endParaRPr>
          </a:p>
          <a:p>
            <a:pPr marL="696595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sz="2400" b="1" dirty="0">
                <a:latin typeface="Times New Roman"/>
                <a:cs typeface="Times New Roman"/>
              </a:rPr>
              <a:t>Perceived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Value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bonus,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promotion,</a:t>
            </a:r>
            <a:r>
              <a:rPr sz="2400" spc="-25" dirty="0">
                <a:latin typeface="Times New Roman"/>
                <a:cs typeface="Times New Roman"/>
              </a:rPr>
              <a:t> etc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general,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motivation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will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high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when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factors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high.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zero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factors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remove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motivation.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67" y="324738"/>
            <a:ext cx="81114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The</a:t>
            </a:r>
            <a:r>
              <a:rPr sz="3200" spc="-30" dirty="0"/>
              <a:t> </a:t>
            </a:r>
            <a:r>
              <a:rPr sz="3200" dirty="0"/>
              <a:t>Oldham-Hackman</a:t>
            </a:r>
            <a:r>
              <a:rPr sz="3200" spc="-50" dirty="0"/>
              <a:t> </a:t>
            </a:r>
            <a:r>
              <a:rPr sz="3200" dirty="0"/>
              <a:t>Job</a:t>
            </a:r>
            <a:r>
              <a:rPr sz="3200" spc="-30" dirty="0"/>
              <a:t> </a:t>
            </a:r>
            <a:r>
              <a:rPr sz="3200" dirty="0"/>
              <a:t>Characteristics</a:t>
            </a:r>
            <a:r>
              <a:rPr sz="3200" spc="-45" dirty="0"/>
              <a:t> </a:t>
            </a:r>
            <a:r>
              <a:rPr sz="3200" spc="-10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5706" y="1076071"/>
            <a:ext cx="10560050" cy="4448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33985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together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elements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tasks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carried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out </a:t>
            </a:r>
            <a:r>
              <a:rPr sz="2400" b="1" dirty="0">
                <a:latin typeface="Times New Roman"/>
                <a:cs typeface="Times New Roman"/>
              </a:rPr>
              <a:t>so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form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meaningful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satisfying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assignments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Job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Satisfaction-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characteristics: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Skill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variety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skills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(combine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tasks)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Task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identity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assign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whole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projects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20" dirty="0">
                <a:latin typeface="Times New Roman"/>
                <a:cs typeface="Times New Roman"/>
              </a:rPr>
              <a:t>Task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significance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degree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influence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(link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outcomes)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Autonomy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discretion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(delegate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decision-</a:t>
            </a:r>
            <a:r>
              <a:rPr sz="2200" dirty="0">
                <a:latin typeface="Times New Roman"/>
                <a:cs typeface="Times New Roman"/>
              </a:rPr>
              <a:t>making,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ownership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(provide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feedback)</a:t>
            </a:r>
            <a:endParaRPr sz="22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Methods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improving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motivation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goals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staff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goals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progress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 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interesting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responsibility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469" y="620014"/>
            <a:ext cx="10206355" cy="431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Measures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enhance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design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30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enhance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organizations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strategies</a:t>
            </a:r>
            <a:endParaRPr sz="2400">
              <a:latin typeface="Times New Roman"/>
              <a:cs typeface="Times New Roman"/>
            </a:endParaRPr>
          </a:p>
          <a:p>
            <a:pPr marL="1612265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1612265" algn="l"/>
              </a:tabLst>
            </a:pP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rotation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responsibilities</a:t>
            </a:r>
            <a:endParaRPr sz="2400">
              <a:latin typeface="Times New Roman"/>
              <a:cs typeface="Times New Roman"/>
            </a:endParaRPr>
          </a:p>
          <a:p>
            <a:pPr marL="1612265" indent="-2279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612265" algn="l"/>
              </a:tabLst>
            </a:pP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enlargement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participation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roles</a:t>
            </a:r>
            <a:endParaRPr sz="2400">
              <a:latin typeface="Times New Roman"/>
              <a:cs typeface="Times New Roman"/>
            </a:endParaRPr>
          </a:p>
          <a:p>
            <a:pPr marL="16116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611630" algn="l"/>
              </a:tabLst>
            </a:pP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enrichment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autonomy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involve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Times New Roman"/>
                <a:cs typeface="Times New Roman"/>
              </a:rPr>
              <a:t>along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incorporating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feedback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mechanisms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fostering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collaborative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approach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involving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304165" marR="1353820" indent="-304165" algn="r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304165" algn="l"/>
              </a:tabLst>
            </a:pP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providing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autonomy,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skill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development</a:t>
            </a:r>
            <a:endParaRPr sz="2400">
              <a:latin typeface="Times New Roman"/>
              <a:cs typeface="Times New Roman"/>
            </a:endParaRPr>
          </a:p>
          <a:p>
            <a:pPr marR="1320800" algn="r">
              <a:lnSpc>
                <a:spcPts val="2735"/>
              </a:lnSpc>
            </a:pPr>
            <a:r>
              <a:rPr sz="2400" b="1" dirty="0">
                <a:latin typeface="Times New Roman"/>
                <a:cs typeface="Times New Roman"/>
              </a:rPr>
              <a:t>opportunities,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flexible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arrangements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boost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motivation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388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b="0" dirty="0">
                <a:latin typeface="Times New Roman"/>
                <a:cs typeface="Times New Roman"/>
              </a:rPr>
              <a:t>Projects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are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dirty="0"/>
              <a:t>about</a:t>
            </a:r>
            <a:r>
              <a:rPr spc="105" dirty="0"/>
              <a:t> </a:t>
            </a:r>
            <a:r>
              <a:rPr dirty="0"/>
              <a:t>overcoming</a:t>
            </a:r>
            <a:r>
              <a:rPr spc="110" dirty="0"/>
              <a:t> </a:t>
            </a:r>
            <a:r>
              <a:rPr dirty="0"/>
              <a:t>obstacles</a:t>
            </a:r>
            <a:r>
              <a:rPr spc="100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achieving</a:t>
            </a:r>
            <a:r>
              <a:rPr spc="110" dirty="0"/>
              <a:t> </a:t>
            </a:r>
            <a:r>
              <a:rPr dirty="0"/>
              <a:t>objectives</a:t>
            </a:r>
            <a:r>
              <a:rPr b="0" dirty="0">
                <a:latin typeface="Times New Roman"/>
                <a:cs typeface="Times New Roman"/>
              </a:rPr>
              <a:t>,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hence 	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manager</a:t>
            </a:r>
            <a:r>
              <a:rPr spc="-7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team</a:t>
            </a:r>
            <a:r>
              <a:rPr spc="-35" dirty="0"/>
              <a:t> </a:t>
            </a:r>
            <a:r>
              <a:rPr dirty="0"/>
              <a:t>members</a:t>
            </a:r>
            <a:r>
              <a:rPr spc="-4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under</a:t>
            </a:r>
            <a:r>
              <a:rPr spc="-60" dirty="0"/>
              <a:t> </a:t>
            </a:r>
            <a:r>
              <a:rPr spc="-10" dirty="0"/>
              <a:t>pressure.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Role</a:t>
            </a:r>
            <a:r>
              <a:rPr spc="-10" dirty="0"/>
              <a:t> </a:t>
            </a:r>
            <a:r>
              <a:rPr dirty="0"/>
              <a:t>ambiguity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role</a:t>
            </a:r>
            <a:r>
              <a:rPr spc="-15" dirty="0"/>
              <a:t> </a:t>
            </a:r>
            <a:r>
              <a:rPr dirty="0"/>
              <a:t>conflict</a:t>
            </a:r>
            <a:r>
              <a:rPr spc="-30" dirty="0"/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lead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10" dirty="0">
                <a:latin typeface="Times New Roman"/>
                <a:cs typeface="Times New Roman"/>
              </a:rPr>
              <a:t> stress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b="0" dirty="0">
                <a:latin typeface="Times New Roman"/>
                <a:cs typeface="Times New Roman"/>
              </a:rPr>
              <a:t>Many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software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developers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are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expected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dirty="0"/>
              <a:t>work</a:t>
            </a:r>
            <a:r>
              <a:rPr spc="10" dirty="0"/>
              <a:t> </a:t>
            </a:r>
            <a:r>
              <a:rPr dirty="0"/>
              <a:t>overtime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10" dirty="0"/>
              <a:t>projects.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Good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management</a:t>
            </a:r>
            <a:r>
              <a:rPr spc="-25" dirty="0"/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reduce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reliance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on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overtime.</a:t>
            </a:r>
          </a:p>
          <a:p>
            <a:pPr marL="240029" marR="571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Good</a:t>
            </a:r>
            <a:r>
              <a:rPr spc="60" dirty="0"/>
              <a:t> </a:t>
            </a:r>
            <a:r>
              <a:rPr dirty="0"/>
              <a:t>planning</a:t>
            </a:r>
            <a:r>
              <a:rPr spc="70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dirty="0"/>
              <a:t>control</a:t>
            </a:r>
            <a:r>
              <a:rPr spc="60" dirty="0"/>
              <a:t> </a:t>
            </a:r>
            <a:r>
              <a:rPr b="0" dirty="0">
                <a:latin typeface="Times New Roman"/>
                <a:cs typeface="Times New Roman"/>
              </a:rPr>
              <a:t>will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also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help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reduce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'unexpected'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problems 	</a:t>
            </a:r>
            <a:r>
              <a:rPr b="0" dirty="0">
                <a:latin typeface="Times New Roman"/>
                <a:cs typeface="Times New Roman"/>
              </a:rPr>
              <a:t>generating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unnecessary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crises.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7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5"/>
              </a:spcBef>
            </a:pPr>
            <a:r>
              <a:rPr dirty="0"/>
              <a:t>Health</a:t>
            </a:r>
            <a:r>
              <a:rPr spc="-25" dirty="0"/>
              <a:t> </a:t>
            </a:r>
            <a:r>
              <a:rPr dirty="0"/>
              <a:t>and </a:t>
            </a:r>
            <a:r>
              <a:rPr spc="-10"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615" y="1440560"/>
            <a:ext cx="11597640" cy="38620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68605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Safety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Policy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document-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procedures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brought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employees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appropriate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needed.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imes New Roman"/>
                <a:cs typeface="Times New Roman"/>
              </a:rPr>
              <a:t>Responsibility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Aspects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45" dirty="0">
                <a:latin typeface="Times New Roman"/>
                <a:cs typeface="Times New Roman"/>
              </a:rPr>
              <a:t>Top </a:t>
            </a:r>
            <a:r>
              <a:rPr sz="2400" b="1" dirty="0">
                <a:latin typeface="Times New Roman"/>
                <a:cs typeface="Times New Roman"/>
              </a:rPr>
              <a:t>management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must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committed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policy;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delegation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responsibilities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clear;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description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include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definitions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duties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related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safety;</a:t>
            </a:r>
            <a:endParaRPr sz="2400">
              <a:latin typeface="Times New Roman"/>
              <a:cs typeface="Times New Roman"/>
            </a:endParaRPr>
          </a:p>
          <a:p>
            <a:pPr marL="697230" marR="427355" lvl="1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responsibilities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delegated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responsibilities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	</a:t>
            </a:r>
            <a:r>
              <a:rPr sz="2400" dirty="0">
                <a:latin typeface="Times New Roman"/>
                <a:cs typeface="Times New Roman"/>
              </a:rPr>
              <a:t>agree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them;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Deployment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safety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officer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support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experts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particular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technical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areas;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Consultation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safety;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adequate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safety costs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essential.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1249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Calibri Light</vt:lpstr>
      <vt:lpstr>Times New Roman</vt:lpstr>
      <vt:lpstr>Office Theme</vt:lpstr>
      <vt:lpstr>Managing People in Software Environments</vt:lpstr>
      <vt:lpstr>Main Concerns during the course of a project</vt:lpstr>
      <vt:lpstr>Stepwise Planning for Staff</vt:lpstr>
      <vt:lpstr>Understanding Behaviour</vt:lpstr>
      <vt:lpstr>Organizational Behaviour : A Background</vt:lpstr>
      <vt:lpstr>Organizational Behaviour : A Background</vt:lpstr>
      <vt:lpstr>PowerPoint Presentation</vt:lpstr>
      <vt:lpstr>Motivation</vt:lpstr>
      <vt:lpstr>Expectancy theory of Motivation</vt:lpstr>
      <vt:lpstr>The Oldham-Hackman Job Characteristics Model</vt:lpstr>
      <vt:lpstr>PowerPoint Presentation</vt:lpstr>
      <vt:lpstr>Stress</vt:lpstr>
      <vt:lpstr>Health and Safety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Wise Project Planning</dc:title>
  <dc:creator>Admin</dc:creator>
  <cp:lastModifiedBy>santhi navaganesh</cp:lastModifiedBy>
  <cp:revision>2</cp:revision>
  <dcterms:created xsi:type="dcterms:W3CDTF">2026-03-30T01:41:20Z</dcterms:created>
  <dcterms:modified xsi:type="dcterms:W3CDTF">2026-03-30T09:47:19Z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2026-03-30T00:00:00Z</vt:filetime>
  </property>
  <property fmtid="{D5CDD505-2E9C-101B-9397-08002B2CF9AE}" pid="5" name="Producer">
    <vt:lpwstr>Microsoft® PowerPoint® 2013</vt:lpwstr>
  </property>
</Properties>
</file>