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24"/>
  </p:notesMasterIdLst>
  <p:sldIdLst>
    <p:sldId id="272" r:id="rId2"/>
    <p:sldId id="271" r:id="rId3"/>
    <p:sldId id="258" r:id="rId4"/>
    <p:sldId id="311" r:id="rId5"/>
    <p:sldId id="310" r:id="rId6"/>
    <p:sldId id="312" r:id="rId7"/>
    <p:sldId id="301" r:id="rId8"/>
    <p:sldId id="313" r:id="rId9"/>
    <p:sldId id="314" r:id="rId10"/>
    <p:sldId id="315" r:id="rId11"/>
    <p:sldId id="316" r:id="rId12"/>
    <p:sldId id="317" r:id="rId13"/>
    <p:sldId id="318" r:id="rId14"/>
    <p:sldId id="319" r:id="rId15"/>
    <p:sldId id="320" r:id="rId16"/>
    <p:sldId id="321" r:id="rId17"/>
    <p:sldId id="322" r:id="rId18"/>
    <p:sldId id="324" r:id="rId19"/>
    <p:sldId id="325" r:id="rId20"/>
    <p:sldId id="323" r:id="rId21"/>
    <p:sldId id="326" r:id="rId22"/>
    <p:sldId id="289" r:id="rId23"/>
  </p:sldIdLst>
  <p:sldSz cx="12192000" cy="6858000"/>
  <p:notesSz cx="6858000" cy="9144000"/>
  <p:embeddedFontLst>
    <p:embeddedFont>
      <p:font typeface="Nunito Sans" pitchFamily="2" charset="0"/>
      <p:regular r:id="rId25"/>
      <p:bold r:id="rId26"/>
      <p:italic r:id="rId27"/>
      <p:boldItalic r:id="rId28"/>
    </p:embeddedFont>
    <p:embeddedFont>
      <p:font typeface="Nunito Sans SemiBold" pitchFamily="2" charset="0"/>
      <p:bold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FBCBC3"/>
    <a:srgbClr val="303030"/>
    <a:srgbClr val="4A4A4A"/>
    <a:srgbClr val="3D3D3D"/>
    <a:srgbClr val="212121"/>
    <a:srgbClr val="000000"/>
    <a:srgbClr val="131313"/>
    <a:srgbClr val="F69180"/>
    <a:srgbClr val="FBD0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81548" autoAdjust="0"/>
  </p:normalViewPr>
  <p:slideViewPr>
    <p:cSldViewPr>
      <p:cViewPr varScale="1">
        <p:scale>
          <a:sx n="59" d="100"/>
          <a:sy n="59" d="100"/>
        </p:scale>
        <p:origin x="960" y="72"/>
      </p:cViewPr>
      <p:guideLst>
        <p:guide orient="horz" pos="2160"/>
        <p:guide pos="3840"/>
      </p:guideLst>
    </p:cSldViewPr>
  </p:slideViewPr>
  <p:notesTextViewPr>
    <p:cViewPr>
      <p:scale>
        <a:sx n="100" d="100"/>
        <a:sy n="100" d="100"/>
      </p:scale>
      <p:origin x="0" y="0"/>
    </p:cViewPr>
  </p:notesTextViewPr>
  <p:notesViewPr>
    <p:cSldViewPr>
      <p:cViewPr>
        <p:scale>
          <a:sx n="73" d="100"/>
          <a:sy n="73" d="100"/>
        </p:scale>
        <p:origin x="1589" y="-7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5/17/2024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670993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7933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3373426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Mother’s husband is my Father;</a:t>
            </a:r>
            <a:br>
              <a:rPr lang="en-US" dirty="0"/>
            </a:br>
            <a:r>
              <a:rPr lang="en-US" sz="1200" b="0" i="0" kern="1200" dirty="0">
                <a:solidFill>
                  <a:schemeClr val="tx1"/>
                </a:solidFill>
                <a:effectLst/>
                <a:latin typeface="+mn-lt"/>
                <a:ea typeface="+mn-ea"/>
                <a:cs typeface="+mn-cs"/>
              </a:rPr>
              <a:t>My Father’s mother is my Grandmother;</a:t>
            </a:r>
            <a:br>
              <a:rPr lang="en-US" dirty="0"/>
            </a:br>
            <a:r>
              <a:rPr lang="en-US" sz="1200" b="0" i="0" kern="1200" dirty="0">
                <a:solidFill>
                  <a:schemeClr val="tx1"/>
                </a:solidFill>
                <a:effectLst/>
                <a:latin typeface="+mn-lt"/>
                <a:ea typeface="+mn-ea"/>
                <a:cs typeface="+mn-cs"/>
              </a:rPr>
              <a:t>My Grandmother’s only son is my Father.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882856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The relation may be </a:t>
            </a:r>
            <a:r>
              <a:rPr lang="en-US" sz="1200" b="0" i="0" kern="1200" dirty="0" err="1">
                <a:solidFill>
                  <a:schemeClr val="tx1"/>
                </a:solidFill>
                <a:effectLst/>
                <a:latin typeface="+mn-lt"/>
                <a:ea typeface="+mn-ea"/>
                <a:cs typeface="+mn-cs"/>
              </a:rPr>
              <a:t>analysed</a:t>
            </a:r>
            <a:r>
              <a:rPr lang="en-US" sz="1200" b="0" i="0" kern="1200" dirty="0">
                <a:solidFill>
                  <a:schemeClr val="tx1"/>
                </a:solidFill>
                <a:effectLst/>
                <a:latin typeface="+mn-lt"/>
                <a:ea typeface="+mn-ea"/>
                <a:cs typeface="+mn-cs"/>
              </a:rPr>
              <a:t> as follows: Father’s wife is my mother, my mother’s sister is my aunt, My aunt’s daughter is my cousin. So, </a:t>
            </a:r>
            <a:r>
              <a:rPr lang="en-US" sz="1200" b="0" i="0" kern="1200" dirty="0" err="1">
                <a:solidFill>
                  <a:schemeClr val="tx1"/>
                </a:solidFill>
                <a:effectLst/>
                <a:latin typeface="+mn-lt"/>
                <a:ea typeface="+mn-ea"/>
                <a:cs typeface="+mn-cs"/>
              </a:rPr>
              <a:t>Rashmi</a:t>
            </a:r>
            <a:r>
              <a:rPr lang="en-US" sz="1200" b="0" i="0" kern="1200" dirty="0">
                <a:solidFill>
                  <a:schemeClr val="tx1"/>
                </a:solidFill>
                <a:effectLst/>
                <a:latin typeface="+mn-lt"/>
                <a:ea typeface="+mn-ea"/>
                <a:cs typeface="+mn-cs"/>
              </a:rPr>
              <a:t> is </a:t>
            </a:r>
            <a:r>
              <a:rPr lang="en-US" sz="1200" b="0" i="0" kern="1200" dirty="0" err="1">
                <a:solidFill>
                  <a:schemeClr val="tx1"/>
                </a:solidFill>
                <a:effectLst/>
                <a:latin typeface="+mn-lt"/>
                <a:ea typeface="+mn-ea"/>
                <a:cs typeface="+mn-cs"/>
              </a:rPr>
              <a:t>Anup’s</a:t>
            </a:r>
            <a:r>
              <a:rPr lang="en-US" sz="1200" b="0" i="0" kern="1200" dirty="0">
                <a:solidFill>
                  <a:schemeClr val="tx1"/>
                </a:solidFill>
                <a:effectLst/>
                <a:latin typeface="+mn-lt"/>
                <a:ea typeface="+mn-ea"/>
                <a:cs typeface="+mn-cs"/>
              </a:rPr>
              <a:t> cousin.</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2006096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Relation may be </a:t>
            </a:r>
            <a:r>
              <a:rPr lang="en-US" sz="1200" b="0" i="0" kern="1200" dirty="0" err="1">
                <a:solidFill>
                  <a:schemeClr val="tx1"/>
                </a:solidFill>
                <a:effectLst/>
                <a:latin typeface="+mn-lt"/>
                <a:ea typeface="+mn-ea"/>
                <a:cs typeface="+mn-cs"/>
              </a:rPr>
              <a:t>analysed</a:t>
            </a:r>
            <a:r>
              <a:rPr lang="en-US" sz="1200" b="0" i="0" kern="1200" dirty="0">
                <a:solidFill>
                  <a:schemeClr val="tx1"/>
                </a:solidFill>
                <a:effectLst/>
                <a:latin typeface="+mn-lt"/>
                <a:ea typeface="+mn-ea"/>
                <a:cs typeface="+mn-cs"/>
              </a:rPr>
              <a:t> as follows: Sisters brother is my Brother, my Brother’s father is my Father, My Father’s son is my Brother So the person in the photograph is </a:t>
            </a:r>
            <a:r>
              <a:rPr lang="en-US" sz="1200" b="0" i="0" kern="1200" dirty="0" err="1">
                <a:solidFill>
                  <a:schemeClr val="tx1"/>
                </a:solidFill>
                <a:effectLst/>
                <a:latin typeface="+mn-lt"/>
                <a:ea typeface="+mn-ea"/>
                <a:cs typeface="+mn-cs"/>
              </a:rPr>
              <a:t>Dhiya’s</a:t>
            </a:r>
            <a:r>
              <a:rPr lang="en-US" sz="1200" b="0" i="0" kern="1200" dirty="0">
                <a:solidFill>
                  <a:schemeClr val="tx1"/>
                </a:solidFill>
                <a:effectLst/>
                <a:latin typeface="+mn-lt"/>
                <a:ea typeface="+mn-ea"/>
                <a:cs typeface="+mn-cs"/>
              </a:rPr>
              <a:t> brother .</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1032142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My maternal uncle’s father is my grandfather. Grandfather's only daughter is my mother and I am her son. Raj is </a:t>
            </a:r>
            <a:r>
              <a:rPr lang="en-US" sz="1200" b="0" i="0" kern="1200" dirty="0" err="1">
                <a:solidFill>
                  <a:schemeClr val="tx1"/>
                </a:solidFill>
                <a:effectLst/>
                <a:latin typeface="+mn-lt"/>
                <a:ea typeface="+mn-ea"/>
                <a:cs typeface="+mn-cs"/>
              </a:rPr>
              <a:t>Priya’s</a:t>
            </a:r>
            <a:r>
              <a:rPr lang="en-US" sz="1200" b="0" i="0" kern="1200" dirty="0">
                <a:solidFill>
                  <a:schemeClr val="tx1"/>
                </a:solidFill>
                <a:effectLst/>
                <a:latin typeface="+mn-lt"/>
                <a:ea typeface="+mn-ea"/>
                <a:cs typeface="+mn-cs"/>
              </a:rPr>
              <a:t> brother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1600913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Since E is the sister of B</a:t>
            </a:r>
            <a:br>
              <a:rPr lang="en-US" dirty="0"/>
            </a:br>
            <a:r>
              <a:rPr lang="en-US" sz="1200" b="0" i="0" kern="1200" dirty="0">
                <a:solidFill>
                  <a:schemeClr val="tx1"/>
                </a:solidFill>
                <a:effectLst/>
                <a:latin typeface="+mn-lt"/>
                <a:ea typeface="+mn-ea"/>
                <a:cs typeface="+mn-cs"/>
              </a:rPr>
              <a:t>Therefore, A is the father of E</a:t>
            </a:r>
            <a:br>
              <a:rPr lang="en-US" dirty="0"/>
            </a:br>
            <a:r>
              <a:rPr lang="en-US" sz="1200" b="0" i="0" kern="1200" dirty="0">
                <a:solidFill>
                  <a:schemeClr val="tx1"/>
                </a:solidFill>
                <a:effectLst/>
                <a:latin typeface="+mn-lt"/>
                <a:ea typeface="+mn-ea"/>
                <a:cs typeface="+mn-cs"/>
              </a:rPr>
              <a:t>but D is the husband of E.</a:t>
            </a:r>
            <a:br>
              <a:rPr lang="en-US" dirty="0"/>
            </a:br>
            <a:r>
              <a:rPr lang="en-US" sz="1200" b="0" i="0" kern="1200" dirty="0">
                <a:solidFill>
                  <a:schemeClr val="tx1"/>
                </a:solidFill>
                <a:effectLst/>
                <a:latin typeface="+mn-lt"/>
                <a:ea typeface="+mn-ea"/>
                <a:cs typeface="+mn-cs"/>
              </a:rPr>
              <a:t>Hence, D is the son-in-law of A.</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368433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Only daughter of mother-in-law -&gt; wife i.e. boy’s mother is Santhosh’s wife. Santhosh is the father of the boy.</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1179053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Only daughter of mother-in-law -&gt; wife i.e. boy’s mother is Santhosh’s wife. Santhosh is the father of the boy.</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3783588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err="1">
                <a:solidFill>
                  <a:schemeClr val="tx1"/>
                </a:solidFill>
                <a:effectLst/>
                <a:latin typeface="+mn-lt"/>
                <a:ea typeface="+mn-ea"/>
                <a:cs typeface="+mn-cs"/>
              </a:rPr>
              <a:t>Meera</a:t>
            </a:r>
            <a:r>
              <a:rPr lang="en-US" sz="1200" b="0" i="0" kern="1200" dirty="0">
                <a:solidFill>
                  <a:schemeClr val="tx1"/>
                </a:solidFill>
                <a:effectLst/>
                <a:latin typeface="+mn-lt"/>
                <a:ea typeface="+mn-ea"/>
                <a:cs typeface="+mn-cs"/>
              </a:rPr>
              <a:t> is the daughter of the only son of </a:t>
            </a:r>
            <a:r>
              <a:rPr lang="en-US" sz="1200" b="0" i="0" kern="1200" dirty="0" err="1">
                <a:solidFill>
                  <a:schemeClr val="tx1"/>
                </a:solidFill>
                <a:effectLst/>
                <a:latin typeface="+mn-lt"/>
                <a:ea typeface="+mn-ea"/>
                <a:cs typeface="+mn-cs"/>
              </a:rPr>
              <a:t>Gokul’s</a:t>
            </a:r>
            <a:r>
              <a:rPr lang="en-US" sz="1200" b="0" i="0" kern="1200" dirty="0">
                <a:solidFill>
                  <a:schemeClr val="tx1"/>
                </a:solidFill>
                <a:effectLst/>
                <a:latin typeface="+mn-lt"/>
                <a:ea typeface="+mn-ea"/>
                <a:cs typeface="+mn-cs"/>
              </a:rPr>
              <a:t> grandfather, both maternal and paternal. Hence, it’s clear that </a:t>
            </a:r>
            <a:r>
              <a:rPr lang="en-US" sz="1200" b="0" i="0" kern="1200" dirty="0" err="1">
                <a:solidFill>
                  <a:schemeClr val="tx1"/>
                </a:solidFill>
                <a:effectLst/>
                <a:latin typeface="+mn-lt"/>
                <a:ea typeface="+mn-ea"/>
                <a:cs typeface="+mn-cs"/>
              </a:rPr>
              <a:t>Meera</a:t>
            </a:r>
            <a:r>
              <a:rPr lang="en-US" sz="1200" b="0" i="0" kern="1200" dirty="0">
                <a:solidFill>
                  <a:schemeClr val="tx1"/>
                </a:solidFill>
                <a:effectLst/>
                <a:latin typeface="+mn-lt"/>
                <a:ea typeface="+mn-ea"/>
                <a:cs typeface="+mn-cs"/>
              </a:rPr>
              <a:t> can be the sister or cousin of </a:t>
            </a:r>
            <a:r>
              <a:rPr lang="en-US" sz="1200" b="0" i="0" kern="1200" dirty="0" err="1">
                <a:solidFill>
                  <a:schemeClr val="tx1"/>
                </a:solidFill>
                <a:effectLst/>
                <a:latin typeface="+mn-lt"/>
                <a:ea typeface="+mn-ea"/>
                <a:cs typeface="+mn-cs"/>
              </a:rPr>
              <a:t>Gokul</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2491997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Sister of my uncle’s son is my uncle’s daughter, who is my cousin. i.e. The women is </a:t>
            </a:r>
            <a:r>
              <a:rPr lang="en-US" sz="1200" b="0" i="0" kern="1200" dirty="0" err="1">
                <a:solidFill>
                  <a:schemeClr val="tx1"/>
                </a:solidFill>
                <a:effectLst/>
                <a:latin typeface="+mn-lt"/>
                <a:ea typeface="+mn-ea"/>
                <a:cs typeface="+mn-cs"/>
              </a:rPr>
              <a:t>Sania’s</a:t>
            </a:r>
            <a:r>
              <a:rPr lang="en-US" sz="1200" b="0" i="0" kern="1200" dirty="0">
                <a:solidFill>
                  <a:schemeClr val="tx1"/>
                </a:solidFill>
                <a:effectLst/>
                <a:latin typeface="+mn-lt"/>
                <a:ea typeface="+mn-ea"/>
                <a:cs typeface="+mn-cs"/>
              </a:rPr>
              <a:t> cousin.</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324988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Neha is the daughter of Abhishek and </a:t>
            </a:r>
            <a:r>
              <a:rPr lang="en-US" sz="1200" b="0" i="0" kern="1200" dirty="0" err="1">
                <a:solidFill>
                  <a:schemeClr val="tx1"/>
                </a:solidFill>
                <a:effectLst/>
                <a:latin typeface="+mn-lt"/>
                <a:ea typeface="+mn-ea"/>
                <a:cs typeface="+mn-cs"/>
              </a:rPr>
              <a:t>Ruchi</a:t>
            </a:r>
            <a:r>
              <a:rPr lang="en-US" sz="1200" b="0" i="0" kern="1200" dirty="0">
                <a:solidFill>
                  <a:schemeClr val="tx1"/>
                </a:solidFill>
                <a:effectLst/>
                <a:latin typeface="+mn-lt"/>
                <a:ea typeface="+mn-ea"/>
                <a:cs typeface="+mn-cs"/>
              </a:rPr>
              <a:t>.</a:t>
            </a:r>
            <a:br>
              <a:rPr lang="en-US" dirty="0"/>
            </a:br>
            <a:r>
              <a:rPr lang="en-US" sz="1200" b="0" i="0" kern="1200" dirty="0" err="1">
                <a:solidFill>
                  <a:schemeClr val="tx1"/>
                </a:solidFill>
                <a:effectLst/>
                <a:latin typeface="+mn-lt"/>
                <a:ea typeface="+mn-ea"/>
                <a:cs typeface="+mn-cs"/>
              </a:rPr>
              <a:t>Abhiskek</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Ruchi</a:t>
            </a:r>
            <a:r>
              <a:rPr lang="en-US" sz="1200" b="0" i="0" kern="1200" dirty="0">
                <a:solidFill>
                  <a:schemeClr val="tx1"/>
                </a:solidFill>
                <a:effectLst/>
                <a:latin typeface="+mn-lt"/>
                <a:ea typeface="+mn-ea"/>
                <a:cs typeface="+mn-cs"/>
              </a:rPr>
              <a:t> are husband and wife respectively.</a:t>
            </a:r>
            <a:br>
              <a:rPr lang="en-US" dirty="0"/>
            </a:br>
            <a:r>
              <a:rPr lang="en-US" sz="1200" b="0" i="0" kern="1200" dirty="0" err="1">
                <a:solidFill>
                  <a:schemeClr val="tx1"/>
                </a:solidFill>
                <a:effectLst/>
                <a:latin typeface="+mn-lt"/>
                <a:ea typeface="+mn-ea"/>
                <a:cs typeface="+mn-cs"/>
              </a:rPr>
              <a:t>Awadhesh</a:t>
            </a:r>
            <a:r>
              <a:rPr lang="en-US" sz="1200" b="0" i="0" kern="1200" dirty="0">
                <a:solidFill>
                  <a:schemeClr val="tx1"/>
                </a:solidFill>
                <a:effectLst/>
                <a:latin typeface="+mn-lt"/>
                <a:ea typeface="+mn-ea"/>
                <a:cs typeface="+mn-cs"/>
              </a:rPr>
              <a:t> is the brother of Neha and hence, Abhishek is father of </a:t>
            </a:r>
            <a:r>
              <a:rPr lang="en-US" sz="1200" b="0" i="0" kern="1200" dirty="0" err="1">
                <a:solidFill>
                  <a:schemeClr val="tx1"/>
                </a:solidFill>
                <a:effectLst/>
                <a:latin typeface="+mn-lt"/>
                <a:ea typeface="+mn-ea"/>
                <a:cs typeface="+mn-cs"/>
              </a:rPr>
              <a:t>Awadhesh</a:t>
            </a:r>
            <a:r>
              <a:rPr lang="en-US" sz="1200" b="0" i="0" kern="1200" dirty="0">
                <a:solidFill>
                  <a:schemeClr val="tx1"/>
                </a:solidFill>
                <a:effectLst/>
                <a:latin typeface="+mn-lt"/>
                <a:ea typeface="+mn-ea"/>
                <a:cs typeface="+mn-cs"/>
              </a:rPr>
              <a:t>.</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1354876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Only son of my father is myself.</a:t>
            </a:r>
            <a:br>
              <a:rPr lang="en-US" dirty="0"/>
            </a:br>
            <a:r>
              <a:rPr lang="en-US" sz="1200" b="0" i="0" kern="1200" dirty="0">
                <a:solidFill>
                  <a:schemeClr val="tx1"/>
                </a:solidFill>
                <a:effectLst/>
                <a:latin typeface="+mn-lt"/>
                <a:ea typeface="+mn-ea"/>
                <a:cs typeface="+mn-cs"/>
              </a:rPr>
              <a:t>So the man is women’s father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2227352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Since the Ram is referring to his nephew, the nephew’s parent has to be a sibling to Ram. Now the last part says that the Ram’s sister has no other sister and hence the brother-sister relationship is established between the Ram and his nephew’s mother. Now the lady in the picture is the grandmother of the nephew and hence she is the mother of the Ram’s sister.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2691172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The woman’s maternal uncle and the uncle of the boy’s maternal uncle are the same. It implies that the women’s mother, woman’s maternal uncle and the boy’s maternal uncle’s parent are siblings. So the woman and the maternal uncle of the boy are cousins. So are the woman and the mother of the boy. As they are cousins, the boy is the woman’s nephew and the woman is the boy’s aunt. Or,</a:t>
            </a:r>
          </a:p>
          <a:p>
            <a:r>
              <a:rPr lang="en-US" sz="1200" b="0" i="0" kern="1200" dirty="0">
                <a:solidFill>
                  <a:schemeClr val="tx1"/>
                </a:solidFill>
                <a:effectLst/>
                <a:latin typeface="+mn-lt"/>
                <a:ea typeface="+mn-ea"/>
                <a:cs typeface="+mn-cs"/>
              </a:rPr>
              <a:t>The boy's maternal uncle can be his mother's (the woman herself) brother. Whose uncle is the woman's maternal uncle. So the relationship can be that of a mother and son.</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1939354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a:solidFill>
                  <a:schemeClr val="tx1"/>
                </a:solidFill>
                <a:effectLst/>
                <a:latin typeface="+mn-lt"/>
                <a:ea typeface="+mn-ea"/>
                <a:cs typeface="+mn-cs"/>
              </a:rPr>
              <a:t>From the given data we conclude that C is the father of B and A/D denotes that A is the daughter of D and D is the father of C, which makes A as B’s aunt.</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20</a:t>
            </a:fld>
            <a:endParaRPr lang="en-US"/>
          </a:p>
        </p:txBody>
      </p:sp>
    </p:spTree>
    <p:extLst>
      <p:ext uri="{BB962C8B-B14F-4D97-AF65-F5344CB8AC3E}">
        <p14:creationId xmlns:p14="http://schemas.microsoft.com/office/powerpoint/2010/main" val="3047097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F3M → F is the wife of M</a:t>
            </a:r>
            <a:br>
              <a:rPr lang="en-US" dirty="0"/>
            </a:br>
            <a:r>
              <a:rPr lang="en-US" sz="1200" b="0" i="0" kern="1200" dirty="0">
                <a:solidFill>
                  <a:schemeClr val="tx1"/>
                </a:solidFill>
                <a:effectLst/>
                <a:latin typeface="+mn-lt"/>
                <a:ea typeface="+mn-ea"/>
                <a:cs typeface="+mn-cs"/>
              </a:rPr>
              <a:t>M5N → M is the father of N</a:t>
            </a:r>
            <a:br>
              <a:rPr lang="en-US" dirty="0"/>
            </a:br>
            <a:r>
              <a:rPr lang="en-US" sz="1200" b="0" i="0" kern="1200" dirty="0">
                <a:solidFill>
                  <a:schemeClr val="tx1"/>
                </a:solidFill>
                <a:effectLst/>
                <a:latin typeface="+mn-lt"/>
                <a:ea typeface="+mn-ea"/>
                <a:cs typeface="+mn-cs"/>
              </a:rPr>
              <a:t>N3K → N is the wife of 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Therefore, F is the mother-in-law of K.</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21</a:t>
            </a:fld>
            <a:endParaRPr lang="en-US"/>
          </a:p>
        </p:txBody>
      </p:sp>
    </p:spTree>
    <p:extLst>
      <p:ext uri="{BB962C8B-B14F-4D97-AF65-F5344CB8AC3E}">
        <p14:creationId xmlns:p14="http://schemas.microsoft.com/office/powerpoint/2010/main" val="731466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22</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5/17/2024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8CA177-5695-6350-E1C1-193E95AFC2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05000"/>
            <a:ext cx="5110844" cy="6480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a:latin typeface="Nunito Sans SemiBold" panose="00000700000000000000" pitchFamily="2" charset="0"/>
              </a:rPr>
              <a:t>VIT</a:t>
            </a:r>
          </a:p>
        </p:txBody>
      </p:sp>
      <p:sp>
        <p:nvSpPr>
          <p:cNvPr id="10" name="Rectangle 9">
            <a:extLst>
              <a:ext uri="{FF2B5EF4-FFF2-40B4-BE49-F238E27FC236}">
                <a16:creationId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8EF12BB-38F7-A5EB-7CFB-EF75E88EFA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200" y="6081583"/>
            <a:ext cx="4267200" cy="541035"/>
          </a:xfrm>
          <a:prstGeom prst="rect">
            <a:avLst/>
          </a:prstGeom>
        </p:spPr>
      </p:pic>
    </p:spTree>
    <p:extLst>
      <p:ext uri="{BB962C8B-B14F-4D97-AF65-F5344CB8AC3E}">
        <p14:creationId xmlns:p14="http://schemas.microsoft.com/office/powerpoint/2010/main" val="370754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a16="http://schemas.microsoft.com/office/drawing/2014/main" id="{456C9966-3D51-4F1F-BF70-A36692846596}"/>
              </a:ext>
            </a:extLst>
          </p:cNvPr>
          <p:cNvSpPr txBox="1"/>
          <p:nvPr/>
        </p:nvSpPr>
        <p:spPr>
          <a:xfrm>
            <a:off x="0" y="2514600"/>
            <a:ext cx="12192000" cy="885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Blood Relations </a:t>
            </a:r>
          </a:p>
        </p:txBody>
      </p:sp>
      <p:pic>
        <p:nvPicPr>
          <p:cNvPr id="2" name="Picture 1">
            <a:extLst>
              <a:ext uri="{FF2B5EF4-FFF2-40B4-BE49-F238E27FC236}">
                <a16:creationId xmlns:a16="http://schemas.microsoft.com/office/drawing/2014/main" id="{3638459E-D354-35D1-FFDE-27BCC0932B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200" y="6081583"/>
            <a:ext cx="4267200" cy="541035"/>
          </a:xfrm>
          <a:prstGeom prst="rect">
            <a:avLst/>
          </a:prstGeom>
        </p:spPr>
      </p:pic>
    </p:spTree>
    <p:extLst>
      <p:ext uri="{BB962C8B-B14F-4D97-AF65-F5344CB8AC3E}">
        <p14:creationId xmlns:p14="http://schemas.microsoft.com/office/powerpoint/2010/main" val="406558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4698"/>
            <a:ext cx="10907041" cy="5093702"/>
          </a:xfrm>
          <a:prstGeom prst="rect">
            <a:avLst/>
          </a:prstGeom>
          <a:noFill/>
        </p:spPr>
        <p:txBody>
          <a:bodyPr wrap="square" rtlCol="0">
            <a:spAutoFit/>
          </a:bodyPr>
          <a:lstStyle/>
          <a:p>
            <a:pPr algn="just"/>
            <a:r>
              <a:rPr lang="en-US" sz="2800" b="1" dirty="0">
                <a:latin typeface="Nunito Sans" panose="00000500000000000000" pitchFamily="2" charset="0"/>
              </a:rPr>
              <a:t>Some Common Blood Relationships are as Follows:</a:t>
            </a:r>
          </a:p>
          <a:p>
            <a:pPr algn="just"/>
            <a:endParaRPr lang="en-US" sz="2500" dirty="0">
              <a:latin typeface="Nunito Sans" panose="00000500000000000000" pitchFamily="2" charset="0"/>
            </a:endParaRPr>
          </a:p>
          <a:p>
            <a:pPr algn="just"/>
            <a:r>
              <a:rPr lang="en-US" sz="2500" dirty="0">
                <a:latin typeface="Nunito Sans" panose="00000500000000000000" pitchFamily="2" charset="0"/>
              </a:rPr>
              <a:t>In blood relations, we should know the relation between two persons by using the information given to you.</a:t>
            </a:r>
          </a:p>
          <a:p>
            <a:pPr algn="just"/>
            <a:endParaRPr lang="en-US" sz="2500" dirty="0">
              <a:latin typeface="Nunito Sans" panose="00000500000000000000" pitchFamily="2" charset="0"/>
            </a:endParaRPr>
          </a:p>
          <a:p>
            <a:pPr algn="just"/>
            <a:r>
              <a:rPr lang="en-US" sz="2500" b="1" dirty="0">
                <a:latin typeface="Nunito Sans" panose="00000500000000000000" pitchFamily="2" charset="0"/>
              </a:rPr>
              <a:t>RELATIONSHIPS:</a:t>
            </a:r>
          </a:p>
          <a:p>
            <a:pPr lvl="1" algn="just"/>
            <a:r>
              <a:rPr lang="en-US" sz="2500" dirty="0">
                <a:latin typeface="Nunito Sans" panose="00000500000000000000" pitchFamily="2" charset="0"/>
              </a:rPr>
              <a:t>1) Mother’s or Father’s father – Grandfather (Maternal grandfather/Paternal grandfather).</a:t>
            </a:r>
          </a:p>
          <a:p>
            <a:pPr lvl="1" algn="just"/>
            <a:r>
              <a:rPr lang="en-US" sz="2500" dirty="0">
                <a:latin typeface="Nunito Sans" panose="00000500000000000000" pitchFamily="2" charset="0"/>
              </a:rPr>
              <a:t>2) Mother’s or Father’s mother – Grandmother (Maternal grandmother/Paternal grandmother)</a:t>
            </a:r>
          </a:p>
          <a:p>
            <a:pPr lvl="1" algn="just"/>
            <a:r>
              <a:rPr lang="en-US" sz="2500" dirty="0">
                <a:latin typeface="Nunito Sans" panose="00000500000000000000" pitchFamily="2" charset="0"/>
              </a:rPr>
              <a:t>3) Mother’s or Father’s brother – Uncle</a:t>
            </a:r>
          </a:p>
          <a:p>
            <a:pPr lvl="1" algn="just"/>
            <a:r>
              <a:rPr lang="en-US" sz="2500" dirty="0">
                <a:latin typeface="Nunito Sans" panose="00000500000000000000" pitchFamily="2" charset="0"/>
              </a:rPr>
              <a:t>4) Mother’s or Father’s Sister – Aunt</a:t>
            </a:r>
          </a:p>
          <a:p>
            <a:pPr lvl="1" algn="just"/>
            <a:r>
              <a:rPr lang="en-US" sz="2500" dirty="0">
                <a:latin typeface="Nunito Sans" panose="00000500000000000000" pitchFamily="2" charset="0"/>
              </a:rPr>
              <a:t>5) Wife’s father or husband’s father – father-in-law</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Blood Relations </a:t>
            </a:r>
          </a:p>
        </p:txBody>
      </p:sp>
      <p:pic>
        <p:nvPicPr>
          <p:cNvPr id="2" name="Picture 1">
            <a:extLst>
              <a:ext uri="{FF2B5EF4-FFF2-40B4-BE49-F238E27FC236}">
                <a16:creationId xmlns:a16="http://schemas.microsoft.com/office/drawing/2014/main" id="{E8F661BD-7600-19A4-733A-A7E6310A43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64008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3970318"/>
          </a:xfrm>
          <a:prstGeom prst="rect">
            <a:avLst/>
          </a:prstGeom>
          <a:noFill/>
        </p:spPr>
        <p:txBody>
          <a:bodyPr wrap="square" rtlCol="0">
            <a:spAutoFit/>
          </a:bodyPr>
          <a:lstStyle/>
          <a:p>
            <a:pPr lvl="1" algn="just"/>
            <a:r>
              <a:rPr lang="en-US" sz="2800" dirty="0">
                <a:latin typeface="Nunito Sans" panose="00000500000000000000" pitchFamily="2" charset="0"/>
              </a:rPr>
              <a:t>6) Wife’s mother or husband’s mother – mother-in-law</a:t>
            </a:r>
          </a:p>
          <a:p>
            <a:pPr lvl="1" algn="just"/>
            <a:r>
              <a:rPr lang="en-US" sz="2800" dirty="0">
                <a:latin typeface="Nunito Sans" panose="00000500000000000000" pitchFamily="2" charset="0"/>
              </a:rPr>
              <a:t>7) Son’s wife – daughter-in-law</a:t>
            </a:r>
          </a:p>
          <a:p>
            <a:pPr lvl="1" algn="just"/>
            <a:r>
              <a:rPr lang="en-US" sz="2800" dirty="0">
                <a:latin typeface="Nunito Sans" panose="00000500000000000000" pitchFamily="2" charset="0"/>
              </a:rPr>
              <a:t>8) Daughter’s husband – son-in-law</a:t>
            </a:r>
          </a:p>
          <a:p>
            <a:pPr lvl="1" algn="just"/>
            <a:r>
              <a:rPr lang="en-US" sz="2800" dirty="0">
                <a:latin typeface="Nunito Sans" panose="00000500000000000000" pitchFamily="2" charset="0"/>
              </a:rPr>
              <a:t>9) Husband’s or wife’s brother – brother-in-law</a:t>
            </a:r>
          </a:p>
          <a:p>
            <a:pPr lvl="1" algn="just"/>
            <a:r>
              <a:rPr lang="en-US" sz="2800" dirty="0">
                <a:latin typeface="Nunito Sans" panose="00000500000000000000" pitchFamily="2" charset="0"/>
              </a:rPr>
              <a:t>10) Husband’s or wife’s sister – sister-in-law</a:t>
            </a:r>
          </a:p>
          <a:p>
            <a:pPr lvl="1" algn="just"/>
            <a:r>
              <a:rPr lang="en-US" sz="2800" dirty="0">
                <a:latin typeface="Nunito Sans" panose="00000500000000000000" pitchFamily="2" charset="0"/>
              </a:rPr>
              <a:t>11) Brother’s or sister’s son – nephew</a:t>
            </a:r>
          </a:p>
          <a:p>
            <a:pPr lvl="1" algn="just"/>
            <a:r>
              <a:rPr lang="en-US" sz="2800" dirty="0">
                <a:latin typeface="Nunito Sans" panose="00000500000000000000" pitchFamily="2" charset="0"/>
              </a:rPr>
              <a:t>12) Brother’s or sister’s daughter – niece</a:t>
            </a:r>
          </a:p>
          <a:p>
            <a:pPr lvl="1" algn="just"/>
            <a:r>
              <a:rPr lang="en-US" sz="2800" dirty="0">
                <a:latin typeface="Nunito Sans" panose="00000500000000000000" pitchFamily="2" charset="0"/>
              </a:rPr>
              <a:t>13) Uncle’s or Aunt’s son or daughter – cousin</a:t>
            </a:r>
          </a:p>
          <a:p>
            <a:pPr algn="just"/>
            <a:r>
              <a:rPr lang="en-US" sz="2800" dirty="0">
                <a:latin typeface="Nunito Sans" panose="00000500000000000000" pitchFamily="2" charset="0"/>
              </a:rPr>
              <a:t> </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Blood Relations </a:t>
            </a:r>
          </a:p>
        </p:txBody>
      </p:sp>
      <p:pic>
        <p:nvPicPr>
          <p:cNvPr id="2" name="Picture 1">
            <a:extLst>
              <a:ext uri="{FF2B5EF4-FFF2-40B4-BE49-F238E27FC236}">
                <a16:creationId xmlns:a16="http://schemas.microsoft.com/office/drawing/2014/main" id="{AAF35D77-AA09-A36B-2011-277FBE145C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754172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3539430"/>
          </a:xfrm>
          <a:prstGeom prst="rect">
            <a:avLst/>
          </a:prstGeom>
          <a:noFill/>
        </p:spPr>
        <p:txBody>
          <a:bodyPr wrap="square" rtlCol="0">
            <a:spAutoFit/>
          </a:bodyPr>
          <a:lstStyle/>
          <a:p>
            <a:pPr algn="just"/>
            <a:r>
              <a:rPr lang="en-US" sz="2800" b="1" dirty="0">
                <a:latin typeface="Nunito Sans" panose="00000500000000000000" pitchFamily="2" charset="0"/>
              </a:rPr>
              <a:t>Some more tips:</a:t>
            </a:r>
          </a:p>
          <a:p>
            <a:pPr algn="just"/>
            <a:endParaRPr lang="en-US" sz="2800" dirty="0">
              <a:latin typeface="Nunito Sans" panose="00000500000000000000" pitchFamily="2" charset="0"/>
            </a:endParaRPr>
          </a:p>
          <a:p>
            <a:pPr marL="457200" indent="-457200" algn="just">
              <a:buFont typeface="Wingdings" panose="05000000000000000000" pitchFamily="2" charset="2"/>
              <a:buChar char="Ø"/>
            </a:pPr>
            <a:r>
              <a:rPr lang="en-US" sz="2800" dirty="0">
                <a:latin typeface="Nunito Sans" panose="00000500000000000000" pitchFamily="2" charset="0"/>
              </a:rPr>
              <a:t>Grand father’s (daughter-in-law) = Mother</a:t>
            </a:r>
          </a:p>
          <a:p>
            <a:pPr marL="457200" indent="-457200" algn="just">
              <a:buFont typeface="Wingdings" panose="05000000000000000000" pitchFamily="2" charset="2"/>
              <a:buChar char="Ø"/>
            </a:pPr>
            <a:r>
              <a:rPr lang="en-US" sz="2800" dirty="0">
                <a:latin typeface="Nunito Sans" panose="00000500000000000000" pitchFamily="2" charset="0"/>
              </a:rPr>
              <a:t>Father’s son = Brother</a:t>
            </a:r>
          </a:p>
          <a:p>
            <a:pPr marL="457200" indent="-457200" algn="just">
              <a:buFont typeface="Wingdings" panose="05000000000000000000" pitchFamily="2" charset="2"/>
              <a:buChar char="Ø"/>
            </a:pPr>
            <a:r>
              <a:rPr lang="en-US" sz="2800" dirty="0">
                <a:latin typeface="Nunito Sans" panose="00000500000000000000" pitchFamily="2" charset="0"/>
              </a:rPr>
              <a:t>Father’s daughter = Sister</a:t>
            </a:r>
          </a:p>
          <a:p>
            <a:pPr marL="457200" indent="-457200" algn="just">
              <a:buFont typeface="Wingdings" panose="05000000000000000000" pitchFamily="2" charset="2"/>
              <a:buChar char="Ø"/>
            </a:pPr>
            <a:r>
              <a:rPr lang="en-US" sz="2800" dirty="0">
                <a:latin typeface="Nunito Sans" panose="00000500000000000000" pitchFamily="2" charset="0"/>
              </a:rPr>
              <a:t>Grand father’s son = Father / Uncle</a:t>
            </a:r>
          </a:p>
          <a:p>
            <a:pPr marL="457200" indent="-457200" algn="just">
              <a:buFont typeface="Wingdings" panose="05000000000000000000" pitchFamily="2" charset="2"/>
              <a:buChar char="Ø"/>
            </a:pPr>
            <a:r>
              <a:rPr lang="en-US" sz="2800" dirty="0">
                <a:latin typeface="Nunito Sans" panose="00000500000000000000" pitchFamily="2" charset="0"/>
              </a:rPr>
              <a:t>Grand father’s only son(Same in the Case of Grand mother) = Father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69441"/>
          </a:xfrm>
          <a:prstGeom prst="rect">
            <a:avLst/>
          </a:prstGeom>
          <a:noFill/>
        </p:spPr>
        <p:txBody>
          <a:bodyPr wrap="square" rtlCol="0">
            <a:spAutoFit/>
          </a:bodyPr>
          <a:lstStyle/>
          <a:p>
            <a:pPr algn="r"/>
            <a:r>
              <a:rPr lang="en-US" sz="4400" b="1" dirty="0">
                <a:solidFill>
                  <a:schemeClr val="bg1"/>
                </a:solidFill>
                <a:latin typeface="Nunito Sans" panose="00000500000000000000" pitchFamily="2" charset="0"/>
              </a:rPr>
              <a:t>Blood Relations </a:t>
            </a:r>
          </a:p>
        </p:txBody>
      </p:sp>
      <p:pic>
        <p:nvPicPr>
          <p:cNvPr id="2" name="Picture 1">
            <a:extLst>
              <a:ext uri="{FF2B5EF4-FFF2-40B4-BE49-F238E27FC236}">
                <a16:creationId xmlns:a16="http://schemas.microsoft.com/office/drawing/2014/main" id="{172CD54A-6B44-6541-9067-5E59FBC3B9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1482651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Pointing out to a man, Ravi said ,"He is the only son of the woman who is the mother of the husband of my mother". Who is the man to Ravi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Father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Daughter</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Grand daughter</a:t>
            </a:r>
          </a:p>
        </p:txBody>
      </p:sp>
      <p:pic>
        <p:nvPicPr>
          <p:cNvPr id="2" name="Picture 1">
            <a:extLst>
              <a:ext uri="{FF2B5EF4-FFF2-40B4-BE49-F238E27FC236}">
                <a16:creationId xmlns:a16="http://schemas.microsoft.com/office/drawing/2014/main" id="{E42D77C8-7529-FF5B-0A9B-FFC1412BC8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577945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err="1">
                <a:latin typeface="Nunito Sans" panose="00000500000000000000" pitchFamily="2" charset="0"/>
              </a:rPr>
              <a:t>Anup</a:t>
            </a:r>
            <a:r>
              <a:rPr lang="en-US" sz="2500" dirty="0">
                <a:latin typeface="Nunito Sans" panose="00000500000000000000" pitchFamily="2" charset="0"/>
              </a:rPr>
              <a:t> introduces </a:t>
            </a:r>
            <a:r>
              <a:rPr lang="en-US" sz="2500" dirty="0" err="1">
                <a:latin typeface="Nunito Sans" panose="00000500000000000000" pitchFamily="2" charset="0"/>
              </a:rPr>
              <a:t>Rashmi</a:t>
            </a:r>
            <a:r>
              <a:rPr lang="en-US" sz="2500" dirty="0">
                <a:latin typeface="Nunito Sans" panose="00000500000000000000" pitchFamily="2" charset="0"/>
              </a:rPr>
              <a:t> as the daughter of the only sister of his father’s wife. How is </a:t>
            </a:r>
            <a:r>
              <a:rPr lang="en-US" sz="2500" dirty="0" err="1">
                <a:latin typeface="Nunito Sans" panose="00000500000000000000" pitchFamily="2" charset="0"/>
              </a:rPr>
              <a:t>Rashmi</a:t>
            </a:r>
            <a:r>
              <a:rPr lang="en-US" sz="2500" dirty="0">
                <a:latin typeface="Nunito Sans" panose="00000500000000000000" pitchFamily="2" charset="0"/>
              </a:rPr>
              <a:t> related to </a:t>
            </a:r>
            <a:r>
              <a:rPr lang="en-US" sz="2500" dirty="0" err="1">
                <a:latin typeface="Nunito Sans" panose="00000500000000000000" pitchFamily="2" charset="0"/>
              </a:rPr>
              <a:t>Anup</a:t>
            </a:r>
            <a:r>
              <a:rPr lang="en-US" sz="2500" dirty="0">
                <a:latin typeface="Nunito Sans" panose="00000500000000000000" pitchFamily="2" charset="0"/>
              </a:rPr>
              <a: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Cousin</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Uncle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Son-in-law</a:t>
            </a:r>
          </a:p>
        </p:txBody>
      </p:sp>
      <p:pic>
        <p:nvPicPr>
          <p:cNvPr id="2" name="Picture 1">
            <a:extLst>
              <a:ext uri="{FF2B5EF4-FFF2-40B4-BE49-F238E27FC236}">
                <a16:creationId xmlns:a16="http://schemas.microsoft.com/office/drawing/2014/main" id="{BDE6F7A5-83AA-B688-29E5-A562A8D61F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925891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Pointing towards a person in the photograph </a:t>
            </a:r>
            <a:r>
              <a:rPr lang="en-US" sz="2500" dirty="0" err="1">
                <a:latin typeface="Nunito Sans" panose="00000500000000000000" pitchFamily="2" charset="0"/>
              </a:rPr>
              <a:t>Dhiya</a:t>
            </a:r>
            <a:r>
              <a:rPr lang="en-US" sz="2500" dirty="0">
                <a:latin typeface="Nunito Sans" panose="00000500000000000000" pitchFamily="2" charset="0"/>
              </a:rPr>
              <a:t> said " He is the only son of the father of my sister’s brother ." How is that person related to </a:t>
            </a:r>
            <a:r>
              <a:rPr lang="en-US" sz="2500" dirty="0" err="1">
                <a:latin typeface="Nunito Sans" panose="00000500000000000000" pitchFamily="2" charset="0"/>
              </a:rPr>
              <a:t>Dhiya</a:t>
            </a:r>
            <a:r>
              <a:rPr lang="en-US" sz="2500" dirty="0">
                <a:latin typeface="Nunito Sans" panose="00000500000000000000" pitchFamily="2" charset="0"/>
              </a:rPr>
              <a:t>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Mother</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Father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Maternal uncle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pic>
        <p:nvPicPr>
          <p:cNvPr id="2" name="Picture 1">
            <a:extLst>
              <a:ext uri="{FF2B5EF4-FFF2-40B4-BE49-F238E27FC236}">
                <a16:creationId xmlns:a16="http://schemas.microsoft.com/office/drawing/2014/main" id="{3757AABC-8D9D-D9D4-8F16-8E3FC57842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772580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Introducing Raj, </a:t>
            </a:r>
            <a:r>
              <a:rPr lang="en-US" sz="2500" dirty="0" err="1">
                <a:latin typeface="Nunito Sans" panose="00000500000000000000" pitchFamily="2" charset="0"/>
              </a:rPr>
              <a:t>Priya</a:t>
            </a:r>
            <a:r>
              <a:rPr lang="en-US" sz="2500" dirty="0">
                <a:latin typeface="Nunito Sans" panose="00000500000000000000" pitchFamily="2" charset="0"/>
              </a:rPr>
              <a:t> said, "He is the son of the only daughter(who has only one brother) of the father of my maternal uncle." How is Raj related to </a:t>
            </a:r>
            <a:r>
              <a:rPr lang="en-US" sz="2500" dirty="0" err="1">
                <a:latin typeface="Nunito Sans" panose="00000500000000000000" pitchFamily="2" charset="0"/>
              </a:rPr>
              <a:t>Priya</a:t>
            </a:r>
            <a:r>
              <a:rPr lang="en-US" sz="2500" dirty="0">
                <a:latin typeface="Nunito Sans" panose="00000500000000000000" pitchFamily="2" charset="0"/>
              </a:rPr>
              <a: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Brother</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Nephew</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Uncle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Son-in-law</a:t>
            </a:r>
          </a:p>
        </p:txBody>
      </p:sp>
      <p:pic>
        <p:nvPicPr>
          <p:cNvPr id="2" name="Picture 1">
            <a:extLst>
              <a:ext uri="{FF2B5EF4-FFF2-40B4-BE49-F238E27FC236}">
                <a16:creationId xmlns:a16="http://schemas.microsoft.com/office/drawing/2014/main" id="{9C36286F-D4A5-6EA1-90B7-7E00127B6F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1240542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A’s son B is married with C whose brother D is married to E the sister of B. How D is related to A?</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Brother</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Son-in-law</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Brother-in-law</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Cousin</a:t>
            </a:r>
          </a:p>
        </p:txBody>
      </p:sp>
      <p:pic>
        <p:nvPicPr>
          <p:cNvPr id="2" name="Picture 1">
            <a:extLst>
              <a:ext uri="{FF2B5EF4-FFF2-40B4-BE49-F238E27FC236}">
                <a16:creationId xmlns:a16="http://schemas.microsoft.com/office/drawing/2014/main" id="{7EDA10E0-A8DA-1384-F607-E13BC16725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2074823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Introducing a boy, Santhosh said, “His mother is the only daughter of my mother-in-law”. How is Santhosh related to the boy?</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Father</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Brother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Uncle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Husband</a:t>
            </a:r>
          </a:p>
        </p:txBody>
      </p:sp>
      <p:pic>
        <p:nvPicPr>
          <p:cNvPr id="2" name="Picture 1">
            <a:extLst>
              <a:ext uri="{FF2B5EF4-FFF2-40B4-BE49-F238E27FC236}">
                <a16:creationId xmlns:a16="http://schemas.microsoft.com/office/drawing/2014/main" id="{4F407348-81C8-328D-7441-521B49C2D8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466414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Pointing to a man on the platform </a:t>
            </a:r>
            <a:r>
              <a:rPr lang="en-US" sz="2500" dirty="0" err="1">
                <a:latin typeface="Nunito Sans" panose="00000500000000000000" pitchFamily="2" charset="0"/>
              </a:rPr>
              <a:t>Gowtham</a:t>
            </a:r>
            <a:r>
              <a:rPr lang="en-US" sz="2500" dirty="0">
                <a:latin typeface="Nunito Sans" panose="00000500000000000000" pitchFamily="2" charset="0"/>
              </a:rPr>
              <a:t> said, “He is the brother of the father of my mother’s son”. What is the man to </a:t>
            </a:r>
            <a:r>
              <a:rPr lang="en-US" sz="2500" dirty="0" err="1">
                <a:latin typeface="Nunito Sans" panose="00000500000000000000" pitchFamily="2" charset="0"/>
              </a:rPr>
              <a:t>Gowtham</a:t>
            </a:r>
            <a:r>
              <a:rPr lang="en-US" sz="2500" dirty="0">
                <a:latin typeface="Nunito Sans" panose="00000500000000000000" pitchFamily="2" charset="0"/>
              </a:rPr>
              <a: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Uncle</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Father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Brother</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Nephew</a:t>
            </a:r>
          </a:p>
        </p:txBody>
      </p:sp>
      <p:pic>
        <p:nvPicPr>
          <p:cNvPr id="2" name="Picture 1">
            <a:extLst>
              <a:ext uri="{FF2B5EF4-FFF2-40B4-BE49-F238E27FC236}">
                <a16:creationId xmlns:a16="http://schemas.microsoft.com/office/drawing/2014/main" id="{38CA9379-69E0-EAB3-593E-5D48DC6A7C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3340229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Pointing to </a:t>
            </a:r>
            <a:r>
              <a:rPr lang="en-US" sz="2500" dirty="0" err="1">
                <a:latin typeface="Nunito Sans" panose="00000500000000000000" pitchFamily="2" charset="0"/>
              </a:rPr>
              <a:t>Gokul</a:t>
            </a:r>
            <a:r>
              <a:rPr lang="en-US" sz="2500" dirty="0">
                <a:latin typeface="Nunito Sans" panose="00000500000000000000" pitchFamily="2" charset="0"/>
              </a:rPr>
              <a:t>, </a:t>
            </a:r>
            <a:r>
              <a:rPr lang="en-US" sz="2500" dirty="0" err="1">
                <a:latin typeface="Nunito Sans" panose="00000500000000000000" pitchFamily="2" charset="0"/>
              </a:rPr>
              <a:t>Meera</a:t>
            </a:r>
            <a:r>
              <a:rPr lang="en-US" sz="2500" dirty="0">
                <a:latin typeface="Nunito Sans" panose="00000500000000000000" pitchFamily="2" charset="0"/>
              </a:rPr>
              <a:t> says, "I am the daughter of the only son of his grandfather." How </a:t>
            </a:r>
            <a:r>
              <a:rPr lang="en-US" sz="2500" dirty="0" err="1">
                <a:latin typeface="Nunito Sans" panose="00000500000000000000" pitchFamily="2" charset="0"/>
              </a:rPr>
              <a:t>Meera</a:t>
            </a:r>
            <a:r>
              <a:rPr lang="en-US" sz="2500" dirty="0">
                <a:latin typeface="Nunito Sans" panose="00000500000000000000" pitchFamily="2" charset="0"/>
              </a:rPr>
              <a:t> is related to </a:t>
            </a:r>
            <a:r>
              <a:rPr lang="en-US" sz="2500" dirty="0" err="1">
                <a:latin typeface="Nunito Sans" panose="00000500000000000000" pitchFamily="2" charset="0"/>
              </a:rPr>
              <a:t>Gokul</a:t>
            </a:r>
            <a:r>
              <a:rPr lang="en-US" sz="2500" dirty="0">
                <a:latin typeface="Nunito Sans" panose="00000500000000000000" pitchFamily="2" charset="0"/>
              </a:rPr>
              <a: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Niece or aunt</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Daughter or mother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Sister or cousin</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Cannot be determined</a:t>
            </a:r>
          </a:p>
        </p:txBody>
      </p:sp>
      <p:pic>
        <p:nvPicPr>
          <p:cNvPr id="2" name="Picture 1">
            <a:extLst>
              <a:ext uri="{FF2B5EF4-FFF2-40B4-BE49-F238E27FC236}">
                <a16:creationId xmlns:a16="http://schemas.microsoft.com/office/drawing/2014/main" id="{6CDA4806-CBFC-8464-68D2-5FF4829C96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777727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Showing the woman receiving the prize </a:t>
            </a:r>
            <a:r>
              <a:rPr lang="en-US" sz="2500" dirty="0" err="1">
                <a:latin typeface="Nunito Sans" panose="00000500000000000000" pitchFamily="2" charset="0"/>
              </a:rPr>
              <a:t>Sania</a:t>
            </a:r>
            <a:r>
              <a:rPr lang="en-US" sz="2500" dirty="0">
                <a:latin typeface="Nunito Sans" panose="00000500000000000000" pitchFamily="2" charset="0"/>
              </a:rPr>
              <a:t> said, “She is the sister of my uncle’s son”. What is the woman to </a:t>
            </a:r>
            <a:r>
              <a:rPr lang="en-US" sz="2500" dirty="0" err="1">
                <a:latin typeface="Nunito Sans" panose="00000500000000000000" pitchFamily="2" charset="0"/>
              </a:rPr>
              <a:t>Sania</a:t>
            </a:r>
            <a:r>
              <a:rPr lang="en-US" sz="2500" dirty="0">
                <a:latin typeface="Nunito Sans" panose="00000500000000000000" pitchFamily="2" charset="0"/>
              </a:rPr>
              <a: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Brother-in-law</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Nephew</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Cousin</a:t>
            </a:r>
          </a:p>
        </p:txBody>
      </p:sp>
      <p:pic>
        <p:nvPicPr>
          <p:cNvPr id="2" name="Picture 1">
            <a:extLst>
              <a:ext uri="{FF2B5EF4-FFF2-40B4-BE49-F238E27FC236}">
                <a16:creationId xmlns:a16="http://schemas.microsoft.com/office/drawing/2014/main" id="{9682E2A4-FEAB-AC84-28BF-151E97A2E0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2656025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Prakash is the son of </a:t>
            </a:r>
            <a:r>
              <a:rPr lang="en-US" sz="2500" dirty="0" err="1">
                <a:latin typeface="Nunito Sans" panose="00000500000000000000" pitchFamily="2" charset="0"/>
              </a:rPr>
              <a:t>Pramod</a:t>
            </a:r>
            <a:r>
              <a:rPr lang="en-US" sz="2500" dirty="0">
                <a:latin typeface="Nunito Sans" panose="00000500000000000000" pitchFamily="2" charset="0"/>
              </a:rPr>
              <a:t>. Neha is the daughter of Abhishek. </a:t>
            </a:r>
            <a:r>
              <a:rPr lang="en-US" sz="2500" dirty="0" err="1">
                <a:latin typeface="Nunito Sans" panose="00000500000000000000" pitchFamily="2" charset="0"/>
              </a:rPr>
              <a:t>Ruchi</a:t>
            </a:r>
            <a:r>
              <a:rPr lang="en-US" sz="2500" dirty="0">
                <a:latin typeface="Nunito Sans" panose="00000500000000000000" pitchFamily="2" charset="0"/>
              </a:rPr>
              <a:t> is the mother of Neha. </a:t>
            </a:r>
            <a:r>
              <a:rPr lang="en-US" sz="2500" dirty="0" err="1">
                <a:latin typeface="Nunito Sans" panose="00000500000000000000" pitchFamily="2" charset="0"/>
              </a:rPr>
              <a:t>Awadhesh</a:t>
            </a:r>
            <a:r>
              <a:rPr lang="en-US" sz="2500" dirty="0">
                <a:latin typeface="Nunito Sans" panose="00000500000000000000" pitchFamily="2" charset="0"/>
              </a:rPr>
              <a:t> is the brother of Neha. How is Abhishek related to </a:t>
            </a:r>
            <a:r>
              <a:rPr lang="en-US" sz="2500" dirty="0" err="1">
                <a:latin typeface="Nunito Sans" panose="00000500000000000000" pitchFamily="2" charset="0"/>
              </a:rPr>
              <a:t>Awadhesh</a:t>
            </a:r>
            <a:r>
              <a:rPr lang="en-US" sz="2500" dirty="0">
                <a:latin typeface="Nunito Sans" panose="00000500000000000000" pitchFamily="2" charset="0"/>
              </a:rPr>
              <a: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Father</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Brother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Grandfather</a:t>
            </a:r>
          </a:p>
        </p:txBody>
      </p:sp>
      <p:pic>
        <p:nvPicPr>
          <p:cNvPr id="2" name="Picture 1">
            <a:extLst>
              <a:ext uri="{FF2B5EF4-FFF2-40B4-BE49-F238E27FC236}">
                <a16:creationId xmlns:a16="http://schemas.microsoft.com/office/drawing/2014/main" id="{B323F0DA-5CDB-4055-0F47-C1CB5E652D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289339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Pointing to a women, a man said, "Her father is the only son of my father". How is man related to the women?</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667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241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667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Son</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241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Daughter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819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393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819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Mother</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393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Father</a:t>
            </a:r>
          </a:p>
        </p:txBody>
      </p:sp>
      <p:pic>
        <p:nvPicPr>
          <p:cNvPr id="2" name="Picture 1">
            <a:extLst>
              <a:ext uri="{FF2B5EF4-FFF2-40B4-BE49-F238E27FC236}">
                <a16:creationId xmlns:a16="http://schemas.microsoft.com/office/drawing/2014/main" id="{BA8F4270-7CEA-FDE4-5CB0-34A4926607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1645842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Ram pointing to a photo says "The lady in the photograph is my nephew’s maternal grandmother". How is the lady in the photograph related to the Ram’s sister who has no other sibling?</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98583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56059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98583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Cousin</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56059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Sister-in-law</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13791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71267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13791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Mother</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71267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Mother-in-law</a:t>
            </a:r>
          </a:p>
        </p:txBody>
      </p:sp>
      <p:pic>
        <p:nvPicPr>
          <p:cNvPr id="2" name="Picture 1">
            <a:extLst>
              <a:ext uri="{FF2B5EF4-FFF2-40B4-BE49-F238E27FC236}">
                <a16:creationId xmlns:a16="http://schemas.microsoft.com/office/drawing/2014/main" id="{5D1F8F11-B54E-E2C6-714F-75AEFAC52E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1080447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631216"/>
          </a:xfrm>
          <a:prstGeom prst="rect">
            <a:avLst/>
          </a:prstGeom>
          <a:noFill/>
        </p:spPr>
        <p:txBody>
          <a:bodyPr wrap="square" rtlCol="0">
            <a:spAutoFit/>
          </a:bodyPr>
          <a:lstStyle/>
          <a:p>
            <a:pPr algn="just"/>
            <a:r>
              <a:rPr lang="en-US" sz="2500" dirty="0">
                <a:latin typeface="Nunito Sans" panose="00000500000000000000" pitchFamily="2" charset="0"/>
              </a:rPr>
              <a:t>A woman going with a boy is asked by another person about the relationship between them. The woman replied ,"My maternal uncle and the uncle of his maternal uncle is the same". How are the woman and the boy related?</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98583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56059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98583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Aunt and Nephew</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56059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Mother and Son</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13791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71267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13791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Grandmother and Grandson</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71267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Cannot be determined</a:t>
            </a:r>
          </a:p>
        </p:txBody>
      </p:sp>
      <p:pic>
        <p:nvPicPr>
          <p:cNvPr id="2" name="Picture 1">
            <a:extLst>
              <a:ext uri="{FF2B5EF4-FFF2-40B4-BE49-F238E27FC236}">
                <a16:creationId xmlns:a16="http://schemas.microsoft.com/office/drawing/2014/main" id="{B8628393-08FE-0CD0-4E70-161E6A14A6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4256335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2015936"/>
          </a:xfrm>
          <a:prstGeom prst="rect">
            <a:avLst/>
          </a:prstGeom>
          <a:noFill/>
        </p:spPr>
        <p:txBody>
          <a:bodyPr wrap="square" rtlCol="0">
            <a:spAutoFit/>
          </a:bodyPr>
          <a:lstStyle/>
          <a:p>
            <a:pPr algn="just"/>
            <a:r>
              <a:rPr lang="en-US" sz="2500" dirty="0">
                <a:latin typeface="Nunito Sans" panose="00000500000000000000" pitchFamily="2" charset="0"/>
              </a:rPr>
              <a:t>P + Q means P is the father of Q, </a:t>
            </a:r>
          </a:p>
          <a:p>
            <a:pPr algn="just"/>
            <a:r>
              <a:rPr lang="en-US" sz="2500" dirty="0">
                <a:latin typeface="Nunito Sans" panose="00000500000000000000" pitchFamily="2" charset="0"/>
              </a:rPr>
              <a:t>P - Q means P is the wife of Q, </a:t>
            </a:r>
          </a:p>
          <a:p>
            <a:pPr algn="just"/>
            <a:r>
              <a:rPr lang="en-US" sz="2500" dirty="0">
                <a:latin typeface="Nunito Sans" panose="00000500000000000000" pitchFamily="2" charset="0"/>
              </a:rPr>
              <a:t>P x Q means P is the brother of Q,</a:t>
            </a:r>
          </a:p>
          <a:p>
            <a:pPr algn="just"/>
            <a:r>
              <a:rPr lang="en-US" sz="2500" dirty="0">
                <a:latin typeface="Nunito Sans" panose="00000500000000000000" pitchFamily="2" charset="0"/>
              </a:rPr>
              <a:t>P / Q means P is the daughter of Q.</a:t>
            </a:r>
          </a:p>
          <a:p>
            <a:pPr algn="just"/>
            <a:r>
              <a:rPr lang="en-US" sz="2500" dirty="0">
                <a:latin typeface="Nunito Sans" panose="00000500000000000000" pitchFamily="2" charset="0"/>
              </a:rPr>
              <a:t>If A / D + C + B, which of the following is true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6683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94159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6683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A is the daughter of B</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94159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A is the aunt of B</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1891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09367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1891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 is the aunt of A</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09367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A is the mother of B</a:t>
            </a:r>
          </a:p>
        </p:txBody>
      </p:sp>
      <p:pic>
        <p:nvPicPr>
          <p:cNvPr id="2" name="Picture 1">
            <a:extLst>
              <a:ext uri="{FF2B5EF4-FFF2-40B4-BE49-F238E27FC236}">
                <a16:creationId xmlns:a16="http://schemas.microsoft.com/office/drawing/2014/main" id="{47F9E51D-6ADF-9D23-41EB-E842B67AE3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2804771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2015936"/>
          </a:xfrm>
          <a:prstGeom prst="rect">
            <a:avLst/>
          </a:prstGeom>
          <a:noFill/>
        </p:spPr>
        <p:txBody>
          <a:bodyPr wrap="square" rtlCol="0">
            <a:spAutoFit/>
          </a:bodyPr>
          <a:lstStyle/>
          <a:p>
            <a:pPr algn="just"/>
            <a:r>
              <a:rPr lang="en-US" sz="2500" dirty="0">
                <a:latin typeface="Nunito Sans" panose="00000500000000000000" pitchFamily="2" charset="0"/>
              </a:rPr>
              <a:t>P5Q means P is the father of Q.</a:t>
            </a:r>
          </a:p>
          <a:p>
            <a:pPr algn="just"/>
            <a:r>
              <a:rPr lang="en-US" sz="2500" dirty="0">
                <a:latin typeface="Nunito Sans" panose="00000500000000000000" pitchFamily="2" charset="0"/>
              </a:rPr>
              <a:t>P9Q means P is the sister of Q.</a:t>
            </a:r>
          </a:p>
          <a:p>
            <a:pPr algn="just"/>
            <a:r>
              <a:rPr lang="en-US" sz="2500" dirty="0">
                <a:latin typeface="Nunito Sans" panose="00000500000000000000" pitchFamily="2" charset="0"/>
              </a:rPr>
              <a:t>P4Q means P is the brother of Q.</a:t>
            </a:r>
          </a:p>
          <a:p>
            <a:pPr algn="just"/>
            <a:r>
              <a:rPr lang="en-US" sz="2500" dirty="0">
                <a:latin typeface="Nunito Sans" panose="00000500000000000000" pitchFamily="2" charset="0"/>
              </a:rPr>
              <a:t>P3Q means P is the wife of Q.</a:t>
            </a:r>
          </a:p>
          <a:p>
            <a:pPr algn="just"/>
            <a:r>
              <a:rPr lang="en-US" sz="2500" dirty="0">
                <a:latin typeface="Nunito Sans" panose="00000500000000000000" pitchFamily="2" charset="0"/>
              </a:rPr>
              <a:t>Which of the following means F is the mother-in-law of K?</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51923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9399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51923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F3M5K</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9399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F5M3K</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67131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24607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67131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F9M4N3K</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24607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F3M5N3K</a:t>
            </a:r>
          </a:p>
        </p:txBody>
      </p:sp>
      <p:pic>
        <p:nvPicPr>
          <p:cNvPr id="2" name="Picture 1">
            <a:extLst>
              <a:ext uri="{FF2B5EF4-FFF2-40B4-BE49-F238E27FC236}">
                <a16:creationId xmlns:a16="http://schemas.microsoft.com/office/drawing/2014/main" id="{E4B2F8FA-AAA2-353F-A0D2-430645AD4D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1465408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2" name="Picture 1">
            <a:extLst>
              <a:ext uri="{FF2B5EF4-FFF2-40B4-BE49-F238E27FC236}">
                <a16:creationId xmlns:a16="http://schemas.microsoft.com/office/drawing/2014/main" id="{8EB43177-D81E-49BC-0EF3-C9E18C5204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54400"/>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1609</Words>
  <Application>Microsoft Office PowerPoint</Application>
  <PresentationFormat>Widescreen</PresentationFormat>
  <Paragraphs>247</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Wingdings</vt:lpstr>
      <vt:lpstr>Calibri</vt:lpstr>
      <vt:lpstr>Arial</vt:lpstr>
      <vt:lpstr>Nunito Sans</vt:lpstr>
      <vt:lpstr>Nunito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2019-07-10T08:30:58Z</dcterms:created>
  <dcterms:modified xsi:type="dcterms:W3CDTF">2024-05-17T10:43:32Z</dcterms:modified>
</cp:coreProperties>
</file>