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3"/>
  </p:notesMasterIdLst>
  <p:sldIdLst>
    <p:sldId id="311" r:id="rId2"/>
    <p:sldId id="257" r:id="rId3"/>
    <p:sldId id="299" r:id="rId4"/>
    <p:sldId id="258" r:id="rId5"/>
    <p:sldId id="259" r:id="rId6"/>
    <p:sldId id="260" r:id="rId7"/>
    <p:sldId id="261" r:id="rId8"/>
    <p:sldId id="262" r:id="rId9"/>
    <p:sldId id="263" r:id="rId10"/>
    <p:sldId id="264" r:id="rId11"/>
    <p:sldId id="267" r:id="rId12"/>
    <p:sldId id="268" r:id="rId13"/>
    <p:sldId id="266" r:id="rId14"/>
    <p:sldId id="269" r:id="rId15"/>
    <p:sldId id="270" r:id="rId16"/>
    <p:sldId id="271" r:id="rId17"/>
    <p:sldId id="272" r:id="rId18"/>
    <p:sldId id="312" r:id="rId19"/>
    <p:sldId id="273" r:id="rId20"/>
    <p:sldId id="274" r:id="rId21"/>
    <p:sldId id="275" r:id="rId22"/>
    <p:sldId id="276" r:id="rId23"/>
    <p:sldId id="277" r:id="rId24"/>
    <p:sldId id="278" r:id="rId25"/>
    <p:sldId id="279" r:id="rId26"/>
    <p:sldId id="280" r:id="rId27"/>
    <p:sldId id="285" r:id="rId28"/>
    <p:sldId id="286" r:id="rId29"/>
    <p:sldId id="301" r:id="rId30"/>
    <p:sldId id="287" r:id="rId31"/>
    <p:sldId id="302" r:id="rId32"/>
    <p:sldId id="281" r:id="rId33"/>
    <p:sldId id="282" r:id="rId34"/>
    <p:sldId id="283" r:id="rId35"/>
    <p:sldId id="304" r:id="rId36"/>
    <p:sldId id="305" r:id="rId37"/>
    <p:sldId id="298" r:id="rId38"/>
    <p:sldId id="306" r:id="rId39"/>
    <p:sldId id="284" r:id="rId40"/>
    <p:sldId id="288" r:id="rId41"/>
    <p:sldId id="307" r:id="rId42"/>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15" autoAdjust="0"/>
  </p:normalViewPr>
  <p:slideViewPr>
    <p:cSldViewPr>
      <p:cViewPr varScale="1">
        <p:scale>
          <a:sx n="87" d="100"/>
          <a:sy n="87" d="100"/>
        </p:scale>
        <p:origin x="906" y="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E781C99-80B7-4C71-AA1D-0E5BDDD5036A}" type="datetimeFigureOut">
              <a:rPr lang="en-US" smtClean="0"/>
              <a:t>3/5/2026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3D8F537-B3DF-4AEE-92B8-CD8DE2D17B6D}" type="slidenum">
              <a:rPr lang="en-US" smtClean="0"/>
              <a:t>‹#›</a:t>
            </a:fld>
            <a:endParaRPr lang="en-US"/>
          </a:p>
        </p:txBody>
      </p:sp>
    </p:spTree>
    <p:extLst>
      <p:ext uri="{BB962C8B-B14F-4D97-AF65-F5344CB8AC3E}">
        <p14:creationId xmlns:p14="http://schemas.microsoft.com/office/powerpoint/2010/main" val="4201213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lvl1pPr defTabSz="925513">
              <a:defRPr sz="2400">
                <a:solidFill>
                  <a:schemeClr val="tx1"/>
                </a:solidFill>
                <a:latin typeface="Times New Roman" pitchFamily="18" charset="0"/>
              </a:defRPr>
            </a:lvl1pPr>
            <a:lvl2pPr marL="742950" indent="-285750" defTabSz="925513">
              <a:defRPr sz="2400">
                <a:solidFill>
                  <a:schemeClr val="tx1"/>
                </a:solidFill>
                <a:latin typeface="Times New Roman" pitchFamily="18" charset="0"/>
              </a:defRPr>
            </a:lvl2pPr>
            <a:lvl3pPr marL="1143000" indent="-228600" defTabSz="925513">
              <a:defRPr sz="2400">
                <a:solidFill>
                  <a:schemeClr val="tx1"/>
                </a:solidFill>
                <a:latin typeface="Times New Roman" pitchFamily="18" charset="0"/>
              </a:defRPr>
            </a:lvl3pPr>
            <a:lvl4pPr marL="1600200" indent="-228600" defTabSz="925513">
              <a:defRPr sz="2400">
                <a:solidFill>
                  <a:schemeClr val="tx1"/>
                </a:solidFill>
                <a:latin typeface="Times New Roman" pitchFamily="18" charset="0"/>
              </a:defRPr>
            </a:lvl4pPr>
            <a:lvl5pPr marL="2057400" indent="-228600" defTabSz="925513">
              <a:defRPr sz="2400">
                <a:solidFill>
                  <a:schemeClr val="tx1"/>
                </a:solidFill>
                <a:latin typeface="Times New Roman" pitchFamily="18" charset="0"/>
              </a:defRPr>
            </a:lvl5pPr>
            <a:lvl6pPr marL="2514600" indent="-228600" defTabSz="925513" eaLnBrk="0" fontAlgn="base" hangingPunct="0">
              <a:spcBef>
                <a:spcPct val="0"/>
              </a:spcBef>
              <a:spcAft>
                <a:spcPct val="0"/>
              </a:spcAft>
              <a:defRPr sz="2400">
                <a:solidFill>
                  <a:schemeClr val="tx1"/>
                </a:solidFill>
                <a:latin typeface="Times New Roman" pitchFamily="18" charset="0"/>
              </a:defRPr>
            </a:lvl6pPr>
            <a:lvl7pPr marL="2971800" indent="-228600" defTabSz="925513" eaLnBrk="0" fontAlgn="base" hangingPunct="0">
              <a:spcBef>
                <a:spcPct val="0"/>
              </a:spcBef>
              <a:spcAft>
                <a:spcPct val="0"/>
              </a:spcAft>
              <a:defRPr sz="2400">
                <a:solidFill>
                  <a:schemeClr val="tx1"/>
                </a:solidFill>
                <a:latin typeface="Times New Roman" pitchFamily="18" charset="0"/>
              </a:defRPr>
            </a:lvl7pPr>
            <a:lvl8pPr marL="3429000" indent="-228600" defTabSz="925513" eaLnBrk="0" fontAlgn="base" hangingPunct="0">
              <a:spcBef>
                <a:spcPct val="0"/>
              </a:spcBef>
              <a:spcAft>
                <a:spcPct val="0"/>
              </a:spcAft>
              <a:defRPr sz="2400">
                <a:solidFill>
                  <a:schemeClr val="tx1"/>
                </a:solidFill>
                <a:latin typeface="Times New Roman" pitchFamily="18" charset="0"/>
              </a:defRPr>
            </a:lvl8pPr>
            <a:lvl9pPr marL="3886200" indent="-228600" defTabSz="925513" eaLnBrk="0" fontAlgn="base" hangingPunct="0">
              <a:spcBef>
                <a:spcPct val="0"/>
              </a:spcBef>
              <a:spcAft>
                <a:spcPct val="0"/>
              </a:spcAft>
              <a:defRPr sz="2400">
                <a:solidFill>
                  <a:schemeClr val="tx1"/>
                </a:solidFill>
                <a:latin typeface="Times New Roman" pitchFamily="18" charset="0"/>
              </a:defRPr>
            </a:lvl9pPr>
          </a:lstStyle>
          <a:p>
            <a:fld id="{DF517AD7-3CA7-4654-8694-0662F3F19FBD}" type="slidenum">
              <a:rPr lang="en-CA" altLang="en-US" sz="1200" smtClean="0"/>
              <a:pPr/>
              <a:t>18</a:t>
            </a:fld>
            <a:endParaRPr lang="en-CA" altLang="en-US" sz="1200"/>
          </a:p>
        </p:txBody>
      </p:sp>
      <p:sp>
        <p:nvSpPr>
          <p:cNvPr id="67587" name="Rectangle 2"/>
          <p:cNvSpPr>
            <a:spLocks noGrp="1" noRot="1" noChangeAspect="1" noChangeArrowheads="1" noTextEdit="1"/>
          </p:cNvSpPr>
          <p:nvPr>
            <p:ph type="sldImg"/>
          </p:nvPr>
        </p:nvSpPr>
        <p:spPr>
          <a:ln/>
        </p:spPr>
        <p:txBody>
          <a:bodyPr/>
          <a:lstStyle/>
          <a:p>
            <a:endParaRPr lang="en-IN"/>
          </a:p>
        </p:txBody>
      </p:sp>
      <p:sp>
        <p:nvSpPr>
          <p:cNvPr id="67588" name="Rectangle 3"/>
          <p:cNvSpPr>
            <a:spLocks noGrp="1" noChangeArrowheads="1"/>
          </p:cNvSpPr>
          <p:nvPr>
            <p:ph type="body" idx="1"/>
          </p:nvPr>
        </p:nvSpPr>
        <p:spPr>
          <a:noFill/>
        </p:spPr>
        <p:txBody>
          <a:bodyPr/>
          <a:lstStyle/>
          <a:p>
            <a:endParaRPr lang="en-US" altLang="en-US">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028700"/>
            <a:ext cx="7851648" cy="13716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2421402"/>
            <a:ext cx="7854696" cy="131445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03746871-9F18-4C1A-BCA1-FFDA5AEE1DEC}" type="datetime1">
              <a:rPr lang="en-US" smtClean="0"/>
              <a:t>3/5/2026</a:t>
            </a:fld>
            <a:endParaRPr lang="en-US"/>
          </a:p>
        </p:txBody>
      </p:sp>
      <p:sp>
        <p:nvSpPr>
          <p:cNvPr id="19" name="Footer Placeholder 18"/>
          <p:cNvSpPr>
            <a:spLocks noGrp="1"/>
          </p:cNvSpPr>
          <p:nvPr>
            <p:ph type="ftr" sz="quarter" idx="11"/>
          </p:nvPr>
        </p:nvSpPr>
        <p:spPr/>
        <p:txBody>
          <a:bodyPr/>
          <a:lstStyle/>
          <a:p>
            <a:r>
              <a:rPr lang="en-US"/>
              <a:t>Dr. B. K. Ray, VIT, Vellore</a:t>
            </a:r>
          </a:p>
        </p:txBody>
      </p:sp>
      <p:sp>
        <p:nvSpPr>
          <p:cNvPr id="27" name="Slide Number Placeholder 26"/>
          <p:cNvSpPr>
            <a:spLocks noGrp="1"/>
          </p:cNvSpPr>
          <p:nvPr>
            <p:ph type="sldNum" sz="quarter" idx="12"/>
          </p:nvPr>
        </p:nvSpPr>
        <p:spPr/>
        <p:txBody>
          <a:bodyPr/>
          <a:lstStyle/>
          <a:p>
            <a:fld id="{DB4A5BFF-587F-4230-A0AE-EABA229E5E91}"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2EB9746-3776-4739-AECF-4E604577E92E}" type="datetime1">
              <a:rPr lang="en-US" smtClean="0"/>
              <a:t>3/5/2026</a:t>
            </a:fld>
            <a:endParaRPr lang="en-US"/>
          </a:p>
        </p:txBody>
      </p:sp>
      <p:sp>
        <p:nvSpPr>
          <p:cNvPr id="5" name="Footer Placeholder 4"/>
          <p:cNvSpPr>
            <a:spLocks noGrp="1"/>
          </p:cNvSpPr>
          <p:nvPr>
            <p:ph type="ftr" sz="quarter" idx="11"/>
          </p:nvPr>
        </p:nvSpPr>
        <p:spPr/>
        <p:txBody>
          <a:bodyPr/>
          <a:lstStyle/>
          <a:p>
            <a:r>
              <a:rPr lang="en-US"/>
              <a:t>Dr. B. K. Ray, VIT, Vellore</a:t>
            </a:r>
          </a:p>
        </p:txBody>
      </p:sp>
      <p:sp>
        <p:nvSpPr>
          <p:cNvPr id="6" name="Slide Number Placeholder 5"/>
          <p:cNvSpPr>
            <a:spLocks noGrp="1"/>
          </p:cNvSpPr>
          <p:nvPr>
            <p:ph type="sldNum" sz="quarter" idx="12"/>
          </p:nvPr>
        </p:nvSpPr>
        <p:spPr/>
        <p:txBody>
          <a:bodyPr/>
          <a:lstStyle/>
          <a:p>
            <a:fld id="{DB4A5BFF-587F-4230-A0AE-EABA229E5E91}"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987552"/>
            <a:ext cx="7772400" cy="1021842"/>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028498"/>
            <a:ext cx="7772400" cy="1132284"/>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9BB42F2F-ED54-4B86-9B6C-A7E01DE5F08E}" type="datetime1">
              <a:rPr lang="en-US" smtClean="0"/>
              <a:t>3/5/2026</a:t>
            </a:fld>
            <a:endParaRPr lang="en-US"/>
          </a:p>
        </p:txBody>
      </p:sp>
      <p:sp>
        <p:nvSpPr>
          <p:cNvPr id="5" name="Footer Placeholder 4"/>
          <p:cNvSpPr>
            <a:spLocks noGrp="1"/>
          </p:cNvSpPr>
          <p:nvPr>
            <p:ph type="ftr" sz="quarter" idx="11"/>
          </p:nvPr>
        </p:nvSpPr>
        <p:spPr/>
        <p:txBody>
          <a:bodyPr/>
          <a:lstStyle/>
          <a:p>
            <a:r>
              <a:rPr lang="en-US"/>
              <a:t>Dr. B. K. Ray, VIT, Vellore</a:t>
            </a:r>
          </a:p>
        </p:txBody>
      </p:sp>
      <p:sp>
        <p:nvSpPr>
          <p:cNvPr id="6" name="Slide Number Placeholder 5"/>
          <p:cNvSpPr>
            <a:spLocks noGrp="1"/>
          </p:cNvSpPr>
          <p:nvPr>
            <p:ph type="sldNum" sz="quarter" idx="12"/>
          </p:nvPr>
        </p:nvSpPr>
        <p:spPr/>
        <p:txBody>
          <a:bodyPr/>
          <a:lstStyle/>
          <a:p>
            <a:fld id="{DB4A5BFF-587F-4230-A0AE-EABA229E5E91}"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28066"/>
            <a:ext cx="8229600" cy="857250"/>
          </a:xfrm>
        </p:spPr>
        <p:txBody>
          <a:bodyPr/>
          <a:lstStyle/>
          <a:p>
            <a:r>
              <a:rPr kumimoji="0" lang="en-US"/>
              <a:t>Click to edit Master title style</a:t>
            </a:r>
          </a:p>
        </p:txBody>
      </p:sp>
      <p:sp>
        <p:nvSpPr>
          <p:cNvPr id="3" name="Content Placeholder 2"/>
          <p:cNvSpPr>
            <a:spLocks noGrp="1"/>
          </p:cNvSpPr>
          <p:nvPr>
            <p:ph sz="half" idx="1"/>
          </p:nvPr>
        </p:nvSpPr>
        <p:spPr>
          <a:xfrm>
            <a:off x="457200" y="1440064"/>
            <a:ext cx="4038600" cy="332613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40064"/>
            <a:ext cx="4038600" cy="332613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F051A6D3-44DF-4F25-AEC6-4C4F15BD487D}" type="datetime1">
              <a:rPr lang="en-US" smtClean="0"/>
              <a:t>3/5/2026</a:t>
            </a:fld>
            <a:endParaRPr lang="en-US"/>
          </a:p>
        </p:txBody>
      </p:sp>
      <p:sp>
        <p:nvSpPr>
          <p:cNvPr id="6" name="Footer Placeholder 5"/>
          <p:cNvSpPr>
            <a:spLocks noGrp="1"/>
          </p:cNvSpPr>
          <p:nvPr>
            <p:ph type="ftr" sz="quarter" idx="11"/>
          </p:nvPr>
        </p:nvSpPr>
        <p:spPr/>
        <p:txBody>
          <a:bodyPr/>
          <a:lstStyle/>
          <a:p>
            <a:r>
              <a:rPr lang="en-US"/>
              <a:t>Dr. B. K. Ray, VIT, Vellore</a:t>
            </a:r>
          </a:p>
        </p:txBody>
      </p:sp>
      <p:sp>
        <p:nvSpPr>
          <p:cNvPr id="7" name="Slide Number Placeholder 6"/>
          <p:cNvSpPr>
            <a:spLocks noGrp="1"/>
          </p:cNvSpPr>
          <p:nvPr>
            <p:ph type="sldNum" sz="quarter" idx="12"/>
          </p:nvPr>
        </p:nvSpPr>
        <p:spPr/>
        <p:txBody>
          <a:bodyPr/>
          <a:lstStyle/>
          <a:p>
            <a:fld id="{DB4A5BFF-587F-4230-A0AE-EABA229E5E91}"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28066"/>
            <a:ext cx="8229600" cy="85725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391436"/>
            <a:ext cx="4040188" cy="494514"/>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1394818"/>
            <a:ext cx="4041775" cy="491132"/>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885950"/>
            <a:ext cx="4040188" cy="288429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6" y="1885950"/>
            <a:ext cx="4041775" cy="288429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5DB794F3-0501-43A9-9EDD-1D1397F210E2}" type="datetime1">
              <a:rPr lang="en-US" smtClean="0"/>
              <a:t>3/5/2026</a:t>
            </a:fld>
            <a:endParaRPr lang="en-US"/>
          </a:p>
        </p:txBody>
      </p:sp>
      <p:sp>
        <p:nvSpPr>
          <p:cNvPr id="8" name="Footer Placeholder 7"/>
          <p:cNvSpPr>
            <a:spLocks noGrp="1"/>
          </p:cNvSpPr>
          <p:nvPr>
            <p:ph type="ftr" sz="quarter" idx="11"/>
          </p:nvPr>
        </p:nvSpPr>
        <p:spPr/>
        <p:txBody>
          <a:bodyPr/>
          <a:lstStyle/>
          <a:p>
            <a:r>
              <a:rPr lang="en-US"/>
              <a:t>Dr. B. K. Ray, VIT, Vellore</a:t>
            </a:r>
          </a:p>
        </p:txBody>
      </p:sp>
      <p:sp>
        <p:nvSpPr>
          <p:cNvPr id="9" name="Slide Number Placeholder 8"/>
          <p:cNvSpPr>
            <a:spLocks noGrp="1"/>
          </p:cNvSpPr>
          <p:nvPr>
            <p:ph type="sldNum" sz="quarter" idx="12"/>
          </p:nvPr>
        </p:nvSpPr>
        <p:spPr/>
        <p:txBody>
          <a:bodyPr/>
          <a:lstStyle/>
          <a:p>
            <a:fld id="{DB4A5BFF-587F-4230-A0AE-EABA229E5E91}"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528066"/>
            <a:ext cx="8305800" cy="85725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25DFFBC2-4510-495B-9EDB-D8F07E5932F4}" type="datetime1">
              <a:rPr lang="en-US" smtClean="0"/>
              <a:t>3/5/2026</a:t>
            </a:fld>
            <a:endParaRPr lang="en-US"/>
          </a:p>
        </p:txBody>
      </p:sp>
      <p:sp>
        <p:nvSpPr>
          <p:cNvPr id="4" name="Footer Placeholder 3"/>
          <p:cNvSpPr>
            <a:spLocks noGrp="1"/>
          </p:cNvSpPr>
          <p:nvPr>
            <p:ph type="ftr" sz="quarter" idx="11"/>
          </p:nvPr>
        </p:nvSpPr>
        <p:spPr/>
        <p:txBody>
          <a:bodyPr/>
          <a:lstStyle/>
          <a:p>
            <a:r>
              <a:rPr lang="en-US"/>
              <a:t>Dr. B. K. Ray, VIT, Vellore</a:t>
            </a:r>
          </a:p>
        </p:txBody>
      </p:sp>
      <p:sp>
        <p:nvSpPr>
          <p:cNvPr id="5" name="Slide Number Placeholder 4"/>
          <p:cNvSpPr>
            <a:spLocks noGrp="1"/>
          </p:cNvSpPr>
          <p:nvPr>
            <p:ph type="sldNum" sz="quarter" idx="12"/>
          </p:nvPr>
        </p:nvSpPr>
        <p:spPr/>
        <p:txBody>
          <a:bodyPr/>
          <a:lstStyle/>
          <a:p>
            <a:fld id="{DB4A5BFF-587F-4230-A0AE-EABA229E5E9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5D4646-38CE-4BD4-BB31-2A4E379483B8}" type="datetime1">
              <a:rPr lang="en-US" smtClean="0"/>
              <a:t>3/5/2026</a:t>
            </a:fld>
            <a:endParaRPr lang="en-US"/>
          </a:p>
        </p:txBody>
      </p:sp>
      <p:sp>
        <p:nvSpPr>
          <p:cNvPr id="3" name="Footer Placeholder 2"/>
          <p:cNvSpPr>
            <a:spLocks noGrp="1"/>
          </p:cNvSpPr>
          <p:nvPr>
            <p:ph type="ftr" sz="quarter" idx="11"/>
          </p:nvPr>
        </p:nvSpPr>
        <p:spPr/>
        <p:txBody>
          <a:bodyPr/>
          <a:lstStyle/>
          <a:p>
            <a:r>
              <a:rPr lang="en-US"/>
              <a:t>Dr. B. K. Ray, VIT, Vellore</a:t>
            </a:r>
          </a:p>
        </p:txBody>
      </p:sp>
      <p:sp>
        <p:nvSpPr>
          <p:cNvPr id="4" name="Slide Number Placeholder 3"/>
          <p:cNvSpPr>
            <a:spLocks noGrp="1"/>
          </p:cNvSpPr>
          <p:nvPr>
            <p:ph type="sldNum" sz="quarter" idx="12"/>
          </p:nvPr>
        </p:nvSpPr>
        <p:spPr/>
        <p:txBody>
          <a:bodyPr/>
          <a:lstStyle/>
          <a:p>
            <a:fld id="{DB4A5BFF-587F-4230-A0AE-EABA229E5E9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385764"/>
            <a:ext cx="2743200" cy="871538"/>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257300"/>
            <a:ext cx="2743200" cy="3429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257300"/>
            <a:ext cx="5111750" cy="3429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315B7981-9663-4C30-A6BD-698FF4CE8BF3}" type="datetime1">
              <a:rPr lang="en-US" smtClean="0"/>
              <a:t>3/5/2026</a:t>
            </a:fld>
            <a:endParaRPr lang="en-US"/>
          </a:p>
        </p:txBody>
      </p:sp>
      <p:sp>
        <p:nvSpPr>
          <p:cNvPr id="6" name="Footer Placeholder 5"/>
          <p:cNvSpPr>
            <a:spLocks noGrp="1"/>
          </p:cNvSpPr>
          <p:nvPr>
            <p:ph type="ftr" sz="quarter" idx="11"/>
          </p:nvPr>
        </p:nvSpPr>
        <p:spPr/>
        <p:txBody>
          <a:bodyPr/>
          <a:lstStyle/>
          <a:p>
            <a:r>
              <a:rPr lang="en-US"/>
              <a:t>Dr. B. K. Ray, VIT, Vellore</a:t>
            </a:r>
          </a:p>
        </p:txBody>
      </p:sp>
      <p:sp>
        <p:nvSpPr>
          <p:cNvPr id="7" name="Slide Number Placeholder 6"/>
          <p:cNvSpPr>
            <a:spLocks noGrp="1"/>
          </p:cNvSpPr>
          <p:nvPr>
            <p:ph type="sldNum" sz="quarter" idx="12"/>
          </p:nvPr>
        </p:nvSpPr>
        <p:spPr/>
        <p:txBody>
          <a:bodyPr/>
          <a:lstStyle/>
          <a:p>
            <a:fld id="{DB4A5BFF-587F-4230-A0AE-EABA229E5E91}"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831058"/>
            <a:ext cx="5257800" cy="30861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4019827"/>
            <a:ext cx="155448" cy="116586"/>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882747"/>
            <a:ext cx="2212848" cy="1186966"/>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121589"/>
            <a:ext cx="2209800" cy="163449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C0D55D79-CD48-48A5-ADB5-B5763D83D409}" type="datetime1">
              <a:rPr lang="en-US" smtClean="0"/>
              <a:t>3/5/2026</a:t>
            </a:fld>
            <a:endParaRPr lang="en-US"/>
          </a:p>
        </p:txBody>
      </p:sp>
      <p:sp>
        <p:nvSpPr>
          <p:cNvPr id="6" name="Footer Placeholder 5"/>
          <p:cNvSpPr>
            <a:spLocks noGrp="1"/>
          </p:cNvSpPr>
          <p:nvPr>
            <p:ph type="ftr" sz="quarter" idx="11"/>
          </p:nvPr>
        </p:nvSpPr>
        <p:spPr/>
        <p:txBody>
          <a:bodyPr/>
          <a:lstStyle/>
          <a:p>
            <a:r>
              <a:rPr lang="en-US"/>
              <a:t>Dr. B. K. Ray, VIT, Vellore</a:t>
            </a:r>
          </a:p>
        </p:txBody>
      </p:sp>
      <p:sp>
        <p:nvSpPr>
          <p:cNvPr id="7" name="Slide Number Placeholder 6"/>
          <p:cNvSpPr>
            <a:spLocks noGrp="1"/>
          </p:cNvSpPr>
          <p:nvPr>
            <p:ph type="sldNum" sz="quarter" idx="12"/>
          </p:nvPr>
        </p:nvSpPr>
        <p:spPr>
          <a:xfrm>
            <a:off x="8077200" y="4767263"/>
            <a:ext cx="609600" cy="273844"/>
          </a:xfrm>
        </p:spPr>
        <p:txBody>
          <a:bodyPr/>
          <a:lstStyle/>
          <a:p>
            <a:fld id="{DB4A5BFF-587F-4230-A0AE-EABA229E5E91}" type="slidenum">
              <a:rPr lang="en-US" smtClean="0"/>
              <a:t>‹#›</a:t>
            </a:fld>
            <a:endParaRPr lang="en-US"/>
          </a:p>
        </p:txBody>
      </p:sp>
      <p:sp>
        <p:nvSpPr>
          <p:cNvPr id="3" name="Picture Placeholder 2"/>
          <p:cNvSpPr>
            <a:spLocks noGrp="1"/>
          </p:cNvSpPr>
          <p:nvPr>
            <p:ph type="pic" idx="1"/>
          </p:nvPr>
        </p:nvSpPr>
        <p:spPr>
          <a:xfrm rot="420000">
            <a:off x="3485793" y="899638"/>
            <a:ext cx="4617720" cy="294894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4362450"/>
            <a:ext cx="9163050" cy="78105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4664869"/>
            <a:ext cx="4762500" cy="478631"/>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62CAB1A-F0C4-4C68-840B-FC2F800E0B24}" type="datetime1">
              <a:rPr lang="en-US" smtClean="0"/>
              <a:t>3/5/2026</a:t>
            </a:fld>
            <a:endParaRPr lang="en-US"/>
          </a:p>
        </p:txBody>
      </p:sp>
      <p:sp>
        <p:nvSpPr>
          <p:cNvPr id="5" name="Footer Placeholder 4"/>
          <p:cNvSpPr>
            <a:spLocks noGrp="1"/>
          </p:cNvSpPr>
          <p:nvPr>
            <p:ph type="ftr" sz="quarter" idx="11"/>
          </p:nvPr>
        </p:nvSpPr>
        <p:spPr/>
        <p:txBody>
          <a:bodyPr/>
          <a:lstStyle/>
          <a:p>
            <a:r>
              <a:rPr lang="en-US"/>
              <a:t>Dr. B. K. Ray, VIT, Vellore</a:t>
            </a:r>
          </a:p>
        </p:txBody>
      </p:sp>
      <p:sp>
        <p:nvSpPr>
          <p:cNvPr id="6" name="Slide Number Placeholder 5"/>
          <p:cNvSpPr>
            <a:spLocks noGrp="1"/>
          </p:cNvSpPr>
          <p:nvPr>
            <p:ph type="sldNum" sz="quarter" idx="12"/>
          </p:nvPr>
        </p:nvSpPr>
        <p:spPr/>
        <p:txBody>
          <a:bodyPr/>
          <a:lstStyle/>
          <a:p>
            <a:fld id="{DB4A5BFF-587F-4230-A0AE-EABA229E5E9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85801"/>
            <a:ext cx="2057400" cy="3908822"/>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85801"/>
            <a:ext cx="6019800" cy="3908822"/>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8180DC4-7974-4152-9FC7-58FF9DB25064}" type="datetime1">
              <a:rPr lang="en-US" smtClean="0"/>
              <a:t>3/5/2026</a:t>
            </a:fld>
            <a:endParaRPr lang="en-US"/>
          </a:p>
        </p:txBody>
      </p:sp>
      <p:sp>
        <p:nvSpPr>
          <p:cNvPr id="5" name="Footer Placeholder 4"/>
          <p:cNvSpPr>
            <a:spLocks noGrp="1"/>
          </p:cNvSpPr>
          <p:nvPr>
            <p:ph type="ftr" sz="quarter" idx="11"/>
          </p:nvPr>
        </p:nvSpPr>
        <p:spPr/>
        <p:txBody>
          <a:bodyPr/>
          <a:lstStyle/>
          <a:p>
            <a:r>
              <a:rPr lang="en-US"/>
              <a:t>Dr. B. K. Ray, VIT, Vellore</a:t>
            </a:r>
          </a:p>
        </p:txBody>
      </p:sp>
      <p:sp>
        <p:nvSpPr>
          <p:cNvPr id="6" name="Slide Number Placeholder 5"/>
          <p:cNvSpPr>
            <a:spLocks noGrp="1"/>
          </p:cNvSpPr>
          <p:nvPr>
            <p:ph type="sldNum" sz="quarter" idx="12"/>
          </p:nvPr>
        </p:nvSpPr>
        <p:spPr/>
        <p:txBody>
          <a:bodyPr/>
          <a:lstStyle/>
          <a:p>
            <a:fld id="{DB4A5BFF-587F-4230-A0AE-EABA229E5E91}"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5358"/>
            <a:ext cx="9163050" cy="78105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5358"/>
            <a:ext cx="4762500" cy="478631"/>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528066"/>
            <a:ext cx="8229600" cy="85725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451610"/>
            <a:ext cx="8229600" cy="329184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4767263"/>
            <a:ext cx="2133600" cy="273844"/>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C7669058-513A-42D3-99A3-F3BDA9630D44}" type="datetime1">
              <a:rPr lang="en-US" smtClean="0"/>
              <a:t>3/5/2026</a:t>
            </a:fld>
            <a:endParaRPr lang="en-US"/>
          </a:p>
        </p:txBody>
      </p:sp>
      <p:sp>
        <p:nvSpPr>
          <p:cNvPr id="22" name="Footer Placeholder 21"/>
          <p:cNvSpPr>
            <a:spLocks noGrp="1"/>
          </p:cNvSpPr>
          <p:nvPr>
            <p:ph type="ftr" sz="quarter" idx="3"/>
          </p:nvPr>
        </p:nvSpPr>
        <p:spPr>
          <a:xfrm>
            <a:off x="2667000" y="4767263"/>
            <a:ext cx="3352800" cy="273844"/>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r>
              <a:rPr lang="en-US"/>
              <a:t>Dr. B. K. Ray, VIT, Vellore</a:t>
            </a:r>
          </a:p>
        </p:txBody>
      </p:sp>
      <p:sp>
        <p:nvSpPr>
          <p:cNvPr id="18" name="Slide Number Placeholder 17"/>
          <p:cNvSpPr>
            <a:spLocks noGrp="1"/>
          </p:cNvSpPr>
          <p:nvPr>
            <p:ph type="sldNum" sz="quarter" idx="4"/>
          </p:nvPr>
        </p:nvSpPr>
        <p:spPr>
          <a:xfrm>
            <a:off x="7924800" y="4767263"/>
            <a:ext cx="762000" cy="273844"/>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DB4A5BFF-587F-4230-A0AE-EABA229E5E91}" type="slidenum">
              <a:rPr lang="en-US" smtClean="0"/>
              <a:t>‹#›</a:t>
            </a:fld>
            <a:endParaRPr lang="en-US"/>
          </a:p>
        </p:txBody>
      </p:sp>
      <p:grpSp>
        <p:nvGrpSpPr>
          <p:cNvPr id="2" name="Group 1"/>
          <p:cNvGrpSpPr/>
          <p:nvPr/>
        </p:nvGrpSpPr>
        <p:grpSpPr>
          <a:xfrm>
            <a:off x="-19017" y="151806"/>
            <a:ext cx="9180548" cy="486918"/>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Normalization</a:t>
            </a:r>
          </a:p>
        </p:txBody>
      </p:sp>
      <p:sp>
        <p:nvSpPr>
          <p:cNvPr id="3" name="Subtitle 2"/>
          <p:cNvSpPr>
            <a:spLocks noGrp="1"/>
          </p:cNvSpPr>
          <p:nvPr>
            <p:ph type="subTitle" idx="1"/>
          </p:nvPr>
        </p:nvSpPr>
        <p:spPr/>
        <p:txBody>
          <a:bodyPr/>
          <a:lstStyle/>
          <a:p>
            <a:r>
              <a:rPr lang="en-US" dirty="0"/>
              <a:t>Module 4</a:t>
            </a:r>
          </a:p>
        </p:txBody>
      </p:sp>
      <p:sp>
        <p:nvSpPr>
          <p:cNvPr id="4" name="Slide Number Placeholder 3"/>
          <p:cNvSpPr>
            <a:spLocks noGrp="1"/>
          </p:cNvSpPr>
          <p:nvPr>
            <p:ph type="sldNum" sz="quarter" idx="12"/>
          </p:nvPr>
        </p:nvSpPr>
        <p:spPr/>
        <p:txBody>
          <a:bodyPr/>
          <a:lstStyle/>
          <a:p>
            <a:fld id="{DB4A5BFF-587F-4230-A0AE-EABA229E5E91}" type="slidenum">
              <a:rPr lang="en-US" smtClean="0"/>
              <a:t>1</a:t>
            </a:fld>
            <a:endParaRPr lang="en-US"/>
          </a:p>
        </p:txBody>
      </p:sp>
    </p:spTree>
    <p:extLst>
      <p:ext uri="{BB962C8B-B14F-4D97-AF65-F5344CB8AC3E}">
        <p14:creationId xmlns:p14="http://schemas.microsoft.com/office/powerpoint/2010/main" val="15458560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
            <a:ext cx="8229600" cy="857250"/>
          </a:xfrm>
        </p:spPr>
        <p:txBody>
          <a:bodyPr>
            <a:normAutofit/>
          </a:bodyPr>
          <a:lstStyle/>
          <a:p>
            <a:r>
              <a:rPr lang="en-US" sz="2800" dirty="0"/>
              <a:t>Normalization</a:t>
            </a:r>
          </a:p>
        </p:txBody>
      </p:sp>
      <p:sp>
        <p:nvSpPr>
          <p:cNvPr id="3" name="Content Placeholder 2"/>
          <p:cNvSpPr>
            <a:spLocks noGrp="1"/>
          </p:cNvSpPr>
          <p:nvPr>
            <p:ph idx="1"/>
          </p:nvPr>
        </p:nvSpPr>
        <p:spPr>
          <a:xfrm>
            <a:off x="457200" y="1261110"/>
            <a:ext cx="8229600" cy="3291840"/>
          </a:xfrm>
        </p:spPr>
        <p:txBody>
          <a:bodyPr>
            <a:normAutofit/>
          </a:bodyPr>
          <a:lstStyle/>
          <a:p>
            <a:pPr>
              <a:lnSpc>
                <a:spcPct val="150000"/>
              </a:lnSpc>
              <a:spcBef>
                <a:spcPts val="0"/>
              </a:spcBef>
              <a:buFont typeface="Wingdings" pitchFamily="2" charset="2"/>
              <a:buChar char="§"/>
            </a:pPr>
            <a:r>
              <a:rPr lang="en-US" sz="2000" dirty="0"/>
              <a:t>Normalization is defined as </a:t>
            </a:r>
            <a:r>
              <a:rPr lang="en-US" sz="2000" i="1" u="sng" dirty="0"/>
              <a:t>organizing data</a:t>
            </a:r>
            <a:r>
              <a:rPr lang="en-US" sz="2000" dirty="0"/>
              <a:t> so as to reduce unnecessary data redundancy and to preserve information.</a:t>
            </a:r>
          </a:p>
          <a:p>
            <a:pPr>
              <a:lnSpc>
                <a:spcPct val="150000"/>
              </a:lnSpc>
              <a:spcBef>
                <a:spcPts val="0"/>
              </a:spcBef>
              <a:buFont typeface="Wingdings" pitchFamily="2" charset="2"/>
              <a:buChar char="§"/>
            </a:pPr>
            <a:r>
              <a:rPr lang="en-US" sz="2000" dirty="0"/>
              <a:t>A Normal form is a measure of quality </a:t>
            </a:r>
            <a:r>
              <a:rPr lang="en-US" sz="2000"/>
              <a:t>of design </a:t>
            </a:r>
            <a:r>
              <a:rPr lang="en-US" sz="2000" dirty="0"/>
              <a:t>of a relation schema.</a:t>
            </a:r>
          </a:p>
          <a:p>
            <a:endParaRPr lang="en-US" dirty="0"/>
          </a:p>
        </p:txBody>
      </p:sp>
      <p:sp>
        <p:nvSpPr>
          <p:cNvPr id="5" name="Slide Number Placeholder 4"/>
          <p:cNvSpPr>
            <a:spLocks noGrp="1"/>
          </p:cNvSpPr>
          <p:nvPr>
            <p:ph type="sldNum" sz="quarter" idx="12"/>
          </p:nvPr>
        </p:nvSpPr>
        <p:spPr/>
        <p:txBody>
          <a:bodyPr/>
          <a:lstStyle/>
          <a:p>
            <a:fld id="{DB4A5BFF-587F-4230-A0AE-EABA229E5E91}" type="slidenum">
              <a:rPr lang="en-US" smtClean="0"/>
              <a:t>2</a:t>
            </a:fld>
            <a:endParaRPr lang="en-US"/>
          </a:p>
        </p:txBody>
      </p:sp>
    </p:spTree>
    <p:extLst>
      <p:ext uri="{BB962C8B-B14F-4D97-AF65-F5344CB8AC3E}">
        <p14:creationId xmlns:p14="http://schemas.microsoft.com/office/powerpoint/2010/main" val="521945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
            <a:ext cx="8229600" cy="857250"/>
          </a:xfrm>
        </p:spPr>
        <p:txBody>
          <a:bodyPr>
            <a:normAutofit/>
          </a:bodyPr>
          <a:lstStyle/>
          <a:p>
            <a:r>
              <a:rPr lang="en-US" sz="2800" dirty="0"/>
              <a:t>Normalization</a:t>
            </a:r>
          </a:p>
        </p:txBody>
      </p:sp>
      <p:sp>
        <p:nvSpPr>
          <p:cNvPr id="3" name="Content Placeholder 2"/>
          <p:cNvSpPr>
            <a:spLocks noGrp="1"/>
          </p:cNvSpPr>
          <p:nvPr>
            <p:ph idx="1"/>
          </p:nvPr>
        </p:nvSpPr>
        <p:spPr>
          <a:xfrm>
            <a:off x="457200" y="1276350"/>
            <a:ext cx="8229600" cy="3291840"/>
          </a:xfrm>
        </p:spPr>
        <p:txBody>
          <a:bodyPr>
            <a:normAutofit/>
          </a:bodyPr>
          <a:lstStyle/>
          <a:p>
            <a:pPr>
              <a:lnSpc>
                <a:spcPct val="150000"/>
              </a:lnSpc>
              <a:spcBef>
                <a:spcPts val="0"/>
              </a:spcBef>
              <a:buFont typeface="Wingdings" pitchFamily="2" charset="2"/>
              <a:buChar char="§"/>
              <a:defRPr/>
            </a:pPr>
            <a:r>
              <a:rPr lang="en-US" sz="2000" dirty="0"/>
              <a:t>The normal form of relation schema is </a:t>
            </a:r>
            <a:r>
              <a:rPr lang="en-US" sz="2000"/>
              <a:t>the highest </a:t>
            </a:r>
            <a:r>
              <a:rPr lang="en-US" sz="2000" dirty="0"/>
              <a:t>normal form satisfied by the schema.</a:t>
            </a:r>
          </a:p>
          <a:p>
            <a:pPr>
              <a:lnSpc>
                <a:spcPct val="150000"/>
              </a:lnSpc>
              <a:spcBef>
                <a:spcPts val="0"/>
              </a:spcBef>
              <a:buFont typeface="Wingdings" pitchFamily="2" charset="2"/>
              <a:buChar char="§"/>
            </a:pPr>
            <a:r>
              <a:rPr lang="en-US" sz="2000" dirty="0"/>
              <a:t>Normal form</a:t>
            </a:r>
          </a:p>
          <a:p>
            <a:pPr lvl="1">
              <a:lnSpc>
                <a:spcPct val="150000"/>
              </a:lnSpc>
              <a:spcBef>
                <a:spcPts val="0"/>
              </a:spcBef>
              <a:buFont typeface="Wingdings" pitchFamily="2" charset="2"/>
              <a:buChar char="§"/>
            </a:pPr>
            <a:r>
              <a:rPr lang="en-US" sz="2000" dirty="0"/>
              <a:t>First Normal Form</a:t>
            </a:r>
          </a:p>
          <a:p>
            <a:pPr lvl="1">
              <a:lnSpc>
                <a:spcPct val="150000"/>
              </a:lnSpc>
              <a:spcBef>
                <a:spcPts val="0"/>
              </a:spcBef>
              <a:buFont typeface="Wingdings" pitchFamily="2" charset="2"/>
              <a:buChar char="§"/>
            </a:pPr>
            <a:r>
              <a:rPr lang="en-US" sz="2000" dirty="0"/>
              <a:t>Second Normal Form</a:t>
            </a:r>
          </a:p>
          <a:p>
            <a:pPr lvl="1">
              <a:lnSpc>
                <a:spcPct val="150000"/>
              </a:lnSpc>
              <a:spcBef>
                <a:spcPts val="0"/>
              </a:spcBef>
              <a:buFont typeface="Wingdings" pitchFamily="2" charset="2"/>
              <a:buChar char="§"/>
            </a:pPr>
            <a:r>
              <a:rPr lang="en-US" sz="2000" dirty="0"/>
              <a:t>Third Normal Form</a:t>
            </a:r>
          </a:p>
          <a:p>
            <a:pPr lvl="1">
              <a:lnSpc>
                <a:spcPct val="150000"/>
              </a:lnSpc>
              <a:spcBef>
                <a:spcPts val="0"/>
              </a:spcBef>
              <a:buFont typeface="Wingdings" pitchFamily="2" charset="2"/>
              <a:buChar char="§"/>
            </a:pPr>
            <a:r>
              <a:rPr lang="en-US" sz="2000" dirty="0"/>
              <a:t>Boyce-</a:t>
            </a:r>
            <a:r>
              <a:rPr lang="en-US" sz="2000" dirty="0" err="1"/>
              <a:t>Codd</a:t>
            </a:r>
            <a:r>
              <a:rPr lang="en-US" sz="2000" dirty="0"/>
              <a:t> Normal Form (BCNF)</a:t>
            </a:r>
          </a:p>
        </p:txBody>
      </p:sp>
      <p:sp>
        <p:nvSpPr>
          <p:cNvPr id="5" name="Slide Number Placeholder 4"/>
          <p:cNvSpPr>
            <a:spLocks noGrp="1"/>
          </p:cNvSpPr>
          <p:nvPr>
            <p:ph type="sldNum" sz="quarter" idx="12"/>
          </p:nvPr>
        </p:nvSpPr>
        <p:spPr/>
        <p:txBody>
          <a:bodyPr/>
          <a:lstStyle/>
          <a:p>
            <a:fld id="{DB4A5BFF-587F-4230-A0AE-EABA229E5E91}" type="slidenum">
              <a:rPr lang="en-US" smtClean="0"/>
              <a:t>3</a:t>
            </a:fld>
            <a:endParaRPr lang="en-US"/>
          </a:p>
        </p:txBody>
      </p:sp>
    </p:spTree>
    <p:extLst>
      <p:ext uri="{BB962C8B-B14F-4D97-AF65-F5344CB8AC3E}">
        <p14:creationId xmlns:p14="http://schemas.microsoft.com/office/powerpoint/2010/main" val="38148777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
            <a:ext cx="8229600" cy="857250"/>
          </a:xfrm>
        </p:spPr>
        <p:txBody>
          <a:bodyPr>
            <a:normAutofit/>
          </a:bodyPr>
          <a:lstStyle/>
          <a:p>
            <a:r>
              <a:rPr lang="en-US" sz="2800" dirty="0"/>
              <a:t>First normal form (1NF)</a:t>
            </a:r>
          </a:p>
        </p:txBody>
      </p:sp>
      <p:sp>
        <p:nvSpPr>
          <p:cNvPr id="3" name="Content Placeholder 2"/>
          <p:cNvSpPr>
            <a:spLocks noGrp="1"/>
          </p:cNvSpPr>
          <p:nvPr>
            <p:ph idx="1"/>
          </p:nvPr>
        </p:nvSpPr>
        <p:spPr>
          <a:xfrm>
            <a:off x="457200" y="1261110"/>
            <a:ext cx="8229600" cy="3291840"/>
          </a:xfrm>
        </p:spPr>
        <p:txBody>
          <a:bodyPr/>
          <a:lstStyle/>
          <a:p>
            <a:pPr>
              <a:lnSpc>
                <a:spcPct val="150000"/>
              </a:lnSpc>
              <a:spcBef>
                <a:spcPts val="0"/>
              </a:spcBef>
              <a:buNone/>
            </a:pPr>
            <a:r>
              <a:rPr lang="en-US" sz="2000" dirty="0"/>
              <a:t>A relation schema is said to be in first </a:t>
            </a:r>
            <a:r>
              <a:rPr lang="en-US" sz="2000"/>
              <a:t>normal form </a:t>
            </a:r>
            <a:r>
              <a:rPr lang="en-US" sz="2000" dirty="0"/>
              <a:t>if all its attributes </a:t>
            </a:r>
            <a:r>
              <a:rPr lang="en-US" sz="2000"/>
              <a:t>are </a:t>
            </a:r>
          </a:p>
          <a:p>
            <a:pPr>
              <a:lnSpc>
                <a:spcPct val="150000"/>
              </a:lnSpc>
              <a:spcBef>
                <a:spcPts val="0"/>
              </a:spcBef>
              <a:buNone/>
            </a:pPr>
            <a:r>
              <a:rPr lang="en-US" sz="2000"/>
              <a:t>atomic</a:t>
            </a:r>
            <a:r>
              <a:rPr lang="en-US" sz="2000" dirty="0"/>
              <a:t>.</a:t>
            </a:r>
          </a:p>
          <a:p>
            <a:pPr marL="137160" indent="0">
              <a:buNone/>
            </a:pPr>
            <a:endParaRPr lang="en-US" dirty="0"/>
          </a:p>
        </p:txBody>
      </p:sp>
      <p:sp>
        <p:nvSpPr>
          <p:cNvPr id="5" name="Slide Number Placeholder 4"/>
          <p:cNvSpPr>
            <a:spLocks noGrp="1"/>
          </p:cNvSpPr>
          <p:nvPr>
            <p:ph type="sldNum" sz="quarter" idx="12"/>
          </p:nvPr>
        </p:nvSpPr>
        <p:spPr/>
        <p:txBody>
          <a:bodyPr/>
          <a:lstStyle/>
          <a:p>
            <a:fld id="{DB4A5BFF-587F-4230-A0AE-EABA229E5E91}" type="slidenum">
              <a:rPr lang="en-US" smtClean="0"/>
              <a:t>4</a:t>
            </a:fld>
            <a:endParaRPr lang="en-US"/>
          </a:p>
        </p:txBody>
      </p:sp>
    </p:spTree>
    <p:extLst>
      <p:ext uri="{BB962C8B-B14F-4D97-AF65-F5344CB8AC3E}">
        <p14:creationId xmlns:p14="http://schemas.microsoft.com/office/powerpoint/2010/main" val="3701793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
            <a:ext cx="8229600" cy="857250"/>
          </a:xfrm>
        </p:spPr>
        <p:txBody>
          <a:bodyPr>
            <a:normAutofit/>
          </a:bodyPr>
          <a:lstStyle/>
          <a:p>
            <a:r>
              <a:rPr lang="en-US" sz="2800" dirty="0"/>
              <a:t>A relation schema NOT in 1NF</a:t>
            </a:r>
          </a:p>
        </p:txBody>
      </p:sp>
      <p:sp>
        <p:nvSpPr>
          <p:cNvPr id="8" name="Slide Number Placeholder 7"/>
          <p:cNvSpPr>
            <a:spLocks noGrp="1"/>
          </p:cNvSpPr>
          <p:nvPr>
            <p:ph type="sldNum" sz="quarter" idx="12"/>
          </p:nvPr>
        </p:nvSpPr>
        <p:spPr/>
        <p:txBody>
          <a:bodyPr/>
          <a:lstStyle/>
          <a:p>
            <a:fld id="{DB4A5BFF-587F-4230-A0AE-EABA229E5E91}" type="slidenum">
              <a:rPr lang="en-US" smtClean="0"/>
              <a:t>5</a:t>
            </a:fld>
            <a:endParaRPr lang="en-US"/>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504950"/>
            <a:ext cx="53340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a:spLocks noChangeArrowheads="1"/>
          </p:cNvSpPr>
          <p:nvPr/>
        </p:nvSpPr>
        <p:spPr bwMode="auto">
          <a:xfrm>
            <a:off x="6293310" y="1447621"/>
            <a:ext cx="214353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i="1">
                <a:solidFill>
                  <a:schemeClr val="tx1"/>
                </a:solidFill>
                <a:latin typeface="Verdana" pitchFamily="34" charset="0"/>
              </a:defRPr>
            </a:lvl1pPr>
            <a:lvl2pPr marL="742950" indent="-285750">
              <a:defRPr sz="1200" i="1">
                <a:solidFill>
                  <a:schemeClr val="tx1"/>
                </a:solidFill>
                <a:latin typeface="Verdana" pitchFamily="34" charset="0"/>
              </a:defRPr>
            </a:lvl2pPr>
            <a:lvl3pPr marL="1143000" indent="-228600">
              <a:defRPr sz="1200" i="1">
                <a:solidFill>
                  <a:schemeClr val="tx1"/>
                </a:solidFill>
                <a:latin typeface="Verdana" pitchFamily="34" charset="0"/>
              </a:defRPr>
            </a:lvl3pPr>
            <a:lvl4pPr marL="1600200" indent="-228600">
              <a:defRPr sz="1200" i="1">
                <a:solidFill>
                  <a:schemeClr val="tx1"/>
                </a:solidFill>
                <a:latin typeface="Verdana" pitchFamily="34" charset="0"/>
              </a:defRPr>
            </a:lvl4pPr>
            <a:lvl5pPr marL="2057400" indent="-228600">
              <a:defRPr sz="1200" i="1">
                <a:solidFill>
                  <a:schemeClr val="tx1"/>
                </a:solidFill>
                <a:latin typeface="Verdana" pitchFamily="34" charset="0"/>
              </a:defRPr>
            </a:lvl5pPr>
            <a:lvl6pPr marL="2514600" indent="-228600" eaLnBrk="0" fontAlgn="base" hangingPunct="0">
              <a:spcBef>
                <a:spcPct val="0"/>
              </a:spcBef>
              <a:spcAft>
                <a:spcPct val="0"/>
              </a:spcAft>
              <a:defRPr sz="1200" i="1">
                <a:solidFill>
                  <a:schemeClr val="tx1"/>
                </a:solidFill>
                <a:latin typeface="Verdana" pitchFamily="34" charset="0"/>
              </a:defRPr>
            </a:lvl6pPr>
            <a:lvl7pPr marL="2971800" indent="-228600" eaLnBrk="0" fontAlgn="base" hangingPunct="0">
              <a:spcBef>
                <a:spcPct val="0"/>
              </a:spcBef>
              <a:spcAft>
                <a:spcPct val="0"/>
              </a:spcAft>
              <a:defRPr sz="1200" i="1">
                <a:solidFill>
                  <a:schemeClr val="tx1"/>
                </a:solidFill>
                <a:latin typeface="Verdana" pitchFamily="34" charset="0"/>
              </a:defRPr>
            </a:lvl7pPr>
            <a:lvl8pPr marL="3429000" indent="-228600" eaLnBrk="0" fontAlgn="base" hangingPunct="0">
              <a:spcBef>
                <a:spcPct val="0"/>
              </a:spcBef>
              <a:spcAft>
                <a:spcPct val="0"/>
              </a:spcAft>
              <a:defRPr sz="1200" i="1">
                <a:solidFill>
                  <a:schemeClr val="tx1"/>
                </a:solidFill>
                <a:latin typeface="Verdana" pitchFamily="34" charset="0"/>
              </a:defRPr>
            </a:lvl8pPr>
            <a:lvl9pPr marL="3886200" indent="-228600" eaLnBrk="0" fontAlgn="base" hangingPunct="0">
              <a:spcBef>
                <a:spcPct val="0"/>
              </a:spcBef>
              <a:spcAft>
                <a:spcPct val="0"/>
              </a:spcAft>
              <a:defRPr sz="1200" i="1">
                <a:solidFill>
                  <a:schemeClr val="tx1"/>
                </a:solidFill>
                <a:latin typeface="Verdana" pitchFamily="34" charset="0"/>
              </a:defRPr>
            </a:lvl9pPr>
          </a:lstStyle>
          <a:p>
            <a:r>
              <a:rPr lang="en-US" sz="2000" i="0" dirty="0" err="1"/>
              <a:t>Dlocations</a:t>
            </a:r>
            <a:r>
              <a:rPr lang="en-US" sz="2000" i="0" dirty="0"/>
              <a:t> is a </a:t>
            </a:r>
          </a:p>
          <a:p>
            <a:r>
              <a:rPr lang="en-US" sz="2000" i="0" dirty="0"/>
              <a:t>multi-valued </a:t>
            </a:r>
          </a:p>
          <a:p>
            <a:r>
              <a:rPr lang="en-US" sz="2000" i="0" dirty="0"/>
              <a:t>attribute.</a:t>
            </a:r>
          </a:p>
        </p:txBody>
      </p:sp>
      <p:pic>
        <p:nvPicPr>
          <p:cNvPr id="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647950"/>
            <a:ext cx="64389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86356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Vertic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
            <a:ext cx="8229600" cy="857250"/>
          </a:xfrm>
        </p:spPr>
        <p:txBody>
          <a:bodyPr>
            <a:normAutofit/>
          </a:bodyPr>
          <a:lstStyle/>
          <a:p>
            <a:r>
              <a:rPr lang="en-US" sz="2800" dirty="0"/>
              <a:t>Conversion into 1NF</a:t>
            </a:r>
          </a:p>
        </p:txBody>
      </p:sp>
      <p:sp>
        <p:nvSpPr>
          <p:cNvPr id="10" name="Slide Number Placeholder 9"/>
          <p:cNvSpPr>
            <a:spLocks noGrp="1"/>
          </p:cNvSpPr>
          <p:nvPr>
            <p:ph type="sldNum" sz="quarter" idx="12"/>
          </p:nvPr>
        </p:nvSpPr>
        <p:spPr/>
        <p:txBody>
          <a:bodyPr/>
          <a:lstStyle/>
          <a:p>
            <a:fld id="{DB4A5BFF-587F-4230-A0AE-EABA229E5E91}" type="slidenum">
              <a:rPr lang="en-US" smtClean="0"/>
              <a:t>6</a:t>
            </a:fld>
            <a:endParaRPr lang="en-US"/>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3028950"/>
            <a:ext cx="3014663"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990600" y="1276350"/>
            <a:ext cx="6781800" cy="762000"/>
          </a:xfrm>
          <a:prstGeom prst="rect">
            <a:avLst/>
          </a:prstGeom>
          <a:noFill/>
        </p:spPr>
      </p:pic>
      <p:pic>
        <p:nvPicPr>
          <p:cNvPr id="6"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3028950"/>
            <a:ext cx="40005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a:spLocks noChangeArrowheads="1"/>
          </p:cNvSpPr>
          <p:nvPr/>
        </p:nvSpPr>
        <p:spPr bwMode="auto">
          <a:xfrm>
            <a:off x="593602" y="2121753"/>
            <a:ext cx="710259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i="1">
                <a:solidFill>
                  <a:schemeClr val="tx1"/>
                </a:solidFill>
                <a:latin typeface="Verdana" pitchFamily="34" charset="0"/>
              </a:defRPr>
            </a:lvl1pPr>
            <a:lvl2pPr marL="742950" indent="-285750">
              <a:defRPr sz="1200" i="1">
                <a:solidFill>
                  <a:schemeClr val="tx1"/>
                </a:solidFill>
                <a:latin typeface="Verdana" pitchFamily="34" charset="0"/>
              </a:defRPr>
            </a:lvl2pPr>
            <a:lvl3pPr marL="1143000" indent="-228600">
              <a:defRPr sz="1200" i="1">
                <a:solidFill>
                  <a:schemeClr val="tx1"/>
                </a:solidFill>
                <a:latin typeface="Verdana" pitchFamily="34" charset="0"/>
              </a:defRPr>
            </a:lvl3pPr>
            <a:lvl4pPr marL="1600200" indent="-228600">
              <a:defRPr sz="1200" i="1">
                <a:solidFill>
                  <a:schemeClr val="tx1"/>
                </a:solidFill>
                <a:latin typeface="Verdana" pitchFamily="34" charset="0"/>
              </a:defRPr>
            </a:lvl4pPr>
            <a:lvl5pPr marL="2057400" indent="-228600">
              <a:defRPr sz="1200" i="1">
                <a:solidFill>
                  <a:schemeClr val="tx1"/>
                </a:solidFill>
                <a:latin typeface="Verdana" pitchFamily="34" charset="0"/>
              </a:defRPr>
            </a:lvl5pPr>
            <a:lvl6pPr marL="2514600" indent="-228600" eaLnBrk="0" fontAlgn="base" hangingPunct="0">
              <a:spcBef>
                <a:spcPct val="0"/>
              </a:spcBef>
              <a:spcAft>
                <a:spcPct val="0"/>
              </a:spcAft>
              <a:defRPr sz="1200" i="1">
                <a:solidFill>
                  <a:schemeClr val="tx1"/>
                </a:solidFill>
                <a:latin typeface="Verdana" pitchFamily="34" charset="0"/>
              </a:defRPr>
            </a:lvl6pPr>
            <a:lvl7pPr marL="2971800" indent="-228600" eaLnBrk="0" fontAlgn="base" hangingPunct="0">
              <a:spcBef>
                <a:spcPct val="0"/>
              </a:spcBef>
              <a:spcAft>
                <a:spcPct val="0"/>
              </a:spcAft>
              <a:defRPr sz="1200" i="1">
                <a:solidFill>
                  <a:schemeClr val="tx1"/>
                </a:solidFill>
                <a:latin typeface="Verdana" pitchFamily="34" charset="0"/>
              </a:defRPr>
            </a:lvl7pPr>
            <a:lvl8pPr marL="3429000" indent="-228600" eaLnBrk="0" fontAlgn="base" hangingPunct="0">
              <a:spcBef>
                <a:spcPct val="0"/>
              </a:spcBef>
              <a:spcAft>
                <a:spcPct val="0"/>
              </a:spcAft>
              <a:defRPr sz="1200" i="1">
                <a:solidFill>
                  <a:schemeClr val="tx1"/>
                </a:solidFill>
                <a:latin typeface="Verdana" pitchFamily="34" charset="0"/>
              </a:defRPr>
            </a:lvl8pPr>
            <a:lvl9pPr marL="3886200" indent="-228600" eaLnBrk="0" fontAlgn="base" hangingPunct="0">
              <a:spcBef>
                <a:spcPct val="0"/>
              </a:spcBef>
              <a:spcAft>
                <a:spcPct val="0"/>
              </a:spcAft>
              <a:defRPr sz="1200" i="1">
                <a:solidFill>
                  <a:schemeClr val="tx1"/>
                </a:solidFill>
                <a:latin typeface="Verdana" pitchFamily="34" charset="0"/>
              </a:defRPr>
            </a:lvl9pPr>
          </a:lstStyle>
          <a:p>
            <a:r>
              <a:rPr lang="en-US" sz="2000" dirty="0"/>
              <a:t>The above relation schema is </a:t>
            </a:r>
            <a:r>
              <a:rPr lang="en-US" sz="2000"/>
              <a:t>decomposed into </a:t>
            </a:r>
            <a:r>
              <a:rPr lang="en-US" sz="2000" dirty="0"/>
              <a:t>two relation schemas.</a:t>
            </a:r>
          </a:p>
        </p:txBody>
      </p:sp>
      <p:sp>
        <p:nvSpPr>
          <p:cNvPr id="8" name="TextBox 7"/>
          <p:cNvSpPr txBox="1">
            <a:spLocks noChangeArrowheads="1"/>
          </p:cNvSpPr>
          <p:nvPr/>
        </p:nvSpPr>
        <p:spPr bwMode="auto">
          <a:xfrm>
            <a:off x="671618" y="4019550"/>
            <a:ext cx="676505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i="1">
                <a:solidFill>
                  <a:schemeClr val="tx1"/>
                </a:solidFill>
                <a:latin typeface="Verdana" pitchFamily="34" charset="0"/>
              </a:defRPr>
            </a:lvl1pPr>
            <a:lvl2pPr marL="742950" indent="-285750">
              <a:defRPr sz="1200" i="1">
                <a:solidFill>
                  <a:schemeClr val="tx1"/>
                </a:solidFill>
                <a:latin typeface="Verdana" pitchFamily="34" charset="0"/>
              </a:defRPr>
            </a:lvl2pPr>
            <a:lvl3pPr marL="1143000" indent="-228600">
              <a:defRPr sz="1200" i="1">
                <a:solidFill>
                  <a:schemeClr val="tx1"/>
                </a:solidFill>
                <a:latin typeface="Verdana" pitchFamily="34" charset="0"/>
              </a:defRPr>
            </a:lvl3pPr>
            <a:lvl4pPr marL="1600200" indent="-228600">
              <a:defRPr sz="1200" i="1">
                <a:solidFill>
                  <a:schemeClr val="tx1"/>
                </a:solidFill>
                <a:latin typeface="Verdana" pitchFamily="34" charset="0"/>
              </a:defRPr>
            </a:lvl4pPr>
            <a:lvl5pPr marL="2057400" indent="-228600">
              <a:defRPr sz="1200" i="1">
                <a:solidFill>
                  <a:schemeClr val="tx1"/>
                </a:solidFill>
                <a:latin typeface="Verdana" pitchFamily="34" charset="0"/>
              </a:defRPr>
            </a:lvl5pPr>
            <a:lvl6pPr marL="2514600" indent="-228600" eaLnBrk="0" fontAlgn="base" hangingPunct="0">
              <a:spcBef>
                <a:spcPct val="0"/>
              </a:spcBef>
              <a:spcAft>
                <a:spcPct val="0"/>
              </a:spcAft>
              <a:defRPr sz="1200" i="1">
                <a:solidFill>
                  <a:schemeClr val="tx1"/>
                </a:solidFill>
                <a:latin typeface="Verdana" pitchFamily="34" charset="0"/>
              </a:defRPr>
            </a:lvl6pPr>
            <a:lvl7pPr marL="2971800" indent="-228600" eaLnBrk="0" fontAlgn="base" hangingPunct="0">
              <a:spcBef>
                <a:spcPct val="0"/>
              </a:spcBef>
              <a:spcAft>
                <a:spcPct val="0"/>
              </a:spcAft>
              <a:defRPr sz="1200" i="1">
                <a:solidFill>
                  <a:schemeClr val="tx1"/>
                </a:solidFill>
                <a:latin typeface="Verdana" pitchFamily="34" charset="0"/>
              </a:defRPr>
            </a:lvl7pPr>
            <a:lvl8pPr marL="3429000" indent="-228600" eaLnBrk="0" fontAlgn="base" hangingPunct="0">
              <a:spcBef>
                <a:spcPct val="0"/>
              </a:spcBef>
              <a:spcAft>
                <a:spcPct val="0"/>
              </a:spcAft>
              <a:defRPr sz="1200" i="1">
                <a:solidFill>
                  <a:schemeClr val="tx1"/>
                </a:solidFill>
                <a:latin typeface="Verdana" pitchFamily="34" charset="0"/>
              </a:defRPr>
            </a:lvl8pPr>
            <a:lvl9pPr marL="3886200" indent="-228600" eaLnBrk="0" fontAlgn="base" hangingPunct="0">
              <a:spcBef>
                <a:spcPct val="0"/>
              </a:spcBef>
              <a:spcAft>
                <a:spcPct val="0"/>
              </a:spcAft>
              <a:defRPr sz="1200" i="1">
                <a:solidFill>
                  <a:schemeClr val="tx1"/>
                </a:solidFill>
                <a:latin typeface="Verdana" pitchFamily="34" charset="0"/>
              </a:defRPr>
            </a:lvl9pPr>
          </a:lstStyle>
          <a:p>
            <a:r>
              <a:rPr lang="en-US" sz="2000" i="0" dirty="0"/>
              <a:t>Now DEPARTMENT &amp; DEPT_LOCATIONS are in 1NF.</a:t>
            </a:r>
          </a:p>
        </p:txBody>
      </p:sp>
    </p:spTree>
    <p:extLst>
      <p:ext uri="{BB962C8B-B14F-4D97-AF65-F5344CB8AC3E}">
        <p14:creationId xmlns:p14="http://schemas.microsoft.com/office/powerpoint/2010/main" val="860794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down)">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ipe(down)">
                                      <p:cBhvr>
                                        <p:cTn id="24" dur="5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1000"/>
                                        <p:tgtEl>
                                          <p:spTgt spid="8"/>
                                        </p:tgtEl>
                                      </p:cBhvr>
                                    </p:animEffect>
                                    <p:anim calcmode="lin" valueType="num">
                                      <p:cBhvr>
                                        <p:cTn id="30" dur="1000" fill="hold"/>
                                        <p:tgtEl>
                                          <p:spTgt spid="8"/>
                                        </p:tgtEl>
                                        <p:attrNameLst>
                                          <p:attrName>ppt_x</p:attrName>
                                        </p:attrNameLst>
                                      </p:cBhvr>
                                      <p:tavLst>
                                        <p:tav tm="0">
                                          <p:val>
                                            <p:strVal val="#ppt_x"/>
                                          </p:val>
                                        </p:tav>
                                        <p:tav tm="100000">
                                          <p:val>
                                            <p:strVal val="#ppt_x"/>
                                          </p:val>
                                        </p:tav>
                                      </p:tavLst>
                                    </p:anim>
                                    <p:anim calcmode="lin" valueType="num">
                                      <p:cBhvr>
                                        <p:cTn id="3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
            <a:ext cx="8229600" cy="857250"/>
          </a:xfrm>
        </p:spPr>
        <p:txBody>
          <a:bodyPr>
            <a:normAutofit/>
          </a:bodyPr>
          <a:lstStyle/>
          <a:p>
            <a:r>
              <a:rPr lang="en-US" sz="2800" dirty="0"/>
              <a:t>Conversion into 1NF</a:t>
            </a:r>
          </a:p>
        </p:txBody>
      </p:sp>
      <p:sp>
        <p:nvSpPr>
          <p:cNvPr id="5" name="Slide Number Placeholder 4"/>
          <p:cNvSpPr>
            <a:spLocks noGrp="1"/>
          </p:cNvSpPr>
          <p:nvPr>
            <p:ph type="sldNum" sz="quarter" idx="12"/>
          </p:nvPr>
        </p:nvSpPr>
        <p:spPr/>
        <p:txBody>
          <a:bodyPr/>
          <a:lstStyle/>
          <a:p>
            <a:fld id="{DB4A5BFF-587F-4230-A0AE-EABA229E5E91}" type="slidenum">
              <a:rPr lang="en-US" smtClean="0"/>
              <a:t>7</a:t>
            </a:fld>
            <a:endParaRPr lang="en-US"/>
          </a:p>
        </p:txBody>
      </p:sp>
      <p:pic>
        <p:nvPicPr>
          <p:cNvPr id="6" name="Picture 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387" y="3184326"/>
            <a:ext cx="5586413" cy="1427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a:spLocks noChangeArrowheads="1"/>
          </p:cNvSpPr>
          <p:nvPr/>
        </p:nvSpPr>
        <p:spPr bwMode="auto">
          <a:xfrm>
            <a:off x="514350" y="1257240"/>
            <a:ext cx="68419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i="1">
                <a:solidFill>
                  <a:schemeClr val="tx1"/>
                </a:solidFill>
                <a:latin typeface="Verdana" pitchFamily="34" charset="0"/>
              </a:defRPr>
            </a:lvl1pPr>
            <a:lvl2pPr marL="742950" indent="-285750">
              <a:defRPr sz="1200" i="1">
                <a:solidFill>
                  <a:schemeClr val="tx1"/>
                </a:solidFill>
                <a:latin typeface="Verdana" pitchFamily="34" charset="0"/>
              </a:defRPr>
            </a:lvl2pPr>
            <a:lvl3pPr marL="1143000" indent="-228600">
              <a:defRPr sz="1200" i="1">
                <a:solidFill>
                  <a:schemeClr val="tx1"/>
                </a:solidFill>
                <a:latin typeface="Verdana" pitchFamily="34" charset="0"/>
              </a:defRPr>
            </a:lvl3pPr>
            <a:lvl4pPr marL="1600200" indent="-228600">
              <a:defRPr sz="1200" i="1">
                <a:solidFill>
                  <a:schemeClr val="tx1"/>
                </a:solidFill>
                <a:latin typeface="Verdana" pitchFamily="34" charset="0"/>
              </a:defRPr>
            </a:lvl4pPr>
            <a:lvl5pPr marL="2057400" indent="-228600">
              <a:defRPr sz="1200" i="1">
                <a:solidFill>
                  <a:schemeClr val="tx1"/>
                </a:solidFill>
                <a:latin typeface="Verdana" pitchFamily="34" charset="0"/>
              </a:defRPr>
            </a:lvl5pPr>
            <a:lvl6pPr marL="2514600" indent="-228600" eaLnBrk="0" fontAlgn="base" hangingPunct="0">
              <a:spcBef>
                <a:spcPct val="0"/>
              </a:spcBef>
              <a:spcAft>
                <a:spcPct val="0"/>
              </a:spcAft>
              <a:defRPr sz="1200" i="1">
                <a:solidFill>
                  <a:schemeClr val="tx1"/>
                </a:solidFill>
                <a:latin typeface="Verdana" pitchFamily="34" charset="0"/>
              </a:defRPr>
            </a:lvl6pPr>
            <a:lvl7pPr marL="2971800" indent="-228600" eaLnBrk="0" fontAlgn="base" hangingPunct="0">
              <a:spcBef>
                <a:spcPct val="0"/>
              </a:spcBef>
              <a:spcAft>
                <a:spcPct val="0"/>
              </a:spcAft>
              <a:defRPr sz="1200" i="1">
                <a:solidFill>
                  <a:schemeClr val="tx1"/>
                </a:solidFill>
                <a:latin typeface="Verdana" pitchFamily="34" charset="0"/>
              </a:defRPr>
            </a:lvl7pPr>
            <a:lvl8pPr marL="3429000" indent="-228600" eaLnBrk="0" fontAlgn="base" hangingPunct="0">
              <a:spcBef>
                <a:spcPct val="0"/>
              </a:spcBef>
              <a:spcAft>
                <a:spcPct val="0"/>
              </a:spcAft>
              <a:defRPr sz="1200" i="1">
                <a:solidFill>
                  <a:schemeClr val="tx1"/>
                </a:solidFill>
                <a:latin typeface="Verdana" pitchFamily="34" charset="0"/>
              </a:defRPr>
            </a:lvl8pPr>
            <a:lvl9pPr marL="3886200" indent="-228600" eaLnBrk="0" fontAlgn="base" hangingPunct="0">
              <a:spcBef>
                <a:spcPct val="0"/>
              </a:spcBef>
              <a:spcAft>
                <a:spcPct val="0"/>
              </a:spcAft>
              <a:defRPr sz="1200" i="1">
                <a:solidFill>
                  <a:schemeClr val="tx1"/>
                </a:solidFill>
                <a:latin typeface="Verdana" pitchFamily="34" charset="0"/>
              </a:defRPr>
            </a:lvl9pPr>
          </a:lstStyle>
          <a:p>
            <a:r>
              <a:rPr lang="en-US" sz="2000" dirty="0"/>
              <a:t>Alternative technique to decomposition also exists. </a:t>
            </a:r>
          </a:p>
        </p:txBody>
      </p:sp>
      <p:sp>
        <p:nvSpPr>
          <p:cNvPr id="8" name="TextBox 7"/>
          <p:cNvSpPr txBox="1">
            <a:spLocks noChangeArrowheads="1"/>
          </p:cNvSpPr>
          <p:nvPr/>
        </p:nvSpPr>
        <p:spPr bwMode="auto">
          <a:xfrm>
            <a:off x="498473" y="1657350"/>
            <a:ext cx="849312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i="1">
                <a:solidFill>
                  <a:schemeClr val="tx1"/>
                </a:solidFill>
                <a:latin typeface="Verdana" pitchFamily="34" charset="0"/>
              </a:defRPr>
            </a:lvl1pPr>
            <a:lvl2pPr marL="742950" indent="-285750">
              <a:defRPr sz="1200" i="1">
                <a:solidFill>
                  <a:schemeClr val="tx1"/>
                </a:solidFill>
                <a:latin typeface="Verdana" pitchFamily="34" charset="0"/>
              </a:defRPr>
            </a:lvl2pPr>
            <a:lvl3pPr marL="1143000" indent="-228600">
              <a:defRPr sz="1200" i="1">
                <a:solidFill>
                  <a:schemeClr val="tx1"/>
                </a:solidFill>
                <a:latin typeface="Verdana" pitchFamily="34" charset="0"/>
              </a:defRPr>
            </a:lvl3pPr>
            <a:lvl4pPr marL="1600200" indent="-228600">
              <a:defRPr sz="1200" i="1">
                <a:solidFill>
                  <a:schemeClr val="tx1"/>
                </a:solidFill>
                <a:latin typeface="Verdana" pitchFamily="34" charset="0"/>
              </a:defRPr>
            </a:lvl4pPr>
            <a:lvl5pPr marL="2057400" indent="-228600">
              <a:defRPr sz="1200" i="1">
                <a:solidFill>
                  <a:schemeClr val="tx1"/>
                </a:solidFill>
                <a:latin typeface="Verdana" pitchFamily="34" charset="0"/>
              </a:defRPr>
            </a:lvl5pPr>
            <a:lvl6pPr marL="2514600" indent="-228600" eaLnBrk="0" fontAlgn="base" hangingPunct="0">
              <a:spcBef>
                <a:spcPct val="0"/>
              </a:spcBef>
              <a:spcAft>
                <a:spcPct val="0"/>
              </a:spcAft>
              <a:defRPr sz="1200" i="1">
                <a:solidFill>
                  <a:schemeClr val="tx1"/>
                </a:solidFill>
                <a:latin typeface="Verdana" pitchFamily="34" charset="0"/>
              </a:defRPr>
            </a:lvl6pPr>
            <a:lvl7pPr marL="2971800" indent="-228600" eaLnBrk="0" fontAlgn="base" hangingPunct="0">
              <a:spcBef>
                <a:spcPct val="0"/>
              </a:spcBef>
              <a:spcAft>
                <a:spcPct val="0"/>
              </a:spcAft>
              <a:defRPr sz="1200" i="1">
                <a:solidFill>
                  <a:schemeClr val="tx1"/>
                </a:solidFill>
                <a:latin typeface="Verdana" pitchFamily="34" charset="0"/>
              </a:defRPr>
            </a:lvl7pPr>
            <a:lvl8pPr marL="3429000" indent="-228600" eaLnBrk="0" fontAlgn="base" hangingPunct="0">
              <a:spcBef>
                <a:spcPct val="0"/>
              </a:spcBef>
              <a:spcAft>
                <a:spcPct val="0"/>
              </a:spcAft>
              <a:defRPr sz="1200" i="1">
                <a:solidFill>
                  <a:schemeClr val="tx1"/>
                </a:solidFill>
                <a:latin typeface="Verdana" pitchFamily="34" charset="0"/>
              </a:defRPr>
            </a:lvl8pPr>
            <a:lvl9pPr marL="3886200" indent="-228600" eaLnBrk="0" fontAlgn="base" hangingPunct="0">
              <a:spcBef>
                <a:spcPct val="0"/>
              </a:spcBef>
              <a:spcAft>
                <a:spcPct val="0"/>
              </a:spcAft>
              <a:defRPr sz="1200" i="1">
                <a:solidFill>
                  <a:schemeClr val="tx1"/>
                </a:solidFill>
                <a:latin typeface="Verdana" pitchFamily="34" charset="0"/>
              </a:defRPr>
            </a:lvl9pPr>
          </a:lstStyle>
          <a:p>
            <a:r>
              <a:rPr lang="en-US" sz="2000" dirty="0"/>
              <a:t>You may expand the primary key incorporating </a:t>
            </a:r>
            <a:r>
              <a:rPr lang="en-US" sz="2000"/>
              <a:t>the multi-valued attribute into the primary key.</a:t>
            </a:r>
            <a:endParaRPr lang="en-US" sz="2000" dirty="0"/>
          </a:p>
        </p:txBody>
      </p:sp>
      <p:pic>
        <p:nvPicPr>
          <p:cNvPr id="9"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468880"/>
            <a:ext cx="5819775" cy="560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a:spLocks noChangeArrowheads="1"/>
          </p:cNvSpPr>
          <p:nvPr/>
        </p:nvSpPr>
        <p:spPr bwMode="auto">
          <a:xfrm>
            <a:off x="6102897" y="3074134"/>
            <a:ext cx="2680542"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i="1">
                <a:solidFill>
                  <a:schemeClr val="tx1"/>
                </a:solidFill>
                <a:latin typeface="Verdana" pitchFamily="34" charset="0"/>
              </a:defRPr>
            </a:lvl1pPr>
            <a:lvl2pPr marL="742950" indent="-285750">
              <a:defRPr sz="1200" i="1">
                <a:solidFill>
                  <a:schemeClr val="tx1"/>
                </a:solidFill>
                <a:latin typeface="Verdana" pitchFamily="34" charset="0"/>
              </a:defRPr>
            </a:lvl2pPr>
            <a:lvl3pPr marL="1143000" indent="-228600">
              <a:defRPr sz="1200" i="1">
                <a:solidFill>
                  <a:schemeClr val="tx1"/>
                </a:solidFill>
                <a:latin typeface="Verdana" pitchFamily="34" charset="0"/>
              </a:defRPr>
            </a:lvl3pPr>
            <a:lvl4pPr marL="1600200" indent="-228600">
              <a:defRPr sz="1200" i="1">
                <a:solidFill>
                  <a:schemeClr val="tx1"/>
                </a:solidFill>
                <a:latin typeface="Verdana" pitchFamily="34" charset="0"/>
              </a:defRPr>
            </a:lvl4pPr>
            <a:lvl5pPr marL="2057400" indent="-228600">
              <a:defRPr sz="1200" i="1">
                <a:solidFill>
                  <a:schemeClr val="tx1"/>
                </a:solidFill>
                <a:latin typeface="Verdana" pitchFamily="34" charset="0"/>
              </a:defRPr>
            </a:lvl5pPr>
            <a:lvl6pPr marL="2514600" indent="-228600" eaLnBrk="0" fontAlgn="base" hangingPunct="0">
              <a:spcBef>
                <a:spcPct val="0"/>
              </a:spcBef>
              <a:spcAft>
                <a:spcPct val="0"/>
              </a:spcAft>
              <a:defRPr sz="1200" i="1">
                <a:solidFill>
                  <a:schemeClr val="tx1"/>
                </a:solidFill>
                <a:latin typeface="Verdana" pitchFamily="34" charset="0"/>
              </a:defRPr>
            </a:lvl6pPr>
            <a:lvl7pPr marL="2971800" indent="-228600" eaLnBrk="0" fontAlgn="base" hangingPunct="0">
              <a:spcBef>
                <a:spcPct val="0"/>
              </a:spcBef>
              <a:spcAft>
                <a:spcPct val="0"/>
              </a:spcAft>
              <a:defRPr sz="1200" i="1">
                <a:solidFill>
                  <a:schemeClr val="tx1"/>
                </a:solidFill>
                <a:latin typeface="Verdana" pitchFamily="34" charset="0"/>
              </a:defRPr>
            </a:lvl7pPr>
            <a:lvl8pPr marL="3429000" indent="-228600" eaLnBrk="0" fontAlgn="base" hangingPunct="0">
              <a:spcBef>
                <a:spcPct val="0"/>
              </a:spcBef>
              <a:spcAft>
                <a:spcPct val="0"/>
              </a:spcAft>
              <a:defRPr sz="1200" i="1">
                <a:solidFill>
                  <a:schemeClr val="tx1"/>
                </a:solidFill>
                <a:latin typeface="Verdana" pitchFamily="34" charset="0"/>
              </a:defRPr>
            </a:lvl8pPr>
            <a:lvl9pPr marL="3886200" indent="-228600" eaLnBrk="0" fontAlgn="base" hangingPunct="0">
              <a:spcBef>
                <a:spcPct val="0"/>
              </a:spcBef>
              <a:spcAft>
                <a:spcPct val="0"/>
              </a:spcAft>
              <a:defRPr sz="1200" i="1">
                <a:solidFill>
                  <a:schemeClr val="tx1"/>
                </a:solidFill>
                <a:latin typeface="Verdana" pitchFamily="34" charset="0"/>
              </a:defRPr>
            </a:lvl9pPr>
          </a:lstStyle>
          <a:p>
            <a:r>
              <a:rPr lang="en-US" sz="2000" i="0" dirty="0"/>
              <a:t>This solution has a </a:t>
            </a:r>
          </a:p>
          <a:p>
            <a:r>
              <a:rPr lang="en-US" sz="2000" i="0" u="sng" dirty="0"/>
              <a:t>disadvantage</a:t>
            </a:r>
            <a:r>
              <a:rPr lang="en-US" sz="2000" i="0" dirty="0"/>
              <a:t> of </a:t>
            </a:r>
          </a:p>
          <a:p>
            <a:r>
              <a:rPr lang="en-US" sz="2000" i="0" dirty="0"/>
              <a:t>introducing</a:t>
            </a:r>
          </a:p>
          <a:p>
            <a:r>
              <a:rPr lang="en-US" sz="2000" u="sng" dirty="0"/>
              <a:t>redundancy</a:t>
            </a:r>
            <a:r>
              <a:rPr lang="en-US" sz="2000" dirty="0"/>
              <a:t> </a:t>
            </a:r>
            <a:r>
              <a:rPr lang="en-US" sz="2000" i="0" dirty="0"/>
              <a:t>in the </a:t>
            </a:r>
          </a:p>
          <a:p>
            <a:r>
              <a:rPr lang="en-US" sz="2000" i="0" dirty="0"/>
              <a:t>relation.</a:t>
            </a:r>
            <a:endParaRPr lang="en-US" sz="2000" dirty="0"/>
          </a:p>
        </p:txBody>
      </p:sp>
    </p:spTree>
    <p:extLst>
      <p:ext uri="{BB962C8B-B14F-4D97-AF65-F5344CB8AC3E}">
        <p14:creationId xmlns:p14="http://schemas.microsoft.com/office/powerpoint/2010/main" val="1268962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barn(inVertical)">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barn(inVertical)">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1000"/>
                                        <p:tgtEl>
                                          <p:spTgt spid="10"/>
                                        </p:tgtEl>
                                      </p:cBhvr>
                                    </p:animEffect>
                                    <p:anim calcmode="lin" valueType="num">
                                      <p:cBhvr>
                                        <p:cTn id="32" dur="1000" fill="hold"/>
                                        <p:tgtEl>
                                          <p:spTgt spid="10"/>
                                        </p:tgtEl>
                                        <p:attrNameLst>
                                          <p:attrName>ppt_x</p:attrName>
                                        </p:attrNameLst>
                                      </p:cBhvr>
                                      <p:tavLst>
                                        <p:tav tm="0">
                                          <p:val>
                                            <p:strVal val="#ppt_x"/>
                                          </p:val>
                                        </p:tav>
                                        <p:tav tm="100000">
                                          <p:val>
                                            <p:strVal val="#ppt_x"/>
                                          </p:val>
                                        </p:tav>
                                      </p:tavLst>
                                    </p:anim>
                                    <p:anim calcmode="lin" valueType="num">
                                      <p:cBhvr>
                                        <p:cTn id="3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
            <a:ext cx="8229600" cy="857250"/>
          </a:xfrm>
        </p:spPr>
        <p:txBody>
          <a:bodyPr>
            <a:normAutofit/>
          </a:bodyPr>
          <a:lstStyle/>
          <a:p>
            <a:r>
              <a:rPr lang="en-US" sz="2800" dirty="0"/>
              <a:t>Conversion into 1NF</a:t>
            </a:r>
          </a:p>
        </p:txBody>
      </p:sp>
      <p:graphicFrame>
        <p:nvGraphicFramePr>
          <p:cNvPr id="6" name="Content Placeholder 4"/>
          <p:cNvGraphicFramePr>
            <a:graphicFrameLocks noGrp="1"/>
          </p:cNvGraphicFramePr>
          <p:nvPr>
            <p:ph idx="1"/>
            <p:extLst>
              <p:ext uri="{D42A27DB-BD31-4B8C-83A1-F6EECF244321}">
                <p14:modId xmlns:p14="http://schemas.microsoft.com/office/powerpoint/2010/main" val="3374474613"/>
              </p:ext>
            </p:extLst>
          </p:nvPr>
        </p:nvGraphicFramePr>
        <p:xfrm>
          <a:off x="596900" y="1733550"/>
          <a:ext cx="8013700" cy="2819400"/>
        </p:xfrm>
        <a:graphic>
          <a:graphicData uri="http://schemas.openxmlformats.org/drawingml/2006/table">
            <a:tbl>
              <a:tblPr firstRow="1" firstCol="1" bandRow="1">
                <a:tableStyleId>{5C22544A-7EE6-4342-B048-85BDC9FD1C3A}</a:tableStyleId>
              </a:tblPr>
              <a:tblGrid>
                <a:gridCol w="1742269">
                  <a:extLst>
                    <a:ext uri="{9D8B030D-6E8A-4147-A177-3AD203B41FA5}">
                      <a16:colId xmlns:a16="http://schemas.microsoft.com/office/drawing/2014/main" val="20000"/>
                    </a:ext>
                  </a:extLst>
                </a:gridCol>
                <a:gridCol w="1152291">
                  <a:extLst>
                    <a:ext uri="{9D8B030D-6E8A-4147-A177-3AD203B41FA5}">
                      <a16:colId xmlns:a16="http://schemas.microsoft.com/office/drawing/2014/main" val="20001"/>
                    </a:ext>
                  </a:extLst>
                </a:gridCol>
                <a:gridCol w="1250620">
                  <a:extLst>
                    <a:ext uri="{9D8B030D-6E8A-4147-A177-3AD203B41FA5}">
                      <a16:colId xmlns:a16="http://schemas.microsoft.com/office/drawing/2014/main" val="20002"/>
                    </a:ext>
                  </a:extLst>
                </a:gridCol>
                <a:gridCol w="1247286">
                  <a:extLst>
                    <a:ext uri="{9D8B030D-6E8A-4147-A177-3AD203B41FA5}">
                      <a16:colId xmlns:a16="http://schemas.microsoft.com/office/drawing/2014/main" val="20003"/>
                    </a:ext>
                  </a:extLst>
                </a:gridCol>
                <a:gridCol w="1310617">
                  <a:extLst>
                    <a:ext uri="{9D8B030D-6E8A-4147-A177-3AD203B41FA5}">
                      <a16:colId xmlns:a16="http://schemas.microsoft.com/office/drawing/2014/main" val="20004"/>
                    </a:ext>
                  </a:extLst>
                </a:gridCol>
                <a:gridCol w="1310617">
                  <a:extLst>
                    <a:ext uri="{9D8B030D-6E8A-4147-A177-3AD203B41FA5}">
                      <a16:colId xmlns:a16="http://schemas.microsoft.com/office/drawing/2014/main" val="20005"/>
                    </a:ext>
                  </a:extLst>
                </a:gridCol>
              </a:tblGrid>
              <a:tr h="704850">
                <a:tc>
                  <a:txBody>
                    <a:bodyPr/>
                    <a:lstStyle/>
                    <a:p>
                      <a:pPr marL="0" marR="0">
                        <a:lnSpc>
                          <a:spcPct val="115000"/>
                        </a:lnSpc>
                        <a:spcBef>
                          <a:spcPts val="0"/>
                        </a:spcBef>
                        <a:spcAft>
                          <a:spcPts val="0"/>
                        </a:spcAft>
                      </a:pPr>
                      <a:r>
                        <a:rPr lang="en-US" sz="1400" dirty="0" err="1">
                          <a:effectLst/>
                        </a:rPr>
                        <a:t>Dname</a:t>
                      </a:r>
                      <a:endParaRPr lang="en-US" sz="1400" dirty="0">
                        <a:effectLst/>
                        <a:latin typeface="Calibri"/>
                        <a:ea typeface="Calibri"/>
                        <a:cs typeface="Times New Roman"/>
                      </a:endParaRPr>
                    </a:p>
                  </a:txBody>
                  <a:tcPr marL="68574" marR="68574" marT="0" marB="0"/>
                </a:tc>
                <a:tc>
                  <a:txBody>
                    <a:bodyPr/>
                    <a:lstStyle/>
                    <a:p>
                      <a:pPr marL="0" marR="0">
                        <a:lnSpc>
                          <a:spcPct val="115000"/>
                        </a:lnSpc>
                        <a:spcBef>
                          <a:spcPts val="0"/>
                        </a:spcBef>
                        <a:spcAft>
                          <a:spcPts val="0"/>
                        </a:spcAft>
                      </a:pPr>
                      <a:r>
                        <a:rPr lang="en-US" sz="1400" u="sng" dirty="0" err="1">
                          <a:effectLst/>
                        </a:rPr>
                        <a:t>Dnumber</a:t>
                      </a:r>
                      <a:endParaRPr lang="en-US" sz="1400" dirty="0">
                        <a:effectLst/>
                        <a:latin typeface="Calibri"/>
                        <a:ea typeface="Calibri"/>
                        <a:cs typeface="Times New Roman"/>
                      </a:endParaRPr>
                    </a:p>
                  </a:txBody>
                  <a:tcPr marL="68574" marR="68574" marT="0" marB="0"/>
                </a:tc>
                <a:tc>
                  <a:txBody>
                    <a:bodyPr/>
                    <a:lstStyle/>
                    <a:p>
                      <a:pPr marL="0" marR="0">
                        <a:lnSpc>
                          <a:spcPct val="115000"/>
                        </a:lnSpc>
                        <a:spcBef>
                          <a:spcPts val="0"/>
                        </a:spcBef>
                        <a:spcAft>
                          <a:spcPts val="0"/>
                        </a:spcAft>
                      </a:pPr>
                      <a:r>
                        <a:rPr lang="en-US" sz="1400" dirty="0" err="1">
                          <a:effectLst/>
                        </a:rPr>
                        <a:t>Dmgr_ssn</a:t>
                      </a:r>
                      <a:endParaRPr lang="en-US" sz="1400" dirty="0">
                        <a:effectLst/>
                        <a:latin typeface="Calibri"/>
                        <a:ea typeface="Calibri"/>
                        <a:cs typeface="Times New Roman"/>
                      </a:endParaRPr>
                    </a:p>
                  </a:txBody>
                  <a:tcPr marL="68574" marR="68574" marT="0" marB="0"/>
                </a:tc>
                <a:tc>
                  <a:txBody>
                    <a:bodyPr/>
                    <a:lstStyle/>
                    <a:p>
                      <a:pPr marL="0" marR="0">
                        <a:lnSpc>
                          <a:spcPct val="115000"/>
                        </a:lnSpc>
                        <a:spcBef>
                          <a:spcPts val="0"/>
                        </a:spcBef>
                        <a:spcAft>
                          <a:spcPts val="0"/>
                        </a:spcAft>
                      </a:pPr>
                      <a:r>
                        <a:rPr lang="en-US" sz="1400" dirty="0">
                          <a:effectLst/>
                        </a:rPr>
                        <a:t>Docation1</a:t>
                      </a:r>
                      <a:endParaRPr lang="en-US" sz="1400" dirty="0">
                        <a:effectLst/>
                        <a:latin typeface="Calibri"/>
                        <a:ea typeface="Calibri"/>
                        <a:cs typeface="Times New Roman"/>
                      </a:endParaRPr>
                    </a:p>
                  </a:txBody>
                  <a:tcPr marL="68574" marR="68574" marT="0" marB="0"/>
                </a:tc>
                <a:tc>
                  <a:txBody>
                    <a:bodyPr/>
                    <a:lstStyle/>
                    <a:p>
                      <a:pPr marL="0" marR="0">
                        <a:lnSpc>
                          <a:spcPct val="115000"/>
                        </a:lnSpc>
                        <a:spcBef>
                          <a:spcPts val="0"/>
                        </a:spcBef>
                        <a:spcAft>
                          <a:spcPts val="0"/>
                        </a:spcAft>
                      </a:pPr>
                      <a:r>
                        <a:rPr lang="en-US" sz="1400" dirty="0">
                          <a:effectLst/>
                        </a:rPr>
                        <a:t>Dlocation2</a:t>
                      </a:r>
                      <a:endParaRPr lang="en-US" sz="1400" dirty="0">
                        <a:effectLst/>
                        <a:latin typeface="Calibri"/>
                        <a:ea typeface="Calibri"/>
                        <a:cs typeface="Times New Roman"/>
                      </a:endParaRPr>
                    </a:p>
                  </a:txBody>
                  <a:tcPr marL="68574" marR="68574" marT="0" marB="0"/>
                </a:tc>
                <a:tc>
                  <a:txBody>
                    <a:bodyPr/>
                    <a:lstStyle/>
                    <a:p>
                      <a:pPr marL="0" marR="0">
                        <a:lnSpc>
                          <a:spcPct val="115000"/>
                        </a:lnSpc>
                        <a:spcBef>
                          <a:spcPts val="0"/>
                        </a:spcBef>
                        <a:spcAft>
                          <a:spcPts val="0"/>
                        </a:spcAft>
                      </a:pPr>
                      <a:r>
                        <a:rPr lang="en-US" sz="1400" dirty="0">
                          <a:effectLst/>
                        </a:rPr>
                        <a:t>Dlocation3</a:t>
                      </a:r>
                      <a:endParaRPr lang="en-US" sz="1400" dirty="0">
                        <a:effectLst/>
                        <a:latin typeface="Calibri"/>
                        <a:ea typeface="Calibri"/>
                        <a:cs typeface="Times New Roman"/>
                      </a:endParaRPr>
                    </a:p>
                  </a:txBody>
                  <a:tcPr marL="68574" marR="68574" marT="0" marB="0"/>
                </a:tc>
                <a:extLst>
                  <a:ext uri="{0D108BD9-81ED-4DB2-BD59-A6C34878D82A}">
                    <a16:rowId xmlns:a16="http://schemas.microsoft.com/office/drawing/2014/main" val="10000"/>
                  </a:ext>
                </a:extLst>
              </a:tr>
              <a:tr h="704850">
                <a:tc>
                  <a:txBody>
                    <a:bodyPr/>
                    <a:lstStyle/>
                    <a:p>
                      <a:pPr marL="0" marR="0">
                        <a:lnSpc>
                          <a:spcPct val="115000"/>
                        </a:lnSpc>
                        <a:spcBef>
                          <a:spcPts val="0"/>
                        </a:spcBef>
                        <a:spcAft>
                          <a:spcPts val="0"/>
                        </a:spcAft>
                      </a:pPr>
                      <a:r>
                        <a:rPr lang="en-US" sz="1400" dirty="0">
                          <a:effectLst/>
                        </a:rPr>
                        <a:t>Research</a:t>
                      </a:r>
                      <a:endParaRPr lang="en-US" sz="1400" dirty="0">
                        <a:effectLst/>
                        <a:latin typeface="Calibri"/>
                        <a:ea typeface="Calibri"/>
                        <a:cs typeface="Times New Roman"/>
                      </a:endParaRPr>
                    </a:p>
                  </a:txBody>
                  <a:tcPr marL="68574" marR="68574" marT="0" marB="0"/>
                </a:tc>
                <a:tc>
                  <a:txBody>
                    <a:bodyPr/>
                    <a:lstStyle/>
                    <a:p>
                      <a:pPr marL="0" marR="0">
                        <a:lnSpc>
                          <a:spcPct val="115000"/>
                        </a:lnSpc>
                        <a:spcBef>
                          <a:spcPts val="0"/>
                        </a:spcBef>
                        <a:spcAft>
                          <a:spcPts val="0"/>
                        </a:spcAft>
                      </a:pPr>
                      <a:r>
                        <a:rPr lang="en-US" sz="1400" dirty="0">
                          <a:effectLst/>
                        </a:rPr>
                        <a:t>5</a:t>
                      </a:r>
                      <a:endParaRPr lang="en-US" sz="1400" dirty="0">
                        <a:effectLst/>
                        <a:latin typeface="Calibri"/>
                        <a:ea typeface="Calibri"/>
                        <a:cs typeface="Times New Roman"/>
                      </a:endParaRPr>
                    </a:p>
                  </a:txBody>
                  <a:tcPr marL="68574" marR="68574" marT="0" marB="0"/>
                </a:tc>
                <a:tc>
                  <a:txBody>
                    <a:bodyPr/>
                    <a:lstStyle/>
                    <a:p>
                      <a:pPr marL="0" marR="0">
                        <a:lnSpc>
                          <a:spcPct val="115000"/>
                        </a:lnSpc>
                        <a:spcBef>
                          <a:spcPts val="0"/>
                        </a:spcBef>
                        <a:spcAft>
                          <a:spcPts val="0"/>
                        </a:spcAft>
                      </a:pPr>
                      <a:r>
                        <a:rPr lang="en-US" sz="1400">
                          <a:effectLst/>
                        </a:rPr>
                        <a:t>333445555</a:t>
                      </a:r>
                      <a:endParaRPr lang="en-US" sz="1400">
                        <a:effectLst/>
                        <a:latin typeface="Calibri"/>
                        <a:ea typeface="Calibri"/>
                        <a:cs typeface="Times New Roman"/>
                      </a:endParaRPr>
                    </a:p>
                  </a:txBody>
                  <a:tcPr marL="68574" marR="68574" marT="0" marB="0"/>
                </a:tc>
                <a:tc>
                  <a:txBody>
                    <a:bodyPr/>
                    <a:lstStyle/>
                    <a:p>
                      <a:pPr marL="0" marR="0">
                        <a:lnSpc>
                          <a:spcPct val="115000"/>
                        </a:lnSpc>
                        <a:spcBef>
                          <a:spcPts val="0"/>
                        </a:spcBef>
                        <a:spcAft>
                          <a:spcPts val="0"/>
                        </a:spcAft>
                      </a:pPr>
                      <a:r>
                        <a:rPr lang="en-US" sz="1400" dirty="0">
                          <a:effectLst/>
                        </a:rPr>
                        <a:t>Bellaire</a:t>
                      </a:r>
                      <a:endParaRPr lang="en-US" sz="1400" dirty="0">
                        <a:effectLst/>
                        <a:latin typeface="Calibri"/>
                        <a:ea typeface="Calibri"/>
                        <a:cs typeface="Times New Roman"/>
                      </a:endParaRPr>
                    </a:p>
                  </a:txBody>
                  <a:tcPr marL="68574" marR="68574" marT="0" marB="0"/>
                </a:tc>
                <a:tc>
                  <a:txBody>
                    <a:bodyPr/>
                    <a:lstStyle/>
                    <a:p>
                      <a:pPr marL="0" marR="0">
                        <a:lnSpc>
                          <a:spcPct val="115000"/>
                        </a:lnSpc>
                        <a:spcBef>
                          <a:spcPts val="0"/>
                        </a:spcBef>
                        <a:spcAft>
                          <a:spcPts val="0"/>
                        </a:spcAft>
                      </a:pPr>
                      <a:r>
                        <a:rPr lang="en-US" sz="1400">
                          <a:effectLst/>
                        </a:rPr>
                        <a:t>Sugarland</a:t>
                      </a:r>
                      <a:endParaRPr lang="en-US" sz="1400">
                        <a:effectLst/>
                        <a:latin typeface="Calibri"/>
                        <a:ea typeface="Calibri"/>
                        <a:cs typeface="Times New Roman"/>
                      </a:endParaRPr>
                    </a:p>
                  </a:txBody>
                  <a:tcPr marL="68574" marR="68574" marT="0" marB="0"/>
                </a:tc>
                <a:tc>
                  <a:txBody>
                    <a:bodyPr/>
                    <a:lstStyle/>
                    <a:p>
                      <a:pPr marL="0" marR="0">
                        <a:lnSpc>
                          <a:spcPct val="115000"/>
                        </a:lnSpc>
                        <a:spcBef>
                          <a:spcPts val="0"/>
                        </a:spcBef>
                        <a:spcAft>
                          <a:spcPts val="0"/>
                        </a:spcAft>
                      </a:pPr>
                      <a:r>
                        <a:rPr lang="en-US" sz="1400">
                          <a:effectLst/>
                        </a:rPr>
                        <a:t>Houston</a:t>
                      </a:r>
                      <a:endParaRPr lang="en-US" sz="1400">
                        <a:effectLst/>
                        <a:latin typeface="Calibri"/>
                        <a:ea typeface="Calibri"/>
                        <a:cs typeface="Times New Roman"/>
                      </a:endParaRPr>
                    </a:p>
                  </a:txBody>
                  <a:tcPr marL="68574" marR="68574" marT="0" marB="0"/>
                </a:tc>
                <a:extLst>
                  <a:ext uri="{0D108BD9-81ED-4DB2-BD59-A6C34878D82A}">
                    <a16:rowId xmlns:a16="http://schemas.microsoft.com/office/drawing/2014/main" val="10001"/>
                  </a:ext>
                </a:extLst>
              </a:tr>
              <a:tr h="704850">
                <a:tc>
                  <a:txBody>
                    <a:bodyPr/>
                    <a:lstStyle/>
                    <a:p>
                      <a:pPr marL="0" marR="0">
                        <a:lnSpc>
                          <a:spcPct val="115000"/>
                        </a:lnSpc>
                        <a:spcBef>
                          <a:spcPts val="0"/>
                        </a:spcBef>
                        <a:spcAft>
                          <a:spcPts val="0"/>
                        </a:spcAft>
                      </a:pPr>
                      <a:r>
                        <a:rPr lang="en-US" sz="1400" dirty="0">
                          <a:effectLst/>
                        </a:rPr>
                        <a:t>Administration</a:t>
                      </a:r>
                      <a:endParaRPr lang="en-US" sz="1400" dirty="0">
                        <a:effectLst/>
                        <a:latin typeface="Calibri"/>
                        <a:ea typeface="Calibri"/>
                        <a:cs typeface="Times New Roman"/>
                      </a:endParaRPr>
                    </a:p>
                  </a:txBody>
                  <a:tcPr marL="68574" marR="68574" marT="0" marB="0"/>
                </a:tc>
                <a:tc>
                  <a:txBody>
                    <a:bodyPr/>
                    <a:lstStyle/>
                    <a:p>
                      <a:pPr marL="0" marR="0">
                        <a:lnSpc>
                          <a:spcPct val="115000"/>
                        </a:lnSpc>
                        <a:spcBef>
                          <a:spcPts val="0"/>
                        </a:spcBef>
                        <a:spcAft>
                          <a:spcPts val="0"/>
                        </a:spcAft>
                      </a:pPr>
                      <a:r>
                        <a:rPr lang="en-US" sz="1400" dirty="0">
                          <a:effectLst/>
                        </a:rPr>
                        <a:t>4</a:t>
                      </a:r>
                      <a:endParaRPr lang="en-US" sz="1400" dirty="0">
                        <a:effectLst/>
                        <a:latin typeface="Calibri"/>
                        <a:ea typeface="Calibri"/>
                        <a:cs typeface="Times New Roman"/>
                      </a:endParaRPr>
                    </a:p>
                  </a:txBody>
                  <a:tcPr marL="68574" marR="68574" marT="0" marB="0"/>
                </a:tc>
                <a:tc>
                  <a:txBody>
                    <a:bodyPr/>
                    <a:lstStyle/>
                    <a:p>
                      <a:pPr marL="0" marR="0">
                        <a:lnSpc>
                          <a:spcPct val="115000"/>
                        </a:lnSpc>
                        <a:spcBef>
                          <a:spcPts val="0"/>
                        </a:spcBef>
                        <a:spcAft>
                          <a:spcPts val="0"/>
                        </a:spcAft>
                      </a:pPr>
                      <a:r>
                        <a:rPr lang="en-US" sz="1400">
                          <a:effectLst/>
                        </a:rPr>
                        <a:t>987654321</a:t>
                      </a:r>
                      <a:endParaRPr lang="en-US" sz="1400">
                        <a:effectLst/>
                        <a:latin typeface="Calibri"/>
                        <a:ea typeface="Calibri"/>
                        <a:cs typeface="Times New Roman"/>
                      </a:endParaRPr>
                    </a:p>
                  </a:txBody>
                  <a:tcPr marL="68574" marR="68574" marT="0" marB="0"/>
                </a:tc>
                <a:tc>
                  <a:txBody>
                    <a:bodyPr/>
                    <a:lstStyle/>
                    <a:p>
                      <a:pPr marL="0" marR="0">
                        <a:lnSpc>
                          <a:spcPct val="115000"/>
                        </a:lnSpc>
                        <a:spcBef>
                          <a:spcPts val="0"/>
                        </a:spcBef>
                        <a:spcAft>
                          <a:spcPts val="0"/>
                        </a:spcAft>
                      </a:pPr>
                      <a:r>
                        <a:rPr lang="en-US" sz="1400" dirty="0">
                          <a:effectLst/>
                        </a:rPr>
                        <a:t>Stafford</a:t>
                      </a:r>
                      <a:endParaRPr lang="en-US" sz="1400" dirty="0">
                        <a:effectLst/>
                        <a:latin typeface="Calibri"/>
                        <a:ea typeface="Calibri"/>
                        <a:cs typeface="Times New Roman"/>
                      </a:endParaRPr>
                    </a:p>
                  </a:txBody>
                  <a:tcPr marL="68574" marR="68574" marT="0" marB="0"/>
                </a:tc>
                <a:tc>
                  <a:txBody>
                    <a:bodyPr/>
                    <a:lstStyle/>
                    <a:p>
                      <a:pPr marL="0" marR="0">
                        <a:lnSpc>
                          <a:spcPct val="115000"/>
                        </a:lnSpc>
                        <a:spcBef>
                          <a:spcPts val="0"/>
                        </a:spcBef>
                        <a:spcAft>
                          <a:spcPts val="0"/>
                        </a:spcAft>
                      </a:pPr>
                      <a:r>
                        <a:rPr lang="en-US" sz="1400" dirty="0">
                          <a:effectLst/>
                        </a:rPr>
                        <a:t> </a:t>
                      </a:r>
                      <a:endParaRPr lang="en-US" sz="1400" dirty="0">
                        <a:effectLst/>
                        <a:latin typeface="Calibri"/>
                        <a:ea typeface="Calibri"/>
                        <a:cs typeface="Times New Roman"/>
                      </a:endParaRPr>
                    </a:p>
                  </a:txBody>
                  <a:tcPr marL="68574" marR="68574" marT="0" marB="0"/>
                </a:tc>
                <a:tc>
                  <a:txBody>
                    <a:bodyPr/>
                    <a:lstStyle/>
                    <a:p>
                      <a:pPr marL="0" marR="0">
                        <a:lnSpc>
                          <a:spcPct val="115000"/>
                        </a:lnSpc>
                        <a:spcBef>
                          <a:spcPts val="0"/>
                        </a:spcBef>
                        <a:spcAft>
                          <a:spcPts val="0"/>
                        </a:spcAft>
                      </a:pPr>
                      <a:r>
                        <a:rPr lang="en-US" sz="1400">
                          <a:effectLst/>
                        </a:rPr>
                        <a:t> </a:t>
                      </a:r>
                      <a:endParaRPr lang="en-US" sz="1400">
                        <a:effectLst/>
                        <a:latin typeface="Calibri"/>
                        <a:ea typeface="Calibri"/>
                        <a:cs typeface="Times New Roman"/>
                      </a:endParaRPr>
                    </a:p>
                  </a:txBody>
                  <a:tcPr marL="68574" marR="68574" marT="0" marB="0"/>
                </a:tc>
                <a:extLst>
                  <a:ext uri="{0D108BD9-81ED-4DB2-BD59-A6C34878D82A}">
                    <a16:rowId xmlns:a16="http://schemas.microsoft.com/office/drawing/2014/main" val="10002"/>
                  </a:ext>
                </a:extLst>
              </a:tr>
              <a:tr h="704850">
                <a:tc>
                  <a:txBody>
                    <a:bodyPr/>
                    <a:lstStyle/>
                    <a:p>
                      <a:pPr marL="0" marR="0">
                        <a:lnSpc>
                          <a:spcPct val="115000"/>
                        </a:lnSpc>
                        <a:spcBef>
                          <a:spcPts val="0"/>
                        </a:spcBef>
                        <a:spcAft>
                          <a:spcPts val="0"/>
                        </a:spcAft>
                      </a:pPr>
                      <a:r>
                        <a:rPr lang="en-US" sz="1400" dirty="0" err="1">
                          <a:effectLst/>
                        </a:rPr>
                        <a:t>Headquaters</a:t>
                      </a:r>
                      <a:endParaRPr lang="en-US" sz="1400" dirty="0">
                        <a:effectLst/>
                        <a:latin typeface="Calibri"/>
                        <a:ea typeface="Calibri"/>
                        <a:cs typeface="Times New Roman"/>
                      </a:endParaRPr>
                    </a:p>
                  </a:txBody>
                  <a:tcPr marL="68574" marR="68574" marT="0" marB="0"/>
                </a:tc>
                <a:tc>
                  <a:txBody>
                    <a:bodyPr/>
                    <a:lstStyle/>
                    <a:p>
                      <a:pPr marL="0" marR="0">
                        <a:lnSpc>
                          <a:spcPct val="115000"/>
                        </a:lnSpc>
                        <a:spcBef>
                          <a:spcPts val="0"/>
                        </a:spcBef>
                        <a:spcAft>
                          <a:spcPts val="0"/>
                        </a:spcAft>
                      </a:pPr>
                      <a:r>
                        <a:rPr lang="en-US" sz="1400" dirty="0">
                          <a:effectLst/>
                        </a:rPr>
                        <a:t>1</a:t>
                      </a:r>
                      <a:endParaRPr lang="en-US" sz="1400" dirty="0">
                        <a:effectLst/>
                        <a:latin typeface="Calibri"/>
                        <a:ea typeface="Calibri"/>
                        <a:cs typeface="Times New Roman"/>
                      </a:endParaRPr>
                    </a:p>
                  </a:txBody>
                  <a:tcPr marL="68574" marR="68574" marT="0" marB="0"/>
                </a:tc>
                <a:tc>
                  <a:txBody>
                    <a:bodyPr/>
                    <a:lstStyle/>
                    <a:p>
                      <a:pPr marL="0" marR="0">
                        <a:lnSpc>
                          <a:spcPct val="115000"/>
                        </a:lnSpc>
                        <a:spcBef>
                          <a:spcPts val="0"/>
                        </a:spcBef>
                        <a:spcAft>
                          <a:spcPts val="0"/>
                        </a:spcAft>
                      </a:pPr>
                      <a:r>
                        <a:rPr lang="en-US" sz="1400" dirty="0">
                          <a:effectLst/>
                        </a:rPr>
                        <a:t>888665555</a:t>
                      </a:r>
                      <a:endParaRPr lang="en-US" sz="1400" dirty="0">
                        <a:effectLst/>
                        <a:latin typeface="Calibri"/>
                        <a:ea typeface="Calibri"/>
                        <a:cs typeface="Times New Roman"/>
                      </a:endParaRPr>
                    </a:p>
                  </a:txBody>
                  <a:tcPr marL="68574" marR="68574" marT="0" marB="0"/>
                </a:tc>
                <a:tc>
                  <a:txBody>
                    <a:bodyPr/>
                    <a:lstStyle/>
                    <a:p>
                      <a:pPr marL="0" marR="0">
                        <a:lnSpc>
                          <a:spcPct val="115000"/>
                        </a:lnSpc>
                        <a:spcBef>
                          <a:spcPts val="0"/>
                        </a:spcBef>
                        <a:spcAft>
                          <a:spcPts val="0"/>
                        </a:spcAft>
                      </a:pPr>
                      <a:r>
                        <a:rPr lang="en-US" sz="1400" dirty="0">
                          <a:effectLst/>
                        </a:rPr>
                        <a:t>Houston</a:t>
                      </a:r>
                      <a:endParaRPr lang="en-US" sz="1400" dirty="0">
                        <a:effectLst/>
                        <a:latin typeface="Calibri"/>
                        <a:ea typeface="Calibri"/>
                        <a:cs typeface="Times New Roman"/>
                      </a:endParaRPr>
                    </a:p>
                  </a:txBody>
                  <a:tcPr marL="68574" marR="68574" marT="0" marB="0"/>
                </a:tc>
                <a:tc>
                  <a:txBody>
                    <a:bodyPr/>
                    <a:lstStyle/>
                    <a:p>
                      <a:pPr marL="0" marR="0">
                        <a:lnSpc>
                          <a:spcPct val="115000"/>
                        </a:lnSpc>
                        <a:spcBef>
                          <a:spcPts val="0"/>
                        </a:spcBef>
                        <a:spcAft>
                          <a:spcPts val="0"/>
                        </a:spcAft>
                      </a:pPr>
                      <a:r>
                        <a:rPr lang="en-US" sz="1400" dirty="0">
                          <a:effectLst/>
                        </a:rPr>
                        <a:t> </a:t>
                      </a:r>
                      <a:endParaRPr lang="en-US" sz="1400" dirty="0">
                        <a:effectLst/>
                        <a:latin typeface="Calibri"/>
                        <a:ea typeface="Calibri"/>
                        <a:cs typeface="Times New Roman"/>
                      </a:endParaRPr>
                    </a:p>
                  </a:txBody>
                  <a:tcPr marL="68574" marR="68574" marT="0" marB="0"/>
                </a:tc>
                <a:tc>
                  <a:txBody>
                    <a:bodyPr/>
                    <a:lstStyle/>
                    <a:p>
                      <a:pPr marL="0" marR="0">
                        <a:lnSpc>
                          <a:spcPct val="115000"/>
                        </a:lnSpc>
                        <a:spcBef>
                          <a:spcPts val="0"/>
                        </a:spcBef>
                        <a:spcAft>
                          <a:spcPts val="0"/>
                        </a:spcAft>
                      </a:pPr>
                      <a:r>
                        <a:rPr lang="en-US" sz="1400" dirty="0">
                          <a:effectLst/>
                        </a:rPr>
                        <a:t> </a:t>
                      </a:r>
                      <a:endParaRPr lang="en-US" sz="1400" dirty="0">
                        <a:effectLst/>
                        <a:latin typeface="Calibri"/>
                        <a:ea typeface="Calibri"/>
                        <a:cs typeface="Times New Roman"/>
                      </a:endParaRPr>
                    </a:p>
                  </a:txBody>
                  <a:tcPr marL="68574" marR="68574" marT="0" marB="0"/>
                </a:tc>
                <a:extLst>
                  <a:ext uri="{0D108BD9-81ED-4DB2-BD59-A6C34878D82A}">
                    <a16:rowId xmlns:a16="http://schemas.microsoft.com/office/drawing/2014/main" val="10003"/>
                  </a:ext>
                </a:extLst>
              </a:tr>
            </a:tbl>
          </a:graphicData>
        </a:graphic>
      </p:graphicFrame>
      <p:sp>
        <p:nvSpPr>
          <p:cNvPr id="5" name="Slide Number Placeholder 4"/>
          <p:cNvSpPr>
            <a:spLocks noGrp="1"/>
          </p:cNvSpPr>
          <p:nvPr>
            <p:ph type="sldNum" sz="quarter" idx="12"/>
          </p:nvPr>
        </p:nvSpPr>
        <p:spPr/>
        <p:txBody>
          <a:bodyPr/>
          <a:lstStyle/>
          <a:p>
            <a:fld id="{DB4A5BFF-587F-4230-A0AE-EABA229E5E91}" type="slidenum">
              <a:rPr lang="en-US" smtClean="0"/>
              <a:t>8</a:t>
            </a:fld>
            <a:endParaRPr lang="en-US"/>
          </a:p>
        </p:txBody>
      </p:sp>
      <p:sp>
        <p:nvSpPr>
          <p:cNvPr id="7" name="Rectangle 1"/>
          <p:cNvSpPr>
            <a:spLocks noChangeArrowheads="1"/>
          </p:cNvSpPr>
          <p:nvPr/>
        </p:nvSpPr>
        <p:spPr bwMode="auto">
          <a:xfrm>
            <a:off x="620482" y="1243694"/>
            <a:ext cx="19558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sz="2400" b="1" i="0" dirty="0">
                <a:latin typeface="Calibri" pitchFamily="34" charset="0"/>
                <a:ea typeface="Calibri" pitchFamily="34" charset="0"/>
                <a:cs typeface="Times New Roman" pitchFamily="18" charset="0"/>
              </a:rPr>
              <a:t>DEPARTMENT</a:t>
            </a:r>
            <a:endParaRPr lang="en-US" sz="2400" i="0" dirty="0">
              <a:ea typeface="Calibri" pitchFamily="34" charset="0"/>
              <a:cs typeface="Times New Roman" pitchFamily="18" charset="0"/>
            </a:endParaRPr>
          </a:p>
        </p:txBody>
      </p:sp>
    </p:spTree>
    <p:extLst>
      <p:ext uri="{BB962C8B-B14F-4D97-AF65-F5344CB8AC3E}">
        <p14:creationId xmlns:p14="http://schemas.microsoft.com/office/powerpoint/2010/main" val="1061111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
            <a:ext cx="8229600" cy="857250"/>
          </a:xfrm>
        </p:spPr>
        <p:txBody>
          <a:bodyPr>
            <a:normAutofit/>
          </a:bodyPr>
          <a:lstStyle/>
          <a:p>
            <a:r>
              <a:rPr lang="en-US" sz="2800" dirty="0"/>
              <a:t>Conversion into 1NF</a:t>
            </a:r>
          </a:p>
        </p:txBody>
      </p:sp>
      <p:sp>
        <p:nvSpPr>
          <p:cNvPr id="5" name="Slide Number Placeholder 4"/>
          <p:cNvSpPr>
            <a:spLocks noGrp="1"/>
          </p:cNvSpPr>
          <p:nvPr>
            <p:ph type="sldNum" sz="quarter" idx="12"/>
          </p:nvPr>
        </p:nvSpPr>
        <p:spPr/>
        <p:txBody>
          <a:bodyPr/>
          <a:lstStyle/>
          <a:p>
            <a:fld id="{DB4A5BFF-587F-4230-A0AE-EABA229E5E91}" type="slidenum">
              <a:rPr lang="en-US" smtClean="0"/>
              <a:t>9</a:t>
            </a:fld>
            <a:endParaRPr lang="en-US"/>
          </a:p>
        </p:txBody>
      </p:sp>
      <p:pic>
        <p:nvPicPr>
          <p:cNvPr id="8" name="Picture 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435953"/>
            <a:ext cx="4365714" cy="4628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534" y="2135332"/>
            <a:ext cx="4222866" cy="2493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9"/>
          <p:cNvSpPr/>
          <p:nvPr/>
        </p:nvSpPr>
        <p:spPr>
          <a:xfrm>
            <a:off x="4648200" y="1359753"/>
            <a:ext cx="4495800" cy="707886"/>
          </a:xfrm>
          <a:prstGeom prst="rect">
            <a:avLst/>
          </a:prstGeom>
        </p:spPr>
        <p:txBody>
          <a:bodyPr wrap="square">
            <a:spAutoFit/>
          </a:bodyPr>
          <a:lstStyle/>
          <a:p>
            <a:r>
              <a:rPr lang="en-US" sz="2000" dirty="0"/>
              <a:t>First normal form does not allow complex attribute too.</a:t>
            </a:r>
          </a:p>
        </p:txBody>
      </p:sp>
    </p:spTree>
    <p:extLst>
      <p:ext uri="{BB962C8B-B14F-4D97-AF65-F5344CB8AC3E}">
        <p14:creationId xmlns:p14="http://schemas.microsoft.com/office/powerpoint/2010/main" val="3695790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
            <a:ext cx="8229600" cy="857250"/>
          </a:xfrm>
        </p:spPr>
        <p:txBody>
          <a:bodyPr>
            <a:normAutofit/>
          </a:bodyPr>
          <a:lstStyle/>
          <a:p>
            <a:r>
              <a:rPr lang="en-US" sz="2800" dirty="0"/>
              <a:t>Conversion into 1NF</a:t>
            </a:r>
          </a:p>
        </p:txBody>
      </p:sp>
      <p:sp>
        <p:nvSpPr>
          <p:cNvPr id="5" name="Slide Number Placeholder 4"/>
          <p:cNvSpPr>
            <a:spLocks noGrp="1"/>
          </p:cNvSpPr>
          <p:nvPr>
            <p:ph type="sldNum" sz="quarter" idx="12"/>
          </p:nvPr>
        </p:nvSpPr>
        <p:spPr/>
        <p:txBody>
          <a:bodyPr/>
          <a:lstStyle/>
          <a:p>
            <a:fld id="{DB4A5BFF-587F-4230-A0AE-EABA229E5E91}" type="slidenum">
              <a:rPr lang="en-US" smtClean="0"/>
              <a:t>10</a:t>
            </a:fld>
            <a:endParaRPr lang="en-US"/>
          </a:p>
        </p:txBody>
      </p:sp>
      <p:pic>
        <p:nvPicPr>
          <p:cNvPr id="6"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3318510"/>
            <a:ext cx="3050771" cy="548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3235383"/>
            <a:ext cx="4488873" cy="631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1" y="1724121"/>
            <a:ext cx="3638095" cy="771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p:cNvSpPr/>
          <p:nvPr/>
        </p:nvSpPr>
        <p:spPr>
          <a:xfrm>
            <a:off x="838200" y="1257240"/>
            <a:ext cx="1043106" cy="400110"/>
          </a:xfrm>
          <a:prstGeom prst="rect">
            <a:avLst/>
          </a:prstGeom>
        </p:spPr>
        <p:txBody>
          <a:bodyPr wrap="none">
            <a:spAutoFit/>
          </a:bodyPr>
          <a:lstStyle/>
          <a:p>
            <a:r>
              <a:rPr lang="en-US" sz="2000" dirty="0"/>
              <a:t>Replace</a:t>
            </a:r>
          </a:p>
        </p:txBody>
      </p:sp>
      <p:sp>
        <p:nvSpPr>
          <p:cNvPr id="10" name="Rectangle 9"/>
          <p:cNvSpPr/>
          <p:nvPr/>
        </p:nvSpPr>
        <p:spPr>
          <a:xfrm>
            <a:off x="762000" y="2719685"/>
            <a:ext cx="1932580" cy="400110"/>
          </a:xfrm>
          <a:prstGeom prst="rect">
            <a:avLst/>
          </a:prstGeom>
        </p:spPr>
        <p:txBody>
          <a:bodyPr wrap="none">
            <a:spAutoFit/>
          </a:bodyPr>
          <a:lstStyle/>
          <a:p>
            <a:r>
              <a:rPr lang="en-US" sz="2000" dirty="0"/>
              <a:t>by two relations</a:t>
            </a:r>
          </a:p>
        </p:txBody>
      </p:sp>
    </p:spTree>
    <p:extLst>
      <p:ext uri="{BB962C8B-B14F-4D97-AF65-F5344CB8AC3E}">
        <p14:creationId xmlns:p14="http://schemas.microsoft.com/office/powerpoint/2010/main" val="2224497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arn(inVertical)">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inVertical)">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
            <a:ext cx="8229600" cy="857250"/>
          </a:xfrm>
        </p:spPr>
        <p:txBody>
          <a:bodyPr>
            <a:normAutofit/>
          </a:bodyPr>
          <a:lstStyle/>
          <a:p>
            <a:r>
              <a:rPr lang="en-US" sz="2800" dirty="0"/>
              <a:t>Partial dependency</a:t>
            </a:r>
          </a:p>
        </p:txBody>
      </p:sp>
      <p:sp>
        <p:nvSpPr>
          <p:cNvPr id="5" name="Slide Number Placeholder 4"/>
          <p:cNvSpPr>
            <a:spLocks noGrp="1"/>
          </p:cNvSpPr>
          <p:nvPr>
            <p:ph type="sldNum" sz="quarter" idx="12"/>
          </p:nvPr>
        </p:nvSpPr>
        <p:spPr/>
        <p:txBody>
          <a:bodyPr/>
          <a:lstStyle/>
          <a:p>
            <a:fld id="{DB4A5BFF-587F-4230-A0AE-EABA229E5E91}" type="slidenum">
              <a:rPr lang="en-US" smtClean="0"/>
              <a:t>11</a:t>
            </a:fld>
            <a:endParaRPr lang="en-US"/>
          </a:p>
        </p:txBody>
      </p:sp>
      <p:sp>
        <p:nvSpPr>
          <p:cNvPr id="7" name="Rectangle 6"/>
          <p:cNvSpPr/>
          <p:nvPr/>
        </p:nvSpPr>
        <p:spPr>
          <a:xfrm>
            <a:off x="1905000" y="3352860"/>
            <a:ext cx="2725426" cy="400110"/>
          </a:xfrm>
          <a:prstGeom prst="rect">
            <a:avLst/>
          </a:prstGeom>
        </p:spPr>
        <p:txBody>
          <a:bodyPr wrap="none">
            <a:spAutoFit/>
          </a:bodyPr>
          <a:lstStyle/>
          <a:p>
            <a:r>
              <a:rPr lang="en-US" sz="2000" dirty="0"/>
              <a:t>FD2:  {</a:t>
            </a:r>
            <a:r>
              <a:rPr lang="en-US" sz="2000" dirty="0" err="1"/>
              <a:t>Ssn</a:t>
            </a:r>
            <a:r>
              <a:rPr lang="en-US" sz="2000" dirty="0"/>
              <a:t>} </a:t>
            </a:r>
            <a:r>
              <a:rPr lang="en-US" sz="2000" dirty="0">
                <a:sym typeface="Wingdings" pitchFamily="2" charset="2"/>
              </a:rPr>
              <a:t> {</a:t>
            </a:r>
            <a:r>
              <a:rPr lang="en-US" sz="2000" dirty="0" err="1">
                <a:sym typeface="Wingdings" pitchFamily="2" charset="2"/>
              </a:rPr>
              <a:t>Ename</a:t>
            </a:r>
            <a:r>
              <a:rPr lang="en-US" sz="2000" dirty="0">
                <a:sym typeface="Wingdings" pitchFamily="2" charset="2"/>
              </a:rPr>
              <a:t>}</a:t>
            </a:r>
            <a:endParaRPr lang="en-US" sz="2000" dirty="0"/>
          </a:p>
        </p:txBody>
      </p:sp>
      <p:sp>
        <p:nvSpPr>
          <p:cNvPr id="8" name="Rectangle 7"/>
          <p:cNvSpPr/>
          <p:nvPr/>
        </p:nvSpPr>
        <p:spPr>
          <a:xfrm>
            <a:off x="1921689" y="3867150"/>
            <a:ext cx="4479111" cy="400110"/>
          </a:xfrm>
          <a:prstGeom prst="rect">
            <a:avLst/>
          </a:prstGeom>
        </p:spPr>
        <p:txBody>
          <a:bodyPr wrap="none">
            <a:spAutoFit/>
          </a:bodyPr>
          <a:lstStyle/>
          <a:p>
            <a:r>
              <a:rPr lang="en-US" sz="2000" dirty="0">
                <a:sym typeface="Wingdings" pitchFamily="2" charset="2"/>
              </a:rPr>
              <a:t>FD3: {</a:t>
            </a:r>
            <a:r>
              <a:rPr lang="en-US" sz="2000" dirty="0" err="1">
                <a:sym typeface="Wingdings" pitchFamily="2" charset="2"/>
              </a:rPr>
              <a:t>Pnumber</a:t>
            </a:r>
            <a:r>
              <a:rPr lang="en-US" sz="2000" dirty="0">
                <a:sym typeface="Wingdings" pitchFamily="2" charset="2"/>
              </a:rPr>
              <a:t>}  {</a:t>
            </a:r>
            <a:r>
              <a:rPr lang="en-US" sz="2000" dirty="0" err="1">
                <a:sym typeface="Wingdings" pitchFamily="2" charset="2"/>
              </a:rPr>
              <a:t>Pname</a:t>
            </a:r>
            <a:r>
              <a:rPr lang="en-US" sz="2000" dirty="0">
                <a:sym typeface="Wingdings" pitchFamily="2" charset="2"/>
              </a:rPr>
              <a:t>, </a:t>
            </a:r>
            <a:r>
              <a:rPr lang="en-US" sz="2000" dirty="0" err="1">
                <a:sym typeface="Wingdings" pitchFamily="2" charset="2"/>
              </a:rPr>
              <a:t>Plocation</a:t>
            </a:r>
            <a:r>
              <a:rPr lang="en-US" sz="2000" dirty="0">
                <a:sym typeface="Wingdings" pitchFamily="2" charset="2"/>
              </a:rPr>
              <a:t>}</a:t>
            </a:r>
            <a:endParaRPr lang="en-US" sz="2000" dirty="0"/>
          </a:p>
        </p:txBody>
      </p:sp>
      <p:pic>
        <p:nvPicPr>
          <p:cNvPr id="9" name="Picture 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9169" y="1428750"/>
            <a:ext cx="7030431" cy="1143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9"/>
          <p:cNvSpPr/>
          <p:nvPr/>
        </p:nvSpPr>
        <p:spPr>
          <a:xfrm>
            <a:off x="1905000" y="2952750"/>
            <a:ext cx="3756926" cy="400110"/>
          </a:xfrm>
          <a:prstGeom prst="rect">
            <a:avLst/>
          </a:prstGeom>
        </p:spPr>
        <p:txBody>
          <a:bodyPr wrap="none">
            <a:spAutoFit/>
          </a:bodyPr>
          <a:lstStyle/>
          <a:p>
            <a:r>
              <a:rPr lang="en-US" sz="2000"/>
              <a:t>FD1:  {Ssn, Pnumber} </a:t>
            </a:r>
            <a:r>
              <a:rPr lang="en-US" sz="2000">
                <a:sym typeface="Wingdings" pitchFamily="2" charset="2"/>
              </a:rPr>
              <a:t> {Hours}</a:t>
            </a:r>
            <a:endParaRPr lang="en-US" sz="2000" dirty="0"/>
          </a:p>
        </p:txBody>
      </p:sp>
    </p:spTree>
    <p:extLst>
      <p:ext uri="{BB962C8B-B14F-4D97-AF65-F5344CB8AC3E}">
        <p14:creationId xmlns:p14="http://schemas.microsoft.com/office/powerpoint/2010/main" val="1096488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1000"/>
                                        <p:tgtEl>
                                          <p:spTgt spid="8"/>
                                        </p:tgtEl>
                                      </p:cBhvr>
                                    </p:animEffect>
                                    <p:anim calcmode="lin" valueType="num">
                                      <p:cBhvr>
                                        <p:cTn id="27" dur="1000" fill="hold"/>
                                        <p:tgtEl>
                                          <p:spTgt spid="8"/>
                                        </p:tgtEl>
                                        <p:attrNameLst>
                                          <p:attrName>ppt_x</p:attrName>
                                        </p:attrNameLst>
                                      </p:cBhvr>
                                      <p:tavLst>
                                        <p:tav tm="0">
                                          <p:val>
                                            <p:strVal val="#ppt_x"/>
                                          </p:val>
                                        </p:tav>
                                        <p:tav tm="100000">
                                          <p:val>
                                            <p:strVal val="#ppt_x"/>
                                          </p:val>
                                        </p:tav>
                                      </p:tavLst>
                                    </p:anim>
                                    <p:anim calcmode="lin" valueType="num">
                                      <p:cBhvr>
                                        <p:cTn id="2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
            <a:ext cx="8229600" cy="857250"/>
          </a:xfrm>
        </p:spPr>
        <p:txBody>
          <a:bodyPr>
            <a:normAutofit/>
          </a:bodyPr>
          <a:lstStyle/>
          <a:p>
            <a:r>
              <a:rPr lang="en-US" sz="2800" dirty="0"/>
              <a:t>Transitive dependency</a:t>
            </a:r>
          </a:p>
        </p:txBody>
      </p:sp>
      <p:sp>
        <p:nvSpPr>
          <p:cNvPr id="5" name="Slide Number Placeholder 4"/>
          <p:cNvSpPr>
            <a:spLocks noGrp="1"/>
          </p:cNvSpPr>
          <p:nvPr>
            <p:ph type="sldNum" sz="quarter" idx="12"/>
          </p:nvPr>
        </p:nvSpPr>
        <p:spPr/>
        <p:txBody>
          <a:bodyPr/>
          <a:lstStyle/>
          <a:p>
            <a:fld id="{DB4A5BFF-587F-4230-A0AE-EABA229E5E91}" type="slidenum">
              <a:rPr lang="en-US" smtClean="0"/>
              <a:t>12</a:t>
            </a:fld>
            <a:endParaRPr lang="en-US"/>
          </a:p>
        </p:txBody>
      </p:sp>
      <p:pic>
        <p:nvPicPr>
          <p:cNvPr id="6" name="Picture 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352550"/>
            <a:ext cx="7010400" cy="1143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2286000" y="2812018"/>
            <a:ext cx="4067139" cy="400110"/>
          </a:xfrm>
          <a:prstGeom prst="rect">
            <a:avLst/>
          </a:prstGeom>
        </p:spPr>
        <p:txBody>
          <a:bodyPr wrap="none">
            <a:spAutoFit/>
          </a:bodyPr>
          <a:lstStyle/>
          <a:p>
            <a:r>
              <a:rPr lang="en-US" sz="2000" dirty="0"/>
              <a:t>{</a:t>
            </a:r>
            <a:r>
              <a:rPr lang="en-US" sz="2000" dirty="0" err="1"/>
              <a:t>Dnumber</a:t>
            </a:r>
            <a:r>
              <a:rPr lang="en-US" sz="2000" dirty="0"/>
              <a:t>} </a:t>
            </a:r>
            <a:r>
              <a:rPr lang="en-US" sz="2000" dirty="0">
                <a:sym typeface="Wingdings" pitchFamily="2" charset="2"/>
              </a:rPr>
              <a:t> {</a:t>
            </a:r>
            <a:r>
              <a:rPr lang="en-US" sz="2000" dirty="0" err="1">
                <a:sym typeface="Wingdings" pitchFamily="2" charset="2"/>
              </a:rPr>
              <a:t>Dname</a:t>
            </a:r>
            <a:r>
              <a:rPr lang="en-US" sz="2000" dirty="0">
                <a:sym typeface="Wingdings" pitchFamily="2" charset="2"/>
              </a:rPr>
              <a:t>, </a:t>
            </a:r>
            <a:r>
              <a:rPr lang="en-US" sz="2000" dirty="0" err="1">
                <a:sym typeface="Wingdings" pitchFamily="2" charset="2"/>
              </a:rPr>
              <a:t>Dmgr_ssn</a:t>
            </a:r>
            <a:r>
              <a:rPr lang="en-US" sz="2000" dirty="0">
                <a:sym typeface="Wingdings" pitchFamily="2" charset="2"/>
              </a:rPr>
              <a:t>}</a:t>
            </a:r>
            <a:endParaRPr lang="en-US" sz="2000" dirty="0"/>
          </a:p>
        </p:txBody>
      </p:sp>
    </p:spTree>
    <p:extLst>
      <p:ext uri="{BB962C8B-B14F-4D97-AF65-F5344CB8AC3E}">
        <p14:creationId xmlns:p14="http://schemas.microsoft.com/office/powerpoint/2010/main" val="2602221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
            <a:ext cx="8229600" cy="857250"/>
          </a:xfrm>
        </p:spPr>
        <p:txBody>
          <a:bodyPr>
            <a:normAutofit/>
          </a:bodyPr>
          <a:lstStyle/>
          <a:p>
            <a:r>
              <a:rPr lang="en-US" sz="2800" dirty="0"/>
              <a:t>Second normal form (2NF)</a:t>
            </a:r>
          </a:p>
        </p:txBody>
      </p:sp>
      <p:sp>
        <p:nvSpPr>
          <p:cNvPr id="3" name="Content Placeholder 2"/>
          <p:cNvSpPr>
            <a:spLocks noGrp="1"/>
          </p:cNvSpPr>
          <p:nvPr>
            <p:ph idx="1"/>
          </p:nvPr>
        </p:nvSpPr>
        <p:spPr>
          <a:xfrm>
            <a:off x="457200" y="1276350"/>
            <a:ext cx="8229600" cy="3291840"/>
          </a:xfrm>
        </p:spPr>
        <p:txBody>
          <a:bodyPr/>
          <a:lstStyle/>
          <a:p>
            <a:pPr>
              <a:lnSpc>
                <a:spcPct val="150000"/>
              </a:lnSpc>
              <a:spcBef>
                <a:spcPts val="0"/>
              </a:spcBef>
              <a:buNone/>
            </a:pPr>
            <a:r>
              <a:rPr lang="en-US" sz="2000" dirty="0"/>
              <a:t>A relation schema is said to be in second </a:t>
            </a:r>
            <a:r>
              <a:rPr lang="en-US" sz="2000"/>
              <a:t>normal form </a:t>
            </a:r>
            <a:r>
              <a:rPr lang="en-US" sz="2000" dirty="0"/>
              <a:t>if</a:t>
            </a:r>
          </a:p>
          <a:p>
            <a:pPr>
              <a:lnSpc>
                <a:spcPct val="150000"/>
              </a:lnSpc>
              <a:spcBef>
                <a:spcPts val="0"/>
              </a:spcBef>
              <a:buNone/>
            </a:pPr>
            <a:r>
              <a:rPr lang="en-US" sz="2000" dirty="0"/>
              <a:t>(i)  it is in first normal form and </a:t>
            </a:r>
          </a:p>
          <a:p>
            <a:pPr>
              <a:lnSpc>
                <a:spcPct val="150000"/>
              </a:lnSpc>
              <a:spcBef>
                <a:spcPts val="0"/>
              </a:spcBef>
              <a:buNone/>
            </a:pPr>
            <a:r>
              <a:rPr lang="en-US" sz="2000" dirty="0"/>
              <a:t>(ii) there is no partial dependency </a:t>
            </a:r>
            <a:r>
              <a:rPr lang="en-US" sz="2000"/>
              <a:t>on primary key </a:t>
            </a:r>
            <a:r>
              <a:rPr lang="en-US" sz="2000" dirty="0"/>
              <a:t>of the schema.</a:t>
            </a:r>
          </a:p>
          <a:p>
            <a:endParaRPr lang="en-US" dirty="0"/>
          </a:p>
        </p:txBody>
      </p:sp>
      <p:sp>
        <p:nvSpPr>
          <p:cNvPr id="5" name="Slide Number Placeholder 4"/>
          <p:cNvSpPr>
            <a:spLocks noGrp="1"/>
          </p:cNvSpPr>
          <p:nvPr>
            <p:ph type="sldNum" sz="quarter" idx="12"/>
          </p:nvPr>
        </p:nvSpPr>
        <p:spPr/>
        <p:txBody>
          <a:bodyPr/>
          <a:lstStyle/>
          <a:p>
            <a:fld id="{DB4A5BFF-587F-4230-A0AE-EABA229E5E91}" type="slidenum">
              <a:rPr lang="en-US" smtClean="0"/>
              <a:t>13</a:t>
            </a:fld>
            <a:endParaRPr lang="en-US"/>
          </a:p>
        </p:txBody>
      </p:sp>
    </p:spTree>
    <p:extLst>
      <p:ext uri="{BB962C8B-B14F-4D97-AF65-F5344CB8AC3E}">
        <p14:creationId xmlns:p14="http://schemas.microsoft.com/office/powerpoint/2010/main" val="16901193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
            <a:ext cx="8229600" cy="857250"/>
          </a:xfrm>
        </p:spPr>
        <p:txBody>
          <a:bodyPr>
            <a:normAutofit/>
          </a:bodyPr>
          <a:lstStyle/>
          <a:p>
            <a:r>
              <a:rPr lang="en-US" sz="2800" dirty="0"/>
              <a:t>Example</a:t>
            </a:r>
          </a:p>
        </p:txBody>
      </p:sp>
      <p:sp>
        <p:nvSpPr>
          <p:cNvPr id="5" name="Slide Number Placeholder 4"/>
          <p:cNvSpPr>
            <a:spLocks noGrp="1"/>
          </p:cNvSpPr>
          <p:nvPr>
            <p:ph type="sldNum" sz="quarter" idx="12"/>
          </p:nvPr>
        </p:nvSpPr>
        <p:spPr/>
        <p:txBody>
          <a:bodyPr/>
          <a:lstStyle/>
          <a:p>
            <a:fld id="{DB4A5BFF-587F-4230-A0AE-EABA229E5E91}" type="slidenum">
              <a:rPr lang="en-US" smtClean="0"/>
              <a:t>14</a:t>
            </a:fld>
            <a:endParaRPr lang="en-US"/>
          </a:p>
        </p:txBody>
      </p:sp>
      <p:pic>
        <p:nvPicPr>
          <p:cNvPr id="7" name="Picture 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6769" y="1352390"/>
            <a:ext cx="7030431" cy="1143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p:cNvSpPr>
            <a:spLocks noChangeArrowheads="1"/>
          </p:cNvSpPr>
          <p:nvPr/>
        </p:nvSpPr>
        <p:spPr bwMode="auto">
          <a:xfrm>
            <a:off x="1066800" y="3921264"/>
            <a:ext cx="43434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sz="2000" i="0" dirty="0"/>
              <a:t>FD</a:t>
            </a:r>
            <a:r>
              <a:rPr lang="en-US" sz="2000" baseline="-25000" dirty="0"/>
              <a:t>3</a:t>
            </a:r>
            <a:r>
              <a:rPr lang="en-US" sz="2000" i="0" dirty="0"/>
              <a:t>:  {</a:t>
            </a:r>
            <a:r>
              <a:rPr lang="en-US" sz="2000" i="0" dirty="0" err="1"/>
              <a:t>Ssn</a:t>
            </a:r>
            <a:r>
              <a:rPr lang="en-US" sz="2000" i="0" dirty="0"/>
              <a:t>, </a:t>
            </a:r>
            <a:r>
              <a:rPr lang="en-US" sz="2000" i="0" dirty="0" err="1"/>
              <a:t>Pnumber</a:t>
            </a:r>
            <a:r>
              <a:rPr lang="en-US" sz="2000" i="0" dirty="0"/>
              <a:t>} </a:t>
            </a:r>
            <a:r>
              <a:rPr lang="en-US" sz="2000" i="0" dirty="0">
                <a:sym typeface="Wingdings" pitchFamily="2" charset="2"/>
              </a:rPr>
              <a:t> {Hours}         </a:t>
            </a:r>
          </a:p>
          <a:p>
            <a:r>
              <a:rPr lang="en-US" sz="2000" i="0" dirty="0">
                <a:sym typeface="Wingdings" pitchFamily="2" charset="2"/>
              </a:rPr>
              <a:t>(It is a full functional dependency.)</a:t>
            </a:r>
            <a:endParaRPr lang="en-US" sz="2000" dirty="0"/>
          </a:p>
        </p:txBody>
      </p:sp>
      <p:sp>
        <p:nvSpPr>
          <p:cNvPr id="10" name="Rectangle 9"/>
          <p:cNvSpPr>
            <a:spLocks noChangeArrowheads="1"/>
          </p:cNvSpPr>
          <p:nvPr/>
        </p:nvSpPr>
        <p:spPr bwMode="auto">
          <a:xfrm>
            <a:off x="1071562" y="2495550"/>
            <a:ext cx="44910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sz="2000" i="0" dirty="0">
                <a:sym typeface="Wingdings" pitchFamily="2" charset="2"/>
              </a:rPr>
              <a:t>FD</a:t>
            </a:r>
            <a:r>
              <a:rPr lang="en-US" sz="2000" baseline="-25000" dirty="0">
                <a:sym typeface="Wingdings" pitchFamily="2" charset="2"/>
              </a:rPr>
              <a:t>1</a:t>
            </a:r>
            <a:r>
              <a:rPr lang="en-US" sz="2000" i="0" dirty="0">
                <a:sym typeface="Wingdings" pitchFamily="2" charset="2"/>
              </a:rPr>
              <a:t>: {</a:t>
            </a:r>
            <a:r>
              <a:rPr lang="en-US" sz="2000" i="0" dirty="0" err="1">
                <a:sym typeface="Wingdings" pitchFamily="2" charset="2"/>
              </a:rPr>
              <a:t>Ssn</a:t>
            </a:r>
            <a:r>
              <a:rPr lang="en-US" sz="2000" i="0" dirty="0">
                <a:sym typeface="Wingdings" pitchFamily="2" charset="2"/>
              </a:rPr>
              <a:t>}  {</a:t>
            </a:r>
            <a:r>
              <a:rPr lang="en-US" sz="2000" i="0" dirty="0" err="1">
                <a:sym typeface="Wingdings" pitchFamily="2" charset="2"/>
              </a:rPr>
              <a:t>Ename</a:t>
            </a:r>
            <a:r>
              <a:rPr lang="en-US" sz="2000" i="0" dirty="0">
                <a:sym typeface="Wingdings" pitchFamily="2" charset="2"/>
              </a:rPr>
              <a:t>}              </a:t>
            </a:r>
          </a:p>
          <a:p>
            <a:r>
              <a:rPr lang="en-US" sz="2000" i="0" dirty="0">
                <a:sym typeface="Wingdings" pitchFamily="2" charset="2"/>
              </a:rPr>
              <a:t>(It is a partial functional dependency.)</a:t>
            </a:r>
          </a:p>
        </p:txBody>
      </p:sp>
      <p:sp>
        <p:nvSpPr>
          <p:cNvPr id="11" name="Rectangle 10"/>
          <p:cNvSpPr>
            <a:spLocks noChangeArrowheads="1"/>
          </p:cNvSpPr>
          <p:nvPr/>
        </p:nvSpPr>
        <p:spPr bwMode="auto">
          <a:xfrm>
            <a:off x="1066800" y="3181350"/>
            <a:ext cx="46482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sz="2000" i="0" dirty="0">
                <a:sym typeface="Wingdings" pitchFamily="2" charset="2"/>
              </a:rPr>
              <a:t>FD</a:t>
            </a:r>
            <a:r>
              <a:rPr lang="en-US" sz="2000" baseline="-25000" dirty="0">
                <a:sym typeface="Wingdings" pitchFamily="2" charset="2"/>
              </a:rPr>
              <a:t>2</a:t>
            </a:r>
            <a:r>
              <a:rPr lang="en-US" sz="2000" i="0" dirty="0">
                <a:sym typeface="Wingdings" pitchFamily="2" charset="2"/>
              </a:rPr>
              <a:t>:  {</a:t>
            </a:r>
            <a:r>
              <a:rPr lang="en-US" sz="2000" i="0" dirty="0" err="1">
                <a:sym typeface="Wingdings" pitchFamily="2" charset="2"/>
              </a:rPr>
              <a:t>Pnumber</a:t>
            </a:r>
            <a:r>
              <a:rPr lang="en-US" sz="2000" i="0" dirty="0">
                <a:sym typeface="Wingdings" pitchFamily="2" charset="2"/>
              </a:rPr>
              <a:t>}  {</a:t>
            </a:r>
            <a:r>
              <a:rPr lang="en-US" sz="2000" i="0" dirty="0" err="1">
                <a:sym typeface="Wingdings" pitchFamily="2" charset="2"/>
              </a:rPr>
              <a:t>Pname</a:t>
            </a:r>
            <a:r>
              <a:rPr lang="en-US" sz="2000" i="0" dirty="0">
                <a:sym typeface="Wingdings" pitchFamily="2" charset="2"/>
              </a:rPr>
              <a:t>, </a:t>
            </a:r>
            <a:r>
              <a:rPr lang="en-US" sz="2000" i="0" dirty="0" err="1">
                <a:sym typeface="Wingdings" pitchFamily="2" charset="2"/>
              </a:rPr>
              <a:t>Plocation</a:t>
            </a:r>
            <a:r>
              <a:rPr lang="en-US" sz="2000" i="0" dirty="0">
                <a:sym typeface="Wingdings" pitchFamily="2" charset="2"/>
              </a:rPr>
              <a:t>}      </a:t>
            </a:r>
          </a:p>
          <a:p>
            <a:r>
              <a:rPr lang="en-US" sz="2000" i="0" dirty="0">
                <a:sym typeface="Wingdings" pitchFamily="2" charset="2"/>
              </a:rPr>
              <a:t>(It is a partial functional dependency.)</a:t>
            </a:r>
            <a:endParaRPr lang="en-US" sz="2000" i="0" dirty="0"/>
          </a:p>
        </p:txBody>
      </p:sp>
    </p:spTree>
    <p:extLst>
      <p:ext uri="{BB962C8B-B14F-4D97-AF65-F5344CB8AC3E}">
        <p14:creationId xmlns:p14="http://schemas.microsoft.com/office/powerpoint/2010/main" val="2778850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1000"/>
                                        <p:tgtEl>
                                          <p:spTgt spid="11"/>
                                        </p:tgtEl>
                                      </p:cBhvr>
                                    </p:animEffect>
                                    <p:anim calcmode="lin" valueType="num">
                                      <p:cBhvr>
                                        <p:cTn id="27" dur="1000" fill="hold"/>
                                        <p:tgtEl>
                                          <p:spTgt spid="11"/>
                                        </p:tgtEl>
                                        <p:attrNameLst>
                                          <p:attrName>ppt_x</p:attrName>
                                        </p:attrNameLst>
                                      </p:cBhvr>
                                      <p:tavLst>
                                        <p:tav tm="0">
                                          <p:val>
                                            <p:strVal val="#ppt_x"/>
                                          </p:val>
                                        </p:tav>
                                        <p:tav tm="100000">
                                          <p:val>
                                            <p:strVal val="#ppt_x"/>
                                          </p:val>
                                        </p:tav>
                                      </p:tavLst>
                                    </p:anim>
                                    <p:anim calcmode="lin" valueType="num">
                                      <p:cBhvr>
                                        <p:cTn id="28"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
            <a:ext cx="8229600" cy="857250"/>
          </a:xfrm>
        </p:spPr>
        <p:txBody>
          <a:bodyPr>
            <a:normAutofit/>
          </a:bodyPr>
          <a:lstStyle/>
          <a:p>
            <a:r>
              <a:rPr lang="en-US" sz="2800" dirty="0"/>
              <a:t>Normalization</a:t>
            </a:r>
          </a:p>
        </p:txBody>
      </p:sp>
      <p:sp>
        <p:nvSpPr>
          <p:cNvPr id="5" name="Slide Number Placeholder 4"/>
          <p:cNvSpPr>
            <a:spLocks noGrp="1"/>
          </p:cNvSpPr>
          <p:nvPr>
            <p:ph type="sldNum" sz="quarter" idx="12"/>
          </p:nvPr>
        </p:nvSpPr>
        <p:spPr/>
        <p:txBody>
          <a:bodyPr/>
          <a:lstStyle/>
          <a:p>
            <a:fld id="{DB4A5BFF-587F-4230-A0AE-EABA229E5E91}" type="slidenum">
              <a:rPr lang="en-US" smtClean="0"/>
              <a:t>15</a:t>
            </a:fld>
            <a:endParaRPr lang="en-US"/>
          </a:p>
        </p:txBody>
      </p:sp>
      <p:pic>
        <p:nvPicPr>
          <p:cNvPr id="6"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5707" y="1635736"/>
            <a:ext cx="2148010" cy="598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3182" y="1634836"/>
            <a:ext cx="4380807" cy="631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2724150"/>
            <a:ext cx="3278540" cy="623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22167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arn(inVertical)">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
            <a:ext cx="8229600" cy="857250"/>
          </a:xfrm>
        </p:spPr>
        <p:txBody>
          <a:bodyPr>
            <a:normAutofit/>
          </a:bodyPr>
          <a:lstStyle/>
          <a:p>
            <a:r>
              <a:rPr lang="en-US" sz="2800" dirty="0"/>
              <a:t>Decomposition rule</a:t>
            </a:r>
          </a:p>
        </p:txBody>
      </p:sp>
      <p:sp>
        <p:nvSpPr>
          <p:cNvPr id="3" name="Content Placeholder 2"/>
          <p:cNvSpPr>
            <a:spLocks noGrp="1"/>
          </p:cNvSpPr>
          <p:nvPr>
            <p:ph idx="1"/>
          </p:nvPr>
        </p:nvSpPr>
        <p:spPr>
          <a:xfrm>
            <a:off x="457200" y="1276350"/>
            <a:ext cx="8229600" cy="3291840"/>
          </a:xfrm>
        </p:spPr>
        <p:txBody>
          <a:bodyPr>
            <a:normAutofit/>
          </a:bodyPr>
          <a:lstStyle/>
          <a:p>
            <a:pPr>
              <a:lnSpc>
                <a:spcPct val="150000"/>
              </a:lnSpc>
              <a:spcBef>
                <a:spcPts val="0"/>
              </a:spcBef>
              <a:buFont typeface="Wingdings" pitchFamily="2" charset="2"/>
              <a:buChar char="§"/>
            </a:pPr>
            <a:r>
              <a:rPr lang="en-US" sz="2000" dirty="0"/>
              <a:t>A partial dependency X </a:t>
            </a:r>
            <a:r>
              <a:rPr lang="en-US" sz="2000" dirty="0">
                <a:sym typeface="Wingdings" pitchFamily="2" charset="2"/>
              </a:rPr>
              <a:t> Y on R</a:t>
            </a:r>
          </a:p>
          <a:p>
            <a:pPr>
              <a:lnSpc>
                <a:spcPct val="150000"/>
              </a:lnSpc>
              <a:spcBef>
                <a:spcPts val="0"/>
              </a:spcBef>
              <a:buFont typeface="Wingdings" pitchFamily="2" charset="2"/>
              <a:buChar char="§"/>
            </a:pPr>
            <a:r>
              <a:rPr lang="en-US" sz="2000" dirty="0">
                <a:sym typeface="Wingdings" pitchFamily="2" charset="2"/>
              </a:rPr>
              <a:t>Replace R by</a:t>
            </a:r>
          </a:p>
          <a:p>
            <a:pPr>
              <a:lnSpc>
                <a:spcPct val="150000"/>
              </a:lnSpc>
              <a:spcBef>
                <a:spcPts val="0"/>
              </a:spcBef>
              <a:buFont typeface="Wingdings" pitchFamily="2" charset="2"/>
              <a:buChar char="§"/>
            </a:pPr>
            <a:r>
              <a:rPr lang="en-US" sz="2000" dirty="0">
                <a:sym typeface="Wingdings" pitchFamily="2" charset="2"/>
              </a:rPr>
              <a:t>R</a:t>
            </a:r>
            <a:r>
              <a:rPr lang="en-US" sz="2000" baseline="-25000" dirty="0">
                <a:sym typeface="Wingdings" pitchFamily="2" charset="2"/>
              </a:rPr>
              <a:t>1</a:t>
            </a:r>
            <a:r>
              <a:rPr lang="en-US" sz="2000" dirty="0">
                <a:sym typeface="Wingdings" pitchFamily="2" charset="2"/>
              </a:rPr>
              <a:t>(X, Y) &amp; R</a:t>
            </a:r>
            <a:r>
              <a:rPr lang="en-US" sz="2000" baseline="-25000" dirty="0">
                <a:sym typeface="Wingdings" pitchFamily="2" charset="2"/>
              </a:rPr>
              <a:t>2</a:t>
            </a:r>
            <a:r>
              <a:rPr lang="en-US" sz="2000" dirty="0">
                <a:sym typeface="Wingdings" pitchFamily="2" charset="2"/>
              </a:rPr>
              <a:t> = R – Y</a:t>
            </a:r>
          </a:p>
        </p:txBody>
      </p:sp>
      <p:sp>
        <p:nvSpPr>
          <p:cNvPr id="5" name="Slide Number Placeholder 4"/>
          <p:cNvSpPr>
            <a:spLocks noGrp="1"/>
          </p:cNvSpPr>
          <p:nvPr>
            <p:ph type="sldNum" sz="quarter" idx="12"/>
          </p:nvPr>
        </p:nvSpPr>
        <p:spPr/>
        <p:txBody>
          <a:bodyPr/>
          <a:lstStyle/>
          <a:p>
            <a:fld id="{DB4A5BFF-587F-4230-A0AE-EABA229E5E91}" type="slidenum">
              <a:rPr lang="en-US" smtClean="0"/>
              <a:t>16</a:t>
            </a:fld>
            <a:endParaRPr lang="en-US"/>
          </a:p>
        </p:txBody>
      </p:sp>
    </p:spTree>
    <p:extLst>
      <p:ext uri="{BB962C8B-B14F-4D97-AF65-F5344CB8AC3E}">
        <p14:creationId xmlns:p14="http://schemas.microsoft.com/office/powerpoint/2010/main" val="3621337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
            <a:ext cx="8229600" cy="857250"/>
          </a:xfrm>
        </p:spPr>
        <p:txBody>
          <a:bodyPr>
            <a:normAutofit/>
          </a:bodyPr>
          <a:lstStyle/>
          <a:p>
            <a:r>
              <a:rPr lang="en-US" sz="2800" dirty="0"/>
              <a:t>Third normal form (3NF)</a:t>
            </a:r>
          </a:p>
        </p:txBody>
      </p:sp>
      <p:sp>
        <p:nvSpPr>
          <p:cNvPr id="3" name="Content Placeholder 2"/>
          <p:cNvSpPr>
            <a:spLocks noGrp="1"/>
          </p:cNvSpPr>
          <p:nvPr>
            <p:ph idx="1"/>
          </p:nvPr>
        </p:nvSpPr>
        <p:spPr>
          <a:xfrm>
            <a:off x="457200" y="1276350"/>
            <a:ext cx="8229600" cy="3291840"/>
          </a:xfrm>
        </p:spPr>
        <p:txBody>
          <a:bodyPr/>
          <a:lstStyle/>
          <a:p>
            <a:pPr>
              <a:lnSpc>
                <a:spcPct val="150000"/>
              </a:lnSpc>
              <a:spcBef>
                <a:spcPts val="0"/>
              </a:spcBef>
              <a:buNone/>
            </a:pPr>
            <a:r>
              <a:rPr lang="en-US" sz="2000" dirty="0"/>
              <a:t>A relation schema is said to be in third </a:t>
            </a:r>
            <a:r>
              <a:rPr lang="en-US" sz="2000"/>
              <a:t>normal form </a:t>
            </a:r>
            <a:r>
              <a:rPr lang="en-US" sz="2000" dirty="0"/>
              <a:t>if </a:t>
            </a:r>
          </a:p>
          <a:p>
            <a:pPr>
              <a:lnSpc>
                <a:spcPct val="150000"/>
              </a:lnSpc>
              <a:spcBef>
                <a:spcPts val="0"/>
              </a:spcBef>
              <a:buNone/>
            </a:pPr>
            <a:r>
              <a:rPr lang="en-US" sz="2000" dirty="0"/>
              <a:t>(i) it is in second normal form and </a:t>
            </a:r>
          </a:p>
          <a:p>
            <a:pPr>
              <a:lnSpc>
                <a:spcPct val="150000"/>
              </a:lnSpc>
              <a:spcBef>
                <a:spcPts val="0"/>
              </a:spcBef>
              <a:buNone/>
            </a:pPr>
            <a:r>
              <a:rPr lang="en-US" sz="2000" dirty="0"/>
              <a:t>(ii) there is no transitive dependency in the schema.</a:t>
            </a:r>
          </a:p>
          <a:p>
            <a:endParaRPr lang="en-US" dirty="0"/>
          </a:p>
        </p:txBody>
      </p:sp>
      <p:sp>
        <p:nvSpPr>
          <p:cNvPr id="5" name="Slide Number Placeholder 4"/>
          <p:cNvSpPr>
            <a:spLocks noGrp="1"/>
          </p:cNvSpPr>
          <p:nvPr>
            <p:ph type="sldNum" sz="quarter" idx="12"/>
          </p:nvPr>
        </p:nvSpPr>
        <p:spPr/>
        <p:txBody>
          <a:bodyPr/>
          <a:lstStyle/>
          <a:p>
            <a:fld id="{DB4A5BFF-587F-4230-A0AE-EABA229E5E91}" type="slidenum">
              <a:rPr lang="en-US" smtClean="0"/>
              <a:t>17</a:t>
            </a:fld>
            <a:endParaRPr lang="en-US"/>
          </a:p>
        </p:txBody>
      </p:sp>
    </p:spTree>
    <p:extLst>
      <p:ext uri="{BB962C8B-B14F-4D97-AF65-F5344CB8AC3E}">
        <p14:creationId xmlns:p14="http://schemas.microsoft.com/office/powerpoint/2010/main" val="32316583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3"/>
          <p:cNvSpPr>
            <a:spLocks noGrp="1"/>
          </p:cNvSpPr>
          <p:nvPr>
            <p:ph type="sldNum" sz="quarter" idx="12"/>
          </p:nvPr>
        </p:nvSpPr>
        <p:spPr bwMode="auto">
          <a:xfrm>
            <a:off x="457200" y="4767263"/>
            <a:ext cx="2133600" cy="2738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l"/>
            <a:r>
              <a:rPr lang="en-US" altLang="en-US" sz="1200">
                <a:solidFill>
                  <a:srgbClr val="898989"/>
                </a:solidFill>
              </a:rPr>
              <a:t>Slide 10- </a:t>
            </a:r>
            <a:fld id="{82372D54-68B0-4F45-B8FB-5DE26739D1BA}" type="slidenum">
              <a:rPr lang="en-US" altLang="en-US" sz="1200" smtClean="0">
                <a:solidFill>
                  <a:srgbClr val="898989"/>
                </a:solidFill>
              </a:rPr>
              <a:pPr algn="l"/>
              <a:t>18</a:t>
            </a:fld>
            <a:endParaRPr lang="en-CA" altLang="en-US" sz="1200">
              <a:solidFill>
                <a:srgbClr val="898989"/>
              </a:solidFill>
            </a:endParaRPr>
          </a:p>
        </p:txBody>
      </p:sp>
      <p:sp>
        <p:nvSpPr>
          <p:cNvPr id="28675" name="Rectangle 6"/>
          <p:cNvSpPr>
            <a:spLocks noGrp="1" noChangeArrowheads="1"/>
          </p:cNvSpPr>
          <p:nvPr>
            <p:ph type="title"/>
          </p:nvPr>
        </p:nvSpPr>
        <p:spPr/>
        <p:txBody>
          <a:bodyPr/>
          <a:lstStyle/>
          <a:p>
            <a:r>
              <a:rPr lang="en-US" altLang="en-US" dirty="0">
                <a:solidFill>
                  <a:srgbClr val="FF0000"/>
                </a:solidFill>
              </a:rPr>
              <a:t>Third Normal Form </a:t>
            </a:r>
          </a:p>
        </p:txBody>
      </p:sp>
      <p:sp>
        <p:nvSpPr>
          <p:cNvPr id="28676" name="Rectangle 7"/>
          <p:cNvSpPr>
            <a:spLocks noGrp="1" noChangeArrowheads="1"/>
          </p:cNvSpPr>
          <p:nvPr>
            <p:ph type="body" idx="1"/>
          </p:nvPr>
        </p:nvSpPr>
        <p:spPr/>
        <p:txBody>
          <a:bodyPr>
            <a:normAutofit fontScale="92500" lnSpcReduction="20000"/>
          </a:bodyPr>
          <a:lstStyle/>
          <a:p>
            <a:pPr>
              <a:lnSpc>
                <a:spcPct val="90000"/>
              </a:lnSpc>
            </a:pPr>
            <a:r>
              <a:rPr lang="en-US" altLang="en-US" sz="2400" dirty="0"/>
              <a:t>A relation schema R is in </a:t>
            </a:r>
            <a:r>
              <a:rPr lang="en-US" altLang="en-US" sz="2400" b="1" dirty="0"/>
              <a:t>third normal form (3NF)</a:t>
            </a:r>
            <a:r>
              <a:rPr lang="en-US" altLang="en-US" sz="2400" dirty="0"/>
              <a:t> if it is in 2NF </a:t>
            </a:r>
            <a:r>
              <a:rPr lang="en-US" altLang="en-US" sz="2400" i="1" dirty="0"/>
              <a:t>and</a:t>
            </a:r>
            <a:r>
              <a:rPr lang="en-US" altLang="en-US" sz="2400" dirty="0"/>
              <a:t> no non-prime attribute A in R is transitively dependent on the primary key</a:t>
            </a:r>
          </a:p>
          <a:p>
            <a:pPr>
              <a:lnSpc>
                <a:spcPct val="90000"/>
              </a:lnSpc>
            </a:pPr>
            <a:r>
              <a:rPr lang="en-US" altLang="en-US" sz="2400" dirty="0"/>
              <a:t>R can be decomposed into 3NF relations via the process of 3NF normalization </a:t>
            </a:r>
          </a:p>
          <a:p>
            <a:pPr>
              <a:lnSpc>
                <a:spcPct val="90000"/>
              </a:lnSpc>
            </a:pPr>
            <a:r>
              <a:rPr lang="en-US" altLang="en-US" sz="2400" dirty="0"/>
              <a:t>NOTE:</a:t>
            </a:r>
          </a:p>
          <a:p>
            <a:pPr lvl="1">
              <a:lnSpc>
                <a:spcPct val="90000"/>
              </a:lnSpc>
            </a:pPr>
            <a:r>
              <a:rPr lang="en-US" altLang="en-US" sz="2200" dirty="0"/>
              <a:t>In X -&gt; Y and Y -&gt; Z, with X as the primary key, we consider this a problem only if Y is not a candidate key.</a:t>
            </a:r>
          </a:p>
          <a:p>
            <a:pPr lvl="1">
              <a:lnSpc>
                <a:spcPct val="90000"/>
              </a:lnSpc>
            </a:pPr>
            <a:r>
              <a:rPr lang="en-US" altLang="en-US" sz="2200" dirty="0"/>
              <a:t>When Y is a candidate key, there is no problem with the transitive dependency .</a:t>
            </a:r>
          </a:p>
          <a:p>
            <a:pPr lvl="1">
              <a:lnSpc>
                <a:spcPct val="90000"/>
              </a:lnSpc>
            </a:pPr>
            <a:r>
              <a:rPr lang="en-US" altLang="en-US" sz="2200" dirty="0"/>
              <a:t>E.g., Consider EMP (SSN, </a:t>
            </a:r>
            <a:r>
              <a:rPr lang="en-US" altLang="en-US" sz="2200" dirty="0" err="1"/>
              <a:t>Emp</a:t>
            </a:r>
            <a:r>
              <a:rPr lang="en-US" altLang="en-US" sz="2200" dirty="0"/>
              <a:t>#, Salary ). </a:t>
            </a:r>
          </a:p>
          <a:p>
            <a:pPr lvl="2">
              <a:lnSpc>
                <a:spcPct val="90000"/>
              </a:lnSpc>
            </a:pPr>
            <a:r>
              <a:rPr lang="en-US" altLang="en-US" sz="2000" dirty="0"/>
              <a:t>Here, SSN -&gt; </a:t>
            </a:r>
            <a:r>
              <a:rPr lang="en-US" altLang="en-US" sz="2000" dirty="0" err="1"/>
              <a:t>Emp</a:t>
            </a:r>
            <a:r>
              <a:rPr lang="en-US" altLang="en-US" sz="2000" dirty="0"/>
              <a:t># -&gt; Salary and </a:t>
            </a:r>
            <a:r>
              <a:rPr lang="en-US" altLang="en-US" sz="2000" dirty="0" err="1"/>
              <a:t>Emp</a:t>
            </a:r>
            <a:r>
              <a:rPr lang="en-US" altLang="en-US" sz="2000" dirty="0"/>
              <a:t># is a candidate key. </a:t>
            </a:r>
          </a:p>
        </p:txBody>
      </p:sp>
    </p:spTree>
    <p:extLst>
      <p:ext uri="{BB962C8B-B14F-4D97-AF65-F5344CB8AC3E}">
        <p14:creationId xmlns:p14="http://schemas.microsoft.com/office/powerpoint/2010/main" val="4131502853"/>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
            <a:ext cx="8229600" cy="857250"/>
          </a:xfrm>
        </p:spPr>
        <p:txBody>
          <a:bodyPr>
            <a:normAutofit/>
          </a:bodyPr>
          <a:lstStyle/>
          <a:p>
            <a:r>
              <a:rPr lang="en-US" sz="2800" dirty="0"/>
              <a:t>Example</a:t>
            </a:r>
          </a:p>
        </p:txBody>
      </p:sp>
      <p:sp>
        <p:nvSpPr>
          <p:cNvPr id="5" name="Slide Number Placeholder 4"/>
          <p:cNvSpPr>
            <a:spLocks noGrp="1"/>
          </p:cNvSpPr>
          <p:nvPr>
            <p:ph type="sldNum" sz="quarter" idx="12"/>
          </p:nvPr>
        </p:nvSpPr>
        <p:spPr/>
        <p:txBody>
          <a:bodyPr/>
          <a:lstStyle/>
          <a:p>
            <a:fld id="{DB4A5BFF-587F-4230-A0AE-EABA229E5E91}" type="slidenum">
              <a:rPr lang="en-US" smtClean="0"/>
              <a:t>19</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9225" y="1352550"/>
            <a:ext cx="6200775" cy="110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1981200" y="2812018"/>
            <a:ext cx="4067139" cy="400110"/>
          </a:xfrm>
          <a:prstGeom prst="rect">
            <a:avLst/>
          </a:prstGeom>
        </p:spPr>
        <p:txBody>
          <a:bodyPr wrap="none">
            <a:spAutoFit/>
          </a:bodyPr>
          <a:lstStyle/>
          <a:p>
            <a:r>
              <a:rPr lang="en-US" sz="2000" dirty="0"/>
              <a:t>{</a:t>
            </a:r>
            <a:r>
              <a:rPr lang="en-US" sz="2000" dirty="0" err="1"/>
              <a:t>Dnumber</a:t>
            </a:r>
            <a:r>
              <a:rPr lang="en-US" sz="2000" dirty="0"/>
              <a:t>} </a:t>
            </a:r>
            <a:r>
              <a:rPr lang="en-US" sz="2000" dirty="0">
                <a:sym typeface="Wingdings" pitchFamily="2" charset="2"/>
              </a:rPr>
              <a:t> {</a:t>
            </a:r>
            <a:r>
              <a:rPr lang="en-US" sz="2000" dirty="0" err="1">
                <a:sym typeface="Wingdings" pitchFamily="2" charset="2"/>
              </a:rPr>
              <a:t>Dname</a:t>
            </a:r>
            <a:r>
              <a:rPr lang="en-US" sz="2000" dirty="0">
                <a:sym typeface="Wingdings" pitchFamily="2" charset="2"/>
              </a:rPr>
              <a:t>, </a:t>
            </a:r>
            <a:r>
              <a:rPr lang="en-US" sz="2000" dirty="0" err="1">
                <a:sym typeface="Wingdings" pitchFamily="2" charset="2"/>
              </a:rPr>
              <a:t>Dmgr_ssn</a:t>
            </a:r>
            <a:r>
              <a:rPr lang="en-US" sz="2000" dirty="0">
                <a:sym typeface="Wingdings" pitchFamily="2" charset="2"/>
              </a:rPr>
              <a:t>}</a:t>
            </a:r>
            <a:endParaRPr lang="en-US" sz="2000" dirty="0"/>
          </a:p>
        </p:txBody>
      </p:sp>
    </p:spTree>
    <p:extLst>
      <p:ext uri="{BB962C8B-B14F-4D97-AF65-F5344CB8AC3E}">
        <p14:creationId xmlns:p14="http://schemas.microsoft.com/office/powerpoint/2010/main" val="33628395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
            <a:ext cx="8229600" cy="857250"/>
          </a:xfrm>
        </p:spPr>
        <p:txBody>
          <a:bodyPr>
            <a:normAutofit/>
          </a:bodyPr>
          <a:lstStyle/>
          <a:p>
            <a:r>
              <a:rPr lang="en-US" sz="2800" dirty="0"/>
              <a:t>Normalization</a:t>
            </a:r>
          </a:p>
        </p:txBody>
      </p:sp>
      <p:sp>
        <p:nvSpPr>
          <p:cNvPr id="5" name="Slide Number Placeholder 4"/>
          <p:cNvSpPr>
            <a:spLocks noGrp="1"/>
          </p:cNvSpPr>
          <p:nvPr>
            <p:ph type="sldNum" sz="quarter" idx="12"/>
          </p:nvPr>
        </p:nvSpPr>
        <p:spPr/>
        <p:txBody>
          <a:bodyPr/>
          <a:lstStyle/>
          <a:p>
            <a:fld id="{DB4A5BFF-587F-4230-A0AE-EABA229E5E91}" type="slidenum">
              <a:rPr lang="en-US" smtClean="0"/>
              <a:t>20</a:t>
            </a:fld>
            <a:endParaRPr lang="en-US"/>
          </a:p>
        </p:txBody>
      </p:sp>
      <p:sp>
        <p:nvSpPr>
          <p:cNvPr id="6" name="Rectangle 5"/>
          <p:cNvSpPr/>
          <p:nvPr/>
        </p:nvSpPr>
        <p:spPr>
          <a:xfrm>
            <a:off x="2165231" y="1657350"/>
            <a:ext cx="3841886" cy="400110"/>
          </a:xfrm>
          <a:prstGeom prst="rect">
            <a:avLst/>
          </a:prstGeom>
        </p:spPr>
        <p:txBody>
          <a:bodyPr wrap="none">
            <a:spAutoFit/>
          </a:bodyPr>
          <a:lstStyle/>
          <a:p>
            <a:r>
              <a:rPr lang="en-US" sz="2000" dirty="0"/>
              <a:t>R</a:t>
            </a:r>
            <a:r>
              <a:rPr lang="en-US" sz="2000" baseline="-25000" dirty="0"/>
              <a:t>1</a:t>
            </a:r>
            <a:r>
              <a:rPr lang="en-US" sz="2000" dirty="0"/>
              <a:t>(</a:t>
            </a:r>
            <a:r>
              <a:rPr lang="en-US" sz="2000" u="sng" dirty="0" err="1"/>
              <a:t>Dnumber</a:t>
            </a:r>
            <a:r>
              <a:rPr lang="en-US" sz="2000" dirty="0"/>
              <a:t>, </a:t>
            </a:r>
            <a:r>
              <a:rPr lang="en-US" sz="2000" dirty="0" err="1"/>
              <a:t>Dname</a:t>
            </a:r>
            <a:r>
              <a:rPr lang="en-US" sz="2000" dirty="0"/>
              <a:t>, </a:t>
            </a:r>
            <a:r>
              <a:rPr lang="en-US" sz="2000" dirty="0" err="1"/>
              <a:t>Dmgr_ssn</a:t>
            </a:r>
            <a:r>
              <a:rPr lang="en-US" sz="2000" dirty="0"/>
              <a:t>)</a:t>
            </a:r>
          </a:p>
        </p:txBody>
      </p:sp>
      <p:sp>
        <p:nvSpPr>
          <p:cNvPr id="7" name="Rectangle 6"/>
          <p:cNvSpPr/>
          <p:nvPr/>
        </p:nvSpPr>
        <p:spPr>
          <a:xfrm>
            <a:off x="2133600" y="2387084"/>
            <a:ext cx="4117730" cy="400110"/>
          </a:xfrm>
          <a:prstGeom prst="rect">
            <a:avLst/>
          </a:prstGeom>
        </p:spPr>
        <p:txBody>
          <a:bodyPr wrap="none">
            <a:spAutoFit/>
          </a:bodyPr>
          <a:lstStyle/>
          <a:p>
            <a:r>
              <a:rPr lang="en-US" sz="2000" dirty="0"/>
              <a:t>R</a:t>
            </a:r>
            <a:r>
              <a:rPr lang="en-US" sz="2000" baseline="-25000" dirty="0"/>
              <a:t>2</a:t>
            </a:r>
            <a:r>
              <a:rPr lang="en-US" sz="2000" dirty="0"/>
              <a:t>(</a:t>
            </a:r>
            <a:r>
              <a:rPr lang="en-US" sz="2000" dirty="0" err="1"/>
              <a:t>Ename</a:t>
            </a:r>
            <a:r>
              <a:rPr lang="en-US" sz="2000" dirty="0"/>
              <a:t>, </a:t>
            </a:r>
            <a:r>
              <a:rPr lang="en-US" sz="2000" u="sng" dirty="0" err="1"/>
              <a:t>Ssn</a:t>
            </a:r>
            <a:r>
              <a:rPr lang="en-US" sz="2000" dirty="0"/>
              <a:t>, Address, </a:t>
            </a:r>
            <a:r>
              <a:rPr lang="en-US" sz="2000" dirty="0" err="1"/>
              <a:t>Dnumber</a:t>
            </a:r>
            <a:r>
              <a:rPr lang="en-US" sz="2000" dirty="0"/>
              <a:t>)</a:t>
            </a:r>
          </a:p>
        </p:txBody>
      </p:sp>
    </p:spTree>
    <p:extLst>
      <p:ext uri="{BB962C8B-B14F-4D97-AF65-F5344CB8AC3E}">
        <p14:creationId xmlns:p14="http://schemas.microsoft.com/office/powerpoint/2010/main" val="3048325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
            <a:ext cx="8229600" cy="857250"/>
          </a:xfrm>
        </p:spPr>
        <p:txBody>
          <a:bodyPr>
            <a:normAutofit/>
          </a:bodyPr>
          <a:lstStyle/>
          <a:p>
            <a:r>
              <a:rPr lang="en-US" sz="2800" dirty="0"/>
              <a:t>Boyce-</a:t>
            </a:r>
            <a:r>
              <a:rPr lang="en-US" sz="2800" dirty="0" err="1"/>
              <a:t>Codd</a:t>
            </a:r>
            <a:r>
              <a:rPr lang="en-US" sz="2800" dirty="0"/>
              <a:t> normal form (BCNF)</a:t>
            </a:r>
          </a:p>
        </p:txBody>
      </p:sp>
      <p:sp>
        <p:nvSpPr>
          <p:cNvPr id="3" name="Content Placeholder 2"/>
          <p:cNvSpPr>
            <a:spLocks noGrp="1"/>
          </p:cNvSpPr>
          <p:nvPr>
            <p:ph idx="1"/>
          </p:nvPr>
        </p:nvSpPr>
        <p:spPr>
          <a:xfrm>
            <a:off x="457200" y="1276350"/>
            <a:ext cx="8229600" cy="3291840"/>
          </a:xfrm>
        </p:spPr>
        <p:txBody>
          <a:bodyPr>
            <a:normAutofit/>
          </a:bodyPr>
          <a:lstStyle/>
          <a:p>
            <a:pPr>
              <a:lnSpc>
                <a:spcPct val="150000"/>
              </a:lnSpc>
              <a:spcBef>
                <a:spcPts val="0"/>
              </a:spcBef>
              <a:buNone/>
            </a:pPr>
            <a:r>
              <a:rPr lang="en-US" sz="2000" dirty="0"/>
              <a:t>A relation schema is said to be in BCNF if </a:t>
            </a:r>
          </a:p>
          <a:p>
            <a:pPr>
              <a:lnSpc>
                <a:spcPct val="150000"/>
              </a:lnSpc>
              <a:spcBef>
                <a:spcPts val="0"/>
              </a:spcBef>
              <a:buNone/>
            </a:pPr>
            <a:r>
              <a:rPr lang="en-US" sz="2000" dirty="0"/>
              <a:t>(i) it is in third normal form and </a:t>
            </a:r>
          </a:p>
          <a:p>
            <a:pPr>
              <a:lnSpc>
                <a:spcPct val="150000"/>
              </a:lnSpc>
              <a:spcBef>
                <a:spcPts val="0"/>
              </a:spcBef>
              <a:buNone/>
            </a:pPr>
            <a:r>
              <a:rPr lang="en-US" sz="2000" dirty="0"/>
              <a:t>(ii) key attribute does not depend on non-key attribute.</a:t>
            </a:r>
          </a:p>
        </p:txBody>
      </p:sp>
      <p:sp>
        <p:nvSpPr>
          <p:cNvPr id="5" name="Slide Number Placeholder 4"/>
          <p:cNvSpPr>
            <a:spLocks noGrp="1"/>
          </p:cNvSpPr>
          <p:nvPr>
            <p:ph type="sldNum" sz="quarter" idx="12"/>
          </p:nvPr>
        </p:nvSpPr>
        <p:spPr/>
        <p:txBody>
          <a:bodyPr/>
          <a:lstStyle/>
          <a:p>
            <a:fld id="{DB4A5BFF-587F-4230-A0AE-EABA229E5E91}" type="slidenum">
              <a:rPr lang="en-US" smtClean="0"/>
              <a:t>21</a:t>
            </a:fld>
            <a:endParaRPr lang="en-US"/>
          </a:p>
        </p:txBody>
      </p:sp>
    </p:spTree>
    <p:extLst>
      <p:ext uri="{BB962C8B-B14F-4D97-AF65-F5344CB8AC3E}">
        <p14:creationId xmlns:p14="http://schemas.microsoft.com/office/powerpoint/2010/main" val="13036736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
            <a:ext cx="8229600" cy="857250"/>
          </a:xfrm>
        </p:spPr>
        <p:txBody>
          <a:bodyPr>
            <a:normAutofit/>
          </a:bodyPr>
          <a:lstStyle/>
          <a:p>
            <a:r>
              <a:rPr lang="en-US" sz="2800" dirty="0"/>
              <a:t>Normalization</a:t>
            </a:r>
          </a:p>
        </p:txBody>
      </p:sp>
      <p:sp>
        <p:nvSpPr>
          <p:cNvPr id="5" name="Slide Number Placeholder 4"/>
          <p:cNvSpPr>
            <a:spLocks noGrp="1"/>
          </p:cNvSpPr>
          <p:nvPr>
            <p:ph type="sldNum" sz="quarter" idx="12"/>
          </p:nvPr>
        </p:nvSpPr>
        <p:spPr/>
        <p:txBody>
          <a:bodyPr/>
          <a:lstStyle/>
          <a:p>
            <a:fld id="{DB4A5BFF-587F-4230-A0AE-EABA229E5E91}" type="slidenum">
              <a:rPr lang="en-US" smtClean="0"/>
              <a:t>22</a:t>
            </a:fld>
            <a:endParaRPr lang="en-US"/>
          </a:p>
        </p:txBody>
      </p:sp>
      <p:pic>
        <p:nvPicPr>
          <p:cNvPr id="6" name="Picture 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276350"/>
            <a:ext cx="2781688" cy="11238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a:spLocks noChangeArrowheads="1"/>
          </p:cNvSpPr>
          <p:nvPr/>
        </p:nvSpPr>
        <p:spPr bwMode="auto">
          <a:xfrm>
            <a:off x="5605462" y="1428750"/>
            <a:ext cx="180690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i="1">
                <a:solidFill>
                  <a:schemeClr val="tx1"/>
                </a:solidFill>
                <a:latin typeface="Verdana" pitchFamily="34" charset="0"/>
              </a:defRPr>
            </a:lvl1pPr>
            <a:lvl2pPr marL="742950" indent="-285750">
              <a:defRPr sz="1200" i="1">
                <a:solidFill>
                  <a:schemeClr val="tx1"/>
                </a:solidFill>
                <a:latin typeface="Verdana" pitchFamily="34" charset="0"/>
              </a:defRPr>
            </a:lvl2pPr>
            <a:lvl3pPr marL="1143000" indent="-228600">
              <a:defRPr sz="1200" i="1">
                <a:solidFill>
                  <a:schemeClr val="tx1"/>
                </a:solidFill>
                <a:latin typeface="Verdana" pitchFamily="34" charset="0"/>
              </a:defRPr>
            </a:lvl3pPr>
            <a:lvl4pPr marL="1600200" indent="-228600">
              <a:defRPr sz="1200" i="1">
                <a:solidFill>
                  <a:schemeClr val="tx1"/>
                </a:solidFill>
                <a:latin typeface="Verdana" pitchFamily="34" charset="0"/>
              </a:defRPr>
            </a:lvl4pPr>
            <a:lvl5pPr marL="2057400" indent="-228600">
              <a:defRPr sz="1200" i="1">
                <a:solidFill>
                  <a:schemeClr val="tx1"/>
                </a:solidFill>
                <a:latin typeface="Verdana" pitchFamily="34" charset="0"/>
              </a:defRPr>
            </a:lvl5pPr>
            <a:lvl6pPr marL="2514600" indent="-228600" eaLnBrk="0" fontAlgn="base" hangingPunct="0">
              <a:spcBef>
                <a:spcPct val="0"/>
              </a:spcBef>
              <a:spcAft>
                <a:spcPct val="0"/>
              </a:spcAft>
              <a:defRPr sz="1200" i="1">
                <a:solidFill>
                  <a:schemeClr val="tx1"/>
                </a:solidFill>
                <a:latin typeface="Verdana" pitchFamily="34" charset="0"/>
              </a:defRPr>
            </a:lvl6pPr>
            <a:lvl7pPr marL="2971800" indent="-228600" eaLnBrk="0" fontAlgn="base" hangingPunct="0">
              <a:spcBef>
                <a:spcPct val="0"/>
              </a:spcBef>
              <a:spcAft>
                <a:spcPct val="0"/>
              </a:spcAft>
              <a:defRPr sz="1200" i="1">
                <a:solidFill>
                  <a:schemeClr val="tx1"/>
                </a:solidFill>
                <a:latin typeface="Verdana" pitchFamily="34" charset="0"/>
              </a:defRPr>
            </a:lvl7pPr>
            <a:lvl8pPr marL="3429000" indent="-228600" eaLnBrk="0" fontAlgn="base" hangingPunct="0">
              <a:spcBef>
                <a:spcPct val="0"/>
              </a:spcBef>
              <a:spcAft>
                <a:spcPct val="0"/>
              </a:spcAft>
              <a:defRPr sz="1200" i="1">
                <a:solidFill>
                  <a:schemeClr val="tx1"/>
                </a:solidFill>
                <a:latin typeface="Verdana" pitchFamily="34" charset="0"/>
              </a:defRPr>
            </a:lvl8pPr>
            <a:lvl9pPr marL="3886200" indent="-228600" eaLnBrk="0" fontAlgn="base" hangingPunct="0">
              <a:spcBef>
                <a:spcPct val="0"/>
              </a:spcBef>
              <a:spcAft>
                <a:spcPct val="0"/>
              </a:spcAft>
              <a:defRPr sz="1200" i="1">
                <a:solidFill>
                  <a:schemeClr val="tx1"/>
                </a:solidFill>
                <a:latin typeface="Verdana" pitchFamily="34" charset="0"/>
              </a:defRPr>
            </a:lvl9pPr>
          </a:lstStyle>
          <a:p>
            <a:r>
              <a:rPr lang="en-US" sz="2000" i="0" dirty="0"/>
              <a:t>FD</a:t>
            </a:r>
            <a:r>
              <a:rPr lang="en-US" sz="2000" i="0" baseline="-25000" dirty="0"/>
              <a:t>1</a:t>
            </a:r>
            <a:r>
              <a:rPr lang="en-US" sz="2000" i="0" dirty="0"/>
              <a:t>: AB </a:t>
            </a:r>
            <a:r>
              <a:rPr lang="en-US" sz="2000" i="0" dirty="0">
                <a:sym typeface="Wingdings" pitchFamily="2" charset="2"/>
              </a:rPr>
              <a:t> C</a:t>
            </a:r>
          </a:p>
          <a:p>
            <a:r>
              <a:rPr lang="en-US" sz="2000" i="0" dirty="0">
                <a:sym typeface="Wingdings" pitchFamily="2" charset="2"/>
              </a:rPr>
              <a:t>FD</a:t>
            </a:r>
            <a:r>
              <a:rPr lang="en-US" sz="2000" i="0" baseline="-25000" dirty="0">
                <a:sym typeface="Wingdings" pitchFamily="2" charset="2"/>
              </a:rPr>
              <a:t>2</a:t>
            </a:r>
            <a:r>
              <a:rPr lang="en-US" sz="2000" i="0" dirty="0">
                <a:sym typeface="Wingdings" pitchFamily="2" charset="2"/>
              </a:rPr>
              <a:t>: C  B</a:t>
            </a:r>
            <a:endParaRPr lang="en-US" sz="2000" i="0" dirty="0"/>
          </a:p>
        </p:txBody>
      </p:sp>
      <p:sp>
        <p:nvSpPr>
          <p:cNvPr id="8" name="TextBox 7"/>
          <p:cNvSpPr txBox="1">
            <a:spLocks noChangeArrowheads="1"/>
          </p:cNvSpPr>
          <p:nvPr/>
        </p:nvSpPr>
        <p:spPr bwMode="auto">
          <a:xfrm>
            <a:off x="1355725" y="2647950"/>
            <a:ext cx="603567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i="1">
                <a:solidFill>
                  <a:schemeClr val="tx1"/>
                </a:solidFill>
                <a:latin typeface="Verdana" pitchFamily="34" charset="0"/>
              </a:defRPr>
            </a:lvl1pPr>
            <a:lvl2pPr marL="742950" indent="-285750">
              <a:defRPr sz="1200" i="1">
                <a:solidFill>
                  <a:schemeClr val="tx1"/>
                </a:solidFill>
                <a:latin typeface="Verdana" pitchFamily="34" charset="0"/>
              </a:defRPr>
            </a:lvl2pPr>
            <a:lvl3pPr marL="1143000" indent="-228600">
              <a:defRPr sz="1200" i="1">
                <a:solidFill>
                  <a:schemeClr val="tx1"/>
                </a:solidFill>
                <a:latin typeface="Verdana" pitchFamily="34" charset="0"/>
              </a:defRPr>
            </a:lvl3pPr>
            <a:lvl4pPr marL="1600200" indent="-228600">
              <a:defRPr sz="1200" i="1">
                <a:solidFill>
                  <a:schemeClr val="tx1"/>
                </a:solidFill>
                <a:latin typeface="Verdana" pitchFamily="34" charset="0"/>
              </a:defRPr>
            </a:lvl4pPr>
            <a:lvl5pPr marL="2057400" indent="-228600">
              <a:defRPr sz="1200" i="1">
                <a:solidFill>
                  <a:schemeClr val="tx1"/>
                </a:solidFill>
                <a:latin typeface="Verdana" pitchFamily="34" charset="0"/>
              </a:defRPr>
            </a:lvl5pPr>
            <a:lvl6pPr marL="2514600" indent="-228600" eaLnBrk="0" fontAlgn="base" hangingPunct="0">
              <a:spcBef>
                <a:spcPct val="0"/>
              </a:spcBef>
              <a:spcAft>
                <a:spcPct val="0"/>
              </a:spcAft>
              <a:defRPr sz="1200" i="1">
                <a:solidFill>
                  <a:schemeClr val="tx1"/>
                </a:solidFill>
                <a:latin typeface="Verdana" pitchFamily="34" charset="0"/>
              </a:defRPr>
            </a:lvl6pPr>
            <a:lvl7pPr marL="2971800" indent="-228600" eaLnBrk="0" fontAlgn="base" hangingPunct="0">
              <a:spcBef>
                <a:spcPct val="0"/>
              </a:spcBef>
              <a:spcAft>
                <a:spcPct val="0"/>
              </a:spcAft>
              <a:defRPr sz="1200" i="1">
                <a:solidFill>
                  <a:schemeClr val="tx1"/>
                </a:solidFill>
                <a:latin typeface="Verdana" pitchFamily="34" charset="0"/>
              </a:defRPr>
            </a:lvl7pPr>
            <a:lvl8pPr marL="3429000" indent="-228600" eaLnBrk="0" fontAlgn="base" hangingPunct="0">
              <a:spcBef>
                <a:spcPct val="0"/>
              </a:spcBef>
              <a:spcAft>
                <a:spcPct val="0"/>
              </a:spcAft>
              <a:defRPr sz="1200" i="1">
                <a:solidFill>
                  <a:schemeClr val="tx1"/>
                </a:solidFill>
                <a:latin typeface="Verdana" pitchFamily="34" charset="0"/>
              </a:defRPr>
            </a:lvl8pPr>
            <a:lvl9pPr marL="3886200" indent="-228600" eaLnBrk="0" fontAlgn="base" hangingPunct="0">
              <a:spcBef>
                <a:spcPct val="0"/>
              </a:spcBef>
              <a:spcAft>
                <a:spcPct val="0"/>
              </a:spcAft>
              <a:defRPr sz="1200" i="1">
                <a:solidFill>
                  <a:schemeClr val="tx1"/>
                </a:solidFill>
                <a:latin typeface="Verdana" pitchFamily="34" charset="0"/>
              </a:defRPr>
            </a:lvl9pPr>
          </a:lstStyle>
          <a:p>
            <a:pPr>
              <a:defRPr/>
            </a:pPr>
            <a:r>
              <a:rPr lang="en-US" sz="2000" i="0" dirty="0"/>
              <a:t>This relation schema is NOT in BCNF </a:t>
            </a:r>
          </a:p>
          <a:p>
            <a:pPr>
              <a:defRPr/>
            </a:pPr>
            <a:r>
              <a:rPr lang="en-US" sz="2000" i="0" dirty="0"/>
              <a:t>because of the dependency C </a:t>
            </a:r>
            <a:r>
              <a:rPr lang="en-US" sz="2000" i="0" dirty="0">
                <a:sym typeface="Wingdings" pitchFamily="2" charset="2"/>
              </a:rPr>
              <a:t> B.</a:t>
            </a:r>
            <a:endParaRPr lang="en-US" sz="2000" i="0" dirty="0"/>
          </a:p>
        </p:txBody>
      </p:sp>
      <p:sp>
        <p:nvSpPr>
          <p:cNvPr id="9" name="Rectangle 8"/>
          <p:cNvSpPr>
            <a:spLocks noChangeArrowheads="1"/>
          </p:cNvSpPr>
          <p:nvPr/>
        </p:nvSpPr>
        <p:spPr bwMode="auto">
          <a:xfrm>
            <a:off x="1440273" y="3634085"/>
            <a:ext cx="433112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000" i="0" dirty="0"/>
              <a:t>Decompose R into R</a:t>
            </a:r>
            <a:r>
              <a:rPr lang="en-US" sz="2000" i="0" baseline="-25000" dirty="0"/>
              <a:t>1</a:t>
            </a:r>
            <a:r>
              <a:rPr lang="en-US" sz="2000" i="0" dirty="0"/>
              <a:t>(</a:t>
            </a:r>
            <a:r>
              <a:rPr lang="en-US" sz="2000" i="0" u="sng" dirty="0"/>
              <a:t>C</a:t>
            </a:r>
            <a:r>
              <a:rPr lang="en-US" sz="2000" i="0" dirty="0"/>
              <a:t>, B) &amp; R</a:t>
            </a:r>
            <a:r>
              <a:rPr lang="en-US" sz="2000" i="0" baseline="-25000" dirty="0"/>
              <a:t>2</a:t>
            </a:r>
            <a:r>
              <a:rPr lang="en-US" sz="2000" i="0" dirty="0"/>
              <a:t>(</a:t>
            </a:r>
            <a:r>
              <a:rPr lang="en-US" sz="2000" i="0" u="sng" dirty="0"/>
              <a:t>A</a:t>
            </a:r>
            <a:r>
              <a:rPr lang="en-US" sz="2000" i="0" dirty="0"/>
              <a:t>, </a:t>
            </a:r>
            <a:r>
              <a:rPr lang="en-US" sz="2000" i="0" u="sng" dirty="0"/>
              <a:t>C</a:t>
            </a:r>
            <a:r>
              <a:rPr lang="en-US" sz="2000" i="0" dirty="0"/>
              <a:t>)</a:t>
            </a:r>
          </a:p>
        </p:txBody>
      </p:sp>
    </p:spTree>
    <p:extLst>
      <p:ext uri="{BB962C8B-B14F-4D97-AF65-F5344CB8AC3E}">
        <p14:creationId xmlns:p14="http://schemas.microsoft.com/office/powerpoint/2010/main" val="2088858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barn(inVertical)">
                                      <p:cBhvr>
                                        <p:cTn id="2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
            <a:ext cx="8229600" cy="857250"/>
          </a:xfrm>
        </p:spPr>
        <p:txBody>
          <a:bodyPr>
            <a:normAutofit/>
          </a:bodyPr>
          <a:lstStyle/>
          <a:p>
            <a:r>
              <a:rPr lang="en-US" sz="2800" dirty="0"/>
              <a:t>Example</a:t>
            </a:r>
          </a:p>
        </p:txBody>
      </p:sp>
      <p:sp>
        <p:nvSpPr>
          <p:cNvPr id="5" name="Slide Number Placeholder 4"/>
          <p:cNvSpPr>
            <a:spLocks noGrp="1"/>
          </p:cNvSpPr>
          <p:nvPr>
            <p:ph type="sldNum" sz="quarter" idx="12"/>
          </p:nvPr>
        </p:nvSpPr>
        <p:spPr/>
        <p:txBody>
          <a:bodyPr/>
          <a:lstStyle/>
          <a:p>
            <a:fld id="{DB4A5BFF-587F-4230-A0AE-EABA229E5E91}" type="slidenum">
              <a:rPr lang="en-US" smtClean="0"/>
              <a:t>23</a:t>
            </a:fld>
            <a:endParaRPr lang="en-US"/>
          </a:p>
        </p:txBody>
      </p:sp>
      <p:sp>
        <p:nvSpPr>
          <p:cNvPr id="6" name="Rectangle 5"/>
          <p:cNvSpPr/>
          <p:nvPr/>
        </p:nvSpPr>
        <p:spPr>
          <a:xfrm>
            <a:off x="1981200" y="1504950"/>
            <a:ext cx="4268604" cy="400110"/>
          </a:xfrm>
          <a:prstGeom prst="rect">
            <a:avLst/>
          </a:prstGeom>
        </p:spPr>
        <p:txBody>
          <a:bodyPr wrap="none">
            <a:spAutoFit/>
          </a:bodyPr>
          <a:lstStyle/>
          <a:p>
            <a:r>
              <a:rPr lang="en-US" sz="2000" dirty="0"/>
              <a:t>TEACH(</a:t>
            </a:r>
            <a:r>
              <a:rPr lang="en-US" sz="2000" u="sng" dirty="0"/>
              <a:t>Reg_no</a:t>
            </a:r>
            <a:r>
              <a:rPr lang="en-US" sz="2000" dirty="0"/>
              <a:t>, </a:t>
            </a:r>
            <a:r>
              <a:rPr lang="en-US" sz="2000" u="sng" dirty="0"/>
              <a:t>C_id</a:t>
            </a:r>
            <a:r>
              <a:rPr lang="en-US" sz="2000" dirty="0"/>
              <a:t>, </a:t>
            </a:r>
            <a:r>
              <a:rPr lang="en-US" sz="2000" dirty="0" err="1"/>
              <a:t>Instructor_id</a:t>
            </a:r>
            <a:r>
              <a:rPr lang="en-US" sz="2000" dirty="0"/>
              <a:t>)</a:t>
            </a:r>
          </a:p>
        </p:txBody>
      </p:sp>
      <p:sp>
        <p:nvSpPr>
          <p:cNvPr id="7" name="Rectangle 6"/>
          <p:cNvSpPr/>
          <p:nvPr/>
        </p:nvSpPr>
        <p:spPr>
          <a:xfrm>
            <a:off x="2072827" y="2171640"/>
            <a:ext cx="2537298" cy="400110"/>
          </a:xfrm>
          <a:prstGeom prst="rect">
            <a:avLst/>
          </a:prstGeom>
        </p:spPr>
        <p:txBody>
          <a:bodyPr wrap="none">
            <a:spAutoFit/>
          </a:bodyPr>
          <a:lstStyle/>
          <a:p>
            <a:r>
              <a:rPr lang="en-US" sz="2000" dirty="0" err="1"/>
              <a:t>Instructor_id</a:t>
            </a:r>
            <a:r>
              <a:rPr lang="en-US" sz="2000" dirty="0"/>
              <a:t> </a:t>
            </a:r>
            <a:r>
              <a:rPr lang="en-US" sz="2000" dirty="0">
                <a:sym typeface="Wingdings" pitchFamily="2" charset="2"/>
              </a:rPr>
              <a:t> </a:t>
            </a:r>
            <a:r>
              <a:rPr lang="en-US" sz="2000" dirty="0" err="1">
                <a:sym typeface="Wingdings" pitchFamily="2" charset="2"/>
              </a:rPr>
              <a:t>C_id</a:t>
            </a:r>
            <a:endParaRPr lang="en-US" sz="2000" dirty="0"/>
          </a:p>
        </p:txBody>
      </p:sp>
      <p:sp>
        <p:nvSpPr>
          <p:cNvPr id="8" name="Rectangle 7"/>
          <p:cNvSpPr/>
          <p:nvPr/>
        </p:nvSpPr>
        <p:spPr>
          <a:xfrm>
            <a:off x="990600" y="2964418"/>
            <a:ext cx="2691186" cy="400110"/>
          </a:xfrm>
          <a:prstGeom prst="rect">
            <a:avLst/>
          </a:prstGeom>
        </p:spPr>
        <p:txBody>
          <a:bodyPr wrap="none">
            <a:spAutoFit/>
          </a:bodyPr>
          <a:lstStyle/>
          <a:p>
            <a:r>
              <a:rPr lang="en-US" sz="2000" dirty="0"/>
              <a:t>R</a:t>
            </a:r>
            <a:r>
              <a:rPr lang="en-US" sz="2000" baseline="-25000" dirty="0"/>
              <a:t>1</a:t>
            </a:r>
            <a:r>
              <a:rPr lang="en-US" sz="2000" dirty="0"/>
              <a:t>(</a:t>
            </a:r>
            <a:r>
              <a:rPr lang="en-US" sz="2000" u="sng" dirty="0" err="1"/>
              <a:t>Instructor_id</a:t>
            </a:r>
            <a:r>
              <a:rPr lang="en-US" sz="2000" dirty="0"/>
              <a:t>, </a:t>
            </a:r>
            <a:r>
              <a:rPr lang="en-US" sz="2000" dirty="0" err="1"/>
              <a:t>C_id</a:t>
            </a:r>
            <a:r>
              <a:rPr lang="en-US" sz="2000" dirty="0"/>
              <a:t>)</a:t>
            </a:r>
          </a:p>
        </p:txBody>
      </p:sp>
      <p:sp>
        <p:nvSpPr>
          <p:cNvPr id="9" name="Rectangle 8"/>
          <p:cNvSpPr/>
          <p:nvPr/>
        </p:nvSpPr>
        <p:spPr>
          <a:xfrm>
            <a:off x="4634773" y="2964418"/>
            <a:ext cx="3093091" cy="400110"/>
          </a:xfrm>
          <a:prstGeom prst="rect">
            <a:avLst/>
          </a:prstGeom>
        </p:spPr>
        <p:txBody>
          <a:bodyPr wrap="none">
            <a:spAutoFit/>
          </a:bodyPr>
          <a:lstStyle/>
          <a:p>
            <a:r>
              <a:rPr lang="en-US" sz="2000" dirty="0"/>
              <a:t>R</a:t>
            </a:r>
            <a:r>
              <a:rPr lang="en-US" sz="2000" baseline="-25000" dirty="0"/>
              <a:t>2</a:t>
            </a:r>
            <a:r>
              <a:rPr lang="en-US" sz="2000" dirty="0"/>
              <a:t>(</a:t>
            </a:r>
            <a:r>
              <a:rPr lang="en-US" sz="2000" u="sng" dirty="0" err="1"/>
              <a:t>Reg_no</a:t>
            </a:r>
            <a:r>
              <a:rPr lang="en-US" sz="2000" dirty="0"/>
              <a:t> , </a:t>
            </a:r>
            <a:r>
              <a:rPr lang="en-US" sz="2000" u="sng" dirty="0" err="1"/>
              <a:t>Instructor_id</a:t>
            </a:r>
            <a:r>
              <a:rPr lang="en-US" sz="2000" dirty="0"/>
              <a:t>)</a:t>
            </a:r>
          </a:p>
        </p:txBody>
      </p:sp>
    </p:spTree>
    <p:extLst>
      <p:ext uri="{BB962C8B-B14F-4D97-AF65-F5344CB8AC3E}">
        <p14:creationId xmlns:p14="http://schemas.microsoft.com/office/powerpoint/2010/main" val="3805282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
            <a:ext cx="8229600" cy="857250"/>
          </a:xfrm>
        </p:spPr>
        <p:txBody>
          <a:bodyPr>
            <a:noAutofit/>
          </a:bodyPr>
          <a:lstStyle/>
          <a:p>
            <a:r>
              <a:rPr lang="en-US" sz="2800" dirty="0"/>
              <a:t>Generalized definition of partial dependency</a:t>
            </a:r>
          </a:p>
        </p:txBody>
      </p:sp>
      <p:sp>
        <p:nvSpPr>
          <p:cNvPr id="3" name="Content Placeholder 2"/>
          <p:cNvSpPr>
            <a:spLocks noGrp="1"/>
          </p:cNvSpPr>
          <p:nvPr>
            <p:ph idx="1"/>
          </p:nvPr>
        </p:nvSpPr>
        <p:spPr/>
        <p:txBody>
          <a:bodyPr>
            <a:normAutofit/>
          </a:bodyPr>
          <a:lstStyle/>
          <a:p>
            <a:pPr marL="137160" indent="0">
              <a:lnSpc>
                <a:spcPct val="150000"/>
              </a:lnSpc>
              <a:spcBef>
                <a:spcPts val="0"/>
              </a:spcBef>
              <a:buNone/>
            </a:pPr>
            <a:r>
              <a:rPr lang="en-US" sz="2000"/>
              <a:t>Dependency </a:t>
            </a:r>
            <a:r>
              <a:rPr lang="en-US" sz="2000" dirty="0"/>
              <a:t>of non-key attribute on a part of </a:t>
            </a:r>
            <a:r>
              <a:rPr lang="en-US" sz="2000"/>
              <a:t>any of the keys of a schema is </a:t>
            </a:r>
            <a:r>
              <a:rPr lang="en-US" sz="2000" dirty="0"/>
              <a:t>called partial dependency.</a:t>
            </a:r>
          </a:p>
        </p:txBody>
      </p:sp>
      <p:sp>
        <p:nvSpPr>
          <p:cNvPr id="5" name="Slide Number Placeholder 4"/>
          <p:cNvSpPr>
            <a:spLocks noGrp="1"/>
          </p:cNvSpPr>
          <p:nvPr>
            <p:ph type="sldNum" sz="quarter" idx="12"/>
          </p:nvPr>
        </p:nvSpPr>
        <p:spPr/>
        <p:txBody>
          <a:bodyPr/>
          <a:lstStyle/>
          <a:p>
            <a:fld id="{DB4A5BFF-587F-4230-A0AE-EABA229E5E91}" type="slidenum">
              <a:rPr lang="en-US" smtClean="0"/>
              <a:t>24</a:t>
            </a:fld>
            <a:endParaRPr lang="en-US"/>
          </a:p>
        </p:txBody>
      </p:sp>
    </p:spTree>
    <p:extLst>
      <p:ext uri="{BB962C8B-B14F-4D97-AF65-F5344CB8AC3E}">
        <p14:creationId xmlns:p14="http://schemas.microsoft.com/office/powerpoint/2010/main" val="7250829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
            <a:ext cx="8229600" cy="857250"/>
          </a:xfrm>
        </p:spPr>
        <p:txBody>
          <a:bodyPr>
            <a:normAutofit/>
          </a:bodyPr>
          <a:lstStyle/>
          <a:p>
            <a:r>
              <a:rPr lang="en-US" sz="2800" dirty="0"/>
              <a:t>Generalized definition of 2NF</a:t>
            </a:r>
          </a:p>
        </p:txBody>
      </p:sp>
      <p:sp>
        <p:nvSpPr>
          <p:cNvPr id="3" name="Content Placeholder 2"/>
          <p:cNvSpPr>
            <a:spLocks noGrp="1"/>
          </p:cNvSpPr>
          <p:nvPr>
            <p:ph idx="1"/>
          </p:nvPr>
        </p:nvSpPr>
        <p:spPr>
          <a:xfrm>
            <a:off x="457200" y="1276350"/>
            <a:ext cx="8229600" cy="3291840"/>
          </a:xfrm>
        </p:spPr>
        <p:txBody>
          <a:bodyPr/>
          <a:lstStyle/>
          <a:p>
            <a:pPr>
              <a:lnSpc>
                <a:spcPct val="150000"/>
              </a:lnSpc>
              <a:spcBef>
                <a:spcPts val="0"/>
              </a:spcBef>
              <a:buNone/>
            </a:pPr>
            <a:r>
              <a:rPr lang="en-US" sz="2000" dirty="0"/>
              <a:t>A relation schema is said to be in second </a:t>
            </a:r>
            <a:r>
              <a:rPr lang="en-US" sz="2000"/>
              <a:t>normal form </a:t>
            </a:r>
            <a:r>
              <a:rPr lang="en-US" sz="2000" dirty="0"/>
              <a:t>if</a:t>
            </a:r>
          </a:p>
          <a:p>
            <a:pPr>
              <a:lnSpc>
                <a:spcPct val="150000"/>
              </a:lnSpc>
              <a:spcBef>
                <a:spcPts val="0"/>
              </a:spcBef>
              <a:buNone/>
            </a:pPr>
            <a:r>
              <a:rPr lang="en-US" sz="2000" dirty="0"/>
              <a:t>(i)  it is in first normal form and </a:t>
            </a:r>
          </a:p>
          <a:p>
            <a:pPr>
              <a:lnSpc>
                <a:spcPct val="150000"/>
              </a:lnSpc>
              <a:spcBef>
                <a:spcPts val="0"/>
              </a:spcBef>
              <a:buNone/>
            </a:pPr>
            <a:r>
              <a:rPr lang="en-US" sz="2000" dirty="0"/>
              <a:t>(ii) there is no partial dependency on any </a:t>
            </a:r>
            <a:r>
              <a:rPr lang="en-US" sz="2000"/>
              <a:t>of the</a:t>
            </a:r>
            <a:r>
              <a:rPr lang="en-US" sz="2000" dirty="0"/>
              <a:t> </a:t>
            </a:r>
            <a:r>
              <a:rPr lang="en-US" sz="2000"/>
              <a:t>keys </a:t>
            </a:r>
            <a:r>
              <a:rPr lang="en-US" sz="2000" dirty="0"/>
              <a:t>of the schema.</a:t>
            </a:r>
          </a:p>
          <a:p>
            <a:endParaRPr lang="en-US" dirty="0"/>
          </a:p>
        </p:txBody>
      </p:sp>
      <p:sp>
        <p:nvSpPr>
          <p:cNvPr id="5" name="Slide Number Placeholder 4"/>
          <p:cNvSpPr>
            <a:spLocks noGrp="1"/>
          </p:cNvSpPr>
          <p:nvPr>
            <p:ph type="sldNum" sz="quarter" idx="12"/>
          </p:nvPr>
        </p:nvSpPr>
        <p:spPr/>
        <p:txBody>
          <a:bodyPr/>
          <a:lstStyle/>
          <a:p>
            <a:fld id="{DB4A5BFF-587F-4230-A0AE-EABA229E5E91}" type="slidenum">
              <a:rPr lang="en-US" smtClean="0"/>
              <a:t>25</a:t>
            </a:fld>
            <a:endParaRPr lang="en-US"/>
          </a:p>
        </p:txBody>
      </p:sp>
    </p:spTree>
    <p:extLst>
      <p:ext uri="{BB962C8B-B14F-4D97-AF65-F5344CB8AC3E}">
        <p14:creationId xmlns:p14="http://schemas.microsoft.com/office/powerpoint/2010/main" val="16808967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
            <a:ext cx="8229600" cy="857250"/>
          </a:xfrm>
        </p:spPr>
        <p:txBody>
          <a:bodyPr>
            <a:normAutofit/>
          </a:bodyPr>
          <a:lstStyle/>
          <a:p>
            <a:r>
              <a:rPr lang="en-US" sz="2800" dirty="0"/>
              <a:t>Generalized definition of BCNF</a:t>
            </a:r>
          </a:p>
        </p:txBody>
      </p:sp>
      <p:sp>
        <p:nvSpPr>
          <p:cNvPr id="3" name="Content Placeholder 2"/>
          <p:cNvSpPr>
            <a:spLocks noGrp="1"/>
          </p:cNvSpPr>
          <p:nvPr>
            <p:ph idx="1"/>
          </p:nvPr>
        </p:nvSpPr>
        <p:spPr>
          <a:xfrm>
            <a:off x="457200" y="1276350"/>
            <a:ext cx="8229600" cy="3291840"/>
          </a:xfrm>
        </p:spPr>
        <p:txBody>
          <a:bodyPr>
            <a:normAutofit/>
          </a:bodyPr>
          <a:lstStyle/>
          <a:p>
            <a:pPr marL="0" indent="0">
              <a:lnSpc>
                <a:spcPct val="150000"/>
              </a:lnSpc>
              <a:spcBef>
                <a:spcPct val="0"/>
              </a:spcBef>
              <a:buFont typeface="Wingdings" pitchFamily="2" charset="2"/>
              <a:buNone/>
            </a:pPr>
            <a:r>
              <a:rPr lang="en-US" sz="2000" dirty="0"/>
              <a:t>A relation schema is said to be in BCNF if </a:t>
            </a:r>
            <a:r>
              <a:rPr lang="en-US" sz="2000"/>
              <a:t>and only if </a:t>
            </a:r>
            <a:r>
              <a:rPr lang="en-US" sz="2000" dirty="0"/>
              <a:t>for every non-trivial functional </a:t>
            </a:r>
            <a:r>
              <a:rPr lang="en-US" sz="2000"/>
              <a:t>dependency that holds </a:t>
            </a:r>
            <a:r>
              <a:rPr lang="en-US" sz="2000" dirty="0"/>
              <a:t>on the schema, the determinant of the</a:t>
            </a:r>
          </a:p>
          <a:p>
            <a:pPr marL="0" indent="0">
              <a:lnSpc>
                <a:spcPct val="150000"/>
              </a:lnSpc>
              <a:spcBef>
                <a:spcPct val="0"/>
              </a:spcBef>
              <a:buFont typeface="Wingdings" pitchFamily="2" charset="2"/>
              <a:buNone/>
            </a:pPr>
            <a:r>
              <a:rPr lang="en-US" sz="2000" dirty="0"/>
              <a:t>functional dependency is a super key </a:t>
            </a:r>
            <a:r>
              <a:rPr lang="en-US" sz="2000"/>
              <a:t>of the schema</a:t>
            </a:r>
            <a:r>
              <a:rPr lang="en-US" sz="2000" dirty="0"/>
              <a:t>.</a:t>
            </a:r>
          </a:p>
        </p:txBody>
      </p:sp>
      <p:sp>
        <p:nvSpPr>
          <p:cNvPr id="5" name="Slide Number Placeholder 4"/>
          <p:cNvSpPr>
            <a:spLocks noGrp="1"/>
          </p:cNvSpPr>
          <p:nvPr>
            <p:ph type="sldNum" sz="quarter" idx="12"/>
          </p:nvPr>
        </p:nvSpPr>
        <p:spPr/>
        <p:txBody>
          <a:bodyPr/>
          <a:lstStyle/>
          <a:p>
            <a:fld id="{DB4A5BFF-587F-4230-A0AE-EABA229E5E91}" type="slidenum">
              <a:rPr lang="en-US" smtClean="0"/>
              <a:t>26</a:t>
            </a:fld>
            <a:endParaRPr lang="en-US"/>
          </a:p>
        </p:txBody>
      </p:sp>
    </p:spTree>
    <p:extLst>
      <p:ext uri="{BB962C8B-B14F-4D97-AF65-F5344CB8AC3E}">
        <p14:creationId xmlns:p14="http://schemas.microsoft.com/office/powerpoint/2010/main" val="38184069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
            <a:ext cx="8229600" cy="857250"/>
          </a:xfrm>
        </p:spPr>
        <p:txBody>
          <a:bodyPr>
            <a:normAutofit/>
          </a:bodyPr>
          <a:lstStyle/>
          <a:p>
            <a:r>
              <a:rPr lang="en-US" sz="2800" dirty="0"/>
              <a:t>Exercise problem 1</a:t>
            </a:r>
          </a:p>
        </p:txBody>
      </p:sp>
      <p:sp>
        <p:nvSpPr>
          <p:cNvPr id="3" name="Content Placeholder 2"/>
          <p:cNvSpPr>
            <a:spLocks noGrp="1"/>
          </p:cNvSpPr>
          <p:nvPr>
            <p:ph idx="1"/>
          </p:nvPr>
        </p:nvSpPr>
        <p:spPr>
          <a:xfrm>
            <a:off x="457200" y="1276350"/>
            <a:ext cx="8229600" cy="3291840"/>
          </a:xfrm>
        </p:spPr>
        <p:txBody>
          <a:bodyPr/>
          <a:lstStyle/>
          <a:p>
            <a:pPr>
              <a:lnSpc>
                <a:spcPct val="150000"/>
              </a:lnSpc>
              <a:spcBef>
                <a:spcPts val="0"/>
              </a:spcBef>
              <a:buNone/>
            </a:pPr>
            <a:r>
              <a:rPr lang="en-US" sz="2000" dirty="0"/>
              <a:t>Consider the following relation schema:</a:t>
            </a:r>
          </a:p>
          <a:p>
            <a:pPr>
              <a:lnSpc>
                <a:spcPct val="150000"/>
              </a:lnSpc>
              <a:spcBef>
                <a:spcPts val="0"/>
              </a:spcBef>
              <a:buNone/>
            </a:pPr>
            <a:r>
              <a:rPr lang="en-US" sz="2000" dirty="0"/>
              <a:t>CAR_SALE(</a:t>
            </a:r>
            <a:r>
              <a:rPr lang="en-US" sz="2000" u="sng" dirty="0" err="1"/>
              <a:t>Car_id</a:t>
            </a:r>
            <a:r>
              <a:rPr lang="en-US" sz="2000" dirty="0"/>
              <a:t>, </a:t>
            </a:r>
            <a:r>
              <a:rPr lang="en-US" sz="2000" dirty="0" err="1"/>
              <a:t>Date_sold</a:t>
            </a:r>
            <a:r>
              <a:rPr lang="en-US" sz="2000" dirty="0"/>
              <a:t>, </a:t>
            </a:r>
            <a:r>
              <a:rPr lang="en-US" sz="2000" u="sng" dirty="0" err="1"/>
              <a:t>Salesperson_id</a:t>
            </a:r>
            <a:r>
              <a:rPr lang="en-US" sz="2000" dirty="0"/>
              <a:t>, </a:t>
            </a:r>
            <a:r>
              <a:rPr lang="en-US" sz="2000" dirty="0" err="1"/>
              <a:t>Commission_pct</a:t>
            </a:r>
            <a:r>
              <a:rPr lang="en-US" sz="2000" dirty="0"/>
              <a:t>, 							</a:t>
            </a:r>
            <a:r>
              <a:rPr lang="en-US" sz="2000" dirty="0" err="1"/>
              <a:t>Discount_amt</a:t>
            </a:r>
            <a:r>
              <a:rPr lang="en-US" sz="2000" dirty="0"/>
              <a:t>).</a:t>
            </a:r>
          </a:p>
          <a:p>
            <a:pPr>
              <a:lnSpc>
                <a:spcPct val="150000"/>
              </a:lnSpc>
              <a:spcBef>
                <a:spcPts val="0"/>
              </a:spcBef>
              <a:buNone/>
            </a:pPr>
            <a:r>
              <a:rPr lang="en-US" sz="2000" dirty="0"/>
              <a:t>Additional functional dependencies are </a:t>
            </a:r>
          </a:p>
          <a:p>
            <a:pPr>
              <a:lnSpc>
                <a:spcPct val="150000"/>
              </a:lnSpc>
              <a:spcBef>
                <a:spcPts val="0"/>
              </a:spcBef>
              <a:buNone/>
            </a:pPr>
            <a:r>
              <a:rPr lang="en-US" sz="2000" dirty="0" err="1"/>
              <a:t>Date_sold</a:t>
            </a:r>
            <a:r>
              <a:rPr lang="en-US" sz="2000" dirty="0"/>
              <a:t> </a:t>
            </a:r>
            <a:r>
              <a:rPr lang="en-US" sz="2000" dirty="0">
                <a:sym typeface="Wingdings" pitchFamily="2" charset="2"/>
              </a:rPr>
              <a:t></a:t>
            </a:r>
            <a:r>
              <a:rPr lang="en-US" sz="2000" dirty="0"/>
              <a:t> </a:t>
            </a:r>
            <a:r>
              <a:rPr lang="en-US" sz="2000" dirty="0" err="1"/>
              <a:t>Discount_amt</a:t>
            </a:r>
            <a:r>
              <a:rPr lang="en-US" sz="2000" dirty="0"/>
              <a:t>,</a:t>
            </a:r>
          </a:p>
          <a:p>
            <a:pPr>
              <a:lnSpc>
                <a:spcPct val="150000"/>
              </a:lnSpc>
              <a:spcBef>
                <a:spcPts val="0"/>
              </a:spcBef>
              <a:buNone/>
            </a:pPr>
            <a:r>
              <a:rPr lang="en-US" sz="2000" dirty="0" err="1"/>
              <a:t>Salesperson_id</a:t>
            </a:r>
            <a:r>
              <a:rPr lang="en-US" sz="2000" dirty="0"/>
              <a:t> </a:t>
            </a:r>
            <a:r>
              <a:rPr lang="en-US" sz="2000" dirty="0">
                <a:sym typeface="Wingdings" pitchFamily="2" charset="2"/>
              </a:rPr>
              <a:t></a:t>
            </a:r>
            <a:r>
              <a:rPr lang="en-US" sz="2000" dirty="0"/>
              <a:t> </a:t>
            </a:r>
            <a:r>
              <a:rPr lang="en-US" sz="2000" dirty="0" err="1"/>
              <a:t>Commission_pct</a:t>
            </a:r>
            <a:r>
              <a:rPr lang="en-US" sz="2000" dirty="0"/>
              <a:t>.</a:t>
            </a:r>
          </a:p>
          <a:p>
            <a:pPr>
              <a:buNone/>
            </a:pPr>
            <a:endParaRPr lang="en-US" dirty="0"/>
          </a:p>
          <a:p>
            <a:endParaRPr lang="en-US" dirty="0"/>
          </a:p>
        </p:txBody>
      </p:sp>
      <p:sp>
        <p:nvSpPr>
          <p:cNvPr id="5" name="Slide Number Placeholder 4"/>
          <p:cNvSpPr>
            <a:spLocks noGrp="1"/>
          </p:cNvSpPr>
          <p:nvPr>
            <p:ph type="sldNum" sz="quarter" idx="12"/>
          </p:nvPr>
        </p:nvSpPr>
        <p:spPr/>
        <p:txBody>
          <a:bodyPr/>
          <a:lstStyle/>
          <a:p>
            <a:fld id="{DB4A5BFF-587F-4230-A0AE-EABA229E5E91}" type="slidenum">
              <a:rPr lang="en-US" smtClean="0"/>
              <a:t>27</a:t>
            </a:fld>
            <a:endParaRPr lang="en-US"/>
          </a:p>
        </p:txBody>
      </p:sp>
    </p:spTree>
    <p:extLst>
      <p:ext uri="{BB962C8B-B14F-4D97-AF65-F5344CB8AC3E}">
        <p14:creationId xmlns:p14="http://schemas.microsoft.com/office/powerpoint/2010/main" val="34570130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
            <a:ext cx="8229600" cy="857250"/>
          </a:xfrm>
        </p:spPr>
        <p:txBody>
          <a:bodyPr>
            <a:normAutofit/>
          </a:bodyPr>
          <a:lstStyle/>
          <a:p>
            <a:r>
              <a:rPr lang="en-US" sz="2800" dirty="0"/>
              <a:t>Exercise problem 1</a:t>
            </a:r>
          </a:p>
        </p:txBody>
      </p:sp>
      <p:sp>
        <p:nvSpPr>
          <p:cNvPr id="3" name="Content Placeholder 2"/>
          <p:cNvSpPr>
            <a:spLocks noGrp="1"/>
          </p:cNvSpPr>
          <p:nvPr>
            <p:ph idx="1"/>
          </p:nvPr>
        </p:nvSpPr>
        <p:spPr>
          <a:xfrm>
            <a:off x="457200" y="1276350"/>
            <a:ext cx="8229600" cy="3291840"/>
          </a:xfrm>
        </p:spPr>
        <p:txBody>
          <a:bodyPr>
            <a:normAutofit/>
          </a:bodyPr>
          <a:lstStyle/>
          <a:p>
            <a:pPr>
              <a:lnSpc>
                <a:spcPct val="150000"/>
              </a:lnSpc>
              <a:spcBef>
                <a:spcPts val="0"/>
              </a:spcBef>
              <a:buNone/>
            </a:pPr>
            <a:r>
              <a:rPr lang="en-US" sz="2000" dirty="0"/>
              <a:t>Based on the given primary key, is this relation </a:t>
            </a:r>
            <a:r>
              <a:rPr lang="en-US" sz="2000"/>
              <a:t>in 1NF</a:t>
            </a:r>
            <a:r>
              <a:rPr lang="en-US" sz="2000" dirty="0"/>
              <a:t>, 2NF, or 3NF? </a:t>
            </a:r>
            <a:r>
              <a:rPr lang="en-US" sz="2000"/>
              <a:t>Why </a:t>
            </a:r>
          </a:p>
          <a:p>
            <a:pPr>
              <a:lnSpc>
                <a:spcPct val="150000"/>
              </a:lnSpc>
              <a:spcBef>
                <a:spcPts val="0"/>
              </a:spcBef>
              <a:buNone/>
            </a:pPr>
            <a:r>
              <a:rPr lang="en-US" sz="2000"/>
              <a:t>or </a:t>
            </a:r>
            <a:r>
              <a:rPr lang="en-US" sz="2000" dirty="0"/>
              <a:t>why not? How </a:t>
            </a:r>
            <a:r>
              <a:rPr lang="en-US" sz="2000"/>
              <a:t>would you </a:t>
            </a:r>
            <a:r>
              <a:rPr lang="en-US" sz="2000" dirty="0"/>
              <a:t>successively normalize it </a:t>
            </a:r>
            <a:r>
              <a:rPr lang="en-US" sz="2000"/>
              <a:t>completely?</a:t>
            </a:r>
            <a:endParaRPr lang="en-US" sz="2000" dirty="0"/>
          </a:p>
          <a:p>
            <a:pPr marL="137160" indent="0">
              <a:lnSpc>
                <a:spcPct val="150000"/>
              </a:lnSpc>
              <a:spcBef>
                <a:spcPts val="0"/>
              </a:spcBef>
              <a:buNone/>
            </a:pPr>
            <a:r>
              <a:rPr lang="en-US" sz="2000" dirty="0"/>
              <a:t>Answer: </a:t>
            </a:r>
          </a:p>
          <a:p>
            <a:pPr marL="137160" indent="0">
              <a:lnSpc>
                <a:spcPct val="150000"/>
              </a:lnSpc>
              <a:spcBef>
                <a:spcPts val="0"/>
              </a:spcBef>
              <a:buNone/>
            </a:pPr>
            <a:r>
              <a:rPr lang="en-US" sz="2000" dirty="0"/>
              <a:t>R</a:t>
            </a:r>
            <a:r>
              <a:rPr lang="en-US" sz="2000" baseline="-25000" dirty="0"/>
              <a:t>1</a:t>
            </a:r>
            <a:r>
              <a:rPr lang="en-US" sz="2000" dirty="0"/>
              <a:t>(</a:t>
            </a:r>
            <a:r>
              <a:rPr lang="en-US" sz="2000" u="sng" dirty="0" err="1"/>
              <a:t>Salesperson_id</a:t>
            </a:r>
            <a:r>
              <a:rPr lang="en-US" sz="2000" dirty="0"/>
              <a:t>, </a:t>
            </a:r>
            <a:r>
              <a:rPr lang="en-US" sz="2000" dirty="0" err="1"/>
              <a:t>Commission_pct</a:t>
            </a:r>
            <a:r>
              <a:rPr lang="en-US" sz="2000" dirty="0"/>
              <a:t>), </a:t>
            </a:r>
          </a:p>
          <a:p>
            <a:pPr marL="137160" indent="0">
              <a:lnSpc>
                <a:spcPct val="150000"/>
              </a:lnSpc>
              <a:spcBef>
                <a:spcPts val="0"/>
              </a:spcBef>
              <a:buNone/>
            </a:pPr>
            <a:r>
              <a:rPr lang="en-US" sz="2000" dirty="0"/>
              <a:t>R</a:t>
            </a:r>
            <a:r>
              <a:rPr lang="en-US" sz="2000" baseline="-25000" dirty="0"/>
              <a:t>3</a:t>
            </a:r>
            <a:r>
              <a:rPr lang="en-US" sz="2000" dirty="0"/>
              <a:t>(</a:t>
            </a:r>
            <a:r>
              <a:rPr lang="en-US" sz="2000" dirty="0" err="1"/>
              <a:t>Date_sold</a:t>
            </a:r>
            <a:r>
              <a:rPr lang="en-US" sz="2000" dirty="0"/>
              <a:t>, </a:t>
            </a:r>
            <a:r>
              <a:rPr lang="en-US" sz="2000" dirty="0" err="1"/>
              <a:t>Discount_amt</a:t>
            </a:r>
            <a:r>
              <a:rPr lang="en-US" sz="2000" dirty="0"/>
              <a:t>) and </a:t>
            </a:r>
          </a:p>
          <a:p>
            <a:pPr marL="137160" indent="0">
              <a:lnSpc>
                <a:spcPct val="150000"/>
              </a:lnSpc>
              <a:spcBef>
                <a:spcPts val="0"/>
              </a:spcBef>
              <a:buNone/>
            </a:pPr>
            <a:r>
              <a:rPr lang="en-US" sz="2000" dirty="0"/>
              <a:t>R</a:t>
            </a:r>
            <a:r>
              <a:rPr lang="en-US" sz="2000" baseline="-25000" dirty="0"/>
              <a:t>4</a:t>
            </a:r>
            <a:r>
              <a:rPr lang="en-US" sz="2000" dirty="0"/>
              <a:t>(</a:t>
            </a:r>
            <a:r>
              <a:rPr lang="en-US" sz="2000" u="sng" dirty="0" err="1"/>
              <a:t>Car_id</a:t>
            </a:r>
            <a:r>
              <a:rPr lang="en-US" sz="2000" dirty="0"/>
              <a:t>, </a:t>
            </a:r>
            <a:r>
              <a:rPr lang="en-US" sz="2000" dirty="0" err="1"/>
              <a:t>Date_sold</a:t>
            </a:r>
            <a:r>
              <a:rPr lang="en-US" sz="2000" dirty="0"/>
              <a:t>, </a:t>
            </a:r>
            <a:r>
              <a:rPr lang="en-US" sz="2000" u="sng" dirty="0" err="1"/>
              <a:t>Salesperson_id</a:t>
            </a:r>
            <a:r>
              <a:rPr lang="en-US" sz="2000" dirty="0"/>
              <a:t>).</a:t>
            </a:r>
          </a:p>
          <a:p>
            <a:endParaRPr lang="en-US" dirty="0"/>
          </a:p>
        </p:txBody>
      </p:sp>
      <p:sp>
        <p:nvSpPr>
          <p:cNvPr id="5" name="Slide Number Placeholder 4"/>
          <p:cNvSpPr>
            <a:spLocks noGrp="1"/>
          </p:cNvSpPr>
          <p:nvPr>
            <p:ph type="sldNum" sz="quarter" idx="12"/>
          </p:nvPr>
        </p:nvSpPr>
        <p:spPr/>
        <p:txBody>
          <a:bodyPr/>
          <a:lstStyle/>
          <a:p>
            <a:fld id="{DB4A5BFF-587F-4230-A0AE-EABA229E5E91}" type="slidenum">
              <a:rPr lang="en-US" smtClean="0"/>
              <a:t>28</a:t>
            </a:fld>
            <a:endParaRPr lang="en-US"/>
          </a:p>
        </p:txBody>
      </p:sp>
    </p:spTree>
    <p:extLst>
      <p:ext uri="{BB962C8B-B14F-4D97-AF65-F5344CB8AC3E}">
        <p14:creationId xmlns:p14="http://schemas.microsoft.com/office/powerpoint/2010/main" val="38311516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B4A5BFF-587F-4230-A0AE-EABA229E5E91}" type="slidenum">
              <a:rPr lang="en-US" smtClean="0"/>
              <a:t>29</a:t>
            </a:fld>
            <a:endParaRPr lang="en-US"/>
          </a:p>
        </p:txBody>
      </p:sp>
      <p:sp>
        <p:nvSpPr>
          <p:cNvPr id="5" name="Rectangle 4"/>
          <p:cNvSpPr/>
          <p:nvPr/>
        </p:nvSpPr>
        <p:spPr>
          <a:xfrm>
            <a:off x="10886" y="590550"/>
            <a:ext cx="9067800" cy="4247317"/>
          </a:xfrm>
          <a:prstGeom prst="rect">
            <a:avLst/>
          </a:prstGeom>
        </p:spPr>
        <p:txBody>
          <a:bodyPr wrap="square">
            <a:spAutoFit/>
          </a:bodyPr>
          <a:lstStyle/>
          <a:p>
            <a:r>
              <a:rPr lang="en-US" dirty="0"/>
              <a:t>The attributes of the schema CAR_SALE are atomic in nature and hence the schema is in first normal form. But it is not in second normal form because of the partial dependency </a:t>
            </a:r>
            <a:r>
              <a:rPr lang="en-US" dirty="0" err="1"/>
              <a:t>Salesperson_id</a:t>
            </a:r>
            <a:r>
              <a:rPr lang="en-US" dirty="0"/>
              <a:t> </a:t>
            </a:r>
            <a:r>
              <a:rPr lang="en-US" dirty="0">
                <a:sym typeface="Wingdings"/>
              </a:rPr>
              <a:t></a:t>
            </a:r>
            <a:r>
              <a:rPr lang="en-US" dirty="0"/>
              <a:t> </a:t>
            </a:r>
            <a:r>
              <a:rPr lang="en-US" dirty="0" err="1"/>
              <a:t>Commission_pct</a:t>
            </a:r>
            <a:r>
              <a:rPr lang="en-US" dirty="0"/>
              <a:t>. So we replace the schema CAR_SALE by two schemas namely, R</a:t>
            </a:r>
            <a:r>
              <a:rPr lang="en-US" baseline="-25000" dirty="0"/>
              <a:t>1</a:t>
            </a:r>
            <a:r>
              <a:rPr lang="en-US" dirty="0"/>
              <a:t>(</a:t>
            </a:r>
            <a:r>
              <a:rPr lang="en-US" u="sng" dirty="0" err="1"/>
              <a:t>Salesperson_id</a:t>
            </a:r>
            <a:r>
              <a:rPr lang="en-US" dirty="0"/>
              <a:t>, </a:t>
            </a:r>
            <a:r>
              <a:rPr lang="en-US" dirty="0" err="1"/>
              <a:t>Commission_pct</a:t>
            </a:r>
            <a:r>
              <a:rPr lang="en-US" dirty="0"/>
              <a:t>) and R</a:t>
            </a:r>
            <a:r>
              <a:rPr lang="en-US" baseline="-25000" dirty="0"/>
              <a:t>2</a:t>
            </a:r>
            <a:r>
              <a:rPr lang="en-US" dirty="0"/>
              <a:t>(</a:t>
            </a:r>
            <a:r>
              <a:rPr lang="en-US" u="sng" dirty="0" err="1"/>
              <a:t>Car_id</a:t>
            </a:r>
            <a:r>
              <a:rPr lang="en-US" dirty="0"/>
              <a:t>, </a:t>
            </a:r>
            <a:r>
              <a:rPr lang="en-US" dirty="0" err="1"/>
              <a:t>Date_sold</a:t>
            </a:r>
            <a:r>
              <a:rPr lang="en-US" dirty="0"/>
              <a:t>, </a:t>
            </a:r>
            <a:r>
              <a:rPr lang="en-US" u="sng" dirty="0" err="1"/>
              <a:t>Salesperson_id</a:t>
            </a:r>
            <a:r>
              <a:rPr lang="en-US" dirty="0"/>
              <a:t>, </a:t>
            </a:r>
            <a:r>
              <a:rPr lang="en-US" dirty="0" err="1"/>
              <a:t>Discount_amt</a:t>
            </a:r>
            <a:r>
              <a:rPr lang="en-US" dirty="0"/>
              <a:t>). The schema R</a:t>
            </a:r>
            <a:r>
              <a:rPr lang="en-US" baseline="-25000" dirty="0"/>
              <a:t>1</a:t>
            </a:r>
            <a:r>
              <a:rPr lang="en-US" dirty="0"/>
              <a:t> is in BCNF because the only non-trivial functional dependency that holds on the schema is </a:t>
            </a:r>
            <a:r>
              <a:rPr lang="en-US" dirty="0" err="1"/>
              <a:t>Salesperson_id</a:t>
            </a:r>
            <a:r>
              <a:rPr lang="en-US" dirty="0"/>
              <a:t> </a:t>
            </a:r>
            <a:r>
              <a:rPr lang="en-US" dirty="0">
                <a:sym typeface="Wingdings"/>
              </a:rPr>
              <a:t></a:t>
            </a:r>
            <a:r>
              <a:rPr lang="en-US" dirty="0"/>
              <a:t> </a:t>
            </a:r>
            <a:r>
              <a:rPr lang="en-US" dirty="0" err="1"/>
              <a:t>Commission_pct</a:t>
            </a:r>
            <a:r>
              <a:rPr lang="en-US" dirty="0"/>
              <a:t> and </a:t>
            </a:r>
            <a:r>
              <a:rPr lang="en-US" dirty="0" err="1"/>
              <a:t>Salesperson_id</a:t>
            </a:r>
            <a:r>
              <a:rPr lang="en-US" dirty="0"/>
              <a:t> is the only key of the schema. Though R</a:t>
            </a:r>
            <a:r>
              <a:rPr lang="en-US" baseline="-25000" dirty="0"/>
              <a:t>1</a:t>
            </a:r>
            <a:r>
              <a:rPr lang="en-US" dirty="0"/>
              <a:t> is in BCNF but R</a:t>
            </a:r>
            <a:r>
              <a:rPr lang="en-US" baseline="-25000" dirty="0"/>
              <a:t>2</a:t>
            </a:r>
            <a:r>
              <a:rPr lang="en-US" dirty="0"/>
              <a:t> is in second normal form because there is no partial dependency that holds on the schema but R</a:t>
            </a:r>
            <a:r>
              <a:rPr lang="en-US" baseline="-25000" dirty="0"/>
              <a:t>2</a:t>
            </a:r>
            <a:r>
              <a:rPr lang="en-US" dirty="0"/>
              <a:t> is not in third normal form because of the transitive dependency </a:t>
            </a:r>
            <a:r>
              <a:rPr lang="en-US" dirty="0" err="1"/>
              <a:t>Date_sold</a:t>
            </a:r>
            <a:r>
              <a:rPr lang="en-US" dirty="0"/>
              <a:t> </a:t>
            </a:r>
            <a:r>
              <a:rPr lang="en-US" dirty="0">
                <a:sym typeface="Wingdings"/>
              </a:rPr>
              <a:t></a:t>
            </a:r>
            <a:r>
              <a:rPr lang="en-US" dirty="0"/>
              <a:t> </a:t>
            </a:r>
            <a:r>
              <a:rPr lang="en-US" dirty="0" err="1"/>
              <a:t>Discount_amt</a:t>
            </a:r>
            <a:r>
              <a:rPr lang="en-US" dirty="0"/>
              <a:t>. So we replace R</a:t>
            </a:r>
            <a:r>
              <a:rPr lang="en-US" baseline="-25000" dirty="0"/>
              <a:t>2</a:t>
            </a:r>
            <a:r>
              <a:rPr lang="en-US" dirty="0"/>
              <a:t> by two schemas namely, R</a:t>
            </a:r>
            <a:r>
              <a:rPr lang="en-US" baseline="-25000" dirty="0"/>
              <a:t>3</a:t>
            </a:r>
            <a:r>
              <a:rPr lang="en-US" dirty="0"/>
              <a:t>(</a:t>
            </a:r>
            <a:r>
              <a:rPr lang="en-US" dirty="0" err="1"/>
              <a:t>Date_sold</a:t>
            </a:r>
            <a:r>
              <a:rPr lang="en-US" dirty="0"/>
              <a:t>, </a:t>
            </a:r>
            <a:r>
              <a:rPr lang="en-US" dirty="0" err="1"/>
              <a:t>Discount_amt</a:t>
            </a:r>
            <a:r>
              <a:rPr lang="en-US" dirty="0"/>
              <a:t>) and R</a:t>
            </a:r>
            <a:r>
              <a:rPr lang="en-US" baseline="-25000" dirty="0"/>
              <a:t>4</a:t>
            </a:r>
            <a:r>
              <a:rPr lang="en-US" dirty="0"/>
              <a:t>(</a:t>
            </a:r>
            <a:r>
              <a:rPr lang="en-US" u="sng" dirty="0" err="1"/>
              <a:t>Car_id</a:t>
            </a:r>
            <a:r>
              <a:rPr lang="en-US" dirty="0"/>
              <a:t>, </a:t>
            </a:r>
            <a:r>
              <a:rPr lang="en-US" dirty="0" err="1"/>
              <a:t>Date_sold</a:t>
            </a:r>
            <a:r>
              <a:rPr lang="en-US" dirty="0"/>
              <a:t>, </a:t>
            </a:r>
            <a:r>
              <a:rPr lang="en-US" u="sng" dirty="0" err="1"/>
              <a:t>Salesperson_id</a:t>
            </a:r>
            <a:r>
              <a:rPr lang="en-US" dirty="0"/>
              <a:t>). The schemas R</a:t>
            </a:r>
            <a:r>
              <a:rPr lang="en-US" baseline="-25000" dirty="0"/>
              <a:t>3</a:t>
            </a:r>
            <a:r>
              <a:rPr lang="en-US" dirty="0"/>
              <a:t> and R</a:t>
            </a:r>
            <a:r>
              <a:rPr lang="en-US" baseline="-25000" dirty="0"/>
              <a:t>4</a:t>
            </a:r>
            <a:r>
              <a:rPr lang="en-US" dirty="0"/>
              <a:t> are in BCNF. So the schema CAR_SALE is now replace by three schemas that are in BCNF namely, </a:t>
            </a:r>
          </a:p>
          <a:p>
            <a:r>
              <a:rPr lang="en-US" dirty="0"/>
              <a:t>	R</a:t>
            </a:r>
            <a:r>
              <a:rPr lang="en-US" baseline="-25000" dirty="0"/>
              <a:t>1</a:t>
            </a:r>
            <a:r>
              <a:rPr lang="en-US" dirty="0"/>
              <a:t>(</a:t>
            </a:r>
            <a:r>
              <a:rPr lang="en-US" u="sng" dirty="0" err="1"/>
              <a:t>Salesperson_id</a:t>
            </a:r>
            <a:r>
              <a:rPr lang="en-US" dirty="0"/>
              <a:t>, </a:t>
            </a:r>
            <a:r>
              <a:rPr lang="en-US" dirty="0" err="1"/>
              <a:t>Commission_pct</a:t>
            </a:r>
            <a:r>
              <a:rPr lang="en-US" dirty="0"/>
              <a:t>), R</a:t>
            </a:r>
            <a:r>
              <a:rPr lang="en-US" baseline="-25000" dirty="0"/>
              <a:t>3</a:t>
            </a:r>
            <a:r>
              <a:rPr lang="en-US" dirty="0"/>
              <a:t>(</a:t>
            </a:r>
            <a:r>
              <a:rPr lang="en-US" dirty="0" err="1"/>
              <a:t>Date_sold</a:t>
            </a:r>
            <a:r>
              <a:rPr lang="en-US" dirty="0"/>
              <a:t>, </a:t>
            </a:r>
            <a:r>
              <a:rPr lang="en-US" dirty="0" err="1"/>
              <a:t>Discount_amt</a:t>
            </a:r>
            <a:r>
              <a:rPr lang="en-US" dirty="0"/>
              <a:t>) and </a:t>
            </a:r>
          </a:p>
          <a:p>
            <a:r>
              <a:rPr lang="en-US" dirty="0"/>
              <a:t>	R</a:t>
            </a:r>
            <a:r>
              <a:rPr lang="en-US" baseline="-25000" dirty="0"/>
              <a:t>4</a:t>
            </a:r>
            <a:r>
              <a:rPr lang="en-US" dirty="0"/>
              <a:t>(</a:t>
            </a:r>
            <a:r>
              <a:rPr lang="en-US" u="sng" dirty="0" err="1"/>
              <a:t>Car_id</a:t>
            </a:r>
            <a:r>
              <a:rPr lang="en-US" dirty="0"/>
              <a:t>, </a:t>
            </a:r>
            <a:r>
              <a:rPr lang="en-US" dirty="0" err="1"/>
              <a:t>Date_sold</a:t>
            </a:r>
            <a:r>
              <a:rPr lang="en-US" dirty="0"/>
              <a:t>, </a:t>
            </a:r>
            <a:r>
              <a:rPr lang="en-US" u="sng" dirty="0" err="1"/>
              <a:t>Salesperson_id</a:t>
            </a:r>
            <a:r>
              <a:rPr lang="en-US" dirty="0"/>
              <a:t>). </a:t>
            </a:r>
          </a:p>
        </p:txBody>
      </p:sp>
      <p:sp>
        <p:nvSpPr>
          <p:cNvPr id="6" name="TextBox 5"/>
          <p:cNvSpPr txBox="1"/>
          <p:nvPr/>
        </p:nvSpPr>
        <p:spPr>
          <a:xfrm>
            <a:off x="4017405" y="109835"/>
            <a:ext cx="2226892" cy="461665"/>
          </a:xfrm>
          <a:prstGeom prst="rect">
            <a:avLst/>
          </a:prstGeom>
          <a:noFill/>
        </p:spPr>
        <p:txBody>
          <a:bodyPr wrap="none" rtlCol="0">
            <a:spAutoFit/>
          </a:bodyPr>
          <a:lstStyle/>
          <a:p>
            <a:r>
              <a:rPr lang="en-US" sz="2400" dirty="0"/>
              <a:t>Detail Solution</a:t>
            </a:r>
          </a:p>
        </p:txBody>
      </p:sp>
    </p:spTree>
    <p:extLst>
      <p:ext uri="{BB962C8B-B14F-4D97-AF65-F5344CB8AC3E}">
        <p14:creationId xmlns:p14="http://schemas.microsoft.com/office/powerpoint/2010/main" val="26609904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DB4A5BFF-587F-4230-A0AE-EABA229E5E91}" type="slidenum">
              <a:rPr lang="en-US" smtClean="0"/>
              <a:t>30</a:t>
            </a:fld>
            <a:endParaRPr lang="en-US"/>
          </a:p>
        </p:txBody>
      </p:sp>
      <p:sp>
        <p:nvSpPr>
          <p:cNvPr id="2" name="Rectangle 1"/>
          <p:cNvSpPr/>
          <p:nvPr/>
        </p:nvSpPr>
        <p:spPr>
          <a:xfrm>
            <a:off x="381000" y="438150"/>
            <a:ext cx="8458200" cy="369332"/>
          </a:xfrm>
          <a:prstGeom prst="rect">
            <a:avLst/>
          </a:prstGeom>
        </p:spPr>
        <p:txBody>
          <a:bodyPr wrap="square">
            <a:spAutoFit/>
          </a:bodyPr>
          <a:lstStyle/>
          <a:p>
            <a:pPr>
              <a:buNone/>
            </a:pPr>
            <a:r>
              <a:rPr lang="en-US" dirty="0"/>
              <a:t>CAR_SALE(</a:t>
            </a:r>
            <a:r>
              <a:rPr lang="en-US" u="sng" dirty="0" err="1"/>
              <a:t>Car_id</a:t>
            </a:r>
            <a:r>
              <a:rPr lang="en-US" dirty="0"/>
              <a:t>, </a:t>
            </a:r>
            <a:r>
              <a:rPr lang="en-US" dirty="0" err="1"/>
              <a:t>Date_sold</a:t>
            </a:r>
            <a:r>
              <a:rPr lang="en-US" dirty="0"/>
              <a:t>, </a:t>
            </a:r>
            <a:r>
              <a:rPr lang="en-US" u="sng" dirty="0" err="1"/>
              <a:t>Salesperson_id</a:t>
            </a:r>
            <a:r>
              <a:rPr lang="en-US" dirty="0"/>
              <a:t>, </a:t>
            </a:r>
            <a:r>
              <a:rPr lang="en-US" dirty="0" err="1"/>
              <a:t>Commission_pct</a:t>
            </a:r>
            <a:r>
              <a:rPr lang="en-US" dirty="0"/>
              <a:t>, </a:t>
            </a:r>
            <a:r>
              <a:rPr lang="en-US" dirty="0" err="1"/>
              <a:t>Discount_amt</a:t>
            </a:r>
            <a:r>
              <a:rPr lang="en-US" dirty="0"/>
              <a:t>)</a:t>
            </a:r>
          </a:p>
        </p:txBody>
      </p:sp>
      <p:sp>
        <p:nvSpPr>
          <p:cNvPr id="3" name="Rectangle 2"/>
          <p:cNvSpPr/>
          <p:nvPr/>
        </p:nvSpPr>
        <p:spPr>
          <a:xfrm>
            <a:off x="2286000" y="971550"/>
            <a:ext cx="4572000" cy="646331"/>
          </a:xfrm>
          <a:prstGeom prst="rect">
            <a:avLst/>
          </a:prstGeom>
        </p:spPr>
        <p:txBody>
          <a:bodyPr>
            <a:spAutoFit/>
          </a:bodyPr>
          <a:lstStyle/>
          <a:p>
            <a:pPr>
              <a:buNone/>
            </a:pPr>
            <a:r>
              <a:rPr lang="en-US" dirty="0" err="1"/>
              <a:t>Date_sold</a:t>
            </a:r>
            <a:r>
              <a:rPr lang="en-US" dirty="0"/>
              <a:t> </a:t>
            </a:r>
            <a:r>
              <a:rPr lang="en-US" dirty="0">
                <a:sym typeface="Wingdings" pitchFamily="2" charset="2"/>
              </a:rPr>
              <a:t></a:t>
            </a:r>
            <a:r>
              <a:rPr lang="en-US" dirty="0"/>
              <a:t> </a:t>
            </a:r>
            <a:r>
              <a:rPr lang="en-US" dirty="0" err="1"/>
              <a:t>Discount_amt</a:t>
            </a:r>
            <a:r>
              <a:rPr lang="en-US" dirty="0"/>
              <a:t>,</a:t>
            </a:r>
          </a:p>
          <a:p>
            <a:pPr>
              <a:buNone/>
            </a:pPr>
            <a:r>
              <a:rPr lang="en-US" dirty="0" err="1"/>
              <a:t>Salesperson_id</a:t>
            </a:r>
            <a:r>
              <a:rPr lang="en-US" dirty="0"/>
              <a:t> </a:t>
            </a:r>
            <a:r>
              <a:rPr lang="en-US" dirty="0">
                <a:sym typeface="Wingdings" pitchFamily="2" charset="2"/>
              </a:rPr>
              <a:t></a:t>
            </a:r>
            <a:r>
              <a:rPr lang="en-US" dirty="0"/>
              <a:t> </a:t>
            </a:r>
            <a:r>
              <a:rPr lang="en-US" dirty="0" err="1"/>
              <a:t>Commission_pct</a:t>
            </a:r>
            <a:r>
              <a:rPr lang="en-US" dirty="0"/>
              <a:t>.</a:t>
            </a:r>
          </a:p>
        </p:txBody>
      </p:sp>
      <p:sp>
        <p:nvSpPr>
          <p:cNvPr id="7" name="TextBox 6"/>
          <p:cNvSpPr txBox="1"/>
          <p:nvPr/>
        </p:nvSpPr>
        <p:spPr>
          <a:xfrm>
            <a:off x="914400" y="1973818"/>
            <a:ext cx="4059125" cy="369332"/>
          </a:xfrm>
          <a:prstGeom prst="rect">
            <a:avLst/>
          </a:prstGeom>
          <a:noFill/>
        </p:spPr>
        <p:txBody>
          <a:bodyPr wrap="none" rtlCol="0">
            <a:spAutoFit/>
          </a:bodyPr>
          <a:lstStyle/>
          <a:p>
            <a:r>
              <a:rPr lang="en-US" dirty="0"/>
              <a:t>R</a:t>
            </a:r>
            <a:r>
              <a:rPr lang="en-US" baseline="-25000" dirty="0"/>
              <a:t>1</a:t>
            </a:r>
            <a:r>
              <a:rPr lang="en-US" dirty="0"/>
              <a:t>(</a:t>
            </a:r>
            <a:r>
              <a:rPr lang="en-US" u="sng" dirty="0" err="1"/>
              <a:t>Salesperson_id</a:t>
            </a:r>
            <a:r>
              <a:rPr lang="en-US" dirty="0"/>
              <a:t> </a:t>
            </a:r>
            <a:r>
              <a:rPr lang="en-US" dirty="0">
                <a:sym typeface="Wingdings" pitchFamily="2" charset="2"/>
              </a:rPr>
              <a:t>,</a:t>
            </a:r>
            <a:r>
              <a:rPr lang="en-US" dirty="0"/>
              <a:t> </a:t>
            </a:r>
            <a:r>
              <a:rPr lang="en-US" dirty="0" err="1"/>
              <a:t>Commission_pct</a:t>
            </a:r>
            <a:r>
              <a:rPr lang="en-US" dirty="0"/>
              <a:t>.)</a:t>
            </a:r>
          </a:p>
        </p:txBody>
      </p:sp>
      <p:sp>
        <p:nvSpPr>
          <p:cNvPr id="8" name="TextBox 7"/>
          <p:cNvSpPr txBox="1"/>
          <p:nvPr/>
        </p:nvSpPr>
        <p:spPr>
          <a:xfrm>
            <a:off x="914400" y="2495550"/>
            <a:ext cx="5618846" cy="369332"/>
          </a:xfrm>
          <a:prstGeom prst="rect">
            <a:avLst/>
          </a:prstGeom>
          <a:noFill/>
        </p:spPr>
        <p:txBody>
          <a:bodyPr wrap="none" rtlCol="0">
            <a:spAutoFit/>
          </a:bodyPr>
          <a:lstStyle/>
          <a:p>
            <a:r>
              <a:rPr lang="en-US" dirty="0"/>
              <a:t>R</a:t>
            </a:r>
            <a:r>
              <a:rPr lang="en-US" baseline="-25000" dirty="0"/>
              <a:t>2 </a:t>
            </a:r>
            <a:r>
              <a:rPr lang="en-US" dirty="0"/>
              <a:t>(</a:t>
            </a:r>
            <a:r>
              <a:rPr lang="en-US" u="sng" dirty="0" err="1"/>
              <a:t>Car_id</a:t>
            </a:r>
            <a:r>
              <a:rPr lang="en-US" dirty="0"/>
              <a:t>, </a:t>
            </a:r>
            <a:r>
              <a:rPr lang="en-US" dirty="0" err="1"/>
              <a:t>Date_sold</a:t>
            </a:r>
            <a:r>
              <a:rPr lang="en-US" dirty="0"/>
              <a:t>, </a:t>
            </a:r>
            <a:r>
              <a:rPr lang="en-US" u="sng" dirty="0" err="1"/>
              <a:t>Salesperson_id</a:t>
            </a:r>
            <a:r>
              <a:rPr lang="en-US" dirty="0"/>
              <a:t>, </a:t>
            </a:r>
            <a:r>
              <a:rPr lang="en-US" dirty="0" err="1"/>
              <a:t>Discount_amt</a:t>
            </a:r>
            <a:r>
              <a:rPr lang="en-US" dirty="0"/>
              <a:t>)</a:t>
            </a:r>
          </a:p>
        </p:txBody>
      </p:sp>
      <p:sp>
        <p:nvSpPr>
          <p:cNvPr id="9" name="TextBox 8"/>
          <p:cNvSpPr txBox="1"/>
          <p:nvPr/>
        </p:nvSpPr>
        <p:spPr>
          <a:xfrm>
            <a:off x="381000" y="3257550"/>
            <a:ext cx="3143809" cy="369332"/>
          </a:xfrm>
          <a:prstGeom prst="rect">
            <a:avLst/>
          </a:prstGeom>
          <a:noFill/>
        </p:spPr>
        <p:txBody>
          <a:bodyPr wrap="none" rtlCol="0">
            <a:spAutoFit/>
          </a:bodyPr>
          <a:lstStyle/>
          <a:p>
            <a:r>
              <a:rPr lang="en-US" dirty="0"/>
              <a:t>R</a:t>
            </a:r>
            <a:r>
              <a:rPr lang="en-US" baseline="-25000" dirty="0"/>
              <a:t>3</a:t>
            </a:r>
            <a:r>
              <a:rPr lang="en-US" dirty="0"/>
              <a:t>(</a:t>
            </a:r>
            <a:r>
              <a:rPr lang="en-US" dirty="0" err="1"/>
              <a:t>Date_sold</a:t>
            </a:r>
            <a:r>
              <a:rPr lang="en-US" dirty="0"/>
              <a:t>, </a:t>
            </a:r>
            <a:r>
              <a:rPr lang="en-US" dirty="0" err="1"/>
              <a:t>Discount_amt</a:t>
            </a:r>
            <a:r>
              <a:rPr lang="en-US" dirty="0"/>
              <a:t>)</a:t>
            </a:r>
          </a:p>
        </p:txBody>
      </p:sp>
      <p:sp>
        <p:nvSpPr>
          <p:cNvPr id="10" name="TextBox 9"/>
          <p:cNvSpPr txBox="1"/>
          <p:nvPr/>
        </p:nvSpPr>
        <p:spPr>
          <a:xfrm>
            <a:off x="4114800" y="3257550"/>
            <a:ext cx="4097597" cy="369332"/>
          </a:xfrm>
          <a:prstGeom prst="rect">
            <a:avLst/>
          </a:prstGeom>
          <a:noFill/>
        </p:spPr>
        <p:txBody>
          <a:bodyPr wrap="none" rtlCol="0">
            <a:spAutoFit/>
          </a:bodyPr>
          <a:lstStyle/>
          <a:p>
            <a:r>
              <a:rPr lang="en-US" dirty="0"/>
              <a:t>R</a:t>
            </a:r>
            <a:r>
              <a:rPr lang="en-US" baseline="-25000" dirty="0"/>
              <a:t>4 </a:t>
            </a:r>
            <a:r>
              <a:rPr lang="en-US" dirty="0"/>
              <a:t>(</a:t>
            </a:r>
            <a:r>
              <a:rPr lang="en-US" u="sng" dirty="0" err="1"/>
              <a:t>Car_id</a:t>
            </a:r>
            <a:r>
              <a:rPr lang="en-US" dirty="0"/>
              <a:t>, </a:t>
            </a:r>
            <a:r>
              <a:rPr lang="en-US" dirty="0" err="1"/>
              <a:t>Date_sold</a:t>
            </a:r>
            <a:r>
              <a:rPr lang="en-US" dirty="0"/>
              <a:t>, </a:t>
            </a:r>
            <a:r>
              <a:rPr lang="en-US" u="sng" dirty="0" err="1"/>
              <a:t>Salesperson_id</a:t>
            </a:r>
            <a:r>
              <a:rPr lang="en-US" dirty="0"/>
              <a:t>)</a:t>
            </a:r>
          </a:p>
        </p:txBody>
      </p:sp>
      <p:sp>
        <p:nvSpPr>
          <p:cNvPr id="11" name="TextBox 10"/>
          <p:cNvSpPr txBox="1"/>
          <p:nvPr/>
        </p:nvSpPr>
        <p:spPr>
          <a:xfrm>
            <a:off x="3276600" y="3943350"/>
            <a:ext cx="1691489" cy="369332"/>
          </a:xfrm>
          <a:prstGeom prst="rect">
            <a:avLst/>
          </a:prstGeom>
          <a:noFill/>
        </p:spPr>
        <p:txBody>
          <a:bodyPr wrap="none" rtlCol="0">
            <a:spAutoFit/>
          </a:bodyPr>
          <a:lstStyle/>
          <a:p>
            <a:r>
              <a:rPr lang="en-US" dirty="0">
                <a:latin typeface="Script MT Bold" pitchFamily="66" charset="0"/>
              </a:rPr>
              <a:t>D</a:t>
            </a:r>
            <a:r>
              <a:rPr lang="en-US" dirty="0"/>
              <a:t> = {R</a:t>
            </a:r>
            <a:r>
              <a:rPr lang="en-US" baseline="-25000" dirty="0"/>
              <a:t>1</a:t>
            </a:r>
            <a:r>
              <a:rPr lang="en-US" dirty="0"/>
              <a:t>, R</a:t>
            </a:r>
            <a:r>
              <a:rPr lang="en-US" baseline="-25000" dirty="0"/>
              <a:t>3</a:t>
            </a:r>
            <a:r>
              <a:rPr lang="en-US" dirty="0"/>
              <a:t>, R</a:t>
            </a:r>
            <a:r>
              <a:rPr lang="en-US" baseline="-25000" dirty="0"/>
              <a:t>4</a:t>
            </a:r>
            <a:r>
              <a:rPr lang="en-US" dirty="0"/>
              <a:t>}</a:t>
            </a:r>
          </a:p>
        </p:txBody>
      </p:sp>
    </p:spTree>
    <p:extLst>
      <p:ext uri="{BB962C8B-B14F-4D97-AF65-F5344CB8AC3E}">
        <p14:creationId xmlns:p14="http://schemas.microsoft.com/office/powerpoint/2010/main" val="3557917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1000"/>
                                        <p:tgtEl>
                                          <p:spTgt spid="9"/>
                                        </p:tgtEl>
                                      </p:cBhvr>
                                    </p:animEffect>
                                    <p:anim calcmode="lin" valueType="num">
                                      <p:cBhvr>
                                        <p:cTn id="36" dur="1000" fill="hold"/>
                                        <p:tgtEl>
                                          <p:spTgt spid="9"/>
                                        </p:tgtEl>
                                        <p:attrNameLst>
                                          <p:attrName>ppt_x</p:attrName>
                                        </p:attrNameLst>
                                      </p:cBhvr>
                                      <p:tavLst>
                                        <p:tav tm="0">
                                          <p:val>
                                            <p:strVal val="#ppt_x"/>
                                          </p:val>
                                        </p:tav>
                                        <p:tav tm="100000">
                                          <p:val>
                                            <p:strVal val="#ppt_x"/>
                                          </p:val>
                                        </p:tav>
                                      </p:tavLst>
                                    </p:anim>
                                    <p:anim calcmode="lin" valueType="num">
                                      <p:cBhvr>
                                        <p:cTn id="3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anim calcmode="lin" valueType="num">
                                      <p:cBhvr>
                                        <p:cTn id="43" dur="1000" fill="hold"/>
                                        <p:tgtEl>
                                          <p:spTgt spid="10"/>
                                        </p:tgtEl>
                                        <p:attrNameLst>
                                          <p:attrName>ppt_x</p:attrName>
                                        </p:attrNameLst>
                                      </p:cBhvr>
                                      <p:tavLst>
                                        <p:tav tm="0">
                                          <p:val>
                                            <p:strVal val="#ppt_x"/>
                                          </p:val>
                                        </p:tav>
                                        <p:tav tm="100000">
                                          <p:val>
                                            <p:strVal val="#ppt_x"/>
                                          </p:val>
                                        </p:tav>
                                      </p:tavLst>
                                    </p:anim>
                                    <p:anim calcmode="lin" valueType="num">
                                      <p:cBhvr>
                                        <p:cTn id="4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1000"/>
                                        <p:tgtEl>
                                          <p:spTgt spid="11"/>
                                        </p:tgtEl>
                                      </p:cBhvr>
                                    </p:animEffect>
                                    <p:anim calcmode="lin" valueType="num">
                                      <p:cBhvr>
                                        <p:cTn id="50" dur="1000" fill="hold"/>
                                        <p:tgtEl>
                                          <p:spTgt spid="11"/>
                                        </p:tgtEl>
                                        <p:attrNameLst>
                                          <p:attrName>ppt_x</p:attrName>
                                        </p:attrNameLst>
                                      </p:cBhvr>
                                      <p:tavLst>
                                        <p:tav tm="0">
                                          <p:val>
                                            <p:strVal val="#ppt_x"/>
                                          </p:val>
                                        </p:tav>
                                        <p:tav tm="100000">
                                          <p:val>
                                            <p:strVal val="#ppt_x"/>
                                          </p:val>
                                        </p:tav>
                                      </p:tavLst>
                                    </p:anim>
                                    <p:anim calcmode="lin" valueType="num">
                                      <p:cBhvr>
                                        <p:cTn id="5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7" grpId="0"/>
      <p:bldP spid="8" grpId="0"/>
      <p:bldP spid="9" grpId="0"/>
      <p:bldP spid="10" grpId="0"/>
      <p:bldP spid="1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B4A5BFF-587F-4230-A0AE-EABA229E5E91}" type="slidenum">
              <a:rPr lang="en-US" smtClean="0"/>
              <a:t>31</a:t>
            </a:fld>
            <a:endParaRPr lang="en-US"/>
          </a:p>
        </p:txBody>
      </p:sp>
      <p:sp>
        <p:nvSpPr>
          <p:cNvPr id="5" name="TextBox 4"/>
          <p:cNvSpPr txBox="1"/>
          <p:nvPr/>
        </p:nvSpPr>
        <p:spPr>
          <a:xfrm>
            <a:off x="3352800" y="109835"/>
            <a:ext cx="2226892" cy="461665"/>
          </a:xfrm>
          <a:prstGeom prst="rect">
            <a:avLst/>
          </a:prstGeom>
          <a:noFill/>
        </p:spPr>
        <p:txBody>
          <a:bodyPr wrap="none" rtlCol="0">
            <a:spAutoFit/>
          </a:bodyPr>
          <a:lstStyle/>
          <a:p>
            <a:r>
              <a:rPr lang="en-US" sz="2400" dirty="0"/>
              <a:t>Detail Solution</a:t>
            </a:r>
          </a:p>
        </p:txBody>
      </p:sp>
      <p:sp>
        <p:nvSpPr>
          <p:cNvPr id="6" name="Rectangle 5"/>
          <p:cNvSpPr/>
          <p:nvPr/>
        </p:nvSpPr>
        <p:spPr>
          <a:xfrm>
            <a:off x="76200" y="631371"/>
            <a:ext cx="8991600" cy="4247317"/>
          </a:xfrm>
          <a:prstGeom prst="rect">
            <a:avLst/>
          </a:prstGeom>
        </p:spPr>
        <p:txBody>
          <a:bodyPr wrap="square">
            <a:spAutoFit/>
          </a:bodyPr>
          <a:lstStyle/>
          <a:p>
            <a:r>
              <a:rPr lang="en-US" dirty="0"/>
              <a:t>The attributes of the schema CAR_SALE are atomic in nature and hence the schema is in first normal form. But it is not in second normal form because of the partial dependency </a:t>
            </a:r>
            <a:r>
              <a:rPr lang="en-US" dirty="0" err="1"/>
              <a:t>Salesperson_id</a:t>
            </a:r>
            <a:r>
              <a:rPr lang="en-US" dirty="0"/>
              <a:t> </a:t>
            </a:r>
            <a:r>
              <a:rPr lang="en-US" dirty="0">
                <a:sym typeface="Wingdings"/>
              </a:rPr>
              <a:t></a:t>
            </a:r>
            <a:r>
              <a:rPr lang="en-US" dirty="0"/>
              <a:t> </a:t>
            </a:r>
            <a:r>
              <a:rPr lang="en-US" dirty="0" err="1"/>
              <a:t>Commission_pct</a:t>
            </a:r>
            <a:r>
              <a:rPr lang="en-US" dirty="0"/>
              <a:t>. So we replace the schema CAR_SALE by two schemas namely, R</a:t>
            </a:r>
            <a:r>
              <a:rPr lang="en-US" baseline="-25000" dirty="0"/>
              <a:t>1</a:t>
            </a:r>
            <a:r>
              <a:rPr lang="en-US" dirty="0"/>
              <a:t>(</a:t>
            </a:r>
            <a:r>
              <a:rPr lang="en-US" u="sng" dirty="0" err="1"/>
              <a:t>Salesperson_id</a:t>
            </a:r>
            <a:r>
              <a:rPr lang="en-US" dirty="0"/>
              <a:t>, </a:t>
            </a:r>
            <a:r>
              <a:rPr lang="en-US" dirty="0" err="1"/>
              <a:t>Commission_pct</a:t>
            </a:r>
            <a:r>
              <a:rPr lang="en-US" dirty="0"/>
              <a:t>) and R</a:t>
            </a:r>
            <a:r>
              <a:rPr lang="en-US" baseline="-25000" dirty="0"/>
              <a:t>2</a:t>
            </a:r>
            <a:r>
              <a:rPr lang="en-US" dirty="0"/>
              <a:t>(</a:t>
            </a:r>
            <a:r>
              <a:rPr lang="en-US" u="sng" dirty="0" err="1"/>
              <a:t>Car_id</a:t>
            </a:r>
            <a:r>
              <a:rPr lang="en-US" dirty="0"/>
              <a:t>, </a:t>
            </a:r>
            <a:r>
              <a:rPr lang="en-US" dirty="0" err="1"/>
              <a:t>Date_sold</a:t>
            </a:r>
            <a:r>
              <a:rPr lang="en-US" dirty="0"/>
              <a:t>, </a:t>
            </a:r>
            <a:r>
              <a:rPr lang="en-US" u="sng" dirty="0" err="1"/>
              <a:t>Salesperson_id</a:t>
            </a:r>
            <a:r>
              <a:rPr lang="en-US" dirty="0"/>
              <a:t>, </a:t>
            </a:r>
            <a:r>
              <a:rPr lang="en-US" dirty="0" err="1"/>
              <a:t>Discount_amt</a:t>
            </a:r>
            <a:r>
              <a:rPr lang="en-US" dirty="0"/>
              <a:t>). The schema R</a:t>
            </a:r>
            <a:r>
              <a:rPr lang="en-US" baseline="-25000" dirty="0"/>
              <a:t>1</a:t>
            </a:r>
            <a:r>
              <a:rPr lang="en-US" dirty="0"/>
              <a:t> is in BCNF because the only non-trivial functional dependency that holds on the schema is </a:t>
            </a:r>
            <a:r>
              <a:rPr lang="en-US" dirty="0" err="1"/>
              <a:t>Salesperson_id</a:t>
            </a:r>
            <a:r>
              <a:rPr lang="en-US" dirty="0"/>
              <a:t> </a:t>
            </a:r>
            <a:r>
              <a:rPr lang="en-US" dirty="0">
                <a:sym typeface="Wingdings"/>
              </a:rPr>
              <a:t></a:t>
            </a:r>
            <a:r>
              <a:rPr lang="en-US" dirty="0"/>
              <a:t> </a:t>
            </a:r>
            <a:r>
              <a:rPr lang="en-US" dirty="0" err="1"/>
              <a:t>Commission_pct</a:t>
            </a:r>
            <a:r>
              <a:rPr lang="en-US" dirty="0"/>
              <a:t> and </a:t>
            </a:r>
            <a:r>
              <a:rPr lang="en-US" dirty="0" err="1"/>
              <a:t>Salesperson_id</a:t>
            </a:r>
            <a:r>
              <a:rPr lang="en-US" dirty="0"/>
              <a:t> is the only key of the schema. Though R</a:t>
            </a:r>
            <a:r>
              <a:rPr lang="en-US" baseline="-25000" dirty="0"/>
              <a:t>1</a:t>
            </a:r>
            <a:r>
              <a:rPr lang="en-US" dirty="0"/>
              <a:t> is in BCNF but R</a:t>
            </a:r>
            <a:r>
              <a:rPr lang="en-US" baseline="-25000" dirty="0"/>
              <a:t>2</a:t>
            </a:r>
            <a:r>
              <a:rPr lang="en-US" dirty="0"/>
              <a:t> is in second normal form because there is no partial dependency that holds on the schema but R</a:t>
            </a:r>
            <a:r>
              <a:rPr lang="en-US" baseline="-25000" dirty="0"/>
              <a:t>2</a:t>
            </a:r>
            <a:r>
              <a:rPr lang="en-US" dirty="0"/>
              <a:t> is not in third normal form because of the transitive dependency </a:t>
            </a:r>
            <a:r>
              <a:rPr lang="en-US" dirty="0" err="1"/>
              <a:t>Date_sold</a:t>
            </a:r>
            <a:r>
              <a:rPr lang="en-US" dirty="0"/>
              <a:t> </a:t>
            </a:r>
            <a:r>
              <a:rPr lang="en-US" dirty="0">
                <a:sym typeface="Wingdings"/>
              </a:rPr>
              <a:t></a:t>
            </a:r>
            <a:r>
              <a:rPr lang="en-US" dirty="0"/>
              <a:t> </a:t>
            </a:r>
            <a:r>
              <a:rPr lang="en-US" dirty="0" err="1"/>
              <a:t>Discount_amt</a:t>
            </a:r>
            <a:r>
              <a:rPr lang="en-US" dirty="0"/>
              <a:t>. So we replace R</a:t>
            </a:r>
            <a:r>
              <a:rPr lang="en-US" baseline="-25000" dirty="0"/>
              <a:t>2</a:t>
            </a:r>
            <a:r>
              <a:rPr lang="en-US" dirty="0"/>
              <a:t> by two schemas namely, R</a:t>
            </a:r>
            <a:r>
              <a:rPr lang="en-US" baseline="-25000" dirty="0"/>
              <a:t>3</a:t>
            </a:r>
            <a:r>
              <a:rPr lang="en-US" dirty="0"/>
              <a:t>(</a:t>
            </a:r>
            <a:r>
              <a:rPr lang="en-US" dirty="0" err="1"/>
              <a:t>Date_sold</a:t>
            </a:r>
            <a:r>
              <a:rPr lang="en-US" dirty="0"/>
              <a:t>, </a:t>
            </a:r>
            <a:r>
              <a:rPr lang="en-US" dirty="0" err="1"/>
              <a:t>Discount_amt</a:t>
            </a:r>
            <a:r>
              <a:rPr lang="en-US" dirty="0"/>
              <a:t>) and R</a:t>
            </a:r>
            <a:r>
              <a:rPr lang="en-US" baseline="-25000" dirty="0"/>
              <a:t>4</a:t>
            </a:r>
            <a:r>
              <a:rPr lang="en-US" dirty="0"/>
              <a:t>(</a:t>
            </a:r>
            <a:r>
              <a:rPr lang="en-US" u="sng" dirty="0" err="1"/>
              <a:t>Car_id</a:t>
            </a:r>
            <a:r>
              <a:rPr lang="en-US" dirty="0"/>
              <a:t>, </a:t>
            </a:r>
            <a:r>
              <a:rPr lang="en-US" dirty="0" err="1"/>
              <a:t>Date_sold</a:t>
            </a:r>
            <a:r>
              <a:rPr lang="en-US" dirty="0"/>
              <a:t>, </a:t>
            </a:r>
            <a:r>
              <a:rPr lang="en-US" u="sng" dirty="0" err="1"/>
              <a:t>Salesperson_id</a:t>
            </a:r>
            <a:r>
              <a:rPr lang="en-US" dirty="0"/>
              <a:t>). The schemas R</a:t>
            </a:r>
            <a:r>
              <a:rPr lang="en-US" baseline="-25000" dirty="0"/>
              <a:t>3</a:t>
            </a:r>
            <a:r>
              <a:rPr lang="en-US" dirty="0"/>
              <a:t> and R</a:t>
            </a:r>
            <a:r>
              <a:rPr lang="en-US" baseline="-25000" dirty="0"/>
              <a:t>4</a:t>
            </a:r>
            <a:r>
              <a:rPr lang="en-US" dirty="0"/>
              <a:t> are in BCNF. So the schema CAR_SALE is now replace by three schemas that are in BCNF namely, </a:t>
            </a:r>
          </a:p>
          <a:p>
            <a:r>
              <a:rPr lang="en-US" dirty="0"/>
              <a:t>	R</a:t>
            </a:r>
            <a:r>
              <a:rPr lang="en-US" baseline="-25000" dirty="0"/>
              <a:t>1</a:t>
            </a:r>
            <a:r>
              <a:rPr lang="en-US" dirty="0"/>
              <a:t>(</a:t>
            </a:r>
            <a:r>
              <a:rPr lang="en-US" u="sng" dirty="0" err="1"/>
              <a:t>Salesperson_id</a:t>
            </a:r>
            <a:r>
              <a:rPr lang="en-US" dirty="0"/>
              <a:t>, </a:t>
            </a:r>
            <a:r>
              <a:rPr lang="en-US" dirty="0" err="1"/>
              <a:t>Commission_pct</a:t>
            </a:r>
            <a:r>
              <a:rPr lang="en-US" dirty="0"/>
              <a:t>), R</a:t>
            </a:r>
            <a:r>
              <a:rPr lang="en-US" baseline="-25000" dirty="0"/>
              <a:t>3</a:t>
            </a:r>
            <a:r>
              <a:rPr lang="en-US" dirty="0"/>
              <a:t>(</a:t>
            </a:r>
            <a:r>
              <a:rPr lang="en-US" dirty="0" err="1"/>
              <a:t>Date_sold</a:t>
            </a:r>
            <a:r>
              <a:rPr lang="en-US" dirty="0"/>
              <a:t>, </a:t>
            </a:r>
            <a:r>
              <a:rPr lang="en-US" dirty="0" err="1"/>
              <a:t>Discount_amt</a:t>
            </a:r>
            <a:r>
              <a:rPr lang="en-US" dirty="0"/>
              <a:t>) and </a:t>
            </a:r>
          </a:p>
          <a:p>
            <a:r>
              <a:rPr lang="en-US" dirty="0"/>
              <a:t>	R</a:t>
            </a:r>
            <a:r>
              <a:rPr lang="en-US" baseline="-25000" dirty="0"/>
              <a:t>4</a:t>
            </a:r>
            <a:r>
              <a:rPr lang="en-US" dirty="0"/>
              <a:t>(</a:t>
            </a:r>
            <a:r>
              <a:rPr lang="en-US" u="sng" dirty="0" err="1"/>
              <a:t>Car_id</a:t>
            </a:r>
            <a:r>
              <a:rPr lang="en-US" dirty="0"/>
              <a:t>, </a:t>
            </a:r>
            <a:r>
              <a:rPr lang="en-US" dirty="0" err="1"/>
              <a:t>Date_sold</a:t>
            </a:r>
            <a:r>
              <a:rPr lang="en-US" dirty="0"/>
              <a:t>, </a:t>
            </a:r>
            <a:r>
              <a:rPr lang="en-US" u="sng" dirty="0" err="1"/>
              <a:t>Salesperson_id</a:t>
            </a:r>
            <a:r>
              <a:rPr lang="en-US" dirty="0"/>
              <a:t>). </a:t>
            </a:r>
          </a:p>
        </p:txBody>
      </p:sp>
    </p:spTree>
    <p:extLst>
      <p:ext uri="{BB962C8B-B14F-4D97-AF65-F5344CB8AC3E}">
        <p14:creationId xmlns:p14="http://schemas.microsoft.com/office/powerpoint/2010/main" val="22191865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
            <a:ext cx="8229600" cy="857250"/>
          </a:xfrm>
        </p:spPr>
        <p:txBody>
          <a:bodyPr>
            <a:normAutofit/>
          </a:bodyPr>
          <a:lstStyle/>
          <a:p>
            <a:r>
              <a:rPr lang="en-US" sz="2800" dirty="0"/>
              <a:t>Exercise problem 2</a:t>
            </a:r>
          </a:p>
        </p:txBody>
      </p:sp>
      <p:sp>
        <p:nvSpPr>
          <p:cNvPr id="3" name="Content Placeholder 2"/>
          <p:cNvSpPr>
            <a:spLocks noGrp="1"/>
          </p:cNvSpPr>
          <p:nvPr>
            <p:ph idx="1"/>
          </p:nvPr>
        </p:nvSpPr>
        <p:spPr>
          <a:xfrm>
            <a:off x="457200" y="1276350"/>
            <a:ext cx="8229600" cy="3291840"/>
          </a:xfrm>
        </p:spPr>
        <p:txBody>
          <a:bodyPr>
            <a:normAutofit fontScale="92500" lnSpcReduction="20000"/>
          </a:bodyPr>
          <a:lstStyle/>
          <a:p>
            <a:pPr>
              <a:lnSpc>
                <a:spcPct val="150000"/>
              </a:lnSpc>
              <a:spcBef>
                <a:spcPts val="0"/>
              </a:spcBef>
              <a:buNone/>
            </a:pPr>
            <a:r>
              <a:rPr lang="en-US" sz="2000" dirty="0"/>
              <a:t>Consider the following relation for published books: </a:t>
            </a:r>
          </a:p>
          <a:p>
            <a:pPr>
              <a:lnSpc>
                <a:spcPct val="150000"/>
              </a:lnSpc>
              <a:spcBef>
                <a:spcPts val="0"/>
              </a:spcBef>
              <a:buNone/>
            </a:pPr>
            <a:r>
              <a:rPr lang="en-US" sz="2000" dirty="0"/>
              <a:t>BOOK (</a:t>
            </a:r>
            <a:r>
              <a:rPr lang="en-US" sz="2000" u="sng" dirty="0"/>
              <a:t>Book_title</a:t>
            </a:r>
            <a:r>
              <a:rPr lang="en-US" sz="2000" dirty="0"/>
              <a:t>, </a:t>
            </a:r>
            <a:r>
              <a:rPr lang="en-US" sz="2000" u="sng" dirty="0"/>
              <a:t>Author_name</a:t>
            </a:r>
            <a:r>
              <a:rPr lang="en-US" sz="2000" dirty="0"/>
              <a:t>, Book_type, List_price, Author_affil, 							Publisher). </a:t>
            </a:r>
          </a:p>
          <a:p>
            <a:pPr>
              <a:lnSpc>
                <a:spcPct val="150000"/>
              </a:lnSpc>
              <a:spcBef>
                <a:spcPts val="0"/>
              </a:spcBef>
              <a:buNone/>
            </a:pPr>
            <a:r>
              <a:rPr lang="en-US" sz="2000" dirty="0"/>
              <a:t>Author_affil refers to the affiliation of author. </a:t>
            </a:r>
          </a:p>
          <a:p>
            <a:pPr>
              <a:lnSpc>
                <a:spcPct val="150000"/>
              </a:lnSpc>
              <a:spcBef>
                <a:spcPts val="0"/>
              </a:spcBef>
              <a:buNone/>
            </a:pPr>
            <a:r>
              <a:rPr lang="en-US" sz="2000" dirty="0"/>
              <a:t>Suppose that the following dependencies exist: </a:t>
            </a:r>
          </a:p>
          <a:p>
            <a:pPr>
              <a:lnSpc>
                <a:spcPct val="150000"/>
              </a:lnSpc>
              <a:spcBef>
                <a:spcPts val="0"/>
              </a:spcBef>
              <a:buNone/>
            </a:pPr>
            <a:r>
              <a:rPr lang="en-US" sz="2000" dirty="0"/>
              <a:t>Book_title  </a:t>
            </a:r>
            <a:r>
              <a:rPr lang="en-US" sz="2000" dirty="0">
                <a:sym typeface="Wingdings" pitchFamily="2" charset="2"/>
              </a:rPr>
              <a:t></a:t>
            </a:r>
            <a:r>
              <a:rPr lang="en-US" sz="2000" dirty="0"/>
              <a:t> Publisher, Book_type </a:t>
            </a:r>
          </a:p>
          <a:p>
            <a:pPr>
              <a:lnSpc>
                <a:spcPct val="150000"/>
              </a:lnSpc>
              <a:spcBef>
                <a:spcPts val="0"/>
              </a:spcBef>
              <a:buNone/>
            </a:pPr>
            <a:r>
              <a:rPr lang="en-US" sz="2000" dirty="0"/>
              <a:t>Book_type </a:t>
            </a:r>
            <a:r>
              <a:rPr lang="en-US" sz="2000" dirty="0">
                <a:sym typeface="Wingdings" pitchFamily="2" charset="2"/>
              </a:rPr>
              <a:t></a:t>
            </a:r>
            <a:r>
              <a:rPr lang="en-US" sz="2000" dirty="0"/>
              <a:t> List_price </a:t>
            </a:r>
          </a:p>
          <a:p>
            <a:pPr>
              <a:lnSpc>
                <a:spcPct val="150000"/>
              </a:lnSpc>
              <a:spcBef>
                <a:spcPts val="0"/>
              </a:spcBef>
              <a:buNone/>
            </a:pPr>
            <a:r>
              <a:rPr lang="en-US" sz="2000" dirty="0"/>
              <a:t>Author_name </a:t>
            </a:r>
            <a:r>
              <a:rPr lang="en-US" sz="2000" dirty="0">
                <a:sym typeface="Wingdings" pitchFamily="2" charset="2"/>
              </a:rPr>
              <a:t></a:t>
            </a:r>
            <a:r>
              <a:rPr lang="en-US" sz="2000" dirty="0"/>
              <a:t> Author_affil.</a:t>
            </a:r>
          </a:p>
          <a:p>
            <a:pPr>
              <a:buNone/>
            </a:pPr>
            <a:endParaRPr lang="en-US" dirty="0"/>
          </a:p>
          <a:p>
            <a:endParaRPr lang="en-US" dirty="0"/>
          </a:p>
        </p:txBody>
      </p:sp>
      <p:sp>
        <p:nvSpPr>
          <p:cNvPr id="5" name="Slide Number Placeholder 4"/>
          <p:cNvSpPr>
            <a:spLocks noGrp="1"/>
          </p:cNvSpPr>
          <p:nvPr>
            <p:ph type="sldNum" sz="quarter" idx="12"/>
          </p:nvPr>
        </p:nvSpPr>
        <p:spPr/>
        <p:txBody>
          <a:bodyPr/>
          <a:lstStyle/>
          <a:p>
            <a:fld id="{DB4A5BFF-587F-4230-A0AE-EABA229E5E91}" type="slidenum">
              <a:rPr lang="en-US" smtClean="0"/>
              <a:t>32</a:t>
            </a:fld>
            <a:endParaRPr lang="en-US"/>
          </a:p>
        </p:txBody>
      </p:sp>
    </p:spTree>
    <p:extLst>
      <p:ext uri="{BB962C8B-B14F-4D97-AF65-F5344CB8AC3E}">
        <p14:creationId xmlns:p14="http://schemas.microsoft.com/office/powerpoint/2010/main" val="3523047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
            <a:ext cx="8229600" cy="857250"/>
          </a:xfrm>
        </p:spPr>
        <p:txBody>
          <a:bodyPr>
            <a:normAutofit/>
          </a:bodyPr>
          <a:lstStyle/>
          <a:p>
            <a:r>
              <a:rPr lang="en-US" sz="2800" dirty="0"/>
              <a:t>Exercise problem 2</a:t>
            </a:r>
          </a:p>
        </p:txBody>
      </p:sp>
      <p:sp>
        <p:nvSpPr>
          <p:cNvPr id="3" name="Content Placeholder 2"/>
          <p:cNvSpPr>
            <a:spLocks noGrp="1"/>
          </p:cNvSpPr>
          <p:nvPr>
            <p:ph idx="1"/>
          </p:nvPr>
        </p:nvSpPr>
        <p:spPr>
          <a:xfrm>
            <a:off x="457200" y="1276350"/>
            <a:ext cx="8229600" cy="3291840"/>
          </a:xfrm>
        </p:spPr>
        <p:txBody>
          <a:bodyPr/>
          <a:lstStyle/>
          <a:p>
            <a:pPr>
              <a:lnSpc>
                <a:spcPct val="150000"/>
              </a:lnSpc>
              <a:spcBef>
                <a:spcPts val="0"/>
              </a:spcBef>
              <a:buNone/>
            </a:pPr>
            <a:r>
              <a:rPr lang="en-US" sz="2000" dirty="0"/>
              <a:t>What normal form is the relation in? Explain </a:t>
            </a:r>
            <a:r>
              <a:rPr lang="en-US" sz="2000"/>
              <a:t>your answer</a:t>
            </a:r>
            <a:r>
              <a:rPr lang="en-US" sz="2000" dirty="0"/>
              <a:t>.</a:t>
            </a:r>
          </a:p>
          <a:p>
            <a:pPr>
              <a:lnSpc>
                <a:spcPct val="150000"/>
              </a:lnSpc>
              <a:spcBef>
                <a:spcPts val="0"/>
              </a:spcBef>
              <a:buNone/>
            </a:pPr>
            <a:r>
              <a:rPr lang="en-US" sz="2000" dirty="0"/>
              <a:t>Apply normalization until you cannot </a:t>
            </a:r>
            <a:r>
              <a:rPr lang="en-US" sz="2000"/>
              <a:t>decompose the </a:t>
            </a:r>
            <a:r>
              <a:rPr lang="en-US" sz="2000" dirty="0"/>
              <a:t>relations further</a:t>
            </a:r>
            <a:r>
              <a:rPr lang="en-US" sz="2000"/>
              <a:t>. </a:t>
            </a:r>
          </a:p>
          <a:p>
            <a:pPr>
              <a:lnSpc>
                <a:spcPct val="150000"/>
              </a:lnSpc>
              <a:spcBef>
                <a:spcPts val="0"/>
              </a:spcBef>
              <a:buNone/>
            </a:pPr>
            <a:r>
              <a:rPr lang="en-US" sz="2000"/>
              <a:t>State </a:t>
            </a:r>
            <a:r>
              <a:rPr lang="en-US" sz="2000" dirty="0"/>
              <a:t>the reasons </a:t>
            </a:r>
            <a:r>
              <a:rPr lang="en-US" sz="2000"/>
              <a:t>behind each </a:t>
            </a:r>
            <a:r>
              <a:rPr lang="en-US" sz="2000" dirty="0"/>
              <a:t>decomposition.</a:t>
            </a:r>
          </a:p>
          <a:p>
            <a:endParaRPr lang="en-US" dirty="0"/>
          </a:p>
        </p:txBody>
      </p:sp>
      <p:sp>
        <p:nvSpPr>
          <p:cNvPr id="5" name="Slide Number Placeholder 4"/>
          <p:cNvSpPr>
            <a:spLocks noGrp="1"/>
          </p:cNvSpPr>
          <p:nvPr>
            <p:ph type="sldNum" sz="quarter" idx="12"/>
          </p:nvPr>
        </p:nvSpPr>
        <p:spPr/>
        <p:txBody>
          <a:bodyPr/>
          <a:lstStyle/>
          <a:p>
            <a:fld id="{DB4A5BFF-587F-4230-A0AE-EABA229E5E91}" type="slidenum">
              <a:rPr lang="en-US" smtClean="0"/>
              <a:t>33</a:t>
            </a:fld>
            <a:endParaRPr lang="en-US"/>
          </a:p>
        </p:txBody>
      </p:sp>
    </p:spTree>
    <p:extLst>
      <p:ext uri="{BB962C8B-B14F-4D97-AF65-F5344CB8AC3E}">
        <p14:creationId xmlns:p14="http://schemas.microsoft.com/office/powerpoint/2010/main" val="30318658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DB4A5BFF-587F-4230-A0AE-EABA229E5E91}" type="slidenum">
              <a:rPr lang="en-US" smtClean="0"/>
              <a:t>34</a:t>
            </a:fld>
            <a:endParaRPr lang="en-US"/>
          </a:p>
        </p:txBody>
      </p:sp>
      <p:sp>
        <p:nvSpPr>
          <p:cNvPr id="2" name="Rectangle 1"/>
          <p:cNvSpPr/>
          <p:nvPr/>
        </p:nvSpPr>
        <p:spPr>
          <a:xfrm>
            <a:off x="304800" y="819150"/>
            <a:ext cx="8534400" cy="369332"/>
          </a:xfrm>
          <a:prstGeom prst="rect">
            <a:avLst/>
          </a:prstGeom>
        </p:spPr>
        <p:txBody>
          <a:bodyPr wrap="square">
            <a:spAutoFit/>
          </a:bodyPr>
          <a:lstStyle/>
          <a:p>
            <a:r>
              <a:rPr lang="en-US" dirty="0"/>
              <a:t>BOOK (</a:t>
            </a:r>
            <a:r>
              <a:rPr lang="en-US" u="sng" dirty="0"/>
              <a:t>Book_title</a:t>
            </a:r>
            <a:r>
              <a:rPr lang="en-US" dirty="0"/>
              <a:t>, </a:t>
            </a:r>
            <a:r>
              <a:rPr lang="en-US" u="sng" dirty="0"/>
              <a:t>Author_name</a:t>
            </a:r>
            <a:r>
              <a:rPr lang="en-US" dirty="0"/>
              <a:t>, Book_type, List_price, Author_affil, Publisher)</a:t>
            </a:r>
          </a:p>
        </p:txBody>
      </p:sp>
      <p:sp>
        <p:nvSpPr>
          <p:cNvPr id="3" name="Rectangle 2"/>
          <p:cNvSpPr/>
          <p:nvPr/>
        </p:nvSpPr>
        <p:spPr>
          <a:xfrm>
            <a:off x="2057400" y="1193352"/>
            <a:ext cx="4572000" cy="757130"/>
          </a:xfrm>
          <a:prstGeom prst="rect">
            <a:avLst/>
          </a:prstGeom>
        </p:spPr>
        <p:txBody>
          <a:bodyPr>
            <a:spAutoFit/>
          </a:bodyPr>
          <a:lstStyle/>
          <a:p>
            <a:pPr>
              <a:lnSpc>
                <a:spcPct val="80000"/>
              </a:lnSpc>
              <a:buNone/>
            </a:pPr>
            <a:r>
              <a:rPr lang="en-US" dirty="0"/>
              <a:t>Book_title  </a:t>
            </a:r>
            <a:r>
              <a:rPr lang="en-US" dirty="0">
                <a:sym typeface="Wingdings" pitchFamily="2" charset="2"/>
              </a:rPr>
              <a:t></a:t>
            </a:r>
            <a:r>
              <a:rPr lang="en-US" dirty="0"/>
              <a:t> Publisher, Book_type </a:t>
            </a:r>
          </a:p>
          <a:p>
            <a:pPr>
              <a:lnSpc>
                <a:spcPct val="80000"/>
              </a:lnSpc>
              <a:buNone/>
            </a:pPr>
            <a:r>
              <a:rPr lang="en-US" dirty="0"/>
              <a:t>Book_type </a:t>
            </a:r>
            <a:r>
              <a:rPr lang="en-US" dirty="0">
                <a:sym typeface="Wingdings" pitchFamily="2" charset="2"/>
              </a:rPr>
              <a:t></a:t>
            </a:r>
            <a:r>
              <a:rPr lang="en-US" dirty="0"/>
              <a:t> List_price </a:t>
            </a:r>
          </a:p>
          <a:p>
            <a:pPr>
              <a:lnSpc>
                <a:spcPct val="80000"/>
              </a:lnSpc>
              <a:buNone/>
            </a:pPr>
            <a:r>
              <a:rPr lang="en-US" dirty="0"/>
              <a:t>Author_name </a:t>
            </a:r>
            <a:r>
              <a:rPr lang="en-US" dirty="0">
                <a:sym typeface="Wingdings" pitchFamily="2" charset="2"/>
              </a:rPr>
              <a:t></a:t>
            </a:r>
            <a:r>
              <a:rPr lang="en-US" dirty="0"/>
              <a:t> Author_affil.</a:t>
            </a:r>
          </a:p>
        </p:txBody>
      </p:sp>
      <p:sp>
        <p:nvSpPr>
          <p:cNvPr id="6" name="Rectangle 5"/>
          <p:cNvSpPr/>
          <p:nvPr/>
        </p:nvSpPr>
        <p:spPr>
          <a:xfrm>
            <a:off x="533400" y="2126218"/>
            <a:ext cx="3998210" cy="369332"/>
          </a:xfrm>
          <a:prstGeom prst="rect">
            <a:avLst/>
          </a:prstGeom>
        </p:spPr>
        <p:txBody>
          <a:bodyPr wrap="none">
            <a:spAutoFit/>
          </a:bodyPr>
          <a:lstStyle/>
          <a:p>
            <a:r>
              <a:rPr lang="en-US" dirty="0"/>
              <a:t>R</a:t>
            </a:r>
            <a:r>
              <a:rPr lang="en-US" baseline="-25000" dirty="0"/>
              <a:t>1</a:t>
            </a:r>
            <a:r>
              <a:rPr lang="en-US" dirty="0"/>
              <a:t>(</a:t>
            </a:r>
            <a:r>
              <a:rPr lang="en-US" u="sng" dirty="0"/>
              <a:t>Book_title</a:t>
            </a:r>
            <a:r>
              <a:rPr lang="en-US" dirty="0"/>
              <a:t>, Publisher, Book_type) </a:t>
            </a:r>
          </a:p>
        </p:txBody>
      </p:sp>
      <p:sp>
        <p:nvSpPr>
          <p:cNvPr id="7" name="Rectangle 6"/>
          <p:cNvSpPr/>
          <p:nvPr/>
        </p:nvSpPr>
        <p:spPr>
          <a:xfrm>
            <a:off x="533400" y="2507218"/>
            <a:ext cx="5715000" cy="369332"/>
          </a:xfrm>
          <a:prstGeom prst="rect">
            <a:avLst/>
          </a:prstGeom>
        </p:spPr>
        <p:txBody>
          <a:bodyPr wrap="square">
            <a:spAutoFit/>
          </a:bodyPr>
          <a:lstStyle/>
          <a:p>
            <a:r>
              <a:rPr lang="en-US" dirty="0"/>
              <a:t>R</a:t>
            </a:r>
            <a:r>
              <a:rPr lang="en-US" baseline="-25000" dirty="0"/>
              <a:t>2</a:t>
            </a:r>
            <a:r>
              <a:rPr lang="en-US" dirty="0"/>
              <a:t>(</a:t>
            </a:r>
            <a:r>
              <a:rPr lang="en-US" u="sng" dirty="0"/>
              <a:t>Book_title</a:t>
            </a:r>
            <a:r>
              <a:rPr lang="en-US" dirty="0"/>
              <a:t>, </a:t>
            </a:r>
            <a:r>
              <a:rPr lang="en-US" u="sng" dirty="0"/>
              <a:t>Author_name</a:t>
            </a:r>
            <a:r>
              <a:rPr lang="en-US" dirty="0"/>
              <a:t>, List_price, Author_affil)</a:t>
            </a:r>
          </a:p>
        </p:txBody>
      </p:sp>
      <p:sp>
        <p:nvSpPr>
          <p:cNvPr id="8" name="Rectangle 7"/>
          <p:cNvSpPr/>
          <p:nvPr/>
        </p:nvSpPr>
        <p:spPr>
          <a:xfrm>
            <a:off x="457200" y="3028950"/>
            <a:ext cx="3474028" cy="369332"/>
          </a:xfrm>
          <a:prstGeom prst="rect">
            <a:avLst/>
          </a:prstGeom>
        </p:spPr>
        <p:txBody>
          <a:bodyPr wrap="none">
            <a:spAutoFit/>
          </a:bodyPr>
          <a:lstStyle/>
          <a:p>
            <a:r>
              <a:rPr lang="en-US" dirty="0"/>
              <a:t>R</a:t>
            </a:r>
            <a:r>
              <a:rPr lang="en-US" baseline="-25000" dirty="0"/>
              <a:t>3</a:t>
            </a:r>
            <a:r>
              <a:rPr lang="en-US" dirty="0"/>
              <a:t>(</a:t>
            </a:r>
            <a:r>
              <a:rPr lang="en-US" u="sng" dirty="0"/>
              <a:t>Author_name</a:t>
            </a:r>
            <a:r>
              <a:rPr lang="en-US" dirty="0"/>
              <a:t>, Author_affil.)</a:t>
            </a:r>
          </a:p>
        </p:txBody>
      </p:sp>
      <p:sp>
        <p:nvSpPr>
          <p:cNvPr id="9" name="Rectangle 8"/>
          <p:cNvSpPr/>
          <p:nvPr/>
        </p:nvSpPr>
        <p:spPr>
          <a:xfrm>
            <a:off x="4267200" y="3040618"/>
            <a:ext cx="4267200" cy="369332"/>
          </a:xfrm>
          <a:prstGeom prst="rect">
            <a:avLst/>
          </a:prstGeom>
        </p:spPr>
        <p:txBody>
          <a:bodyPr wrap="square">
            <a:spAutoFit/>
          </a:bodyPr>
          <a:lstStyle/>
          <a:p>
            <a:r>
              <a:rPr lang="en-US" dirty="0"/>
              <a:t>R</a:t>
            </a:r>
            <a:r>
              <a:rPr lang="en-US" baseline="-25000" dirty="0"/>
              <a:t>4</a:t>
            </a:r>
            <a:r>
              <a:rPr lang="en-US" dirty="0"/>
              <a:t>(</a:t>
            </a:r>
            <a:r>
              <a:rPr lang="en-US" u="sng" dirty="0"/>
              <a:t>Book_title</a:t>
            </a:r>
            <a:r>
              <a:rPr lang="en-US" dirty="0"/>
              <a:t>, </a:t>
            </a:r>
            <a:r>
              <a:rPr lang="en-US" u="sng" dirty="0"/>
              <a:t>Author_name</a:t>
            </a:r>
            <a:r>
              <a:rPr lang="en-US" dirty="0"/>
              <a:t>, List_price)</a:t>
            </a:r>
          </a:p>
        </p:txBody>
      </p:sp>
      <p:sp>
        <p:nvSpPr>
          <p:cNvPr id="10" name="TextBox 9"/>
          <p:cNvSpPr txBox="1"/>
          <p:nvPr/>
        </p:nvSpPr>
        <p:spPr>
          <a:xfrm>
            <a:off x="2991233" y="3638550"/>
            <a:ext cx="1733167" cy="369332"/>
          </a:xfrm>
          <a:prstGeom prst="rect">
            <a:avLst/>
          </a:prstGeom>
          <a:noFill/>
        </p:spPr>
        <p:txBody>
          <a:bodyPr wrap="none" rtlCol="0">
            <a:spAutoFit/>
          </a:bodyPr>
          <a:lstStyle/>
          <a:p>
            <a:r>
              <a:rPr lang="en-US" dirty="0">
                <a:latin typeface="Script MT Bold" pitchFamily="66" charset="0"/>
              </a:rPr>
              <a:t>D</a:t>
            </a:r>
            <a:r>
              <a:rPr lang="en-US" dirty="0"/>
              <a:t> = {R</a:t>
            </a:r>
            <a:r>
              <a:rPr lang="en-US" baseline="-25000" dirty="0"/>
              <a:t>1</a:t>
            </a:r>
            <a:r>
              <a:rPr lang="en-US" dirty="0"/>
              <a:t>, R</a:t>
            </a:r>
            <a:r>
              <a:rPr lang="en-US" baseline="-25000" dirty="0"/>
              <a:t>3</a:t>
            </a:r>
            <a:r>
              <a:rPr lang="en-US" dirty="0"/>
              <a:t>, R</a:t>
            </a:r>
            <a:r>
              <a:rPr lang="en-US" baseline="-25000" dirty="0"/>
              <a:t>4</a:t>
            </a:r>
            <a:r>
              <a:rPr lang="en-US" dirty="0"/>
              <a:t>}</a:t>
            </a:r>
          </a:p>
        </p:txBody>
      </p:sp>
      <p:sp>
        <p:nvSpPr>
          <p:cNvPr id="11" name="TextBox 10"/>
          <p:cNvSpPr txBox="1"/>
          <p:nvPr/>
        </p:nvSpPr>
        <p:spPr>
          <a:xfrm>
            <a:off x="1916880" y="4107418"/>
            <a:ext cx="4483920" cy="369332"/>
          </a:xfrm>
          <a:prstGeom prst="rect">
            <a:avLst/>
          </a:prstGeom>
          <a:noFill/>
        </p:spPr>
        <p:txBody>
          <a:bodyPr wrap="none" rtlCol="0">
            <a:spAutoFit/>
          </a:bodyPr>
          <a:lstStyle/>
          <a:p>
            <a:r>
              <a:rPr lang="en-US" dirty="0">
                <a:latin typeface="Script MT Bold" pitchFamily="66" charset="0"/>
              </a:rPr>
              <a:t>D</a:t>
            </a:r>
            <a:r>
              <a:rPr lang="en-US" dirty="0"/>
              <a:t> = {R</a:t>
            </a:r>
            <a:r>
              <a:rPr lang="en-US" baseline="-25000" dirty="0"/>
              <a:t>1</a:t>
            </a:r>
            <a:r>
              <a:rPr lang="en-US" dirty="0"/>
              <a:t>, R</a:t>
            </a:r>
            <a:r>
              <a:rPr lang="en-US" baseline="-25000" dirty="0"/>
              <a:t>3</a:t>
            </a:r>
            <a:r>
              <a:rPr lang="en-US" dirty="0"/>
              <a:t>, R</a:t>
            </a:r>
            <a:r>
              <a:rPr lang="en-US" baseline="-25000" dirty="0"/>
              <a:t>4</a:t>
            </a:r>
            <a:r>
              <a:rPr lang="en-US" dirty="0"/>
              <a:t>, R</a:t>
            </a:r>
            <a:r>
              <a:rPr lang="en-US" baseline="-25000" dirty="0"/>
              <a:t>5</a:t>
            </a:r>
            <a:r>
              <a:rPr lang="en-US" dirty="0"/>
              <a:t>(</a:t>
            </a:r>
            <a:r>
              <a:rPr lang="en-US" u="sng" dirty="0"/>
              <a:t>Book_type</a:t>
            </a:r>
            <a:r>
              <a:rPr lang="en-US" dirty="0"/>
              <a:t>, List_price)</a:t>
            </a:r>
            <a:r>
              <a:rPr lang="en-US" baseline="-25000" dirty="0"/>
              <a:t> </a:t>
            </a:r>
            <a:r>
              <a:rPr lang="en-US" dirty="0"/>
              <a:t>}</a:t>
            </a:r>
          </a:p>
        </p:txBody>
      </p:sp>
    </p:spTree>
    <p:extLst>
      <p:ext uri="{BB962C8B-B14F-4D97-AF65-F5344CB8AC3E}">
        <p14:creationId xmlns:p14="http://schemas.microsoft.com/office/powerpoint/2010/main" val="2298684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1000"/>
                                        <p:tgtEl>
                                          <p:spTgt spid="8"/>
                                        </p:tgtEl>
                                      </p:cBhvr>
                                    </p:animEffect>
                                    <p:anim calcmode="lin" valueType="num">
                                      <p:cBhvr>
                                        <p:cTn id="36" dur="1000" fill="hold"/>
                                        <p:tgtEl>
                                          <p:spTgt spid="8"/>
                                        </p:tgtEl>
                                        <p:attrNameLst>
                                          <p:attrName>ppt_x</p:attrName>
                                        </p:attrNameLst>
                                      </p:cBhvr>
                                      <p:tavLst>
                                        <p:tav tm="0">
                                          <p:val>
                                            <p:strVal val="#ppt_x"/>
                                          </p:val>
                                        </p:tav>
                                        <p:tav tm="100000">
                                          <p:val>
                                            <p:strVal val="#ppt_x"/>
                                          </p:val>
                                        </p:tav>
                                      </p:tavLst>
                                    </p:anim>
                                    <p:anim calcmode="lin" valueType="num">
                                      <p:cBhvr>
                                        <p:cTn id="3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1000"/>
                                        <p:tgtEl>
                                          <p:spTgt spid="9"/>
                                        </p:tgtEl>
                                      </p:cBhvr>
                                    </p:animEffect>
                                    <p:anim calcmode="lin" valueType="num">
                                      <p:cBhvr>
                                        <p:cTn id="43" dur="1000" fill="hold"/>
                                        <p:tgtEl>
                                          <p:spTgt spid="9"/>
                                        </p:tgtEl>
                                        <p:attrNameLst>
                                          <p:attrName>ppt_x</p:attrName>
                                        </p:attrNameLst>
                                      </p:cBhvr>
                                      <p:tavLst>
                                        <p:tav tm="0">
                                          <p:val>
                                            <p:strVal val="#ppt_x"/>
                                          </p:val>
                                        </p:tav>
                                        <p:tav tm="100000">
                                          <p:val>
                                            <p:strVal val="#ppt_x"/>
                                          </p:val>
                                        </p:tav>
                                      </p:tavLst>
                                    </p:anim>
                                    <p:anim calcmode="lin" valueType="num">
                                      <p:cBhvr>
                                        <p:cTn id="4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1000"/>
                                        <p:tgtEl>
                                          <p:spTgt spid="10"/>
                                        </p:tgtEl>
                                      </p:cBhvr>
                                    </p:animEffect>
                                    <p:anim calcmode="lin" valueType="num">
                                      <p:cBhvr>
                                        <p:cTn id="50" dur="1000" fill="hold"/>
                                        <p:tgtEl>
                                          <p:spTgt spid="10"/>
                                        </p:tgtEl>
                                        <p:attrNameLst>
                                          <p:attrName>ppt_x</p:attrName>
                                        </p:attrNameLst>
                                      </p:cBhvr>
                                      <p:tavLst>
                                        <p:tav tm="0">
                                          <p:val>
                                            <p:strVal val="#ppt_x"/>
                                          </p:val>
                                        </p:tav>
                                        <p:tav tm="100000">
                                          <p:val>
                                            <p:strVal val="#ppt_x"/>
                                          </p:val>
                                        </p:tav>
                                      </p:tavLst>
                                    </p:anim>
                                    <p:anim calcmode="lin" valueType="num">
                                      <p:cBhvr>
                                        <p:cTn id="5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1000"/>
                                        <p:tgtEl>
                                          <p:spTgt spid="11"/>
                                        </p:tgtEl>
                                      </p:cBhvr>
                                    </p:animEffect>
                                    <p:anim calcmode="lin" valueType="num">
                                      <p:cBhvr>
                                        <p:cTn id="57" dur="1000" fill="hold"/>
                                        <p:tgtEl>
                                          <p:spTgt spid="11"/>
                                        </p:tgtEl>
                                        <p:attrNameLst>
                                          <p:attrName>ppt_x</p:attrName>
                                        </p:attrNameLst>
                                      </p:cBhvr>
                                      <p:tavLst>
                                        <p:tav tm="0">
                                          <p:val>
                                            <p:strVal val="#ppt_x"/>
                                          </p:val>
                                        </p:tav>
                                        <p:tav tm="100000">
                                          <p:val>
                                            <p:strVal val="#ppt_x"/>
                                          </p:val>
                                        </p:tav>
                                      </p:tavLst>
                                    </p:anim>
                                    <p:anim calcmode="lin" valueType="num">
                                      <p:cBhvr>
                                        <p:cTn id="58"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p:bldP spid="7" grpId="0"/>
      <p:bldP spid="8" grpId="0"/>
      <p:bldP spid="9" grpId="0"/>
      <p:bldP spid="10" grpId="0"/>
      <p:bldP spid="1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B4A5BFF-587F-4230-A0AE-EABA229E5E91}" type="slidenum">
              <a:rPr lang="en-US" smtClean="0"/>
              <a:t>35</a:t>
            </a:fld>
            <a:endParaRPr lang="en-US"/>
          </a:p>
        </p:txBody>
      </p:sp>
      <p:sp>
        <p:nvSpPr>
          <p:cNvPr id="5" name="Rectangle 4"/>
          <p:cNvSpPr/>
          <p:nvPr/>
        </p:nvSpPr>
        <p:spPr>
          <a:xfrm>
            <a:off x="65314" y="0"/>
            <a:ext cx="8991600" cy="5078313"/>
          </a:xfrm>
          <a:prstGeom prst="rect">
            <a:avLst/>
          </a:prstGeom>
        </p:spPr>
        <p:txBody>
          <a:bodyPr wrap="square">
            <a:spAutoFit/>
          </a:bodyPr>
          <a:lstStyle/>
          <a:p>
            <a:r>
              <a:rPr lang="en-US" dirty="0"/>
              <a:t>The attributes of the schema BOOK are atomic in nature and hence the schema is in first normal form. But it is not in second normal form because of the partial dependency Book_title  </a:t>
            </a:r>
            <a:r>
              <a:rPr lang="en-US" dirty="0">
                <a:sym typeface="Wingdings"/>
              </a:rPr>
              <a:t></a:t>
            </a:r>
            <a:r>
              <a:rPr lang="en-US" dirty="0"/>
              <a:t> Publisher, Book_type and Author_name </a:t>
            </a:r>
            <a:r>
              <a:rPr lang="en-US" dirty="0">
                <a:sym typeface="Wingdings"/>
              </a:rPr>
              <a:t></a:t>
            </a:r>
            <a:r>
              <a:rPr lang="en-US" dirty="0"/>
              <a:t> Author_affil. So we decompose the schema BOOK with respect to these functional dependencies. Decomposing BOOK with respect to Book_title  </a:t>
            </a:r>
            <a:r>
              <a:rPr lang="en-US" dirty="0">
                <a:sym typeface="Wingdings"/>
              </a:rPr>
              <a:t></a:t>
            </a:r>
            <a:r>
              <a:rPr lang="en-US" dirty="0"/>
              <a:t> Publisher, Book_type we get R</a:t>
            </a:r>
            <a:r>
              <a:rPr lang="en-US" baseline="-25000" dirty="0"/>
              <a:t>1</a:t>
            </a:r>
            <a:r>
              <a:rPr lang="en-US" dirty="0"/>
              <a:t>(</a:t>
            </a:r>
            <a:r>
              <a:rPr lang="en-US" u="sng" dirty="0"/>
              <a:t>Book_title</a:t>
            </a:r>
            <a:r>
              <a:rPr lang="en-US" dirty="0"/>
              <a:t>, Publisher, Book_type) and R</a:t>
            </a:r>
            <a:r>
              <a:rPr lang="en-US" baseline="-25000" dirty="0"/>
              <a:t>2</a:t>
            </a:r>
            <a:r>
              <a:rPr lang="en-US" dirty="0"/>
              <a:t>(</a:t>
            </a:r>
            <a:r>
              <a:rPr lang="en-US" u="sng" dirty="0"/>
              <a:t>Book_title</a:t>
            </a:r>
            <a:r>
              <a:rPr lang="en-US" dirty="0"/>
              <a:t>, </a:t>
            </a:r>
            <a:r>
              <a:rPr lang="en-US" u="sng" dirty="0"/>
              <a:t>Author_name</a:t>
            </a:r>
            <a:r>
              <a:rPr lang="en-US" dirty="0"/>
              <a:t>, List_price, Author_affil.) The schema R1 is in BCNF but R2 is not in 2NF because of the transitive dependency Author_name </a:t>
            </a:r>
            <a:r>
              <a:rPr lang="en-US" dirty="0">
                <a:sym typeface="Wingdings"/>
              </a:rPr>
              <a:t></a:t>
            </a:r>
            <a:r>
              <a:rPr lang="en-US" dirty="0"/>
              <a:t> Author_affil. So we replace R2 by two schemas namely, R</a:t>
            </a:r>
            <a:r>
              <a:rPr lang="en-US" baseline="-25000" dirty="0"/>
              <a:t>3</a:t>
            </a:r>
            <a:r>
              <a:rPr lang="en-US" dirty="0"/>
              <a:t>(</a:t>
            </a:r>
            <a:r>
              <a:rPr lang="en-US" u="sng" dirty="0"/>
              <a:t>Author_name</a:t>
            </a:r>
            <a:r>
              <a:rPr lang="en-US" dirty="0"/>
              <a:t>, Author_affil.) and R</a:t>
            </a:r>
            <a:r>
              <a:rPr lang="en-US" baseline="-25000" dirty="0"/>
              <a:t>4</a:t>
            </a:r>
            <a:r>
              <a:rPr lang="en-US" dirty="0"/>
              <a:t>(</a:t>
            </a:r>
            <a:r>
              <a:rPr lang="en-US" u="sng" dirty="0"/>
              <a:t>Book_title</a:t>
            </a:r>
            <a:r>
              <a:rPr lang="en-US" dirty="0"/>
              <a:t>, </a:t>
            </a:r>
            <a:r>
              <a:rPr lang="en-US" u="sng" dirty="0"/>
              <a:t>Author_name</a:t>
            </a:r>
            <a:r>
              <a:rPr lang="en-US" dirty="0"/>
              <a:t>, List_price). The schema R</a:t>
            </a:r>
            <a:r>
              <a:rPr lang="en-US" baseline="-25000" dirty="0"/>
              <a:t>3</a:t>
            </a:r>
            <a:r>
              <a:rPr lang="en-US" dirty="0"/>
              <a:t> and R</a:t>
            </a:r>
            <a:r>
              <a:rPr lang="en-US" baseline="-25000" dirty="0"/>
              <a:t>4</a:t>
            </a:r>
            <a:r>
              <a:rPr lang="en-US" dirty="0"/>
              <a:t> are in BCNF. So the schema BOOK is replace by three schemas namely, R</a:t>
            </a:r>
            <a:r>
              <a:rPr lang="en-US" baseline="-25000" dirty="0"/>
              <a:t>1</a:t>
            </a:r>
            <a:r>
              <a:rPr lang="en-US" dirty="0"/>
              <a:t>(</a:t>
            </a:r>
            <a:r>
              <a:rPr lang="en-US" u="sng" dirty="0"/>
              <a:t>Book_title</a:t>
            </a:r>
            <a:r>
              <a:rPr lang="en-US" dirty="0"/>
              <a:t>, Publisher, Book_type), R</a:t>
            </a:r>
            <a:r>
              <a:rPr lang="en-US" baseline="-25000" dirty="0"/>
              <a:t>3</a:t>
            </a:r>
            <a:r>
              <a:rPr lang="en-US" dirty="0"/>
              <a:t>(</a:t>
            </a:r>
            <a:r>
              <a:rPr lang="en-US" u="sng" dirty="0"/>
              <a:t>Author_name</a:t>
            </a:r>
            <a:r>
              <a:rPr lang="en-US" dirty="0"/>
              <a:t>, Author_affil.) and R</a:t>
            </a:r>
            <a:r>
              <a:rPr lang="en-US" baseline="-25000" dirty="0"/>
              <a:t>4</a:t>
            </a:r>
            <a:r>
              <a:rPr lang="en-US" dirty="0"/>
              <a:t>(</a:t>
            </a:r>
            <a:r>
              <a:rPr lang="en-US" u="sng" dirty="0"/>
              <a:t>Book_title</a:t>
            </a:r>
            <a:r>
              <a:rPr lang="en-US" dirty="0"/>
              <a:t>, </a:t>
            </a:r>
            <a:r>
              <a:rPr lang="en-US" u="sng" dirty="0"/>
              <a:t>Author_name</a:t>
            </a:r>
            <a:r>
              <a:rPr lang="en-US" dirty="0"/>
              <a:t>, List_price). </a:t>
            </a:r>
          </a:p>
          <a:p>
            <a:r>
              <a:rPr lang="en-US" dirty="0"/>
              <a:t>It may be noted here this decomposition has resulted in loss of functional dependency Book_type </a:t>
            </a:r>
            <a:r>
              <a:rPr lang="en-US" dirty="0">
                <a:sym typeface="Wingdings"/>
              </a:rPr>
              <a:t></a:t>
            </a:r>
            <a:r>
              <a:rPr lang="en-US" dirty="0"/>
              <a:t> List_price. If we want to maintain dependency preserving decomposition then we should consider another schema R</a:t>
            </a:r>
            <a:r>
              <a:rPr lang="en-US" baseline="-25000" dirty="0"/>
              <a:t>5</a:t>
            </a:r>
            <a:r>
              <a:rPr lang="en-US" dirty="0"/>
              <a:t>(Book_type, List_price). So the decomposition is given by</a:t>
            </a:r>
          </a:p>
          <a:p>
            <a:r>
              <a:rPr lang="en-US" dirty="0"/>
              <a:t>	R</a:t>
            </a:r>
            <a:r>
              <a:rPr lang="en-US" baseline="-25000" dirty="0"/>
              <a:t>1</a:t>
            </a:r>
            <a:r>
              <a:rPr lang="en-US" dirty="0"/>
              <a:t>(</a:t>
            </a:r>
            <a:r>
              <a:rPr lang="en-US" u="sng" dirty="0"/>
              <a:t>Book_title</a:t>
            </a:r>
            <a:r>
              <a:rPr lang="en-US" dirty="0"/>
              <a:t>, Publisher, Book_type), R</a:t>
            </a:r>
            <a:r>
              <a:rPr lang="en-US" baseline="-25000" dirty="0"/>
              <a:t>3</a:t>
            </a:r>
            <a:r>
              <a:rPr lang="en-US" dirty="0"/>
              <a:t>(</a:t>
            </a:r>
            <a:r>
              <a:rPr lang="en-US" u="sng" dirty="0"/>
              <a:t>Author_name</a:t>
            </a:r>
            <a:r>
              <a:rPr lang="en-US" dirty="0"/>
              <a:t>, Author_affil.), </a:t>
            </a:r>
          </a:p>
          <a:p>
            <a:r>
              <a:rPr lang="en-US" dirty="0"/>
              <a:t>	R</a:t>
            </a:r>
            <a:r>
              <a:rPr lang="en-US" baseline="-25000" dirty="0"/>
              <a:t>4</a:t>
            </a:r>
            <a:r>
              <a:rPr lang="en-US" dirty="0"/>
              <a:t>(</a:t>
            </a:r>
            <a:r>
              <a:rPr lang="en-US" u="sng" dirty="0"/>
              <a:t>Book_title</a:t>
            </a:r>
            <a:r>
              <a:rPr lang="en-US" dirty="0"/>
              <a:t>, </a:t>
            </a:r>
            <a:r>
              <a:rPr lang="en-US" u="sng" dirty="0"/>
              <a:t>Author_name</a:t>
            </a:r>
            <a:r>
              <a:rPr lang="en-US" dirty="0"/>
              <a:t>, List_price) and R</a:t>
            </a:r>
            <a:r>
              <a:rPr lang="en-US" baseline="-25000" dirty="0"/>
              <a:t>5</a:t>
            </a:r>
            <a:r>
              <a:rPr lang="en-US" dirty="0"/>
              <a:t>(Book_type, List_price).</a:t>
            </a:r>
          </a:p>
        </p:txBody>
      </p:sp>
    </p:spTree>
    <p:extLst>
      <p:ext uri="{BB962C8B-B14F-4D97-AF65-F5344CB8AC3E}">
        <p14:creationId xmlns:p14="http://schemas.microsoft.com/office/powerpoint/2010/main" val="41306694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B4A5BFF-587F-4230-A0AE-EABA229E5E91}" type="slidenum">
              <a:rPr lang="en-US" smtClean="0"/>
              <a:t>36</a:t>
            </a:fld>
            <a:endParaRPr lang="en-US"/>
          </a:p>
        </p:txBody>
      </p:sp>
      <p:sp>
        <p:nvSpPr>
          <p:cNvPr id="5" name="Rectangle 4"/>
          <p:cNvSpPr/>
          <p:nvPr/>
        </p:nvSpPr>
        <p:spPr>
          <a:xfrm>
            <a:off x="228600" y="1094422"/>
            <a:ext cx="8458200" cy="1477328"/>
          </a:xfrm>
          <a:prstGeom prst="rect">
            <a:avLst/>
          </a:prstGeom>
        </p:spPr>
        <p:txBody>
          <a:bodyPr wrap="square">
            <a:spAutoFit/>
          </a:bodyPr>
          <a:lstStyle/>
          <a:p>
            <a:r>
              <a:rPr lang="en-US" dirty="0"/>
              <a:t>A careful decomposition of BOOK schema can help one avoid loss of functional dependency and this is illustrated in the following alternative technique for decomposition through change of order of consideration of the functional dependencies (since the set of functional dependency is a set hence the functional dependencies may be considered in any order for evaluation).</a:t>
            </a:r>
          </a:p>
        </p:txBody>
      </p:sp>
    </p:spTree>
    <p:extLst>
      <p:ext uri="{BB962C8B-B14F-4D97-AF65-F5344CB8AC3E}">
        <p14:creationId xmlns:p14="http://schemas.microsoft.com/office/powerpoint/2010/main" val="20433779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DB4A5BFF-587F-4230-A0AE-EABA229E5E91}" type="slidenum">
              <a:rPr lang="en-US" smtClean="0"/>
              <a:t>37</a:t>
            </a:fld>
            <a:endParaRPr lang="en-US"/>
          </a:p>
        </p:txBody>
      </p:sp>
      <p:sp>
        <p:nvSpPr>
          <p:cNvPr id="6" name="TextBox 5"/>
          <p:cNvSpPr txBox="1"/>
          <p:nvPr/>
        </p:nvSpPr>
        <p:spPr>
          <a:xfrm>
            <a:off x="2871811" y="221218"/>
            <a:ext cx="2919389" cy="369332"/>
          </a:xfrm>
          <a:prstGeom prst="rect">
            <a:avLst/>
          </a:prstGeom>
          <a:noFill/>
        </p:spPr>
        <p:txBody>
          <a:bodyPr wrap="none" rtlCol="0">
            <a:spAutoFit/>
          </a:bodyPr>
          <a:lstStyle/>
          <a:p>
            <a:r>
              <a:rPr lang="en-US" u="sng" dirty="0"/>
              <a:t>Alternative decomposition</a:t>
            </a:r>
          </a:p>
        </p:txBody>
      </p:sp>
      <p:sp>
        <p:nvSpPr>
          <p:cNvPr id="7" name="Rectangle 6"/>
          <p:cNvSpPr/>
          <p:nvPr/>
        </p:nvSpPr>
        <p:spPr>
          <a:xfrm>
            <a:off x="304800" y="678418"/>
            <a:ext cx="8534400" cy="369332"/>
          </a:xfrm>
          <a:prstGeom prst="rect">
            <a:avLst/>
          </a:prstGeom>
        </p:spPr>
        <p:txBody>
          <a:bodyPr wrap="square">
            <a:spAutoFit/>
          </a:bodyPr>
          <a:lstStyle/>
          <a:p>
            <a:r>
              <a:rPr lang="en-US" dirty="0"/>
              <a:t>BOOK (</a:t>
            </a:r>
            <a:r>
              <a:rPr lang="en-US" u="sng" dirty="0"/>
              <a:t>Book_title</a:t>
            </a:r>
            <a:r>
              <a:rPr lang="en-US" dirty="0"/>
              <a:t>, </a:t>
            </a:r>
            <a:r>
              <a:rPr lang="en-US" u="sng" dirty="0"/>
              <a:t>Author_name</a:t>
            </a:r>
            <a:r>
              <a:rPr lang="en-US" dirty="0"/>
              <a:t>, Book_type, List_price, Author_affil, Publisher)</a:t>
            </a:r>
          </a:p>
        </p:txBody>
      </p:sp>
      <p:sp>
        <p:nvSpPr>
          <p:cNvPr id="8" name="Rectangle 7"/>
          <p:cNvSpPr/>
          <p:nvPr/>
        </p:nvSpPr>
        <p:spPr>
          <a:xfrm>
            <a:off x="2133600" y="1128820"/>
            <a:ext cx="4572000" cy="757130"/>
          </a:xfrm>
          <a:prstGeom prst="rect">
            <a:avLst/>
          </a:prstGeom>
        </p:spPr>
        <p:txBody>
          <a:bodyPr>
            <a:spAutoFit/>
          </a:bodyPr>
          <a:lstStyle/>
          <a:p>
            <a:pPr>
              <a:lnSpc>
                <a:spcPct val="80000"/>
              </a:lnSpc>
              <a:buNone/>
            </a:pPr>
            <a:r>
              <a:rPr lang="en-US" dirty="0"/>
              <a:t>Book_title  </a:t>
            </a:r>
            <a:r>
              <a:rPr lang="en-US" dirty="0">
                <a:sym typeface="Wingdings" pitchFamily="2" charset="2"/>
              </a:rPr>
              <a:t></a:t>
            </a:r>
            <a:r>
              <a:rPr lang="en-US" dirty="0"/>
              <a:t> Publisher, Book_type </a:t>
            </a:r>
          </a:p>
          <a:p>
            <a:pPr>
              <a:lnSpc>
                <a:spcPct val="80000"/>
              </a:lnSpc>
              <a:buNone/>
            </a:pPr>
            <a:r>
              <a:rPr lang="en-US" dirty="0"/>
              <a:t>Book_type </a:t>
            </a:r>
            <a:r>
              <a:rPr lang="en-US" dirty="0">
                <a:sym typeface="Wingdings" pitchFamily="2" charset="2"/>
              </a:rPr>
              <a:t></a:t>
            </a:r>
            <a:r>
              <a:rPr lang="en-US" dirty="0"/>
              <a:t> List_price </a:t>
            </a:r>
          </a:p>
          <a:p>
            <a:pPr>
              <a:lnSpc>
                <a:spcPct val="80000"/>
              </a:lnSpc>
              <a:buNone/>
            </a:pPr>
            <a:r>
              <a:rPr lang="en-US" dirty="0"/>
              <a:t>Author_name </a:t>
            </a:r>
            <a:r>
              <a:rPr lang="en-US" dirty="0">
                <a:sym typeface="Wingdings" pitchFamily="2" charset="2"/>
              </a:rPr>
              <a:t></a:t>
            </a:r>
            <a:r>
              <a:rPr lang="en-US" dirty="0"/>
              <a:t> Author_affil.</a:t>
            </a:r>
          </a:p>
        </p:txBody>
      </p:sp>
      <p:sp>
        <p:nvSpPr>
          <p:cNvPr id="9" name="Rectangle 8"/>
          <p:cNvSpPr/>
          <p:nvPr/>
        </p:nvSpPr>
        <p:spPr>
          <a:xfrm>
            <a:off x="471883" y="2266950"/>
            <a:ext cx="2880917" cy="369332"/>
          </a:xfrm>
          <a:prstGeom prst="rect">
            <a:avLst/>
          </a:prstGeom>
        </p:spPr>
        <p:txBody>
          <a:bodyPr wrap="none">
            <a:spAutoFit/>
          </a:bodyPr>
          <a:lstStyle/>
          <a:p>
            <a:r>
              <a:rPr lang="en-US" dirty="0"/>
              <a:t>R</a:t>
            </a:r>
            <a:r>
              <a:rPr lang="en-US" baseline="-25000" dirty="0"/>
              <a:t>1</a:t>
            </a:r>
            <a:r>
              <a:rPr lang="en-US" dirty="0"/>
              <a:t>(</a:t>
            </a:r>
            <a:r>
              <a:rPr lang="en-US" u="sng" dirty="0"/>
              <a:t>Book_type</a:t>
            </a:r>
            <a:r>
              <a:rPr lang="en-US" dirty="0"/>
              <a:t>, List_price) </a:t>
            </a:r>
          </a:p>
        </p:txBody>
      </p:sp>
      <p:sp>
        <p:nvSpPr>
          <p:cNvPr id="10" name="Rectangle 9"/>
          <p:cNvSpPr/>
          <p:nvPr/>
        </p:nvSpPr>
        <p:spPr>
          <a:xfrm>
            <a:off x="1828800" y="2647950"/>
            <a:ext cx="6934200" cy="369332"/>
          </a:xfrm>
          <a:prstGeom prst="rect">
            <a:avLst/>
          </a:prstGeom>
        </p:spPr>
        <p:txBody>
          <a:bodyPr wrap="square">
            <a:spAutoFit/>
          </a:bodyPr>
          <a:lstStyle/>
          <a:p>
            <a:r>
              <a:rPr lang="en-US" dirty="0"/>
              <a:t>R</a:t>
            </a:r>
            <a:r>
              <a:rPr lang="en-US" baseline="-25000" dirty="0"/>
              <a:t>2</a:t>
            </a:r>
            <a:r>
              <a:rPr lang="en-US" dirty="0"/>
              <a:t>(</a:t>
            </a:r>
            <a:r>
              <a:rPr lang="en-US" u="sng" dirty="0"/>
              <a:t>Book_title</a:t>
            </a:r>
            <a:r>
              <a:rPr lang="en-US" dirty="0"/>
              <a:t>, </a:t>
            </a:r>
            <a:r>
              <a:rPr lang="en-US" u="sng" dirty="0"/>
              <a:t>Author_name</a:t>
            </a:r>
            <a:r>
              <a:rPr lang="en-US" dirty="0"/>
              <a:t>, Book_type, Author_affil, Publisher)</a:t>
            </a:r>
          </a:p>
        </p:txBody>
      </p:sp>
      <p:sp>
        <p:nvSpPr>
          <p:cNvPr id="11" name="Rectangle 10"/>
          <p:cNvSpPr/>
          <p:nvPr/>
        </p:nvSpPr>
        <p:spPr>
          <a:xfrm>
            <a:off x="2472148" y="3193018"/>
            <a:ext cx="3435556" cy="369332"/>
          </a:xfrm>
          <a:prstGeom prst="rect">
            <a:avLst/>
          </a:prstGeom>
        </p:spPr>
        <p:txBody>
          <a:bodyPr wrap="none">
            <a:spAutoFit/>
          </a:bodyPr>
          <a:lstStyle/>
          <a:p>
            <a:r>
              <a:rPr lang="en-US" dirty="0"/>
              <a:t>R</a:t>
            </a:r>
            <a:r>
              <a:rPr lang="en-US" baseline="-25000" dirty="0"/>
              <a:t>3</a:t>
            </a:r>
            <a:r>
              <a:rPr lang="en-US" dirty="0"/>
              <a:t>(</a:t>
            </a:r>
            <a:r>
              <a:rPr lang="en-US" u="sng" dirty="0"/>
              <a:t>Author_name</a:t>
            </a:r>
            <a:r>
              <a:rPr lang="en-US" dirty="0"/>
              <a:t>, Author_affil.)</a:t>
            </a:r>
          </a:p>
        </p:txBody>
      </p:sp>
      <p:sp>
        <p:nvSpPr>
          <p:cNvPr id="12" name="Rectangle 11"/>
          <p:cNvSpPr/>
          <p:nvPr/>
        </p:nvSpPr>
        <p:spPr>
          <a:xfrm>
            <a:off x="2971800" y="3574018"/>
            <a:ext cx="5486400" cy="369332"/>
          </a:xfrm>
          <a:prstGeom prst="rect">
            <a:avLst/>
          </a:prstGeom>
        </p:spPr>
        <p:txBody>
          <a:bodyPr wrap="square">
            <a:spAutoFit/>
          </a:bodyPr>
          <a:lstStyle/>
          <a:p>
            <a:r>
              <a:rPr lang="en-US" dirty="0"/>
              <a:t>R</a:t>
            </a:r>
            <a:r>
              <a:rPr lang="en-US" baseline="-25000" dirty="0"/>
              <a:t>4</a:t>
            </a:r>
            <a:r>
              <a:rPr lang="en-US" dirty="0"/>
              <a:t>(</a:t>
            </a:r>
            <a:r>
              <a:rPr lang="en-US" u="sng" dirty="0"/>
              <a:t>Book_title</a:t>
            </a:r>
            <a:r>
              <a:rPr lang="en-US" dirty="0"/>
              <a:t>, </a:t>
            </a:r>
            <a:r>
              <a:rPr lang="en-US" u="sng" dirty="0"/>
              <a:t>Author_name</a:t>
            </a:r>
            <a:r>
              <a:rPr lang="en-US" dirty="0"/>
              <a:t>, Book_type, Publisher)</a:t>
            </a:r>
          </a:p>
        </p:txBody>
      </p:sp>
      <p:sp>
        <p:nvSpPr>
          <p:cNvPr id="13" name="TextBox 12"/>
          <p:cNvSpPr txBox="1"/>
          <p:nvPr/>
        </p:nvSpPr>
        <p:spPr>
          <a:xfrm>
            <a:off x="3124200" y="4171950"/>
            <a:ext cx="1733167" cy="369332"/>
          </a:xfrm>
          <a:prstGeom prst="rect">
            <a:avLst/>
          </a:prstGeom>
          <a:noFill/>
        </p:spPr>
        <p:txBody>
          <a:bodyPr wrap="none" rtlCol="0">
            <a:spAutoFit/>
          </a:bodyPr>
          <a:lstStyle/>
          <a:p>
            <a:r>
              <a:rPr lang="en-US" dirty="0">
                <a:latin typeface="Script MT Bold" pitchFamily="66" charset="0"/>
              </a:rPr>
              <a:t>D</a:t>
            </a:r>
            <a:r>
              <a:rPr lang="en-US" dirty="0"/>
              <a:t> = {R</a:t>
            </a:r>
            <a:r>
              <a:rPr lang="en-US" baseline="-25000" dirty="0"/>
              <a:t>1</a:t>
            </a:r>
            <a:r>
              <a:rPr lang="en-US" dirty="0"/>
              <a:t>, R</a:t>
            </a:r>
            <a:r>
              <a:rPr lang="en-US" baseline="-25000" dirty="0"/>
              <a:t>3</a:t>
            </a:r>
            <a:r>
              <a:rPr lang="en-US" dirty="0"/>
              <a:t>, R</a:t>
            </a:r>
            <a:r>
              <a:rPr lang="en-US" baseline="-25000" dirty="0"/>
              <a:t>4</a:t>
            </a:r>
            <a:r>
              <a:rPr lang="en-US" dirty="0"/>
              <a:t>}</a:t>
            </a:r>
          </a:p>
        </p:txBody>
      </p:sp>
    </p:spTree>
    <p:extLst>
      <p:ext uri="{BB962C8B-B14F-4D97-AF65-F5344CB8AC3E}">
        <p14:creationId xmlns:p14="http://schemas.microsoft.com/office/powerpoint/2010/main" val="4245473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anim calcmode="lin" valueType="num">
                                      <p:cBhvr>
                                        <p:cTn id="43" dur="1000" fill="hold"/>
                                        <p:tgtEl>
                                          <p:spTgt spid="11"/>
                                        </p:tgtEl>
                                        <p:attrNameLst>
                                          <p:attrName>ppt_x</p:attrName>
                                        </p:attrNameLst>
                                      </p:cBhvr>
                                      <p:tavLst>
                                        <p:tav tm="0">
                                          <p:val>
                                            <p:strVal val="#ppt_x"/>
                                          </p:val>
                                        </p:tav>
                                        <p:tav tm="100000">
                                          <p:val>
                                            <p:strVal val="#ppt_x"/>
                                          </p:val>
                                        </p:tav>
                                      </p:tavLst>
                                    </p:anim>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1000"/>
                                        <p:tgtEl>
                                          <p:spTgt spid="12"/>
                                        </p:tgtEl>
                                      </p:cBhvr>
                                    </p:animEffect>
                                    <p:anim calcmode="lin" valueType="num">
                                      <p:cBhvr>
                                        <p:cTn id="50" dur="1000" fill="hold"/>
                                        <p:tgtEl>
                                          <p:spTgt spid="12"/>
                                        </p:tgtEl>
                                        <p:attrNameLst>
                                          <p:attrName>ppt_x</p:attrName>
                                        </p:attrNameLst>
                                      </p:cBhvr>
                                      <p:tavLst>
                                        <p:tav tm="0">
                                          <p:val>
                                            <p:strVal val="#ppt_x"/>
                                          </p:val>
                                        </p:tav>
                                        <p:tav tm="100000">
                                          <p:val>
                                            <p:strVal val="#ppt_x"/>
                                          </p:val>
                                        </p:tav>
                                      </p:tavLst>
                                    </p:anim>
                                    <p:anim calcmode="lin" valueType="num">
                                      <p:cBhvr>
                                        <p:cTn id="5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1000"/>
                                        <p:tgtEl>
                                          <p:spTgt spid="13"/>
                                        </p:tgtEl>
                                      </p:cBhvr>
                                    </p:animEffect>
                                    <p:anim calcmode="lin" valueType="num">
                                      <p:cBhvr>
                                        <p:cTn id="57" dur="1000" fill="hold"/>
                                        <p:tgtEl>
                                          <p:spTgt spid="13"/>
                                        </p:tgtEl>
                                        <p:attrNameLst>
                                          <p:attrName>ppt_x</p:attrName>
                                        </p:attrNameLst>
                                      </p:cBhvr>
                                      <p:tavLst>
                                        <p:tav tm="0">
                                          <p:val>
                                            <p:strVal val="#ppt_x"/>
                                          </p:val>
                                        </p:tav>
                                        <p:tav tm="100000">
                                          <p:val>
                                            <p:strVal val="#ppt_x"/>
                                          </p:val>
                                        </p:tav>
                                      </p:tavLst>
                                    </p:anim>
                                    <p:anim calcmode="lin" valueType="num">
                                      <p:cBhvr>
                                        <p:cTn id="5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B4A5BFF-587F-4230-A0AE-EABA229E5E91}" type="slidenum">
              <a:rPr lang="en-US" smtClean="0"/>
              <a:t>38</a:t>
            </a:fld>
            <a:endParaRPr lang="en-US"/>
          </a:p>
        </p:txBody>
      </p:sp>
      <p:sp>
        <p:nvSpPr>
          <p:cNvPr id="5" name="Rectangle 4"/>
          <p:cNvSpPr/>
          <p:nvPr/>
        </p:nvSpPr>
        <p:spPr>
          <a:xfrm>
            <a:off x="87086" y="438150"/>
            <a:ext cx="8915400" cy="3693319"/>
          </a:xfrm>
          <a:prstGeom prst="rect">
            <a:avLst/>
          </a:prstGeom>
        </p:spPr>
        <p:txBody>
          <a:bodyPr wrap="square">
            <a:spAutoFit/>
          </a:bodyPr>
          <a:lstStyle/>
          <a:p>
            <a:r>
              <a:rPr lang="en-US" dirty="0"/>
              <a:t>The attributes of the schema BOOK are atomic in nature and hence the schema is in first normal form. But it is not in second normal form because of the partial dependency Book_title  </a:t>
            </a:r>
            <a:r>
              <a:rPr lang="en-US" dirty="0">
                <a:sym typeface="Wingdings"/>
              </a:rPr>
              <a:t></a:t>
            </a:r>
            <a:r>
              <a:rPr lang="en-US" dirty="0"/>
              <a:t> Publisher, Book_type and Author_name </a:t>
            </a:r>
            <a:r>
              <a:rPr lang="en-US" dirty="0">
                <a:sym typeface="Wingdings"/>
              </a:rPr>
              <a:t></a:t>
            </a:r>
            <a:r>
              <a:rPr lang="en-US" dirty="0"/>
              <a:t> Author_affil. If we decompose BOOK with respect to Book_title  </a:t>
            </a:r>
            <a:r>
              <a:rPr lang="en-US" dirty="0">
                <a:sym typeface="Wingdings"/>
              </a:rPr>
              <a:t></a:t>
            </a:r>
            <a:r>
              <a:rPr lang="en-US" dirty="0"/>
              <a:t> Publisher, Book_type, we lose the functional dependency Book_type </a:t>
            </a:r>
            <a:r>
              <a:rPr lang="en-US" dirty="0">
                <a:sym typeface="Wingdings"/>
              </a:rPr>
              <a:t></a:t>
            </a:r>
            <a:r>
              <a:rPr lang="en-US" dirty="0"/>
              <a:t> List_price, so we decompose BOOK with respect to Author_name </a:t>
            </a:r>
            <a:r>
              <a:rPr lang="en-US" dirty="0">
                <a:sym typeface="Wingdings"/>
              </a:rPr>
              <a:t></a:t>
            </a:r>
            <a:r>
              <a:rPr lang="en-US" dirty="0"/>
              <a:t> Author_affil. and get two schemas namely, R</a:t>
            </a:r>
            <a:r>
              <a:rPr lang="en-US" baseline="-25000" dirty="0"/>
              <a:t>1</a:t>
            </a:r>
            <a:r>
              <a:rPr lang="en-US" dirty="0"/>
              <a:t>(</a:t>
            </a:r>
            <a:r>
              <a:rPr lang="en-US" u="sng" dirty="0"/>
              <a:t>Author_name</a:t>
            </a:r>
            <a:r>
              <a:rPr lang="en-US" dirty="0"/>
              <a:t>,  Author_affil.) and R</a:t>
            </a:r>
            <a:r>
              <a:rPr lang="en-US" baseline="-25000" dirty="0"/>
              <a:t>2</a:t>
            </a:r>
            <a:r>
              <a:rPr lang="en-US" dirty="0"/>
              <a:t>(</a:t>
            </a:r>
            <a:r>
              <a:rPr lang="en-US" u="sng" dirty="0"/>
              <a:t>Book_title</a:t>
            </a:r>
            <a:r>
              <a:rPr lang="en-US" dirty="0"/>
              <a:t>, </a:t>
            </a:r>
            <a:r>
              <a:rPr lang="en-US" u="sng" dirty="0"/>
              <a:t>Author_name</a:t>
            </a:r>
            <a:r>
              <a:rPr lang="en-US" dirty="0"/>
              <a:t>, Book_type, List_price,  Publisher). The schema R</a:t>
            </a:r>
            <a:r>
              <a:rPr lang="en-US" baseline="-25000" dirty="0"/>
              <a:t>1</a:t>
            </a:r>
            <a:r>
              <a:rPr lang="en-US" dirty="0"/>
              <a:t> is in BCNF. The schema R</a:t>
            </a:r>
            <a:r>
              <a:rPr lang="en-US" baseline="-25000" dirty="0"/>
              <a:t>2</a:t>
            </a:r>
            <a:r>
              <a:rPr lang="en-US" dirty="0"/>
              <a:t> is not in 2NF because of Book_title  </a:t>
            </a:r>
            <a:r>
              <a:rPr lang="en-US" dirty="0">
                <a:sym typeface="Wingdings"/>
              </a:rPr>
              <a:t></a:t>
            </a:r>
            <a:r>
              <a:rPr lang="en-US" dirty="0"/>
              <a:t> Publisher, Book_type. So we replace R</a:t>
            </a:r>
            <a:r>
              <a:rPr lang="en-US" baseline="-25000" dirty="0"/>
              <a:t>2</a:t>
            </a:r>
            <a:r>
              <a:rPr lang="en-US" dirty="0"/>
              <a:t> by two schemas namely, R</a:t>
            </a:r>
            <a:r>
              <a:rPr lang="en-US" baseline="-25000" dirty="0"/>
              <a:t>3</a:t>
            </a:r>
            <a:r>
              <a:rPr lang="en-US" dirty="0"/>
              <a:t>(</a:t>
            </a:r>
            <a:r>
              <a:rPr lang="en-US" u="sng" dirty="0"/>
              <a:t>Book_title</a:t>
            </a:r>
            <a:r>
              <a:rPr lang="en-US" dirty="0"/>
              <a:t>, Publisher, Book_type) and R</a:t>
            </a:r>
            <a:r>
              <a:rPr lang="en-US" baseline="-25000" dirty="0"/>
              <a:t>4</a:t>
            </a:r>
            <a:r>
              <a:rPr lang="en-US" dirty="0"/>
              <a:t>(</a:t>
            </a:r>
            <a:r>
              <a:rPr lang="en-US" u="sng" dirty="0"/>
              <a:t>Book_title</a:t>
            </a:r>
            <a:r>
              <a:rPr lang="en-US" dirty="0"/>
              <a:t>, </a:t>
            </a:r>
            <a:r>
              <a:rPr lang="en-US" u="sng" dirty="0"/>
              <a:t>Author_name</a:t>
            </a:r>
            <a:r>
              <a:rPr lang="en-US" dirty="0"/>
              <a:t>, List_price). So the normalized schemas are </a:t>
            </a:r>
          </a:p>
          <a:p>
            <a:r>
              <a:rPr lang="en-US" dirty="0"/>
              <a:t>	R</a:t>
            </a:r>
            <a:r>
              <a:rPr lang="en-US" baseline="-25000" dirty="0"/>
              <a:t>1</a:t>
            </a:r>
            <a:r>
              <a:rPr lang="en-US" dirty="0"/>
              <a:t>(</a:t>
            </a:r>
            <a:r>
              <a:rPr lang="en-US" u="sng" dirty="0"/>
              <a:t>Author_name</a:t>
            </a:r>
            <a:r>
              <a:rPr lang="en-US" dirty="0"/>
              <a:t>,  Author_affil.), R</a:t>
            </a:r>
            <a:r>
              <a:rPr lang="en-US" baseline="-25000" dirty="0"/>
              <a:t>3</a:t>
            </a:r>
            <a:r>
              <a:rPr lang="en-US" dirty="0"/>
              <a:t>(</a:t>
            </a:r>
            <a:r>
              <a:rPr lang="en-US" u="sng" dirty="0"/>
              <a:t>Book_title</a:t>
            </a:r>
            <a:r>
              <a:rPr lang="en-US" dirty="0"/>
              <a:t>, Publisher, Book_type) and 	R</a:t>
            </a:r>
            <a:r>
              <a:rPr lang="en-US" baseline="-25000" dirty="0"/>
              <a:t>4</a:t>
            </a:r>
            <a:r>
              <a:rPr lang="en-US" dirty="0"/>
              <a:t>(</a:t>
            </a:r>
            <a:r>
              <a:rPr lang="en-US" u="sng" dirty="0"/>
              <a:t>Book_title</a:t>
            </a:r>
            <a:r>
              <a:rPr lang="en-US" dirty="0"/>
              <a:t>, </a:t>
            </a:r>
            <a:r>
              <a:rPr lang="en-US" u="sng" dirty="0"/>
              <a:t>Author_name</a:t>
            </a:r>
            <a:r>
              <a:rPr lang="en-US" dirty="0"/>
              <a:t>, List_price).</a:t>
            </a:r>
          </a:p>
        </p:txBody>
      </p:sp>
    </p:spTree>
    <p:extLst>
      <p:ext uri="{BB962C8B-B14F-4D97-AF65-F5344CB8AC3E}">
        <p14:creationId xmlns:p14="http://schemas.microsoft.com/office/powerpoint/2010/main" val="35749645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
            <a:ext cx="8229600" cy="857250"/>
          </a:xfrm>
        </p:spPr>
        <p:txBody>
          <a:bodyPr>
            <a:normAutofit/>
          </a:bodyPr>
          <a:lstStyle/>
          <a:p>
            <a:r>
              <a:rPr lang="en-US" sz="2800" dirty="0"/>
              <a:t>Exercise problem 3</a:t>
            </a:r>
          </a:p>
        </p:txBody>
      </p:sp>
      <p:sp>
        <p:nvSpPr>
          <p:cNvPr id="3" name="Content Placeholder 2"/>
          <p:cNvSpPr>
            <a:spLocks noGrp="1"/>
          </p:cNvSpPr>
          <p:nvPr>
            <p:ph idx="1"/>
          </p:nvPr>
        </p:nvSpPr>
        <p:spPr>
          <a:xfrm>
            <a:off x="457200" y="1276350"/>
            <a:ext cx="8229600" cy="3291840"/>
          </a:xfrm>
        </p:spPr>
        <p:txBody>
          <a:bodyPr>
            <a:normAutofit/>
          </a:bodyPr>
          <a:lstStyle/>
          <a:p>
            <a:pPr marL="0" indent="0">
              <a:lnSpc>
                <a:spcPct val="150000"/>
              </a:lnSpc>
              <a:spcBef>
                <a:spcPts val="0"/>
              </a:spcBef>
              <a:buFont typeface="Wingdings" pitchFamily="2" charset="2"/>
              <a:buNone/>
              <a:defRPr/>
            </a:pPr>
            <a:r>
              <a:rPr lang="en-US" sz="2000" dirty="0"/>
              <a:t>Consider the universal relation </a:t>
            </a:r>
          </a:p>
          <a:p>
            <a:pPr marL="0" indent="0">
              <a:lnSpc>
                <a:spcPct val="150000"/>
              </a:lnSpc>
              <a:spcBef>
                <a:spcPts val="0"/>
              </a:spcBef>
              <a:buFont typeface="Wingdings" pitchFamily="2" charset="2"/>
              <a:buNone/>
              <a:defRPr/>
            </a:pPr>
            <a:r>
              <a:rPr lang="en-US" sz="2000" dirty="0"/>
              <a:t>	R = {A, B, C, D, E} </a:t>
            </a:r>
          </a:p>
          <a:p>
            <a:pPr marL="0" indent="0">
              <a:lnSpc>
                <a:spcPct val="150000"/>
              </a:lnSpc>
              <a:spcBef>
                <a:spcPts val="0"/>
              </a:spcBef>
              <a:buFont typeface="Wingdings" pitchFamily="2" charset="2"/>
              <a:buNone/>
              <a:defRPr/>
            </a:pPr>
            <a:r>
              <a:rPr lang="en-US" sz="2000" dirty="0"/>
              <a:t>and the set of functional dependencies </a:t>
            </a:r>
          </a:p>
          <a:p>
            <a:pPr marL="0" indent="0">
              <a:lnSpc>
                <a:spcPct val="150000"/>
              </a:lnSpc>
              <a:spcBef>
                <a:spcPts val="0"/>
              </a:spcBef>
              <a:buFont typeface="Wingdings" pitchFamily="2" charset="2"/>
              <a:buNone/>
              <a:defRPr/>
            </a:pPr>
            <a:r>
              <a:rPr lang="en-US" sz="2000" dirty="0">
                <a:latin typeface="Script MT Bold" pitchFamily="66" charset="0"/>
                <a:cs typeface="Kartika" pitchFamily="18" charset="0"/>
              </a:rPr>
              <a:t>   F</a:t>
            </a:r>
            <a:r>
              <a:rPr lang="en-US" sz="2000" dirty="0"/>
              <a:t> = {AB</a:t>
            </a:r>
            <a:r>
              <a:rPr lang="en-US" sz="2000" dirty="0">
                <a:sym typeface="Wingdings" pitchFamily="2" charset="2"/>
              </a:rPr>
              <a:t></a:t>
            </a:r>
            <a:r>
              <a:rPr lang="en-US" sz="2000" dirty="0"/>
              <a:t>C, A</a:t>
            </a:r>
            <a:r>
              <a:rPr lang="en-US" sz="2000" dirty="0">
                <a:sym typeface="Wingdings" pitchFamily="2" charset="2"/>
              </a:rPr>
              <a:t></a:t>
            </a:r>
            <a:r>
              <a:rPr lang="en-US" sz="2000" dirty="0"/>
              <a:t>DE}. </a:t>
            </a:r>
          </a:p>
          <a:p>
            <a:pPr marL="0" indent="0">
              <a:lnSpc>
                <a:spcPct val="150000"/>
              </a:lnSpc>
              <a:spcBef>
                <a:spcPts val="0"/>
              </a:spcBef>
              <a:buFont typeface="Wingdings" pitchFamily="2" charset="2"/>
              <a:buNone/>
              <a:defRPr/>
            </a:pPr>
            <a:r>
              <a:rPr lang="en-US" sz="2000" dirty="0"/>
              <a:t>What is the key for R? Decompose R into </a:t>
            </a:r>
            <a:r>
              <a:rPr lang="en-US" sz="2000"/>
              <a:t>2NF and then </a:t>
            </a:r>
            <a:r>
              <a:rPr lang="en-US" sz="2000" dirty="0"/>
              <a:t>3NF relations.</a:t>
            </a:r>
          </a:p>
        </p:txBody>
      </p:sp>
      <p:sp>
        <p:nvSpPr>
          <p:cNvPr id="5" name="Slide Number Placeholder 4"/>
          <p:cNvSpPr>
            <a:spLocks noGrp="1"/>
          </p:cNvSpPr>
          <p:nvPr>
            <p:ph type="sldNum" sz="quarter" idx="12"/>
          </p:nvPr>
        </p:nvSpPr>
        <p:spPr/>
        <p:txBody>
          <a:bodyPr/>
          <a:lstStyle/>
          <a:p>
            <a:fld id="{DB4A5BFF-587F-4230-A0AE-EABA229E5E91}" type="slidenum">
              <a:rPr lang="en-US" smtClean="0"/>
              <a:t>39</a:t>
            </a:fld>
            <a:endParaRPr lang="en-US"/>
          </a:p>
        </p:txBody>
      </p:sp>
    </p:spTree>
    <p:extLst>
      <p:ext uri="{BB962C8B-B14F-4D97-AF65-F5344CB8AC3E}">
        <p14:creationId xmlns:p14="http://schemas.microsoft.com/office/powerpoint/2010/main" val="21884200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DB4A5BFF-587F-4230-A0AE-EABA229E5E91}" type="slidenum">
              <a:rPr lang="en-US" smtClean="0"/>
              <a:t>40</a:t>
            </a:fld>
            <a:endParaRPr lang="en-US"/>
          </a:p>
        </p:txBody>
      </p:sp>
      <p:sp>
        <p:nvSpPr>
          <p:cNvPr id="2" name="TextBox 1"/>
          <p:cNvSpPr txBox="1"/>
          <p:nvPr/>
        </p:nvSpPr>
        <p:spPr>
          <a:xfrm>
            <a:off x="2209800" y="666750"/>
            <a:ext cx="2957861" cy="461665"/>
          </a:xfrm>
          <a:prstGeom prst="rect">
            <a:avLst/>
          </a:prstGeom>
          <a:noFill/>
        </p:spPr>
        <p:txBody>
          <a:bodyPr wrap="none" rtlCol="0">
            <a:spAutoFit/>
          </a:bodyPr>
          <a:lstStyle/>
          <a:p>
            <a:r>
              <a:rPr lang="en-US" sz="2400" dirty="0"/>
              <a:t>(AB)</a:t>
            </a:r>
            <a:r>
              <a:rPr lang="en-US" sz="2400" baseline="30000" dirty="0"/>
              <a:t>+</a:t>
            </a:r>
            <a:r>
              <a:rPr lang="en-US" sz="2400" dirty="0"/>
              <a:t> = ABCDE = R</a:t>
            </a:r>
          </a:p>
        </p:txBody>
      </p:sp>
      <p:sp>
        <p:nvSpPr>
          <p:cNvPr id="3" name="TextBox 2"/>
          <p:cNvSpPr txBox="1"/>
          <p:nvPr/>
        </p:nvSpPr>
        <p:spPr>
          <a:xfrm>
            <a:off x="2948181" y="1200150"/>
            <a:ext cx="2081019" cy="461665"/>
          </a:xfrm>
          <a:prstGeom prst="rect">
            <a:avLst/>
          </a:prstGeom>
          <a:noFill/>
        </p:spPr>
        <p:txBody>
          <a:bodyPr wrap="none" rtlCol="0">
            <a:spAutoFit/>
          </a:bodyPr>
          <a:lstStyle/>
          <a:p>
            <a:r>
              <a:rPr lang="en-US" sz="2400" dirty="0"/>
              <a:t>A</a:t>
            </a:r>
            <a:r>
              <a:rPr lang="en-US" sz="2400" baseline="30000" dirty="0"/>
              <a:t>+</a:t>
            </a:r>
            <a:r>
              <a:rPr lang="en-US" sz="2400" dirty="0"/>
              <a:t> = ADE ≠ R</a:t>
            </a:r>
          </a:p>
        </p:txBody>
      </p:sp>
      <p:sp>
        <p:nvSpPr>
          <p:cNvPr id="6" name="TextBox 5"/>
          <p:cNvSpPr txBox="1"/>
          <p:nvPr/>
        </p:nvSpPr>
        <p:spPr>
          <a:xfrm>
            <a:off x="5681705" y="1200150"/>
            <a:ext cx="947695" cy="461665"/>
          </a:xfrm>
          <a:prstGeom prst="rect">
            <a:avLst/>
          </a:prstGeom>
          <a:noFill/>
        </p:spPr>
        <p:txBody>
          <a:bodyPr wrap="none" rtlCol="0">
            <a:spAutoFit/>
          </a:bodyPr>
          <a:lstStyle/>
          <a:p>
            <a:r>
              <a:rPr lang="en-US" sz="2400" dirty="0"/>
              <a:t>B</a:t>
            </a:r>
            <a:r>
              <a:rPr lang="en-US" sz="2400" baseline="30000" dirty="0"/>
              <a:t>+</a:t>
            </a:r>
            <a:r>
              <a:rPr lang="en-US" sz="2400" dirty="0"/>
              <a:t>= B</a:t>
            </a:r>
          </a:p>
        </p:txBody>
      </p:sp>
      <p:sp>
        <p:nvSpPr>
          <p:cNvPr id="7" name="TextBox 6"/>
          <p:cNvSpPr txBox="1"/>
          <p:nvPr/>
        </p:nvSpPr>
        <p:spPr>
          <a:xfrm>
            <a:off x="3810000" y="1809750"/>
            <a:ext cx="2335896" cy="461665"/>
          </a:xfrm>
          <a:prstGeom prst="rect">
            <a:avLst/>
          </a:prstGeom>
          <a:noFill/>
        </p:spPr>
        <p:txBody>
          <a:bodyPr wrap="none" rtlCol="0">
            <a:spAutoFit/>
          </a:bodyPr>
          <a:lstStyle/>
          <a:p>
            <a:r>
              <a:rPr lang="en-US" sz="2400" dirty="0"/>
              <a:t>AB is a key of R</a:t>
            </a:r>
          </a:p>
        </p:txBody>
      </p:sp>
      <p:sp>
        <p:nvSpPr>
          <p:cNvPr id="8" name="TextBox 7"/>
          <p:cNvSpPr txBox="1"/>
          <p:nvPr/>
        </p:nvSpPr>
        <p:spPr>
          <a:xfrm>
            <a:off x="3623790" y="133350"/>
            <a:ext cx="1329210" cy="461665"/>
          </a:xfrm>
          <a:prstGeom prst="rect">
            <a:avLst/>
          </a:prstGeom>
          <a:noFill/>
        </p:spPr>
        <p:txBody>
          <a:bodyPr wrap="none" rtlCol="0">
            <a:spAutoFit/>
          </a:bodyPr>
          <a:lstStyle/>
          <a:p>
            <a:r>
              <a:rPr lang="en-US" sz="2400" u="sng" dirty="0"/>
              <a:t>Solution</a:t>
            </a:r>
          </a:p>
        </p:txBody>
      </p:sp>
      <p:sp>
        <p:nvSpPr>
          <p:cNvPr id="9" name="Rectangle 8"/>
          <p:cNvSpPr/>
          <p:nvPr/>
        </p:nvSpPr>
        <p:spPr>
          <a:xfrm>
            <a:off x="2514600" y="2495550"/>
            <a:ext cx="2558714" cy="461665"/>
          </a:xfrm>
          <a:prstGeom prst="rect">
            <a:avLst/>
          </a:prstGeom>
        </p:spPr>
        <p:txBody>
          <a:bodyPr wrap="none">
            <a:spAutoFit/>
          </a:bodyPr>
          <a:lstStyle/>
          <a:p>
            <a:r>
              <a:rPr lang="en-US" sz="2400" dirty="0"/>
              <a:t>AB </a:t>
            </a:r>
            <a:r>
              <a:rPr lang="en-US" sz="2400" dirty="0">
                <a:sym typeface="Wingdings" pitchFamily="2" charset="2"/>
              </a:rPr>
              <a:t> </a:t>
            </a:r>
            <a:r>
              <a:rPr lang="en-US" sz="2400" dirty="0"/>
              <a:t>C, A </a:t>
            </a:r>
            <a:r>
              <a:rPr lang="en-US" sz="2400" dirty="0">
                <a:sym typeface="Wingdings" pitchFamily="2" charset="2"/>
              </a:rPr>
              <a:t> </a:t>
            </a:r>
            <a:r>
              <a:rPr lang="en-US" sz="2400" dirty="0"/>
              <a:t>DE</a:t>
            </a:r>
          </a:p>
        </p:txBody>
      </p:sp>
      <p:sp>
        <p:nvSpPr>
          <p:cNvPr id="10" name="TextBox 9"/>
          <p:cNvSpPr txBox="1"/>
          <p:nvPr/>
        </p:nvSpPr>
        <p:spPr>
          <a:xfrm>
            <a:off x="2590800" y="3253085"/>
            <a:ext cx="1721946" cy="461665"/>
          </a:xfrm>
          <a:prstGeom prst="rect">
            <a:avLst/>
          </a:prstGeom>
          <a:noFill/>
        </p:spPr>
        <p:txBody>
          <a:bodyPr wrap="none" rtlCol="0">
            <a:spAutoFit/>
          </a:bodyPr>
          <a:lstStyle/>
          <a:p>
            <a:r>
              <a:rPr lang="en-US" sz="2400" dirty="0"/>
              <a:t>R</a:t>
            </a:r>
            <a:r>
              <a:rPr lang="en-US" sz="2400" baseline="-25000" dirty="0"/>
              <a:t>1</a:t>
            </a:r>
            <a:r>
              <a:rPr lang="en-US" sz="2400" dirty="0"/>
              <a:t>(</a:t>
            </a:r>
            <a:r>
              <a:rPr lang="en-US" sz="2400" u="sng" dirty="0"/>
              <a:t>A</a:t>
            </a:r>
            <a:r>
              <a:rPr lang="en-US" sz="2400" dirty="0"/>
              <a:t>, D, E)</a:t>
            </a:r>
          </a:p>
        </p:txBody>
      </p:sp>
      <p:sp>
        <p:nvSpPr>
          <p:cNvPr id="11" name="TextBox 10"/>
          <p:cNvSpPr txBox="1"/>
          <p:nvPr/>
        </p:nvSpPr>
        <p:spPr>
          <a:xfrm>
            <a:off x="4800600" y="3257550"/>
            <a:ext cx="1701107" cy="461665"/>
          </a:xfrm>
          <a:prstGeom prst="rect">
            <a:avLst/>
          </a:prstGeom>
          <a:noFill/>
        </p:spPr>
        <p:txBody>
          <a:bodyPr wrap="none" rtlCol="0">
            <a:spAutoFit/>
          </a:bodyPr>
          <a:lstStyle/>
          <a:p>
            <a:r>
              <a:rPr lang="en-US" sz="2400" dirty="0"/>
              <a:t>R</a:t>
            </a:r>
            <a:r>
              <a:rPr lang="en-US" sz="2400" baseline="-25000" dirty="0"/>
              <a:t>2</a:t>
            </a:r>
            <a:r>
              <a:rPr lang="en-US" sz="2400" dirty="0"/>
              <a:t>(</a:t>
            </a:r>
            <a:r>
              <a:rPr lang="en-US" sz="2400" u="sng" dirty="0"/>
              <a:t>A</a:t>
            </a:r>
            <a:r>
              <a:rPr lang="en-US" sz="2400" dirty="0"/>
              <a:t>, </a:t>
            </a:r>
            <a:r>
              <a:rPr lang="en-US" sz="2400" u="sng" dirty="0"/>
              <a:t>B</a:t>
            </a:r>
            <a:r>
              <a:rPr lang="en-US" sz="2400" dirty="0"/>
              <a:t>, C)</a:t>
            </a:r>
          </a:p>
        </p:txBody>
      </p:sp>
      <p:sp>
        <p:nvSpPr>
          <p:cNvPr id="12" name="TextBox 11"/>
          <p:cNvSpPr txBox="1"/>
          <p:nvPr/>
        </p:nvSpPr>
        <p:spPr>
          <a:xfrm>
            <a:off x="3505200" y="3943350"/>
            <a:ext cx="1733167" cy="461665"/>
          </a:xfrm>
          <a:prstGeom prst="rect">
            <a:avLst/>
          </a:prstGeom>
          <a:noFill/>
        </p:spPr>
        <p:txBody>
          <a:bodyPr wrap="none" rtlCol="0">
            <a:spAutoFit/>
          </a:bodyPr>
          <a:lstStyle/>
          <a:p>
            <a:r>
              <a:rPr lang="en-US" sz="2400" dirty="0">
                <a:latin typeface="Script MT Bold" pitchFamily="66" charset="0"/>
              </a:rPr>
              <a:t>D</a:t>
            </a:r>
            <a:r>
              <a:rPr lang="en-US" sz="2400" dirty="0"/>
              <a:t> = {R</a:t>
            </a:r>
            <a:r>
              <a:rPr lang="en-US" sz="2400" baseline="-25000" dirty="0"/>
              <a:t>1</a:t>
            </a:r>
            <a:r>
              <a:rPr lang="en-US" sz="2400" dirty="0"/>
              <a:t>, R</a:t>
            </a:r>
            <a:r>
              <a:rPr lang="en-US" sz="2400" baseline="-25000" dirty="0"/>
              <a:t>2</a:t>
            </a:r>
            <a:r>
              <a:rPr lang="en-US" sz="2400" dirty="0"/>
              <a:t>}</a:t>
            </a:r>
          </a:p>
        </p:txBody>
      </p:sp>
    </p:spTree>
    <p:extLst>
      <p:ext uri="{BB962C8B-B14F-4D97-AF65-F5344CB8AC3E}">
        <p14:creationId xmlns:p14="http://schemas.microsoft.com/office/powerpoint/2010/main" val="515001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1000"/>
                                        <p:tgtEl>
                                          <p:spTgt spid="9"/>
                                        </p:tgtEl>
                                      </p:cBhvr>
                                    </p:animEffect>
                                    <p:anim calcmode="lin" valueType="num">
                                      <p:cBhvr>
                                        <p:cTn id="36" dur="1000" fill="hold"/>
                                        <p:tgtEl>
                                          <p:spTgt spid="9"/>
                                        </p:tgtEl>
                                        <p:attrNameLst>
                                          <p:attrName>ppt_x</p:attrName>
                                        </p:attrNameLst>
                                      </p:cBhvr>
                                      <p:tavLst>
                                        <p:tav tm="0">
                                          <p:val>
                                            <p:strVal val="#ppt_x"/>
                                          </p:val>
                                        </p:tav>
                                        <p:tav tm="100000">
                                          <p:val>
                                            <p:strVal val="#ppt_x"/>
                                          </p:val>
                                        </p:tav>
                                      </p:tavLst>
                                    </p:anim>
                                    <p:anim calcmode="lin" valueType="num">
                                      <p:cBhvr>
                                        <p:cTn id="3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anim calcmode="lin" valueType="num">
                                      <p:cBhvr>
                                        <p:cTn id="43" dur="1000" fill="hold"/>
                                        <p:tgtEl>
                                          <p:spTgt spid="10"/>
                                        </p:tgtEl>
                                        <p:attrNameLst>
                                          <p:attrName>ppt_x</p:attrName>
                                        </p:attrNameLst>
                                      </p:cBhvr>
                                      <p:tavLst>
                                        <p:tav tm="0">
                                          <p:val>
                                            <p:strVal val="#ppt_x"/>
                                          </p:val>
                                        </p:tav>
                                        <p:tav tm="100000">
                                          <p:val>
                                            <p:strVal val="#ppt_x"/>
                                          </p:val>
                                        </p:tav>
                                      </p:tavLst>
                                    </p:anim>
                                    <p:anim calcmode="lin" valueType="num">
                                      <p:cBhvr>
                                        <p:cTn id="4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1000"/>
                                        <p:tgtEl>
                                          <p:spTgt spid="11"/>
                                        </p:tgtEl>
                                      </p:cBhvr>
                                    </p:animEffect>
                                    <p:anim calcmode="lin" valueType="num">
                                      <p:cBhvr>
                                        <p:cTn id="50" dur="1000" fill="hold"/>
                                        <p:tgtEl>
                                          <p:spTgt spid="11"/>
                                        </p:tgtEl>
                                        <p:attrNameLst>
                                          <p:attrName>ppt_x</p:attrName>
                                        </p:attrNameLst>
                                      </p:cBhvr>
                                      <p:tavLst>
                                        <p:tav tm="0">
                                          <p:val>
                                            <p:strVal val="#ppt_x"/>
                                          </p:val>
                                        </p:tav>
                                        <p:tav tm="100000">
                                          <p:val>
                                            <p:strVal val="#ppt_x"/>
                                          </p:val>
                                        </p:tav>
                                      </p:tavLst>
                                    </p:anim>
                                    <p:anim calcmode="lin" valueType="num">
                                      <p:cBhvr>
                                        <p:cTn id="5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p:bldP spid="7" grpId="0"/>
      <p:bldP spid="9" grpId="0"/>
      <p:bldP spid="10" grpId="0"/>
      <p:bldP spid="1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B4A5BFF-587F-4230-A0AE-EABA229E5E91}" type="slidenum">
              <a:rPr lang="en-US" smtClean="0"/>
              <a:t>41</a:t>
            </a:fld>
            <a:endParaRPr lang="en-US"/>
          </a:p>
        </p:txBody>
      </p:sp>
      <p:sp>
        <p:nvSpPr>
          <p:cNvPr id="5" name="Rectangle 4"/>
          <p:cNvSpPr/>
          <p:nvPr/>
        </p:nvSpPr>
        <p:spPr>
          <a:xfrm>
            <a:off x="381000" y="1302425"/>
            <a:ext cx="8458200" cy="2308324"/>
          </a:xfrm>
          <a:prstGeom prst="rect">
            <a:avLst/>
          </a:prstGeom>
        </p:spPr>
        <p:txBody>
          <a:bodyPr wrap="square">
            <a:spAutoFit/>
          </a:bodyPr>
          <a:lstStyle/>
          <a:p>
            <a:r>
              <a:rPr lang="en-US" dirty="0"/>
              <a:t>We find that (AB)</a:t>
            </a:r>
            <a:r>
              <a:rPr lang="en-US" baseline="30000" dirty="0"/>
              <a:t>+</a:t>
            </a:r>
            <a:r>
              <a:rPr lang="en-US" dirty="0"/>
              <a:t> = ABCD = R and A</a:t>
            </a:r>
            <a:r>
              <a:rPr lang="en-US" baseline="30000" dirty="0"/>
              <a:t>+</a:t>
            </a:r>
            <a:r>
              <a:rPr lang="en-US" dirty="0"/>
              <a:t> = ADE ≠ R and B</a:t>
            </a:r>
            <a:r>
              <a:rPr lang="en-US" baseline="30000" dirty="0"/>
              <a:t>+</a:t>
            </a:r>
            <a:r>
              <a:rPr lang="en-US" dirty="0"/>
              <a:t> = B ≠ R hence AB is key of R. The attributes of the schema are atomic and so the schema is in first normal form but it is not in 2NF because of the partial dependency A </a:t>
            </a:r>
            <a:r>
              <a:rPr lang="en-US" dirty="0">
                <a:sym typeface="Wingdings"/>
              </a:rPr>
              <a:t></a:t>
            </a:r>
            <a:r>
              <a:rPr lang="en-US" dirty="0"/>
              <a:t> DE. So we replace R by two schemas namely, R</a:t>
            </a:r>
            <a:r>
              <a:rPr lang="en-US" baseline="-25000" dirty="0"/>
              <a:t>1</a:t>
            </a:r>
            <a:r>
              <a:rPr lang="en-US" dirty="0"/>
              <a:t>(</a:t>
            </a:r>
            <a:r>
              <a:rPr lang="en-US" u="sng" dirty="0"/>
              <a:t>A</a:t>
            </a:r>
            <a:r>
              <a:rPr lang="en-US" dirty="0"/>
              <a:t>, D, E) and R</a:t>
            </a:r>
            <a:r>
              <a:rPr lang="en-US" baseline="-25000" dirty="0"/>
              <a:t>2</a:t>
            </a:r>
            <a:r>
              <a:rPr lang="en-US" dirty="0"/>
              <a:t>(</a:t>
            </a:r>
            <a:r>
              <a:rPr lang="en-US" u="sng" dirty="0"/>
              <a:t>A</a:t>
            </a:r>
            <a:r>
              <a:rPr lang="en-US" dirty="0"/>
              <a:t>, </a:t>
            </a:r>
            <a:r>
              <a:rPr lang="en-US" u="sng" dirty="0"/>
              <a:t>B</a:t>
            </a:r>
            <a:r>
              <a:rPr lang="en-US" dirty="0"/>
              <a:t>, C). The only non-trivial functional dependency that holds on the schema R</a:t>
            </a:r>
            <a:r>
              <a:rPr lang="en-US" baseline="-25000" dirty="0"/>
              <a:t>1</a:t>
            </a:r>
            <a:r>
              <a:rPr lang="en-US" dirty="0"/>
              <a:t> is A </a:t>
            </a:r>
            <a:r>
              <a:rPr lang="en-US" dirty="0">
                <a:sym typeface="Wingdings"/>
              </a:rPr>
              <a:t></a:t>
            </a:r>
            <a:r>
              <a:rPr lang="en-US" dirty="0"/>
              <a:t> DE and hence R</a:t>
            </a:r>
            <a:r>
              <a:rPr lang="en-US" baseline="-25000" dirty="0"/>
              <a:t>1</a:t>
            </a:r>
            <a:r>
              <a:rPr lang="en-US" dirty="0"/>
              <a:t> is in BCNF and for similar reason R</a:t>
            </a:r>
            <a:r>
              <a:rPr lang="en-US" baseline="-25000" dirty="0"/>
              <a:t>2</a:t>
            </a:r>
            <a:r>
              <a:rPr lang="en-US" dirty="0"/>
              <a:t> too is in BCNF. So the normalized schemas are </a:t>
            </a:r>
          </a:p>
          <a:p>
            <a:r>
              <a:rPr lang="en-US" dirty="0"/>
              <a:t>	R</a:t>
            </a:r>
            <a:r>
              <a:rPr lang="en-US" baseline="-25000" dirty="0"/>
              <a:t>1</a:t>
            </a:r>
            <a:r>
              <a:rPr lang="en-US" dirty="0"/>
              <a:t>(</a:t>
            </a:r>
            <a:r>
              <a:rPr lang="en-US" u="sng" dirty="0"/>
              <a:t>A</a:t>
            </a:r>
            <a:r>
              <a:rPr lang="en-US" dirty="0"/>
              <a:t>, D, E) and R</a:t>
            </a:r>
            <a:r>
              <a:rPr lang="en-US" baseline="-25000" dirty="0"/>
              <a:t>2</a:t>
            </a:r>
            <a:r>
              <a:rPr lang="en-US" dirty="0"/>
              <a:t>(</a:t>
            </a:r>
            <a:r>
              <a:rPr lang="en-US" u="sng" dirty="0"/>
              <a:t>A</a:t>
            </a:r>
            <a:r>
              <a:rPr lang="en-US" dirty="0"/>
              <a:t>, </a:t>
            </a:r>
            <a:r>
              <a:rPr lang="en-US" u="sng" dirty="0"/>
              <a:t>B</a:t>
            </a:r>
            <a:r>
              <a:rPr lang="en-US" dirty="0"/>
              <a:t>, C).</a:t>
            </a:r>
          </a:p>
        </p:txBody>
      </p:sp>
    </p:spTree>
    <p:extLst>
      <p:ext uri="{BB962C8B-B14F-4D97-AF65-F5344CB8AC3E}">
        <p14:creationId xmlns:p14="http://schemas.microsoft.com/office/powerpoint/2010/main" val="188089421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697</TotalTime>
  <Words>2862</Words>
  <Application>Microsoft Office PowerPoint</Application>
  <PresentationFormat>On-screen Show (16:9)</PresentationFormat>
  <Paragraphs>251</Paragraphs>
  <Slides>41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Calibri</vt:lpstr>
      <vt:lpstr>Constantia</vt:lpstr>
      <vt:lpstr>Script MT Bold</vt:lpstr>
      <vt:lpstr>Times New Roman</vt:lpstr>
      <vt:lpstr>Wingdings</vt:lpstr>
      <vt:lpstr>Wingdings 2</vt:lpstr>
      <vt:lpstr>Flow</vt:lpstr>
      <vt:lpstr>Normalization</vt:lpstr>
      <vt:lpstr>Normalization</vt:lpstr>
      <vt:lpstr>Normalization</vt:lpstr>
      <vt:lpstr>First normal form (1NF)</vt:lpstr>
      <vt:lpstr>A relation schema NOT in 1NF</vt:lpstr>
      <vt:lpstr>Conversion into 1NF</vt:lpstr>
      <vt:lpstr>Conversion into 1NF</vt:lpstr>
      <vt:lpstr>Conversion into 1NF</vt:lpstr>
      <vt:lpstr>Conversion into 1NF</vt:lpstr>
      <vt:lpstr>Conversion into 1NF</vt:lpstr>
      <vt:lpstr>Partial dependency</vt:lpstr>
      <vt:lpstr>Transitive dependency</vt:lpstr>
      <vt:lpstr>Second normal form (2NF)</vt:lpstr>
      <vt:lpstr>Example</vt:lpstr>
      <vt:lpstr>Normalization</vt:lpstr>
      <vt:lpstr>Decomposition rule</vt:lpstr>
      <vt:lpstr>Third normal form (3NF)</vt:lpstr>
      <vt:lpstr>Third Normal Form </vt:lpstr>
      <vt:lpstr>Example</vt:lpstr>
      <vt:lpstr>Normalization</vt:lpstr>
      <vt:lpstr>Boyce-Codd normal form (BCNF)</vt:lpstr>
      <vt:lpstr>Normalization</vt:lpstr>
      <vt:lpstr>Example</vt:lpstr>
      <vt:lpstr>Generalized definition of partial dependency</vt:lpstr>
      <vt:lpstr>Generalized definition of 2NF</vt:lpstr>
      <vt:lpstr>Generalized definition of BCNF</vt:lpstr>
      <vt:lpstr>Exercise problem 1</vt:lpstr>
      <vt:lpstr>Exercise problem 1</vt:lpstr>
      <vt:lpstr>PowerPoint Presentation</vt:lpstr>
      <vt:lpstr>PowerPoint Presentation</vt:lpstr>
      <vt:lpstr>PowerPoint Presentation</vt:lpstr>
      <vt:lpstr>Exercise problem 2</vt:lpstr>
      <vt:lpstr>Exercise problem 2</vt:lpstr>
      <vt:lpstr>PowerPoint Presentation</vt:lpstr>
      <vt:lpstr>PowerPoint Presentation</vt:lpstr>
      <vt:lpstr>PowerPoint Presentation</vt:lpstr>
      <vt:lpstr>PowerPoint Presentation</vt:lpstr>
      <vt:lpstr>PowerPoint Presentation</vt:lpstr>
      <vt:lpstr>Exercise problem 3</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normalization</dc:title>
  <dc:creator>Admin</dc:creator>
  <cp:lastModifiedBy>Muthamil Selvan  T</cp:lastModifiedBy>
  <cp:revision>159</cp:revision>
  <dcterms:created xsi:type="dcterms:W3CDTF">2020-01-24T10:12:47Z</dcterms:created>
  <dcterms:modified xsi:type="dcterms:W3CDTF">2026-03-05T05:30:10Z</dcterms:modified>
</cp:coreProperties>
</file>