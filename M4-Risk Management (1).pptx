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2F1913-4FF6-41D4-A186-0FD448A41336}" v="9" dt="2026-02-18T17:49:53.00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14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jay R" userId="827bcdf72930c4f9" providerId="LiveId" clId="{903454CC-B963-422D-AC72-E7B4E87C825D}"/>
    <pc:docChg chg="custSel addSld modSld">
      <pc:chgData name="Vijay R" userId="827bcdf72930c4f9" providerId="LiveId" clId="{903454CC-B963-422D-AC72-E7B4E87C825D}" dt="2026-02-18T17:50:13.810" v="40" actId="14100"/>
      <pc:docMkLst>
        <pc:docMk/>
      </pc:docMkLst>
      <pc:sldChg chg="modSp mod">
        <pc:chgData name="Vijay R" userId="827bcdf72930c4f9" providerId="LiveId" clId="{903454CC-B963-422D-AC72-E7B4E87C825D}" dt="2026-02-18T17:44:21.001" v="3" actId="20577"/>
        <pc:sldMkLst>
          <pc:docMk/>
          <pc:sldMk cId="0" sldId="256"/>
        </pc:sldMkLst>
        <pc:spChg chg="mod">
          <ac:chgData name="Vijay R" userId="827bcdf72930c4f9" providerId="LiveId" clId="{903454CC-B963-422D-AC72-E7B4E87C825D}" dt="2026-02-18T17:44:21.001" v="3" actId="20577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new mod">
        <pc:chgData name="Vijay R" userId="827bcdf72930c4f9" providerId="LiveId" clId="{903454CC-B963-422D-AC72-E7B4E87C825D}" dt="2026-02-18T17:46:24.810" v="10" actId="14100"/>
        <pc:sldMkLst>
          <pc:docMk/>
          <pc:sldMk cId="3076420378" sldId="302"/>
        </pc:sldMkLst>
        <pc:spChg chg="del">
          <ac:chgData name="Vijay R" userId="827bcdf72930c4f9" providerId="LiveId" clId="{903454CC-B963-422D-AC72-E7B4E87C825D}" dt="2026-02-18T17:46:12.092" v="6" actId="21"/>
          <ac:spMkLst>
            <pc:docMk/>
            <pc:sldMk cId="3076420378" sldId="302"/>
            <ac:spMk id="2" creationId="{43C5882A-0E72-2A41-59CD-84551A4E2181}"/>
          </ac:spMkLst>
        </pc:spChg>
        <pc:picChg chg="add mod">
          <ac:chgData name="Vijay R" userId="827bcdf72930c4f9" providerId="LiveId" clId="{903454CC-B963-422D-AC72-E7B4E87C825D}" dt="2026-02-18T17:46:24.810" v="10" actId="14100"/>
          <ac:picMkLst>
            <pc:docMk/>
            <pc:sldMk cId="3076420378" sldId="302"/>
            <ac:picMk id="4" creationId="{7EE022DC-1F7A-CC4E-EEBD-7DE4D9B42672}"/>
          </ac:picMkLst>
        </pc:picChg>
      </pc:sldChg>
      <pc:sldChg chg="addSp delSp modSp new mod">
        <pc:chgData name="Vijay R" userId="827bcdf72930c4f9" providerId="LiveId" clId="{903454CC-B963-422D-AC72-E7B4E87C825D}" dt="2026-02-18T17:47:40.649" v="20" actId="14100"/>
        <pc:sldMkLst>
          <pc:docMk/>
          <pc:sldMk cId="1182326850" sldId="303"/>
        </pc:sldMkLst>
        <pc:spChg chg="mod">
          <ac:chgData name="Vijay R" userId="827bcdf72930c4f9" providerId="LiveId" clId="{903454CC-B963-422D-AC72-E7B4E87C825D}" dt="2026-02-18T17:46:56.209" v="15" actId="122"/>
          <ac:spMkLst>
            <pc:docMk/>
            <pc:sldMk cId="1182326850" sldId="303"/>
            <ac:spMk id="2" creationId="{D7B9CDBC-B7BE-2EDF-0D5B-F6F87EA91C49}"/>
          </ac:spMkLst>
        </pc:spChg>
        <pc:spChg chg="del">
          <ac:chgData name="Vijay R" userId="827bcdf72930c4f9" providerId="LiveId" clId="{903454CC-B963-422D-AC72-E7B4E87C825D}" dt="2026-02-18T17:47:27.642" v="17" actId="21"/>
          <ac:spMkLst>
            <pc:docMk/>
            <pc:sldMk cId="1182326850" sldId="303"/>
            <ac:spMk id="3" creationId="{1C438BBA-A8EE-328F-FD8A-DC0B0BACE486}"/>
          </ac:spMkLst>
        </pc:spChg>
        <pc:picChg chg="add mod">
          <ac:chgData name="Vijay R" userId="827bcdf72930c4f9" providerId="LiveId" clId="{903454CC-B963-422D-AC72-E7B4E87C825D}" dt="2026-02-18T17:47:40.649" v="20" actId="14100"/>
          <ac:picMkLst>
            <pc:docMk/>
            <pc:sldMk cId="1182326850" sldId="303"/>
            <ac:picMk id="4" creationId="{3BCE293A-DF23-3241-49D3-C9CB8462CB51}"/>
          </ac:picMkLst>
        </pc:picChg>
      </pc:sldChg>
      <pc:sldChg chg="addSp modSp new mod">
        <pc:chgData name="Vijay R" userId="827bcdf72930c4f9" providerId="LiveId" clId="{903454CC-B963-422D-AC72-E7B4E87C825D}" dt="2026-02-18T17:48:54.914" v="25" actId="1076"/>
        <pc:sldMkLst>
          <pc:docMk/>
          <pc:sldMk cId="954293983" sldId="304"/>
        </pc:sldMkLst>
        <pc:spChg chg="mod">
          <ac:chgData name="Vijay R" userId="827bcdf72930c4f9" providerId="LiveId" clId="{903454CC-B963-422D-AC72-E7B4E87C825D}" dt="2026-02-18T17:48:02.083" v="23" actId="1076"/>
          <ac:spMkLst>
            <pc:docMk/>
            <pc:sldMk cId="954293983" sldId="304"/>
            <ac:spMk id="2" creationId="{A48F825D-99C6-8D5B-17F2-9D754A1CD46B}"/>
          </ac:spMkLst>
        </pc:spChg>
        <pc:picChg chg="add mod">
          <ac:chgData name="Vijay R" userId="827bcdf72930c4f9" providerId="LiveId" clId="{903454CC-B963-422D-AC72-E7B4E87C825D}" dt="2026-02-18T17:48:54.914" v="25" actId="1076"/>
          <ac:picMkLst>
            <pc:docMk/>
            <pc:sldMk cId="954293983" sldId="304"/>
            <ac:picMk id="5" creationId="{F2579B3C-D257-5B85-05EF-2526701FF3DE}"/>
          </ac:picMkLst>
        </pc:picChg>
      </pc:sldChg>
      <pc:sldChg chg="addSp delSp modSp new mod">
        <pc:chgData name="Vijay R" userId="827bcdf72930c4f9" providerId="LiveId" clId="{903454CC-B963-422D-AC72-E7B4E87C825D}" dt="2026-02-18T17:49:40.466" v="34" actId="14100"/>
        <pc:sldMkLst>
          <pc:docMk/>
          <pc:sldMk cId="1136175046" sldId="305"/>
        </pc:sldMkLst>
        <pc:spChg chg="del">
          <ac:chgData name="Vijay R" userId="827bcdf72930c4f9" providerId="LiveId" clId="{903454CC-B963-422D-AC72-E7B4E87C825D}" dt="2026-02-18T17:49:21.573" v="28" actId="21"/>
          <ac:spMkLst>
            <pc:docMk/>
            <pc:sldMk cId="1136175046" sldId="305"/>
            <ac:spMk id="2" creationId="{CFDA39ED-E9A1-A841-D90E-9F8E1FD5BEDD}"/>
          </ac:spMkLst>
        </pc:spChg>
        <pc:picChg chg="add mod">
          <ac:chgData name="Vijay R" userId="827bcdf72930c4f9" providerId="LiveId" clId="{903454CC-B963-422D-AC72-E7B4E87C825D}" dt="2026-02-18T17:49:40.466" v="34" actId="14100"/>
          <ac:picMkLst>
            <pc:docMk/>
            <pc:sldMk cId="1136175046" sldId="305"/>
            <ac:picMk id="4" creationId="{01E7E311-E9FC-982D-AAB6-6FCA6AA8DD5A}"/>
          </ac:picMkLst>
        </pc:picChg>
      </pc:sldChg>
      <pc:sldChg chg="addSp delSp modSp new mod">
        <pc:chgData name="Vijay R" userId="827bcdf72930c4f9" providerId="LiveId" clId="{903454CC-B963-422D-AC72-E7B4E87C825D}" dt="2026-02-18T17:50:13.810" v="40" actId="14100"/>
        <pc:sldMkLst>
          <pc:docMk/>
          <pc:sldMk cId="2572949062" sldId="306"/>
        </pc:sldMkLst>
        <pc:spChg chg="del">
          <ac:chgData name="Vijay R" userId="827bcdf72930c4f9" providerId="LiveId" clId="{903454CC-B963-422D-AC72-E7B4E87C825D}" dt="2026-02-18T17:50:01.746" v="37" actId="21"/>
          <ac:spMkLst>
            <pc:docMk/>
            <pc:sldMk cId="2572949062" sldId="306"/>
            <ac:spMk id="2" creationId="{001995CB-0206-01A8-764E-E0F040AF4E1C}"/>
          </ac:spMkLst>
        </pc:spChg>
        <pc:spChg chg="del">
          <ac:chgData name="Vijay R" userId="827bcdf72930c4f9" providerId="LiveId" clId="{903454CC-B963-422D-AC72-E7B4E87C825D}" dt="2026-02-18T17:50:05.928" v="38" actId="21"/>
          <ac:spMkLst>
            <pc:docMk/>
            <pc:sldMk cId="2572949062" sldId="306"/>
            <ac:spMk id="3" creationId="{C7E2359A-BB27-AD82-FE86-180722AD294E}"/>
          </ac:spMkLst>
        </pc:spChg>
        <pc:picChg chg="add mod">
          <ac:chgData name="Vijay R" userId="827bcdf72930c4f9" providerId="LiveId" clId="{903454CC-B963-422D-AC72-E7B4E87C825D}" dt="2026-02-18T17:50:13.810" v="40" actId="14100"/>
          <ac:picMkLst>
            <pc:docMk/>
            <pc:sldMk cId="2572949062" sldId="306"/>
            <ac:picMk id="4" creationId="{5B007E09-DBA5-627F-B5B9-F9AB4B9FC4A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2437" y="914146"/>
            <a:ext cx="7522845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800"/>
            <a:ext cx="9144000" cy="457200"/>
          </a:xfrm>
          <a:custGeom>
            <a:avLst/>
            <a:gdLst/>
            <a:ahLst/>
            <a:cxnLst/>
            <a:rect l="l" t="t" r="r" b="b"/>
            <a:pathLst>
              <a:path w="9144000" h="457200">
                <a:moveTo>
                  <a:pt x="9144000" y="0"/>
                </a:moveTo>
                <a:lnTo>
                  <a:pt x="0" y="0"/>
                </a:lnTo>
                <a:lnTo>
                  <a:pt x="0" y="457200"/>
                </a:lnTo>
                <a:lnTo>
                  <a:pt x="9144000" y="457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9144000" cy="67310"/>
          </a:xfrm>
          <a:custGeom>
            <a:avLst/>
            <a:gdLst/>
            <a:ahLst/>
            <a:cxnLst/>
            <a:rect l="l" t="t" r="r" b="b"/>
            <a:pathLst>
              <a:path w="9144000" h="67310">
                <a:moveTo>
                  <a:pt x="9144000" y="0"/>
                </a:moveTo>
                <a:lnTo>
                  <a:pt x="0" y="0"/>
                </a:lnTo>
                <a:lnTo>
                  <a:pt x="0" y="67055"/>
                </a:lnTo>
                <a:lnTo>
                  <a:pt x="9144000" y="67055"/>
                </a:lnTo>
                <a:lnTo>
                  <a:pt x="9144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94587" y="1737359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3" y="1412747"/>
            <a:ext cx="7127748" cy="44836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800"/>
            <a:ext cx="9144000" cy="457200"/>
          </a:xfrm>
          <a:custGeom>
            <a:avLst/>
            <a:gdLst/>
            <a:ahLst/>
            <a:cxnLst/>
            <a:rect l="l" t="t" r="r" b="b"/>
            <a:pathLst>
              <a:path w="9144000" h="457200">
                <a:moveTo>
                  <a:pt x="9144000" y="0"/>
                </a:moveTo>
                <a:lnTo>
                  <a:pt x="0" y="0"/>
                </a:lnTo>
                <a:lnTo>
                  <a:pt x="0" y="457200"/>
                </a:lnTo>
                <a:lnTo>
                  <a:pt x="9144000" y="457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9144000" cy="67310"/>
          </a:xfrm>
          <a:custGeom>
            <a:avLst/>
            <a:gdLst/>
            <a:ahLst/>
            <a:cxnLst/>
            <a:rect l="l" t="t" r="r" b="b"/>
            <a:pathLst>
              <a:path w="9144000" h="67310">
                <a:moveTo>
                  <a:pt x="9144000" y="0"/>
                </a:moveTo>
                <a:lnTo>
                  <a:pt x="0" y="0"/>
                </a:lnTo>
                <a:lnTo>
                  <a:pt x="0" y="67055"/>
                </a:lnTo>
                <a:lnTo>
                  <a:pt x="9144000" y="67055"/>
                </a:lnTo>
                <a:lnTo>
                  <a:pt x="9144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800"/>
            <a:ext cx="9144000" cy="457200"/>
          </a:xfrm>
          <a:custGeom>
            <a:avLst/>
            <a:gdLst/>
            <a:ahLst/>
            <a:cxnLst/>
            <a:rect l="l" t="t" r="r" b="b"/>
            <a:pathLst>
              <a:path w="9144000" h="457200">
                <a:moveTo>
                  <a:pt x="9144000" y="0"/>
                </a:moveTo>
                <a:lnTo>
                  <a:pt x="0" y="0"/>
                </a:lnTo>
                <a:lnTo>
                  <a:pt x="0" y="457200"/>
                </a:lnTo>
                <a:lnTo>
                  <a:pt x="9144000" y="457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9144000" cy="67310"/>
          </a:xfrm>
          <a:custGeom>
            <a:avLst/>
            <a:gdLst/>
            <a:ahLst/>
            <a:cxnLst/>
            <a:rect l="l" t="t" r="r" b="b"/>
            <a:pathLst>
              <a:path w="9144000" h="67310">
                <a:moveTo>
                  <a:pt x="9144000" y="0"/>
                </a:moveTo>
                <a:lnTo>
                  <a:pt x="0" y="0"/>
                </a:lnTo>
                <a:lnTo>
                  <a:pt x="0" y="67055"/>
                </a:lnTo>
                <a:lnTo>
                  <a:pt x="9144000" y="67055"/>
                </a:lnTo>
                <a:lnTo>
                  <a:pt x="9144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94588" y="1737360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6827" y="-157784"/>
            <a:ext cx="8810345" cy="18410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1177" y="1355654"/>
            <a:ext cx="7371080" cy="4220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9144000" cy="524510"/>
            <a:chOff x="0" y="6333744"/>
            <a:chExt cx="9144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800"/>
              <a:ext cx="9141460" cy="457200"/>
            </a:xfrm>
            <a:custGeom>
              <a:avLst/>
              <a:gdLst/>
              <a:ahLst/>
              <a:cxnLst/>
              <a:rect l="l" t="t" r="r" b="b"/>
              <a:pathLst>
                <a:path w="9141460" h="457200">
                  <a:moveTo>
                    <a:pt x="9140952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0952" y="457200"/>
                  </a:lnTo>
                  <a:lnTo>
                    <a:pt x="9140952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9141460" cy="64135"/>
            </a:xfrm>
            <a:custGeom>
              <a:avLst/>
              <a:gdLst/>
              <a:ahLst/>
              <a:cxnLst/>
              <a:rect l="l" t="t" r="r" b="b"/>
              <a:pathLst>
                <a:path w="9141460" h="64135">
                  <a:moveTo>
                    <a:pt x="9140952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9140952" y="64007"/>
                  </a:lnTo>
                  <a:lnTo>
                    <a:pt x="9140952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905255" y="4343400"/>
            <a:ext cx="7406640" cy="0"/>
          </a:xfrm>
          <a:custGeom>
            <a:avLst/>
            <a:gdLst/>
            <a:ahLst/>
            <a:cxnLst/>
            <a:rect l="l" t="t" r="r" b="b"/>
            <a:pathLst>
              <a:path w="7406640">
                <a:moveTo>
                  <a:pt x="0" y="0"/>
                </a:moveTo>
                <a:lnTo>
                  <a:pt x="740664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4540" y="1431416"/>
            <a:ext cx="73831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>
                <a:solidFill>
                  <a:srgbClr val="252525"/>
                </a:solidFill>
                <a:latin typeface="Calibri Light"/>
                <a:cs typeface="Calibri Light"/>
              </a:rPr>
              <a:t>RISK</a:t>
            </a:r>
            <a:r>
              <a:rPr sz="7200" spc="-36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7200" spc="-40" dirty="0">
                <a:solidFill>
                  <a:srgbClr val="252525"/>
                </a:solidFill>
                <a:latin typeface="Calibri Light"/>
                <a:cs typeface="Calibri Light"/>
              </a:rPr>
              <a:t>MANAGEMENT</a:t>
            </a:r>
            <a:endParaRPr sz="72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32582" y="3519373"/>
            <a:ext cx="27774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65" dirty="0">
                <a:solidFill>
                  <a:srgbClr val="C00000"/>
                </a:solidFill>
                <a:latin typeface="Times New Roman"/>
                <a:cs typeface="Times New Roman"/>
              </a:rPr>
              <a:t>MODULE</a:t>
            </a:r>
            <a:r>
              <a:rPr sz="3600" spc="3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3600" spc="95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  <a:endParaRPr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10661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RISK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824354"/>
            <a:ext cx="74790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8625" algn="l"/>
                <a:tab pos="1259205" algn="l"/>
                <a:tab pos="1675130" algn="l"/>
                <a:tab pos="2190750" algn="l"/>
                <a:tab pos="3832225" algn="l"/>
                <a:tab pos="4819650" algn="l"/>
                <a:tab pos="5328920" algn="l"/>
                <a:tab pos="6932295" algn="l"/>
              </a:tabLst>
            </a:pPr>
            <a:r>
              <a:rPr sz="2800" spc="-5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spc="-2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spc="-25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spc="-25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uncertain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event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condition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spc="-2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208402"/>
            <a:ext cx="27997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82675" algn="l"/>
                <a:tab pos="1501775" algn="l"/>
                <a:tab pos="1800225" algn="l"/>
              </a:tabLst>
            </a:pP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occurs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spc="-25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spc="-5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1335" y="2258695"/>
            <a:ext cx="4624070" cy="3937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3060"/>
              </a:lnSpc>
              <a:tabLst>
                <a:tab pos="1010919" algn="l"/>
                <a:tab pos="1626870" algn="l"/>
                <a:tab pos="2894330" algn="l"/>
                <a:tab pos="3333750" algn="l"/>
              </a:tabLst>
            </a:pP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which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spc="-25" dirty="0">
                <a:solidFill>
                  <a:srgbClr val="404040"/>
                </a:solidFill>
                <a:latin typeface="Times New Roman"/>
                <a:cs typeface="Times New Roman"/>
              </a:rPr>
              <a:t>has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positive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spc="-25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negative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2651886"/>
            <a:ext cx="5712460" cy="3841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90"/>
              </a:lnSpc>
            </a:pP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effect</a:t>
            </a:r>
            <a:r>
              <a:rPr sz="2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2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overall</a:t>
            </a:r>
            <a:r>
              <a:rPr sz="2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objectives.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3155061"/>
            <a:ext cx="7479030" cy="16046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30"/>
              </a:spcBef>
            </a:pP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2800" spc="27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per</a:t>
            </a:r>
            <a:r>
              <a:rPr sz="2800" spc="28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PRINCE2</a:t>
            </a:r>
            <a:r>
              <a:rPr sz="2800" spc="28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-</a:t>
            </a:r>
            <a:r>
              <a:rPr sz="2800" spc="27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UK</a:t>
            </a:r>
            <a:r>
              <a:rPr sz="2800" spc="28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government-sponsored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800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management</a:t>
            </a:r>
            <a:r>
              <a:rPr sz="2800" spc="20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standard,</a:t>
            </a:r>
            <a:r>
              <a:rPr sz="2800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“risk</a:t>
            </a:r>
            <a:r>
              <a:rPr sz="2800" b="1" spc="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800" b="1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800" b="1" spc="2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chance</a:t>
            </a:r>
            <a:r>
              <a:rPr sz="2800" b="1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exposure</a:t>
            </a:r>
            <a:r>
              <a:rPr sz="2800" b="1" spc="40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800" b="1" spc="4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800" b="1" spc="4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adverse</a:t>
            </a:r>
            <a:r>
              <a:rPr sz="2800" b="1" spc="4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consequences</a:t>
            </a:r>
            <a:r>
              <a:rPr sz="2800" b="1" spc="4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800" b="1" spc="43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future events”.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4630" rIns="0" bIns="0" rtlCol="0">
            <a:spAutoFit/>
          </a:bodyPr>
          <a:lstStyle/>
          <a:p>
            <a:pPr marL="7473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Risk</a:t>
            </a:r>
            <a:r>
              <a:rPr spc="-240" dirty="0"/>
              <a:t> </a:t>
            </a:r>
            <a:r>
              <a:rPr spc="-45" dirty="0"/>
              <a:t>Definition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787779"/>
            <a:ext cx="614553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plans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have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6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assumptions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2283079"/>
            <a:ext cx="138430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i="1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600" i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3139" y="2331847"/>
            <a:ext cx="5252085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0"/>
              </a:lnSpc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possibility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assumption</a:t>
            </a:r>
            <a:r>
              <a:rPr sz="2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wrong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259" y="2778632"/>
            <a:ext cx="454533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When</a:t>
            </a:r>
            <a:r>
              <a:rPr sz="2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risk happens</a:t>
            </a:r>
            <a:r>
              <a:rPr sz="2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26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becomes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23915" y="2827147"/>
            <a:ext cx="2891155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840"/>
              </a:lnSpc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i="1" dirty="0">
                <a:solidFill>
                  <a:srgbClr val="404040"/>
                </a:solidFill>
                <a:latin typeface="Times New Roman"/>
                <a:cs typeface="Times New Roman"/>
              </a:rPr>
              <a:t>problem</a:t>
            </a:r>
            <a:r>
              <a:rPr sz="2600" i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i="1" spc="-20" dirty="0">
                <a:solidFill>
                  <a:srgbClr val="404040"/>
                </a:solidFill>
                <a:latin typeface="Times New Roman"/>
                <a:cs typeface="Times New Roman"/>
              </a:rPr>
              <a:t>issue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95016" y="3320922"/>
            <a:ext cx="3264535" cy="365760"/>
          </a:xfrm>
          <a:custGeom>
            <a:avLst/>
            <a:gdLst/>
            <a:ahLst/>
            <a:cxnLst/>
            <a:rect l="l" t="t" r="r" b="b"/>
            <a:pathLst>
              <a:path w="3264535" h="365760">
                <a:moveTo>
                  <a:pt x="1953755" y="0"/>
                </a:moveTo>
                <a:lnTo>
                  <a:pt x="1164336" y="0"/>
                </a:lnTo>
                <a:lnTo>
                  <a:pt x="1083564" y="0"/>
                </a:lnTo>
                <a:lnTo>
                  <a:pt x="0" y="0"/>
                </a:lnTo>
                <a:lnTo>
                  <a:pt x="0" y="365760"/>
                </a:lnTo>
                <a:lnTo>
                  <a:pt x="1083564" y="365760"/>
                </a:lnTo>
                <a:lnTo>
                  <a:pt x="1164336" y="365760"/>
                </a:lnTo>
                <a:lnTo>
                  <a:pt x="1953755" y="365760"/>
                </a:lnTo>
                <a:lnTo>
                  <a:pt x="1953755" y="0"/>
                </a:lnTo>
                <a:close/>
              </a:path>
              <a:path w="3264535" h="365760">
                <a:moveTo>
                  <a:pt x="3264408" y="0"/>
                </a:moveTo>
                <a:lnTo>
                  <a:pt x="2034540" y="0"/>
                </a:lnTo>
                <a:lnTo>
                  <a:pt x="1953768" y="0"/>
                </a:lnTo>
                <a:lnTo>
                  <a:pt x="1953768" y="365760"/>
                </a:lnTo>
                <a:lnTo>
                  <a:pt x="2034540" y="365760"/>
                </a:lnTo>
                <a:lnTo>
                  <a:pt x="3264408" y="365760"/>
                </a:lnTo>
                <a:lnTo>
                  <a:pt x="326440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10259" y="3173958"/>
            <a:ext cx="755650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2600" dirty="0">
                <a:latin typeface="Times New Roman"/>
                <a:cs typeface="Times New Roman"/>
              </a:rPr>
              <a:t>Risks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relate to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possible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future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problems,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not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current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ones </a:t>
            </a:r>
            <a:r>
              <a:rPr sz="2600" dirty="0">
                <a:latin typeface="Times New Roman"/>
                <a:cs typeface="Times New Roman"/>
              </a:rPr>
              <a:t>They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involve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possible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cause</a:t>
            </a:r>
            <a:r>
              <a:rPr sz="2600" b="1" spc="-2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and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its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effect(s)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2960" y="4311522"/>
            <a:ext cx="5171440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5"/>
              </a:lnSpc>
            </a:pPr>
            <a:r>
              <a:rPr sz="2600" dirty="0">
                <a:latin typeface="Times New Roman"/>
                <a:cs typeface="Times New Roman"/>
              </a:rPr>
              <a:t>e.g.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developer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leaves</a:t>
            </a:r>
            <a:r>
              <a:rPr sz="2600" spc="-10" dirty="0">
                <a:latin typeface="Times New Roman"/>
                <a:cs typeface="Times New Roman"/>
              </a:rPr>
              <a:t> ---</a:t>
            </a:r>
            <a:r>
              <a:rPr sz="2600" dirty="0">
                <a:latin typeface="Times New Roman"/>
                <a:cs typeface="Times New Roman"/>
              </a:rPr>
              <a:t>&gt;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task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delayed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0259" y="4757165"/>
            <a:ext cx="7329805" cy="7397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2500"/>
              </a:lnSpc>
              <a:spcBef>
                <a:spcPts val="700"/>
              </a:spcBef>
            </a:pPr>
            <a:r>
              <a:rPr sz="2600" dirty="0">
                <a:latin typeface="Times New Roman"/>
                <a:cs typeface="Times New Roman"/>
              </a:rPr>
              <a:t>After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identifying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possible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risks,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actions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taken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to </a:t>
            </a:r>
            <a:r>
              <a:rPr sz="2600" dirty="0">
                <a:latin typeface="Times New Roman"/>
                <a:cs typeface="Times New Roman"/>
              </a:rPr>
              <a:t>eliminate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risks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4630" rIns="0" bIns="0" rtlCol="0">
            <a:spAutoFit/>
          </a:bodyPr>
          <a:lstStyle/>
          <a:p>
            <a:pPr marL="7473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Risk</a:t>
            </a:r>
            <a:r>
              <a:rPr spc="-240" dirty="0"/>
              <a:t> </a:t>
            </a:r>
            <a:r>
              <a:rPr spc="-5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8540" y="1831975"/>
            <a:ext cx="7762240" cy="388810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just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400" spc="2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Management</a:t>
            </a:r>
            <a:r>
              <a:rPr sz="2400" spc="2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2400" spc="2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an</a:t>
            </a:r>
            <a:r>
              <a:rPr sz="2400" spc="22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important</a:t>
            </a:r>
            <a:r>
              <a:rPr sz="2400" b="1" spc="2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part</a:t>
            </a:r>
            <a:r>
              <a:rPr sz="2400" b="1" spc="25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400" b="1" spc="2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project</a:t>
            </a:r>
            <a:r>
              <a:rPr sz="2400" b="1" spc="25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273139"/>
                </a:solidFill>
                <a:latin typeface="Times New Roman"/>
                <a:cs typeface="Times New Roman"/>
              </a:rPr>
              <a:t>planning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activities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r>
              <a:rPr sz="2400" spc="455" dirty="0">
                <a:solidFill>
                  <a:srgbClr val="27313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It</a:t>
            </a:r>
            <a:r>
              <a:rPr sz="2400" spc="465" dirty="0">
                <a:solidFill>
                  <a:srgbClr val="27313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involves</a:t>
            </a:r>
            <a:r>
              <a:rPr sz="2400" spc="455" dirty="0">
                <a:solidFill>
                  <a:srgbClr val="273139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identifying</a:t>
            </a:r>
            <a:r>
              <a:rPr sz="2400" b="1" spc="470" dirty="0">
                <a:solidFill>
                  <a:srgbClr val="273139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sz="2400" b="1" spc="459" dirty="0">
                <a:solidFill>
                  <a:srgbClr val="273139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estimating</a:t>
            </a:r>
            <a:r>
              <a:rPr sz="2400" b="1" spc="465" dirty="0">
                <a:solidFill>
                  <a:srgbClr val="273139"/>
                </a:solidFill>
                <a:latin typeface="Times New Roman"/>
                <a:cs typeface="Times New Roman"/>
              </a:rPr>
              <a:t>  </a:t>
            </a:r>
            <a:r>
              <a:rPr sz="2400" b="1" spc="-25" dirty="0">
                <a:solidFill>
                  <a:srgbClr val="273139"/>
                </a:solidFill>
                <a:latin typeface="Times New Roman"/>
                <a:cs typeface="Times New Roman"/>
              </a:rPr>
              <a:t>the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probability</a:t>
            </a:r>
            <a:r>
              <a:rPr sz="2400" b="1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400" b="1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risks</a:t>
            </a:r>
            <a:r>
              <a:rPr sz="2400" b="1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with</a:t>
            </a:r>
            <a:r>
              <a:rPr sz="24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their</a:t>
            </a:r>
            <a:r>
              <a:rPr sz="24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order</a:t>
            </a:r>
            <a:r>
              <a:rPr sz="24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4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impact</a:t>
            </a:r>
            <a:r>
              <a:rPr sz="24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sz="24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4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project.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85"/>
              </a:spcBef>
            </a:pP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1.Risk</a:t>
            </a:r>
            <a:r>
              <a:rPr sz="2400" b="1" spc="56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273139"/>
                </a:solidFill>
                <a:latin typeface="Times New Roman"/>
                <a:cs typeface="Times New Roman"/>
              </a:rPr>
              <a:t>Identification: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90000"/>
              </a:lnSpc>
              <a:spcBef>
                <a:spcPts val="1395"/>
              </a:spcBef>
            </a:pP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Risk</a:t>
            </a:r>
            <a:r>
              <a:rPr sz="2400" spc="320" dirty="0">
                <a:solidFill>
                  <a:srgbClr val="273139"/>
                </a:solidFill>
                <a:latin typeface="Times New Roman"/>
                <a:cs typeface="Times New Roman"/>
              </a:rPr>
              <a:t>  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identification</a:t>
            </a:r>
            <a:r>
              <a:rPr sz="2400" spc="320" dirty="0">
                <a:solidFill>
                  <a:srgbClr val="273139"/>
                </a:solidFill>
                <a:latin typeface="Times New Roman"/>
                <a:cs typeface="Times New Roman"/>
              </a:rPr>
              <a:t>  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involves</a:t>
            </a:r>
            <a:r>
              <a:rPr sz="2400" spc="330" dirty="0">
                <a:solidFill>
                  <a:srgbClr val="273139"/>
                </a:solidFill>
                <a:latin typeface="Times New Roman"/>
                <a:cs typeface="Times New Roman"/>
              </a:rPr>
              <a:t>  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brainstorming</a:t>
            </a:r>
            <a:r>
              <a:rPr sz="2400" b="1" spc="325" dirty="0">
                <a:solidFill>
                  <a:srgbClr val="273139"/>
                </a:solidFill>
                <a:latin typeface="Times New Roman"/>
                <a:cs typeface="Times New Roman"/>
              </a:rPr>
              <a:t>   </a:t>
            </a:r>
            <a:r>
              <a:rPr sz="2400" b="1" spc="-10" dirty="0">
                <a:solidFill>
                  <a:srgbClr val="273139"/>
                </a:solidFill>
                <a:latin typeface="Times New Roman"/>
                <a:cs typeface="Times New Roman"/>
              </a:rPr>
              <a:t>activities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.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Brainstorming</a:t>
            </a:r>
            <a:r>
              <a:rPr sz="2400" spc="40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2400" spc="40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400" spc="40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group</a:t>
            </a:r>
            <a:r>
              <a:rPr sz="2400" spc="40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discussion</a:t>
            </a:r>
            <a:r>
              <a:rPr sz="2400" spc="4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technique</a:t>
            </a:r>
            <a:r>
              <a:rPr sz="2400" spc="40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where</a:t>
            </a:r>
            <a:r>
              <a:rPr sz="2400" spc="4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all</a:t>
            </a:r>
            <a:r>
              <a:rPr sz="2400" spc="40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73139"/>
                </a:solidFill>
                <a:latin typeface="Times New Roman"/>
                <a:cs typeface="Times New Roman"/>
              </a:rPr>
              <a:t>the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stakeholders</a:t>
            </a:r>
            <a:r>
              <a:rPr sz="2400" spc="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meet</a:t>
            </a:r>
            <a:r>
              <a:rPr sz="2400" spc="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together.</a:t>
            </a:r>
            <a:r>
              <a:rPr sz="2400" spc="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This</a:t>
            </a:r>
            <a:r>
              <a:rPr sz="2400" spc="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technique</a:t>
            </a:r>
            <a:r>
              <a:rPr sz="2400" spc="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produces</a:t>
            </a:r>
            <a:r>
              <a:rPr sz="2400" spc="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new</a:t>
            </a:r>
            <a:r>
              <a:rPr sz="2400" spc="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ideas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sz="24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promotes</a:t>
            </a:r>
            <a:r>
              <a:rPr sz="24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creative</a:t>
            </a:r>
            <a:r>
              <a:rPr sz="24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thinking.</a:t>
            </a:r>
            <a:endParaRPr sz="2400">
              <a:latin typeface="Times New Roman"/>
              <a:cs typeface="Times New Roman"/>
            </a:endParaRPr>
          </a:p>
          <a:p>
            <a:pPr marL="12700" marR="5715" algn="just">
              <a:lnSpc>
                <a:spcPts val="2590"/>
              </a:lnSpc>
              <a:spcBef>
                <a:spcPts val="1440"/>
              </a:spcBef>
            </a:pP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Preparation</a:t>
            </a:r>
            <a:r>
              <a:rPr sz="2400" b="1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400" b="1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risk list</a:t>
            </a:r>
            <a:r>
              <a:rPr sz="2400" b="1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involves</a:t>
            </a:r>
            <a:r>
              <a:rPr sz="24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identification</a:t>
            </a:r>
            <a:r>
              <a:rPr sz="24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4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risks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that</a:t>
            </a:r>
            <a:r>
              <a:rPr sz="24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73139"/>
                </a:solidFill>
                <a:latin typeface="Times New Roman"/>
                <a:cs typeface="Times New Roman"/>
              </a:rPr>
              <a:t>are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occurring</a:t>
            </a:r>
            <a:r>
              <a:rPr sz="24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continuously</a:t>
            </a:r>
            <a:r>
              <a:rPr sz="24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sz="24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previous</a:t>
            </a:r>
            <a:r>
              <a:rPr sz="2400" spc="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software</a:t>
            </a:r>
            <a:r>
              <a:rPr sz="24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projects.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4588" y="1737360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10259" y="1690243"/>
            <a:ext cx="7415530" cy="3397250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241300" indent="-231775">
              <a:lnSpc>
                <a:spcPct val="100000"/>
              </a:lnSpc>
              <a:spcBef>
                <a:spcPts val="1215"/>
              </a:spcBef>
              <a:buSzPct val="95833"/>
              <a:buAutoNum type="arabicPeriod" startAt="2"/>
              <a:tabLst>
                <a:tab pos="241300" algn="l"/>
              </a:tabLst>
            </a:pPr>
            <a:r>
              <a:rPr sz="2400" b="1" spc="-10" dirty="0">
                <a:solidFill>
                  <a:srgbClr val="273139"/>
                </a:solidFill>
                <a:latin typeface="Times New Roman"/>
                <a:cs typeface="Times New Roman"/>
              </a:rPr>
              <a:t>Risk</a:t>
            </a:r>
            <a:r>
              <a:rPr sz="2400" b="1" spc="-1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Analysis</a:t>
            </a:r>
            <a:r>
              <a:rPr sz="2400" b="1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sz="2400" b="1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273139"/>
                </a:solidFill>
                <a:latin typeface="Times New Roman"/>
                <a:cs typeface="Times New Roman"/>
              </a:rPr>
              <a:t>Prioritization: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1115"/>
              </a:spcBef>
            </a:pP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Identifying</a:t>
            </a:r>
            <a:r>
              <a:rPr sz="24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problems</a:t>
            </a:r>
            <a:r>
              <a:rPr sz="2400" b="1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causing</a:t>
            </a:r>
            <a:r>
              <a:rPr sz="2400" b="1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risk</a:t>
            </a:r>
            <a:r>
              <a:rPr sz="2400" b="1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sz="24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projects</a:t>
            </a:r>
            <a:endParaRPr sz="2400">
              <a:latin typeface="Times New Roman"/>
              <a:cs typeface="Times New Roman"/>
            </a:endParaRPr>
          </a:p>
          <a:p>
            <a:pPr marL="118745" lvl="1" indent="-114300">
              <a:lnSpc>
                <a:spcPct val="100000"/>
              </a:lnSpc>
              <a:spcBef>
                <a:spcPts val="1105"/>
              </a:spcBef>
              <a:buClr>
                <a:srgbClr val="E38312"/>
              </a:buClr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Identifying</a:t>
            </a:r>
            <a:r>
              <a:rPr sz="2400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400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probability</a:t>
            </a:r>
            <a:r>
              <a:rPr sz="2400" b="1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400" b="1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occurrence</a:t>
            </a:r>
            <a:r>
              <a:rPr sz="2400" b="1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4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problem</a:t>
            </a:r>
            <a:endParaRPr sz="2400">
              <a:latin typeface="Times New Roman"/>
              <a:cs typeface="Times New Roman"/>
            </a:endParaRPr>
          </a:p>
          <a:p>
            <a:pPr marL="118745" lvl="1" indent="-114300">
              <a:lnSpc>
                <a:spcPct val="100000"/>
              </a:lnSpc>
              <a:spcBef>
                <a:spcPts val="1115"/>
              </a:spcBef>
              <a:buClr>
                <a:srgbClr val="E38312"/>
              </a:buClr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Identifying</a:t>
            </a:r>
            <a:r>
              <a:rPr sz="24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impact</a:t>
            </a:r>
            <a:r>
              <a:rPr sz="2400" b="1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400" b="1" spc="-10" dirty="0">
                <a:solidFill>
                  <a:srgbClr val="273139"/>
                </a:solidFill>
                <a:latin typeface="Times New Roman"/>
                <a:cs typeface="Times New Roman"/>
              </a:rPr>
              <a:t> problem</a:t>
            </a:r>
            <a:endParaRPr sz="2400">
              <a:latin typeface="Times New Roman"/>
              <a:cs typeface="Times New Roman"/>
            </a:endParaRPr>
          </a:p>
          <a:p>
            <a:pPr marL="118745" lvl="1" indent="-114300">
              <a:lnSpc>
                <a:spcPct val="100000"/>
              </a:lnSpc>
              <a:spcBef>
                <a:spcPts val="1120"/>
              </a:spcBef>
              <a:buClr>
                <a:srgbClr val="E38312"/>
              </a:buClr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Calculate</a:t>
            </a:r>
            <a:r>
              <a:rPr sz="2400" spc="-8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4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risk</a:t>
            </a:r>
            <a:r>
              <a:rPr sz="2400" b="1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exposure</a:t>
            </a:r>
            <a:r>
              <a:rPr sz="2400" b="1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factor</a:t>
            </a:r>
            <a:endParaRPr sz="2400">
              <a:latin typeface="Times New Roman"/>
              <a:cs typeface="Times New Roman"/>
            </a:endParaRPr>
          </a:p>
          <a:p>
            <a:pPr marL="104139" marR="5080" lvl="1" indent="-99695">
              <a:lnSpc>
                <a:spcPts val="2590"/>
              </a:lnSpc>
              <a:spcBef>
                <a:spcPts val="1435"/>
              </a:spcBef>
              <a:buClr>
                <a:srgbClr val="E38312"/>
              </a:buClr>
              <a:buSzPct val="95833"/>
              <a:buFont typeface="Arial MT"/>
              <a:buChar char="•"/>
              <a:tabLst>
                <a:tab pos="104139" algn="l"/>
                <a:tab pos="118745" algn="l"/>
              </a:tabLst>
            </a:pP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	Prepare</a:t>
            </a:r>
            <a:r>
              <a:rPr sz="24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table</a:t>
            </a:r>
            <a:r>
              <a:rPr sz="24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consisting</a:t>
            </a:r>
            <a:r>
              <a:rPr sz="24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all</a:t>
            </a:r>
            <a:r>
              <a:rPr sz="24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values</a:t>
            </a:r>
            <a:r>
              <a:rPr sz="24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sz="24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order</a:t>
            </a:r>
            <a:r>
              <a:rPr sz="24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risk</a:t>
            </a:r>
            <a:r>
              <a:rPr sz="24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73139"/>
                </a:solidFill>
                <a:latin typeface="Times New Roman"/>
                <a:cs typeface="Times New Roman"/>
              </a:rPr>
              <a:t>on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basis</a:t>
            </a:r>
            <a:r>
              <a:rPr sz="24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4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risk</a:t>
            </a:r>
            <a:r>
              <a:rPr sz="24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exposure</a:t>
            </a:r>
            <a:r>
              <a:rPr sz="24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factor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4588" y="1737360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58977" y="2106548"/>
            <a:ext cx="4518660" cy="337185"/>
          </a:xfrm>
          <a:custGeom>
            <a:avLst/>
            <a:gdLst/>
            <a:ahLst/>
            <a:cxnLst/>
            <a:rect l="l" t="t" r="r" b="b"/>
            <a:pathLst>
              <a:path w="4518660" h="337185">
                <a:moveTo>
                  <a:pt x="4518609" y="0"/>
                </a:moveTo>
                <a:lnTo>
                  <a:pt x="1802841" y="0"/>
                </a:lnTo>
                <a:lnTo>
                  <a:pt x="1700784" y="0"/>
                </a:lnTo>
                <a:lnTo>
                  <a:pt x="0" y="0"/>
                </a:lnTo>
                <a:lnTo>
                  <a:pt x="0" y="336804"/>
                </a:lnTo>
                <a:lnTo>
                  <a:pt x="1700733" y="336804"/>
                </a:lnTo>
                <a:lnTo>
                  <a:pt x="1802841" y="336804"/>
                </a:lnTo>
                <a:lnTo>
                  <a:pt x="4518609" y="336804"/>
                </a:lnTo>
                <a:lnTo>
                  <a:pt x="451860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863" y="894715"/>
            <a:ext cx="8167370" cy="508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indent="-231775">
              <a:lnSpc>
                <a:spcPts val="2735"/>
              </a:lnSpc>
              <a:spcBef>
                <a:spcPts val="100"/>
              </a:spcBef>
              <a:buSzPct val="95833"/>
              <a:buAutoNum type="arabicPeriod" startAt="3"/>
              <a:tabLst>
                <a:tab pos="332105" algn="l"/>
              </a:tabLst>
            </a:pPr>
            <a:r>
              <a:rPr sz="2400" b="1" spc="-10" dirty="0">
                <a:solidFill>
                  <a:srgbClr val="273139"/>
                </a:solidFill>
                <a:latin typeface="Times New Roman"/>
                <a:cs typeface="Times New Roman"/>
              </a:rPr>
              <a:t>Risk</a:t>
            </a:r>
            <a:r>
              <a:rPr sz="2400" b="1" spc="-1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273139"/>
                </a:solidFill>
                <a:latin typeface="Times New Roman"/>
                <a:cs typeface="Times New Roman"/>
              </a:rPr>
              <a:t>Avoidance</a:t>
            </a:r>
            <a:r>
              <a:rPr sz="2400" b="1" spc="-9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sz="2400" b="1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273139"/>
                </a:solidFill>
                <a:latin typeface="Times New Roman"/>
                <a:cs typeface="Times New Roman"/>
              </a:rPr>
              <a:t>Mitigation:</a:t>
            </a:r>
            <a:endParaRPr sz="2400">
              <a:latin typeface="Times New Roman"/>
              <a:cs typeface="Times New Roman"/>
            </a:endParaRPr>
          </a:p>
          <a:p>
            <a:pPr marL="103505">
              <a:lnSpc>
                <a:spcPts val="2735"/>
              </a:lnSpc>
            </a:pPr>
            <a:r>
              <a:rPr sz="2400" spc="-30" dirty="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sz="2400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eliminate</a:t>
            </a:r>
            <a:r>
              <a:rPr sz="2400" spc="-7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4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occurrence</a:t>
            </a:r>
            <a:r>
              <a:rPr sz="2400" spc="-6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4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risks.</a:t>
            </a:r>
            <a:endParaRPr sz="2400">
              <a:latin typeface="Times New Roman"/>
              <a:cs typeface="Times New Roman"/>
            </a:endParaRPr>
          </a:p>
          <a:p>
            <a:pPr marL="103505" marR="50165">
              <a:lnSpc>
                <a:spcPts val="2590"/>
              </a:lnSpc>
              <a:spcBef>
                <a:spcPts val="1445"/>
              </a:spcBef>
            </a:pP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So,</a:t>
            </a:r>
            <a:r>
              <a:rPr sz="24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method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avoid</a:t>
            </a:r>
            <a:r>
              <a:rPr sz="24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risks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sz="24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reduce</a:t>
            </a:r>
            <a:r>
              <a:rPr sz="24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scope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projects</a:t>
            </a:r>
            <a:r>
              <a:rPr sz="24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73139"/>
                </a:solidFill>
                <a:latin typeface="Times New Roman"/>
                <a:cs typeface="Times New Roman"/>
              </a:rPr>
              <a:t>by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removing</a:t>
            </a:r>
            <a:r>
              <a:rPr sz="24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non-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essential</a:t>
            </a:r>
            <a:r>
              <a:rPr sz="2400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requirements.</a:t>
            </a:r>
            <a:endParaRPr sz="2400">
              <a:latin typeface="Times New Roman"/>
              <a:cs typeface="Times New Roman"/>
            </a:endParaRPr>
          </a:p>
          <a:p>
            <a:pPr marL="408305" indent="-304800">
              <a:lnSpc>
                <a:spcPts val="2735"/>
              </a:lnSpc>
              <a:spcBef>
                <a:spcPts val="1065"/>
              </a:spcBef>
              <a:buSzPct val="95833"/>
              <a:buAutoNum type="arabicPeriod" startAt="4"/>
              <a:tabLst>
                <a:tab pos="408305" algn="l"/>
              </a:tabLst>
            </a:pP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Risk</a:t>
            </a:r>
            <a:r>
              <a:rPr sz="2400" b="1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273139"/>
                </a:solidFill>
                <a:latin typeface="Times New Roman"/>
                <a:cs typeface="Times New Roman"/>
              </a:rPr>
              <a:t>Monitoring:</a:t>
            </a:r>
            <a:endParaRPr sz="2400">
              <a:latin typeface="Times New Roman"/>
              <a:cs typeface="Times New Roman"/>
            </a:endParaRPr>
          </a:p>
          <a:p>
            <a:pPr marL="103505">
              <a:lnSpc>
                <a:spcPts val="2595"/>
              </a:lnSpc>
            </a:pP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4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risk</a:t>
            </a:r>
            <a:r>
              <a:rPr sz="24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24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monitored</a:t>
            </a:r>
            <a:r>
              <a:rPr sz="24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continuously</a:t>
            </a:r>
            <a:r>
              <a:rPr sz="2400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by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reevaluating</a:t>
            </a:r>
            <a:r>
              <a:rPr sz="2400" b="1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400" b="1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73139"/>
                </a:solidFill>
                <a:latin typeface="Times New Roman"/>
                <a:cs typeface="Times New Roman"/>
              </a:rPr>
              <a:t>risks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,</a:t>
            </a:r>
            <a:r>
              <a:rPr sz="2400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103505">
              <a:lnSpc>
                <a:spcPts val="2740"/>
              </a:lnSpc>
            </a:pP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impact</a:t>
            </a:r>
            <a:r>
              <a:rPr sz="24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4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risk,</a:t>
            </a:r>
            <a:r>
              <a:rPr sz="24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probability</a:t>
            </a:r>
            <a:r>
              <a:rPr sz="24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occurrence</a:t>
            </a:r>
            <a:r>
              <a:rPr sz="24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4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risk.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2400">
              <a:latin typeface="Times New Roman"/>
              <a:cs typeface="Times New Roman"/>
            </a:endParaRPr>
          </a:p>
          <a:p>
            <a:pPr marL="103505">
              <a:lnSpc>
                <a:spcPct val="100000"/>
              </a:lnSpc>
            </a:pP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This</a:t>
            </a:r>
            <a:r>
              <a:rPr sz="2400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ensures</a:t>
            </a:r>
            <a:r>
              <a:rPr sz="24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that: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1120"/>
              </a:spcBef>
              <a:buClr>
                <a:srgbClr val="E38312"/>
              </a:buClr>
              <a:buSzPct val="97916"/>
              <a:buFont typeface="Arial MT"/>
              <a:buChar char="•"/>
              <a:tabLst>
                <a:tab pos="194310" algn="l"/>
              </a:tabLst>
            </a:pP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Risk</a:t>
            </a:r>
            <a:r>
              <a:rPr sz="24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has</a:t>
            </a:r>
            <a:r>
              <a:rPr sz="24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been</a:t>
            </a:r>
            <a:r>
              <a:rPr sz="24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reduced</a:t>
            </a:r>
            <a:endParaRPr sz="2400">
              <a:latin typeface="Times New Roman"/>
              <a:cs typeface="Times New Roman"/>
            </a:endParaRPr>
          </a:p>
          <a:p>
            <a:pPr marL="118745" indent="-117475">
              <a:lnSpc>
                <a:spcPct val="100000"/>
              </a:lnSpc>
              <a:spcBef>
                <a:spcPts val="1105"/>
              </a:spcBef>
              <a:buClr>
                <a:srgbClr val="E38312"/>
              </a:buClr>
              <a:buSzPct val="97916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New</a:t>
            </a:r>
            <a:r>
              <a:rPr sz="24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risks</a:t>
            </a:r>
            <a:r>
              <a:rPr sz="24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are</a:t>
            </a:r>
            <a:r>
              <a:rPr sz="24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discovered</a:t>
            </a:r>
            <a:endParaRPr sz="2400">
              <a:latin typeface="Times New Roman"/>
              <a:cs typeface="Times New Roman"/>
            </a:endParaRPr>
          </a:p>
          <a:p>
            <a:pPr marL="118745" indent="-117475">
              <a:lnSpc>
                <a:spcPct val="100000"/>
              </a:lnSpc>
              <a:spcBef>
                <a:spcPts val="1115"/>
              </a:spcBef>
              <a:buClr>
                <a:srgbClr val="E38312"/>
              </a:buClr>
              <a:buSzPct val="97916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Impact</a:t>
            </a:r>
            <a:r>
              <a:rPr sz="24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magnitude</a:t>
            </a:r>
            <a:r>
              <a:rPr sz="24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risk</a:t>
            </a:r>
            <a:r>
              <a:rPr sz="24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73139"/>
                </a:solidFill>
                <a:latin typeface="Times New Roman"/>
                <a:cs typeface="Times New Roman"/>
              </a:rPr>
              <a:t>are</a:t>
            </a:r>
            <a:r>
              <a:rPr sz="24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Times New Roman"/>
                <a:cs typeface="Times New Roman"/>
              </a:rPr>
              <a:t>measured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807211"/>
            <a:ext cx="45402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Risk</a:t>
            </a:r>
            <a:r>
              <a:rPr spc="-254" dirty="0"/>
              <a:t> </a:t>
            </a:r>
            <a:r>
              <a:rPr spc="-65" dirty="0"/>
              <a:t>Categorization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523" y="1666494"/>
            <a:ext cx="8521700" cy="435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90"/>
              </a:lnSpc>
              <a:spcBef>
                <a:spcPts val="10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Project</a:t>
            </a:r>
            <a:r>
              <a:rPr sz="2400" b="1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risks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/Schedule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risks</a:t>
            </a:r>
            <a:endParaRPr sz="2400">
              <a:latin typeface="Times New Roman"/>
              <a:cs typeface="Times New Roman"/>
            </a:endParaRPr>
          </a:p>
          <a:p>
            <a:pPr marL="927100" indent="-457200">
              <a:lnSpc>
                <a:spcPts val="2790"/>
              </a:lnSpc>
              <a:buClr>
                <a:srgbClr val="E38312"/>
              </a:buClr>
              <a:buFont typeface="Calibri"/>
              <a:buChar char="◦"/>
              <a:tabLst>
                <a:tab pos="927100" algn="l"/>
              </a:tabLst>
            </a:pP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threaten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project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plan</a:t>
            </a:r>
            <a:endParaRPr sz="2400">
              <a:latin typeface="Times New Roman"/>
              <a:cs typeface="Times New Roman"/>
            </a:endParaRPr>
          </a:p>
          <a:p>
            <a:pPr marL="927100" marR="5080" indent="-457200">
              <a:lnSpc>
                <a:spcPts val="2300"/>
              </a:lnSpc>
              <a:spcBef>
                <a:spcPts val="585"/>
              </a:spcBef>
              <a:buClr>
                <a:srgbClr val="E38312"/>
              </a:buClr>
              <a:buFont typeface="Calibri"/>
              <a:buChar char="◦"/>
              <a:tabLst>
                <a:tab pos="927100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become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real,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likely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project</a:t>
            </a:r>
            <a:r>
              <a:rPr sz="24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schedule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will </a:t>
            </a:r>
            <a:r>
              <a:rPr sz="2400" dirty="0">
                <a:latin typeface="Times New Roman"/>
                <a:cs typeface="Times New Roman"/>
              </a:rPr>
              <a:t>slip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costs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will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increase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(affect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company’s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economy)</a:t>
            </a:r>
            <a:endParaRPr sz="24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1055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Schedules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often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slip</a:t>
            </a:r>
            <a:r>
              <a:rPr sz="24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due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24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following</a:t>
            </a:r>
            <a:r>
              <a:rPr sz="24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reasons</a:t>
            </a:r>
            <a:r>
              <a:rPr sz="2400" b="1" spc="-10" dirty="0">
                <a:solidFill>
                  <a:srgbClr val="393939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815"/>
              </a:spcBef>
              <a:buClr>
                <a:srgbClr val="E38312"/>
              </a:buClr>
              <a:buFont typeface="Arial MT"/>
              <a:buChar char="•"/>
              <a:tabLst>
                <a:tab pos="194310" algn="l"/>
              </a:tabLst>
            </a:pP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Incorrect</a:t>
            </a:r>
            <a:r>
              <a:rPr sz="2400" b="1" spc="-4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time</a:t>
            </a:r>
            <a:r>
              <a:rPr sz="2400" b="1" spc="-4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93939"/>
                </a:solidFill>
                <a:latin typeface="Times New Roman"/>
                <a:cs typeface="Times New Roman"/>
              </a:rPr>
              <a:t>estimation.</a:t>
            </a:r>
            <a:endParaRPr sz="2400">
              <a:latin typeface="Times New Roman"/>
              <a:cs typeface="Times New Roman"/>
            </a:endParaRPr>
          </a:p>
          <a:p>
            <a:pPr marL="104139" marR="240665" indent="-91440">
              <a:lnSpc>
                <a:spcPct val="80000"/>
              </a:lnSpc>
              <a:spcBef>
                <a:spcPts val="1405"/>
              </a:spcBef>
              <a:buClr>
                <a:srgbClr val="E38312"/>
              </a:buClr>
              <a:buFont typeface="Arial MT"/>
              <a:buChar char="•"/>
              <a:tabLst>
                <a:tab pos="104139" algn="l"/>
                <a:tab pos="194310" algn="l"/>
              </a:tabLst>
            </a:pP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	Resources</a:t>
            </a:r>
            <a:r>
              <a:rPr sz="2400" spc="-3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are</a:t>
            </a:r>
            <a:r>
              <a:rPr sz="2400" spc="-3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not</a:t>
            </a:r>
            <a:r>
              <a:rPr sz="2400" spc="-3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tracked</a:t>
            </a:r>
            <a:r>
              <a:rPr sz="2400" spc="-5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properly</a:t>
            </a:r>
            <a:r>
              <a:rPr sz="2400" spc="-5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(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resources</a:t>
            </a:r>
            <a:r>
              <a:rPr sz="2400" b="1" spc="-3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like</a:t>
            </a:r>
            <a:r>
              <a:rPr sz="2400" b="1" spc="-4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staff,</a:t>
            </a:r>
            <a:r>
              <a:rPr sz="2400" b="1" spc="-4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393939"/>
                </a:solidFill>
                <a:latin typeface="Times New Roman"/>
                <a:cs typeface="Times New Roman"/>
              </a:rPr>
              <a:t>systems,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skills</a:t>
            </a:r>
            <a:r>
              <a:rPr sz="2400" b="1" spc="-7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of</a:t>
            </a:r>
            <a:r>
              <a:rPr sz="2400" b="1" spc="-4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individuals,</a:t>
            </a:r>
            <a:r>
              <a:rPr sz="2400" b="1" spc="-4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393939"/>
                </a:solidFill>
                <a:latin typeface="Times New Roman"/>
                <a:cs typeface="Times New Roman"/>
              </a:rPr>
              <a:t>etc).</a:t>
            </a:r>
            <a:endParaRPr sz="2400">
              <a:latin typeface="Times New Roman"/>
              <a:cs typeface="Times New Roman"/>
            </a:endParaRPr>
          </a:p>
          <a:p>
            <a:pPr marL="104139" marR="505459" indent="-91440">
              <a:lnSpc>
                <a:spcPts val="2300"/>
              </a:lnSpc>
              <a:spcBef>
                <a:spcPts val="1390"/>
              </a:spcBef>
              <a:buClr>
                <a:srgbClr val="E38312"/>
              </a:buClr>
              <a:buFont typeface="Arial MT"/>
              <a:buChar char="•"/>
              <a:tabLst>
                <a:tab pos="104139" algn="l"/>
                <a:tab pos="194310" algn="l"/>
              </a:tabLst>
            </a:pP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	Failure</a:t>
            </a:r>
            <a:r>
              <a:rPr sz="2400" spc="-3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to</a:t>
            </a:r>
            <a:r>
              <a:rPr sz="2400" spc="-1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identify</a:t>
            </a:r>
            <a:r>
              <a:rPr sz="2400" spc="-2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complex</a:t>
            </a:r>
            <a:r>
              <a:rPr sz="2400" b="1" spc="-2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functionalities</a:t>
            </a:r>
            <a:r>
              <a:rPr sz="2400" b="1" spc="-2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and</a:t>
            </a:r>
            <a:r>
              <a:rPr sz="2400" spc="-1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time</a:t>
            </a:r>
            <a:r>
              <a:rPr sz="2400" spc="-1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required</a:t>
            </a:r>
            <a:r>
              <a:rPr sz="2400" spc="-3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93939"/>
                </a:solidFill>
                <a:latin typeface="Times New Roman"/>
                <a:cs typeface="Times New Roman"/>
              </a:rPr>
              <a:t>to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develop</a:t>
            </a:r>
            <a:r>
              <a:rPr sz="2400" spc="-2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those </a:t>
            </a:r>
            <a:r>
              <a:rPr sz="2400" spc="-10" dirty="0">
                <a:solidFill>
                  <a:srgbClr val="393939"/>
                </a:solidFill>
                <a:latin typeface="Times New Roman"/>
                <a:cs typeface="Times New Roman"/>
              </a:rPr>
              <a:t>functionalities.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845"/>
              </a:spcBef>
              <a:buClr>
                <a:srgbClr val="E38312"/>
              </a:buClr>
              <a:buFont typeface="Arial MT"/>
              <a:buChar char="•"/>
              <a:tabLst>
                <a:tab pos="194310" algn="l"/>
              </a:tabLst>
            </a:pP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Unexpected</a:t>
            </a:r>
            <a:r>
              <a:rPr sz="2400" spc="-5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project</a:t>
            </a:r>
            <a:r>
              <a:rPr sz="2400" b="1" spc="-4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scope</a:t>
            </a:r>
            <a:r>
              <a:rPr sz="2400" b="1" spc="-3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393939"/>
                </a:solidFill>
                <a:latin typeface="Times New Roman"/>
                <a:cs typeface="Times New Roman"/>
              </a:rPr>
              <a:t>expansions</a:t>
            </a:r>
            <a:r>
              <a:rPr sz="2400" spc="-10" dirty="0">
                <a:solidFill>
                  <a:srgbClr val="393939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15376" y="6518249"/>
            <a:ext cx="114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1775" y="6549643"/>
            <a:ext cx="16916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(More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next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slide)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8759" y="678560"/>
            <a:ext cx="8208645" cy="4344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Times New Roman"/>
                <a:cs typeface="Times New Roman"/>
              </a:rPr>
              <a:t>Technical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risks</a:t>
            </a:r>
            <a:endParaRPr sz="2400">
              <a:latin typeface="Times New Roman"/>
              <a:cs typeface="Times New Roman"/>
            </a:endParaRPr>
          </a:p>
          <a:p>
            <a:pPr marL="927100" indent="-457200">
              <a:lnSpc>
                <a:spcPts val="2735"/>
              </a:lnSpc>
              <a:spcBef>
                <a:spcPts val="110"/>
              </a:spcBef>
              <a:buClr>
                <a:srgbClr val="E38312"/>
              </a:buClr>
              <a:buFont typeface="Calibri"/>
              <a:buChar char="◦"/>
              <a:tabLst>
                <a:tab pos="927100" algn="l"/>
              </a:tabLst>
            </a:pPr>
            <a:r>
              <a:rPr sz="2400" spc="-10" dirty="0">
                <a:solidFill>
                  <a:srgbClr val="393939"/>
                </a:solidFill>
                <a:latin typeface="Times New Roman"/>
                <a:cs typeface="Times New Roman"/>
              </a:rPr>
              <a:t>Technical</a:t>
            </a:r>
            <a:r>
              <a:rPr sz="2400" spc="-6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risks</a:t>
            </a:r>
            <a:r>
              <a:rPr sz="2400" spc="-2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generally</a:t>
            </a:r>
            <a:r>
              <a:rPr sz="2400" spc="-4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lead</a:t>
            </a:r>
            <a:r>
              <a:rPr sz="2400" b="1" spc="-2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to</a:t>
            </a:r>
            <a:r>
              <a:rPr sz="2400" b="1" spc="-4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failure</a:t>
            </a:r>
            <a:r>
              <a:rPr sz="2400" b="1" spc="-4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of</a:t>
            </a:r>
            <a:r>
              <a:rPr sz="2400" b="1" spc="-2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393939"/>
                </a:solidFill>
                <a:latin typeface="Times New Roman"/>
                <a:cs typeface="Times New Roman"/>
              </a:rPr>
              <a:t>functionality</a:t>
            </a:r>
            <a:endParaRPr sz="2400">
              <a:latin typeface="Times New Roman"/>
              <a:cs typeface="Times New Roman"/>
            </a:endParaRPr>
          </a:p>
          <a:p>
            <a:pPr marL="655320">
              <a:lnSpc>
                <a:spcPts val="2735"/>
              </a:lnSpc>
              <a:tabLst>
                <a:tab pos="927100" algn="l"/>
                <a:tab pos="8130540" algn="l"/>
              </a:tabLst>
            </a:pPr>
            <a:r>
              <a:rPr sz="2400" b="1" u="sng" dirty="0">
                <a:solidFill>
                  <a:srgbClr val="393939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	and</a:t>
            </a:r>
            <a:r>
              <a:rPr sz="2400" b="1" u="sng" spc="-25" dirty="0">
                <a:solidFill>
                  <a:srgbClr val="393939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spc="-10" dirty="0">
                <a:solidFill>
                  <a:srgbClr val="393939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performance</a:t>
            </a:r>
            <a:r>
              <a:rPr sz="2400" b="1" u="sng" dirty="0">
                <a:solidFill>
                  <a:srgbClr val="393939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	</a:t>
            </a:r>
            <a:endParaRPr sz="2400">
              <a:latin typeface="Times New Roman"/>
              <a:cs typeface="Times New Roman"/>
            </a:endParaRPr>
          </a:p>
          <a:p>
            <a:pPr marL="927100" marR="5080" indent="-457200">
              <a:lnSpc>
                <a:spcPts val="2590"/>
              </a:lnSpc>
              <a:spcBef>
                <a:spcPts val="640"/>
              </a:spcBef>
              <a:buClr>
                <a:srgbClr val="E38312"/>
              </a:buClr>
              <a:buFont typeface="Calibri"/>
              <a:buChar char="◦"/>
              <a:tabLst>
                <a:tab pos="927100" algn="l"/>
              </a:tabLst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threaten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4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quality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sz="24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timeliness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software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be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produced</a:t>
            </a:r>
            <a:endParaRPr sz="2400">
              <a:latin typeface="Times New Roman"/>
              <a:cs typeface="Times New Roman"/>
            </a:endParaRPr>
          </a:p>
          <a:p>
            <a:pPr marL="927100" indent="-457200">
              <a:lnSpc>
                <a:spcPts val="2735"/>
              </a:lnSpc>
              <a:spcBef>
                <a:spcPts val="275"/>
              </a:spcBef>
              <a:buClr>
                <a:srgbClr val="E38312"/>
              </a:buClr>
              <a:buFont typeface="Calibri"/>
              <a:buChar char="◦"/>
              <a:tabLst>
                <a:tab pos="927100" algn="l"/>
              </a:tabLst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become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real,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implementation</a:t>
            </a:r>
            <a:r>
              <a:rPr sz="24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may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become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difficult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ts val="2735"/>
              </a:lnSpc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impossible</a:t>
            </a:r>
            <a:endParaRPr sz="24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1320"/>
              </a:spcBef>
            </a:pP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Causes</a:t>
            </a:r>
            <a:r>
              <a:rPr sz="2400" b="1" spc="-4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of</a:t>
            </a:r>
            <a:r>
              <a:rPr sz="2400" b="1" spc="-9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393939"/>
                </a:solidFill>
                <a:latin typeface="Times New Roman"/>
                <a:cs typeface="Times New Roman"/>
              </a:rPr>
              <a:t>Technical</a:t>
            </a:r>
            <a:r>
              <a:rPr sz="2400" b="1" spc="-6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Risks</a:t>
            </a:r>
            <a:r>
              <a:rPr sz="2400" b="1" spc="-5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393939"/>
                </a:solidFill>
                <a:latin typeface="Times New Roman"/>
                <a:cs typeface="Times New Roman"/>
              </a:rPr>
              <a:t>are: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505"/>
              </a:spcBef>
              <a:buClr>
                <a:srgbClr val="E38312"/>
              </a:buClr>
              <a:buFont typeface="Arial MT"/>
              <a:buChar char="•"/>
              <a:tabLst>
                <a:tab pos="194310" algn="l"/>
              </a:tabLst>
            </a:pP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Continuously</a:t>
            </a:r>
            <a:r>
              <a:rPr sz="2400" spc="-3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changing</a:t>
            </a:r>
            <a:r>
              <a:rPr sz="2400" spc="-2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93939"/>
                </a:solidFill>
                <a:latin typeface="Times New Roman"/>
                <a:cs typeface="Times New Roman"/>
              </a:rPr>
              <a:t>requirements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315"/>
              </a:spcBef>
              <a:buClr>
                <a:srgbClr val="E38312"/>
              </a:buClr>
              <a:buFont typeface="Arial MT"/>
              <a:buChar char="•"/>
              <a:tabLst>
                <a:tab pos="194310" algn="l"/>
              </a:tabLst>
            </a:pP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Lack</a:t>
            </a:r>
            <a:r>
              <a:rPr sz="2400" spc="-2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availability</a:t>
            </a:r>
            <a:r>
              <a:rPr sz="2400" spc="-4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advanced</a:t>
            </a:r>
            <a:r>
              <a:rPr sz="2400" spc="-2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93939"/>
                </a:solidFill>
                <a:latin typeface="Times New Roman"/>
                <a:cs typeface="Times New Roman"/>
              </a:rPr>
              <a:t>technology</a:t>
            </a:r>
            <a:endParaRPr sz="2400">
              <a:latin typeface="Times New Roman"/>
              <a:cs typeface="Times New Roman"/>
            </a:endParaRPr>
          </a:p>
          <a:p>
            <a:pPr marL="188595" indent="-175895">
              <a:lnSpc>
                <a:spcPct val="100000"/>
              </a:lnSpc>
              <a:spcBef>
                <a:spcPts val="310"/>
              </a:spcBef>
              <a:buClr>
                <a:srgbClr val="E38312"/>
              </a:buClr>
              <a:buFont typeface="Arial MT"/>
              <a:buChar char="•"/>
              <a:tabLst>
                <a:tab pos="188595" algn="l"/>
              </a:tabLst>
            </a:pP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product</a:t>
            </a:r>
            <a:r>
              <a:rPr sz="2400" spc="-2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is complex</a:t>
            </a:r>
            <a:r>
              <a:rPr sz="2400" spc="-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to</a:t>
            </a:r>
            <a:r>
              <a:rPr sz="2400" spc="-1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93939"/>
                </a:solidFill>
                <a:latin typeface="Times New Roman"/>
                <a:cs typeface="Times New Roman"/>
              </a:rPr>
              <a:t>implement.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1678889"/>
            <a:ext cx="27781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Operational</a:t>
            </a:r>
            <a:r>
              <a:rPr sz="2800"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Risks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4370" y="2173351"/>
            <a:ext cx="2294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Risk</a:t>
            </a:r>
            <a:r>
              <a:rPr sz="2400" spc="-1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of</a:t>
            </a:r>
            <a:r>
              <a:rPr sz="2400" spc="-1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loss</a:t>
            </a:r>
            <a:r>
              <a:rPr sz="2400" spc="-1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due</a:t>
            </a:r>
            <a:r>
              <a:rPr sz="2400" spc="-25" dirty="0">
                <a:solidFill>
                  <a:srgbClr val="393939"/>
                </a:solidFill>
                <a:latin typeface="Times New Roman"/>
                <a:cs typeface="Times New Roman"/>
              </a:rPr>
              <a:t> to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32354" y="2218944"/>
            <a:ext cx="5011420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improper</a:t>
            </a:r>
            <a:r>
              <a:rPr sz="2400" spc="-4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process</a:t>
            </a:r>
            <a:r>
              <a:rPr sz="2400" spc="-2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implementation,</a:t>
            </a:r>
            <a:r>
              <a:rPr sz="2400" spc="-6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93939"/>
                </a:solidFill>
                <a:latin typeface="Times New Roman"/>
                <a:cs typeface="Times New Roman"/>
              </a:rPr>
              <a:t>failed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6981" y="2555748"/>
            <a:ext cx="4340860" cy="3295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60"/>
              </a:lnSpc>
            </a:pP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system</a:t>
            </a:r>
            <a:r>
              <a:rPr sz="2400" spc="-3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or</a:t>
            </a:r>
            <a:r>
              <a:rPr sz="2400" spc="-1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some</a:t>
            </a:r>
            <a:r>
              <a:rPr sz="2400" spc="-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external</a:t>
            </a:r>
            <a:r>
              <a:rPr sz="2400" spc="-6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event</a:t>
            </a:r>
            <a:r>
              <a:rPr sz="2400" spc="-2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93939"/>
                </a:solidFill>
                <a:latin typeface="Times New Roman"/>
                <a:cs typeface="Times New Roman"/>
              </a:rPr>
              <a:t>risks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15332" y="2502534"/>
            <a:ext cx="101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393939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2930" y="3060319"/>
            <a:ext cx="5899785" cy="305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Causes</a:t>
            </a:r>
            <a:r>
              <a:rPr sz="2400" b="1" spc="-2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of</a:t>
            </a:r>
            <a:r>
              <a:rPr sz="2400" b="1" spc="-3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Operational</a:t>
            </a:r>
            <a:r>
              <a:rPr sz="2400" b="1" spc="-6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393939"/>
                </a:solidFill>
                <a:latin typeface="Times New Roman"/>
                <a:cs typeface="Times New Roman"/>
              </a:rPr>
              <a:t>Risks:</a:t>
            </a:r>
            <a:endParaRPr sz="2400">
              <a:latin typeface="Times New Roman"/>
              <a:cs typeface="Times New Roman"/>
            </a:endParaRPr>
          </a:p>
          <a:p>
            <a:pPr marL="347345" indent="-334645">
              <a:lnSpc>
                <a:spcPct val="100000"/>
              </a:lnSpc>
              <a:spcBef>
                <a:spcPts val="2115"/>
              </a:spcBef>
              <a:buClr>
                <a:srgbClr val="E38312"/>
              </a:buClr>
              <a:buFont typeface="Arial MT"/>
              <a:buChar char="•"/>
              <a:tabLst>
                <a:tab pos="347345" algn="l"/>
              </a:tabLst>
            </a:pP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Insufficient</a:t>
            </a:r>
            <a:r>
              <a:rPr sz="2400" b="1" spc="-10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393939"/>
                </a:solidFill>
                <a:latin typeface="Times New Roman"/>
                <a:cs typeface="Times New Roman"/>
              </a:rPr>
              <a:t>resources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1100"/>
              </a:spcBef>
              <a:buClr>
                <a:srgbClr val="E38312"/>
              </a:buClr>
              <a:buFont typeface="Arial MT"/>
              <a:buChar char="•"/>
              <a:tabLst>
                <a:tab pos="194310" algn="l"/>
              </a:tabLst>
            </a:pP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Failure</a:t>
            </a:r>
            <a:r>
              <a:rPr sz="2400" spc="-4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to</a:t>
            </a:r>
            <a:r>
              <a:rPr sz="2400" spc="-1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resolve</a:t>
            </a:r>
            <a:r>
              <a:rPr sz="2400" b="1" spc="-3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393939"/>
                </a:solidFill>
                <a:latin typeface="Times New Roman"/>
                <a:cs typeface="Times New Roman"/>
              </a:rPr>
              <a:t>responsibilities.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1120"/>
              </a:spcBef>
              <a:buClr>
                <a:srgbClr val="E38312"/>
              </a:buClr>
              <a:buFont typeface="Arial MT"/>
              <a:buChar char="•"/>
              <a:tabLst>
                <a:tab pos="194310" algn="l"/>
              </a:tabLst>
            </a:pP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Failure</a:t>
            </a:r>
            <a:r>
              <a:rPr sz="2400" spc="-3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to</a:t>
            </a:r>
            <a:r>
              <a:rPr sz="2400" spc="-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address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priority</a:t>
            </a:r>
            <a:r>
              <a:rPr sz="2400" b="1" spc="-3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393939"/>
                </a:solidFill>
                <a:latin typeface="Times New Roman"/>
                <a:cs typeface="Times New Roman"/>
              </a:rPr>
              <a:t>conflicts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1115"/>
              </a:spcBef>
              <a:buClr>
                <a:srgbClr val="E38312"/>
              </a:buClr>
              <a:buFont typeface="Arial MT"/>
              <a:buChar char="•"/>
              <a:tabLst>
                <a:tab pos="194310" algn="l"/>
              </a:tabLst>
            </a:pP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No</a:t>
            </a:r>
            <a:r>
              <a:rPr sz="2400" spc="-2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proper</a:t>
            </a:r>
            <a:r>
              <a:rPr sz="2400" spc="-3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subject</a:t>
            </a:r>
            <a:r>
              <a:rPr sz="2400" spc="-4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training,</a:t>
            </a:r>
            <a:r>
              <a:rPr sz="2400" spc="-4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393939"/>
                </a:solidFill>
                <a:latin typeface="Times New Roman"/>
                <a:cs typeface="Times New Roman"/>
              </a:rPr>
              <a:t>resource</a:t>
            </a:r>
            <a:r>
              <a:rPr sz="2400" b="1" spc="-3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393939"/>
                </a:solidFill>
                <a:latin typeface="Times New Roman"/>
                <a:cs typeface="Times New Roman"/>
              </a:rPr>
              <a:t>planning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1105"/>
              </a:spcBef>
              <a:buClr>
                <a:srgbClr val="E38312"/>
              </a:buClr>
              <a:buFont typeface="Arial MT"/>
              <a:buChar char="•"/>
              <a:tabLst>
                <a:tab pos="194310" algn="l"/>
              </a:tabLst>
            </a:pP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Lack</a:t>
            </a:r>
            <a:r>
              <a:rPr sz="2400" b="1" spc="-1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of</a:t>
            </a:r>
            <a:r>
              <a:rPr sz="2400" b="1" spc="-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93939"/>
                </a:solidFill>
                <a:latin typeface="Times New Roman"/>
                <a:cs typeface="Times New Roman"/>
              </a:rPr>
              <a:t>communication</a:t>
            </a:r>
            <a:r>
              <a:rPr sz="2400" b="1" spc="-3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within</a:t>
            </a:r>
            <a:r>
              <a:rPr sz="2400" spc="-3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393939"/>
                </a:solidFill>
                <a:latin typeface="Times New Roman"/>
                <a:cs typeface="Times New Roman"/>
              </a:rPr>
              <a:t> team.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4588" y="1737360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10259" y="1824354"/>
            <a:ext cx="7548880" cy="2116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Business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risks</a:t>
            </a:r>
            <a:endParaRPr sz="2800">
              <a:latin typeface="Times New Roman"/>
              <a:cs typeface="Times New Roman"/>
            </a:endParaRPr>
          </a:p>
          <a:p>
            <a:pPr marL="927100" marR="208915" indent="-457200">
              <a:lnSpc>
                <a:spcPts val="3030"/>
              </a:lnSpc>
              <a:spcBef>
                <a:spcPts val="450"/>
              </a:spcBef>
              <a:buClr>
                <a:srgbClr val="E38312"/>
              </a:buClr>
              <a:buFont typeface="Calibri"/>
              <a:buChar char="◦"/>
              <a:tabLst>
                <a:tab pos="927100" algn="l"/>
              </a:tabLst>
            </a:pP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sz="2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threaten</a:t>
            </a:r>
            <a:r>
              <a:rPr sz="2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viability</a:t>
            </a:r>
            <a:r>
              <a:rPr sz="28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software</a:t>
            </a:r>
            <a:r>
              <a:rPr sz="2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built</a:t>
            </a:r>
            <a:endParaRPr sz="2800">
              <a:latin typeface="Times New Roman"/>
              <a:cs typeface="Times New Roman"/>
            </a:endParaRPr>
          </a:p>
          <a:p>
            <a:pPr marL="927100" marR="5080" indent="-457200">
              <a:lnSpc>
                <a:spcPts val="3020"/>
              </a:lnSpc>
              <a:spcBef>
                <a:spcPts val="595"/>
              </a:spcBef>
              <a:buClr>
                <a:srgbClr val="E38312"/>
              </a:buClr>
              <a:buFont typeface="Calibri"/>
              <a:buChar char="◦"/>
              <a:tabLst>
                <a:tab pos="927100" algn="l"/>
              </a:tabLst>
            </a:pP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2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sz="2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become</a:t>
            </a:r>
            <a:r>
              <a:rPr sz="2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real,</a:t>
            </a:r>
            <a:r>
              <a:rPr sz="2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sz="2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jeopardize</a:t>
            </a:r>
            <a:r>
              <a:rPr sz="2800" b="1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(place</a:t>
            </a:r>
            <a:r>
              <a:rPr sz="2800" b="1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at</a:t>
            </a:r>
            <a:r>
              <a:rPr sz="2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risk)</a:t>
            </a:r>
            <a:r>
              <a:rPr sz="2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product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9144000" cy="524510"/>
            <a:chOff x="0" y="6333744"/>
            <a:chExt cx="9144000" cy="524510"/>
          </a:xfrm>
        </p:grpSpPr>
        <p:sp>
          <p:nvSpPr>
            <p:cNvPr id="3" name="object 3"/>
            <p:cNvSpPr/>
            <p:nvPr/>
          </p:nvSpPr>
          <p:spPr>
            <a:xfrm>
              <a:off x="0" y="6400800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9144000" cy="67310"/>
            </a:xfrm>
            <a:custGeom>
              <a:avLst/>
              <a:gdLst/>
              <a:ahLst/>
              <a:cxnLst/>
              <a:rect l="l" t="t" r="r" b="b"/>
              <a:pathLst>
                <a:path w="9144000" h="67310">
                  <a:moveTo>
                    <a:pt x="9144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9144000" y="6705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94588" y="173736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406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17647" y="1737360"/>
            <a:ext cx="5352415" cy="0"/>
          </a:xfrm>
          <a:custGeom>
            <a:avLst/>
            <a:gdLst/>
            <a:ahLst/>
            <a:cxnLst/>
            <a:rect l="l" t="t" r="r" b="b"/>
            <a:pathLst>
              <a:path w="5352415">
                <a:moveTo>
                  <a:pt x="0" y="0"/>
                </a:moveTo>
                <a:lnTo>
                  <a:pt x="53521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9740" y="385698"/>
            <a:ext cx="77323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>
                <a:latin typeface="Times New Roman"/>
                <a:cs typeface="Times New Roman"/>
              </a:rPr>
              <a:t>Sub-</a:t>
            </a:r>
            <a:r>
              <a:rPr spc="-40" dirty="0">
                <a:latin typeface="Times New Roman"/>
                <a:cs typeface="Times New Roman"/>
              </a:rPr>
              <a:t>categories</a:t>
            </a:r>
            <a:r>
              <a:rPr spc="-2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195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Times New Roman"/>
                <a:cs typeface="Times New Roman"/>
              </a:rPr>
              <a:t>Business</a:t>
            </a:r>
            <a:r>
              <a:rPr spc="-21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risks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5284" y="1299717"/>
            <a:ext cx="71634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Font typeface="Calibri"/>
              <a:buChar char="◦"/>
              <a:tabLst>
                <a:tab pos="4692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Market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risk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– building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excellent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product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or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00898" y="1345819"/>
            <a:ext cx="913130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615"/>
              </a:lnSpc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no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4994" y="1675002"/>
            <a:ext cx="2073275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one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really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wants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5284" y="2034666"/>
            <a:ext cx="5470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Font typeface="Calibri"/>
              <a:buChar char="◦"/>
              <a:tabLst>
                <a:tab pos="4692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Strategic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risk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building</a:t>
            </a:r>
            <a:r>
              <a:rPr sz="2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product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07734" y="2080386"/>
            <a:ext cx="2848610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620"/>
              </a:lnSpc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no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longer</a:t>
            </a:r>
            <a:r>
              <a:rPr sz="2400" b="1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fits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into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the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4994" y="2409570"/>
            <a:ext cx="3260090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overall</a:t>
            </a:r>
            <a:r>
              <a:rPr sz="2400" b="1" spc="-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business</a:t>
            </a:r>
            <a:r>
              <a:rPr sz="24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strategy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92651" y="2363851"/>
            <a:ext cx="2022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company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5284" y="2769234"/>
            <a:ext cx="6613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Font typeface="Calibri"/>
              <a:buChar char="◦"/>
              <a:tabLst>
                <a:tab pos="4692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Sales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risk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– building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 product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sales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force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52258" y="2814954"/>
            <a:ext cx="927100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620"/>
              </a:lnSpc>
            </a:pP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doesn't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4994" y="3144139"/>
            <a:ext cx="2828925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understand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how to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sell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5284" y="3504057"/>
            <a:ext cx="8173084" cy="19373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69900" marR="5080" indent="-457200">
              <a:lnSpc>
                <a:spcPts val="2590"/>
              </a:lnSpc>
              <a:spcBef>
                <a:spcPts val="425"/>
              </a:spcBef>
              <a:buClr>
                <a:srgbClr val="E38312"/>
              </a:buClr>
              <a:buFont typeface="Calibri"/>
              <a:buChar char="◦"/>
              <a:tabLst>
                <a:tab pos="46990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Management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risk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loosing</a:t>
            </a:r>
            <a:r>
              <a:rPr sz="24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support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senior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management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due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change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focus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400" b="1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change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people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75"/>
              </a:spcBef>
              <a:buClr>
                <a:srgbClr val="E38312"/>
              </a:buClr>
              <a:buFont typeface="Calibri"/>
              <a:buChar char="◦"/>
              <a:tabLst>
                <a:tab pos="4692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Budget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risk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–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loosing</a:t>
            </a:r>
            <a:r>
              <a:rPr sz="24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budgetary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personnel</a:t>
            </a:r>
            <a:r>
              <a:rPr sz="2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commitment</a:t>
            </a:r>
            <a:endParaRPr sz="2400">
              <a:latin typeface="Times New Roman"/>
              <a:cs typeface="Times New Roman"/>
            </a:endParaRPr>
          </a:p>
          <a:p>
            <a:pPr marL="1252855" lvl="1" indent="-227329">
              <a:lnSpc>
                <a:spcPct val="100000"/>
              </a:lnSpc>
              <a:spcBef>
                <a:spcPts val="315"/>
              </a:spcBef>
              <a:buClr>
                <a:srgbClr val="E38312"/>
              </a:buClr>
              <a:buFont typeface="Arial MT"/>
              <a:buChar char="•"/>
              <a:tabLst>
                <a:tab pos="1252855" algn="l"/>
              </a:tabLst>
            </a:pP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Wrong</a:t>
            </a:r>
            <a:r>
              <a:rPr sz="2400" spc="-5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budget</a:t>
            </a:r>
            <a:r>
              <a:rPr sz="2400" spc="-7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93939"/>
                </a:solidFill>
                <a:latin typeface="Times New Roman"/>
                <a:cs typeface="Times New Roman"/>
              </a:rPr>
              <a:t>estimation.</a:t>
            </a:r>
            <a:endParaRPr sz="2400">
              <a:latin typeface="Times New Roman"/>
              <a:cs typeface="Times New Roman"/>
            </a:endParaRPr>
          </a:p>
          <a:p>
            <a:pPr marL="1330325" lvl="1" indent="-304800">
              <a:lnSpc>
                <a:spcPct val="100000"/>
              </a:lnSpc>
              <a:spcBef>
                <a:spcPts val="315"/>
              </a:spcBef>
              <a:buClr>
                <a:srgbClr val="E38312"/>
              </a:buClr>
              <a:buFont typeface="Arial MT"/>
              <a:buChar char="•"/>
              <a:tabLst>
                <a:tab pos="1330325" algn="l"/>
                <a:tab pos="3261995" algn="l"/>
              </a:tabLst>
            </a:pP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Cost</a:t>
            </a:r>
            <a:r>
              <a:rPr sz="2400" spc="-5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93939"/>
                </a:solidFill>
                <a:latin typeface="Times New Roman"/>
                <a:cs typeface="Times New Roman"/>
              </a:rPr>
              <a:t>overruns,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	Project</a:t>
            </a:r>
            <a:r>
              <a:rPr sz="2400" spc="-30" dirty="0">
                <a:solidFill>
                  <a:srgbClr val="39393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93939"/>
                </a:solidFill>
                <a:latin typeface="Times New Roman"/>
                <a:cs typeface="Times New Roman"/>
              </a:rPr>
              <a:t>scope </a:t>
            </a:r>
            <a:r>
              <a:rPr sz="2400" spc="-10" dirty="0">
                <a:solidFill>
                  <a:srgbClr val="393939"/>
                </a:solidFill>
                <a:latin typeface="Times New Roman"/>
                <a:cs typeface="Times New Roman"/>
              </a:rPr>
              <a:t>expansion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31556" y="6518249"/>
            <a:ext cx="1930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imes New Roman"/>
                <a:cs typeface="Times New Roman"/>
              </a:rPr>
              <a:t>11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8870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Risk</a:t>
            </a:r>
            <a:r>
              <a:rPr spc="-180" dirty="0"/>
              <a:t> </a:t>
            </a:r>
            <a:r>
              <a:rPr spc="-70" dirty="0"/>
              <a:t>Categorization</a:t>
            </a:r>
            <a:r>
              <a:rPr spc="-155" dirty="0"/>
              <a:t> </a:t>
            </a:r>
            <a:r>
              <a:rPr dirty="0"/>
              <a:t>–</a:t>
            </a:r>
            <a:r>
              <a:rPr spc="-175" dirty="0"/>
              <a:t> </a:t>
            </a:r>
            <a:r>
              <a:rPr spc="-65" dirty="0"/>
              <a:t>Approach</a:t>
            </a:r>
            <a:r>
              <a:rPr spc="-170" dirty="0"/>
              <a:t> </a:t>
            </a:r>
            <a:r>
              <a:rPr spc="-25" dirty="0"/>
              <a:t>#2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722501"/>
            <a:ext cx="8448040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9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Known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risks</a:t>
            </a:r>
            <a:endParaRPr sz="2400">
              <a:latin typeface="Times New Roman"/>
              <a:cs typeface="Times New Roman"/>
            </a:endParaRPr>
          </a:p>
          <a:p>
            <a:pPr marL="721360" indent="-343535">
              <a:lnSpc>
                <a:spcPts val="2790"/>
              </a:lnSpc>
              <a:buClr>
                <a:srgbClr val="E38312"/>
              </a:buClr>
              <a:buFont typeface="Calibri"/>
              <a:buChar char="◦"/>
              <a:tabLst>
                <a:tab pos="721360" algn="l"/>
              </a:tabLst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Those</a:t>
            </a:r>
            <a:r>
              <a:rPr sz="2400" spc="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risks</a:t>
            </a:r>
            <a:r>
              <a:rPr sz="2400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400" spc="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2400" spc="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4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uncovered</a:t>
            </a:r>
            <a:r>
              <a:rPr sz="2400" b="1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after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careful</a:t>
            </a:r>
            <a:r>
              <a:rPr sz="2400" b="1" spc="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evaluation</a:t>
            </a:r>
            <a:r>
              <a:rPr sz="2400" b="1" spc="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9352" y="2403729"/>
            <a:ext cx="4695825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620"/>
              </a:lnSpc>
              <a:tabLst>
                <a:tab pos="1179830" algn="l"/>
                <a:tab pos="1766570" algn="l"/>
                <a:tab pos="3011805" algn="l"/>
              </a:tabLst>
            </a:pP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business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technical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environment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8704" y="2358009"/>
            <a:ext cx="7738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2130" algn="l"/>
                <a:tab pos="1522730" algn="l"/>
                <a:tab pos="2271395" algn="l"/>
                <a:tab pos="7487284" algn="l"/>
              </a:tabLst>
            </a:pP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plan,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9740" y="2650616"/>
            <a:ext cx="8447405" cy="324167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721360" marR="5080" algn="just">
              <a:lnSpc>
                <a:spcPct val="80100"/>
              </a:lnSpc>
              <a:spcBef>
                <a:spcPts val="670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which</a:t>
            </a:r>
            <a:r>
              <a:rPr sz="2400" spc="15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1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400" spc="17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400" spc="17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being</a:t>
            </a:r>
            <a:r>
              <a:rPr sz="2400" spc="1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developed,</a:t>
            </a:r>
            <a:r>
              <a:rPr sz="2400" spc="16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17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other</a:t>
            </a:r>
            <a:r>
              <a:rPr sz="2400" spc="17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reliable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information</a:t>
            </a:r>
            <a:r>
              <a:rPr sz="2400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sources</a:t>
            </a:r>
            <a:r>
              <a:rPr sz="24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(e.g.,</a:t>
            </a:r>
            <a:r>
              <a:rPr sz="24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unrealistic</a:t>
            </a:r>
            <a:r>
              <a:rPr sz="2400" spc="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delivery</a:t>
            </a:r>
            <a:r>
              <a:rPr sz="24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date,</a:t>
            </a:r>
            <a:r>
              <a:rPr sz="24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losing</a:t>
            </a:r>
            <a:r>
              <a:rPr sz="240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33333"/>
                </a:solidFill>
                <a:latin typeface="Times New Roman"/>
                <a:cs typeface="Times New Roman"/>
              </a:rPr>
              <a:t>10%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24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their</a:t>
            </a:r>
            <a:r>
              <a:rPr sz="2400" spc="-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customers</a:t>
            </a:r>
            <a:r>
              <a:rPr sz="240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240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24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/>
                <a:cs typeface="Times New Roman"/>
              </a:rPr>
              <a:t>new</a:t>
            </a:r>
            <a:r>
              <a:rPr sz="24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Times New Roman"/>
                <a:cs typeface="Times New Roman"/>
              </a:rPr>
              <a:t>competitor)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ts val="2790"/>
              </a:lnSpc>
              <a:spcBef>
                <a:spcPts val="1035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Predictable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risks</a:t>
            </a:r>
            <a:endParaRPr sz="2400">
              <a:latin typeface="Times New Roman"/>
              <a:cs typeface="Times New Roman"/>
            </a:endParaRPr>
          </a:p>
          <a:p>
            <a:pPr marL="718820" marR="5715" indent="-340995" algn="just">
              <a:lnSpc>
                <a:spcPct val="80000"/>
              </a:lnSpc>
              <a:spcBef>
                <a:spcPts val="484"/>
              </a:spcBef>
              <a:buClr>
                <a:srgbClr val="E38312"/>
              </a:buClr>
              <a:buFont typeface="Calibri"/>
              <a:buChar char="◦"/>
              <a:tabLst>
                <a:tab pos="721360" algn="l"/>
              </a:tabLst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Those</a:t>
            </a:r>
            <a:r>
              <a:rPr sz="24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risks</a:t>
            </a:r>
            <a:r>
              <a:rPr sz="2400" spc="1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400" spc="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400" spc="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extrapolated</a:t>
            </a:r>
            <a:r>
              <a:rPr sz="2400" spc="2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from</a:t>
            </a:r>
            <a:r>
              <a:rPr sz="2400" spc="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past</a:t>
            </a:r>
            <a:r>
              <a:rPr sz="2400" spc="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4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experience 	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(e.g.,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past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turnover)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ts val="2795"/>
              </a:lnSpc>
              <a:spcBef>
                <a:spcPts val="1019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Unpredictable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risks</a:t>
            </a:r>
            <a:endParaRPr sz="2400">
              <a:latin typeface="Times New Roman"/>
              <a:cs typeface="Times New Roman"/>
            </a:endParaRPr>
          </a:p>
          <a:p>
            <a:pPr marL="718820" marR="5080" indent="-340995" algn="just">
              <a:lnSpc>
                <a:spcPts val="2300"/>
              </a:lnSpc>
              <a:spcBef>
                <a:spcPts val="480"/>
              </a:spcBef>
              <a:buClr>
                <a:srgbClr val="E38312"/>
              </a:buClr>
              <a:buFont typeface="Calibri"/>
              <a:buChar char="◦"/>
              <a:tabLst>
                <a:tab pos="721360" algn="l"/>
              </a:tabLst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Those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risks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do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occur,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but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extremely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difficult</a:t>
            </a:r>
            <a:r>
              <a:rPr sz="2400" u="sng" spc="-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	</a:t>
            </a:r>
            <a:r>
              <a:rPr sz="24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identify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advance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eg.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Severity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fall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market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25459" y="651824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imes New Roman"/>
                <a:cs typeface="Times New Roman"/>
              </a:rPr>
              <a:t>12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524" y="370459"/>
            <a:ext cx="8091170" cy="104076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760"/>
              </a:spcBef>
              <a:tabLst>
                <a:tab pos="5912485" algn="l"/>
              </a:tabLst>
            </a:pPr>
            <a:r>
              <a:rPr sz="3600" spc="-20" dirty="0">
                <a:latin typeface="Times New Roman"/>
                <a:cs typeface="Times New Roman"/>
              </a:rPr>
              <a:t>Risk</a:t>
            </a:r>
            <a:r>
              <a:rPr sz="3600" spc="-165" dirty="0">
                <a:latin typeface="Times New Roman"/>
                <a:cs typeface="Times New Roman"/>
              </a:rPr>
              <a:t> </a:t>
            </a:r>
            <a:r>
              <a:rPr sz="3600" spc="-50" dirty="0">
                <a:latin typeface="Times New Roman"/>
                <a:cs typeface="Times New Roman"/>
              </a:rPr>
              <a:t>Management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approaches: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55" dirty="0">
                <a:latin typeface="Times New Roman"/>
                <a:cs typeface="Times New Roman"/>
              </a:rPr>
              <a:t>Reactive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vs. </a:t>
            </a:r>
            <a:r>
              <a:rPr sz="3600" spc="-45" dirty="0">
                <a:latin typeface="Times New Roman"/>
                <a:cs typeface="Times New Roman"/>
              </a:rPr>
              <a:t>Proactive</a:t>
            </a:r>
            <a:r>
              <a:rPr sz="3600" spc="-19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Risk</a:t>
            </a:r>
            <a:r>
              <a:rPr sz="3600" spc="-18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Strategies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9966" y="1730120"/>
            <a:ext cx="8619490" cy="4122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95"/>
              </a:spcBef>
            </a:pPr>
            <a:r>
              <a:rPr sz="22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Reactive</a:t>
            </a:r>
            <a:r>
              <a:rPr sz="22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200" b="1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strategies</a:t>
            </a:r>
            <a:endParaRPr sz="2200">
              <a:latin typeface="Times New Roman"/>
              <a:cs typeface="Times New Roman"/>
            </a:endParaRPr>
          </a:p>
          <a:p>
            <a:pPr marL="304800" indent="-182880">
              <a:lnSpc>
                <a:spcPts val="2575"/>
              </a:lnSpc>
              <a:buClr>
                <a:srgbClr val="E38312"/>
              </a:buClr>
              <a:buFont typeface="Calibri"/>
              <a:buChar char="◦"/>
              <a:tabLst>
                <a:tab pos="304800" algn="l"/>
              </a:tabLst>
            </a:pP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"Don't</a:t>
            </a:r>
            <a:r>
              <a:rPr sz="2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Times New Roman"/>
                <a:cs typeface="Times New Roman"/>
              </a:rPr>
              <a:t>worry,</a:t>
            </a:r>
            <a:r>
              <a:rPr sz="22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I'll</a:t>
            </a:r>
            <a:r>
              <a:rPr sz="2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think</a:t>
            </a:r>
            <a:r>
              <a:rPr sz="22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2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something"</a:t>
            </a:r>
            <a:endParaRPr sz="2200">
              <a:latin typeface="Times New Roman"/>
              <a:cs typeface="Times New Roman"/>
            </a:endParaRPr>
          </a:p>
          <a:p>
            <a:pPr marL="304800" indent="-182880">
              <a:lnSpc>
                <a:spcPct val="100000"/>
              </a:lnSpc>
              <a:spcBef>
                <a:spcPts val="70"/>
              </a:spcBef>
              <a:buClr>
                <a:srgbClr val="E38312"/>
              </a:buClr>
              <a:buFont typeface="Calibri"/>
              <a:buChar char="◦"/>
              <a:tabLst>
                <a:tab pos="304800" algn="l"/>
              </a:tabLst>
            </a:pP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2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majority</a:t>
            </a:r>
            <a:r>
              <a:rPr sz="2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2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software</a:t>
            </a:r>
            <a:r>
              <a:rPr sz="2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teams</a:t>
            </a:r>
            <a:r>
              <a:rPr sz="2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2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managers</a:t>
            </a:r>
            <a:r>
              <a:rPr sz="2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rely</a:t>
            </a:r>
            <a:r>
              <a:rPr sz="2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22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22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approach</a:t>
            </a:r>
            <a:endParaRPr sz="2200">
              <a:latin typeface="Times New Roman"/>
              <a:cs typeface="Times New Roman"/>
            </a:endParaRPr>
          </a:p>
          <a:p>
            <a:pPr marL="304800" indent="-182880">
              <a:lnSpc>
                <a:spcPct val="100000"/>
              </a:lnSpc>
              <a:spcBef>
                <a:spcPts val="75"/>
              </a:spcBef>
              <a:buClr>
                <a:srgbClr val="E38312"/>
              </a:buClr>
              <a:buFont typeface="Calibri"/>
              <a:buChar char="◦"/>
              <a:tabLst>
                <a:tab pos="304800" algn="l"/>
              </a:tabLst>
            </a:pPr>
            <a:r>
              <a:rPr sz="2200" b="1" dirty="0">
                <a:solidFill>
                  <a:srgbClr val="404040"/>
                </a:solidFill>
                <a:latin typeface="Times New Roman"/>
                <a:cs typeface="Times New Roman"/>
              </a:rPr>
              <a:t>Nothing</a:t>
            </a:r>
            <a:r>
              <a:rPr sz="22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2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imes New Roman"/>
                <a:cs typeface="Times New Roman"/>
              </a:rPr>
              <a:t>done</a:t>
            </a:r>
            <a:r>
              <a:rPr sz="22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imes New Roman"/>
                <a:cs typeface="Times New Roman"/>
              </a:rPr>
              <a:t>about</a:t>
            </a:r>
            <a:r>
              <a:rPr sz="22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imes New Roman"/>
                <a:cs typeface="Times New Roman"/>
              </a:rPr>
              <a:t>risks</a:t>
            </a:r>
            <a:r>
              <a:rPr sz="22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imes New Roman"/>
                <a:cs typeface="Times New Roman"/>
              </a:rPr>
              <a:t>until</a:t>
            </a:r>
            <a:r>
              <a:rPr sz="22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imes New Roman"/>
                <a:cs typeface="Times New Roman"/>
              </a:rPr>
              <a:t>something</a:t>
            </a:r>
            <a:r>
              <a:rPr sz="22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imes New Roman"/>
                <a:cs typeface="Times New Roman"/>
              </a:rPr>
              <a:t>goes</a:t>
            </a:r>
            <a:r>
              <a:rPr sz="22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wrong</a:t>
            </a:r>
            <a:endParaRPr sz="2200">
              <a:latin typeface="Times New Roman"/>
              <a:cs typeface="Times New Roman"/>
            </a:endParaRPr>
          </a:p>
          <a:p>
            <a:pPr marL="487680" marR="640715" lvl="1" indent="-182880">
              <a:lnSpc>
                <a:spcPct val="80000"/>
              </a:lnSpc>
              <a:spcBef>
                <a:spcPts val="600"/>
              </a:spcBef>
              <a:buClr>
                <a:srgbClr val="E38312"/>
              </a:buClr>
              <a:buFont typeface="Calibri"/>
              <a:buChar char="◦"/>
              <a:tabLst>
                <a:tab pos="487680" algn="l"/>
              </a:tabLst>
            </a:pP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team</a:t>
            </a:r>
            <a:r>
              <a:rPr sz="22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then</a:t>
            </a:r>
            <a:r>
              <a:rPr sz="2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flies</a:t>
            </a:r>
            <a:r>
              <a:rPr sz="2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into</a:t>
            </a:r>
            <a:r>
              <a:rPr sz="2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action</a:t>
            </a:r>
            <a:r>
              <a:rPr sz="2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attempt</a:t>
            </a:r>
            <a:r>
              <a:rPr sz="2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correct</a:t>
            </a:r>
            <a:r>
              <a:rPr sz="2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problem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rapidly</a:t>
            </a:r>
            <a:r>
              <a:rPr sz="22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imes New Roman"/>
                <a:cs typeface="Times New Roman"/>
              </a:rPr>
              <a:t>(fire</a:t>
            </a:r>
            <a:r>
              <a:rPr sz="2200" b="1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fighting)</a:t>
            </a:r>
            <a:endParaRPr sz="2200">
              <a:latin typeface="Times New Roman"/>
              <a:cs typeface="Times New Roman"/>
            </a:endParaRPr>
          </a:p>
          <a:p>
            <a:pPr marL="304800" indent="-182880">
              <a:lnSpc>
                <a:spcPct val="100000"/>
              </a:lnSpc>
              <a:spcBef>
                <a:spcPts val="75"/>
              </a:spcBef>
              <a:buClr>
                <a:srgbClr val="E38312"/>
              </a:buClr>
              <a:buFont typeface="Calibri"/>
              <a:buChar char="◦"/>
              <a:tabLst>
                <a:tab pos="304800" algn="l"/>
              </a:tabLst>
            </a:pPr>
            <a:r>
              <a:rPr sz="2200" b="1" dirty="0">
                <a:solidFill>
                  <a:srgbClr val="404040"/>
                </a:solidFill>
                <a:latin typeface="Times New Roman"/>
                <a:cs typeface="Times New Roman"/>
              </a:rPr>
              <a:t>Crisis</a:t>
            </a:r>
            <a:r>
              <a:rPr sz="22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imes New Roman"/>
                <a:cs typeface="Times New Roman"/>
              </a:rPr>
              <a:t>management</a:t>
            </a:r>
            <a:r>
              <a:rPr sz="22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2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2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imes New Roman"/>
                <a:cs typeface="Times New Roman"/>
              </a:rPr>
              <a:t>choice</a:t>
            </a:r>
            <a:r>
              <a:rPr sz="22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2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imes New Roman"/>
                <a:cs typeface="Times New Roman"/>
              </a:rPr>
              <a:t>management</a:t>
            </a:r>
            <a:r>
              <a:rPr sz="22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techniques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2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Proactive</a:t>
            </a:r>
            <a:r>
              <a:rPr sz="2200" b="1" spc="-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200" b="1" spc="-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strategies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proactive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approaches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anticipate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possible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risks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580"/>
              </a:lnSpc>
              <a:spcBef>
                <a:spcPts val="265"/>
              </a:spcBef>
            </a:pPr>
            <a:r>
              <a:rPr sz="2200" dirty="0">
                <a:latin typeface="Times New Roman"/>
                <a:cs typeface="Times New Roman"/>
              </a:rPr>
              <a:t>project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susceptible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to.</a:t>
            </a:r>
            <a:endParaRPr sz="2200">
              <a:latin typeface="Times New Roman"/>
              <a:cs typeface="Times New Roman"/>
            </a:endParaRPr>
          </a:p>
          <a:p>
            <a:pPr marL="121920" marR="5080">
              <a:lnSpc>
                <a:spcPts val="2110"/>
              </a:lnSpc>
              <a:spcBef>
                <a:spcPts val="455"/>
              </a:spcBef>
            </a:pP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(Primary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objective</a:t>
            </a:r>
            <a:r>
              <a:rPr sz="22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2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avoid</a:t>
            </a:r>
            <a:r>
              <a:rPr sz="2200" b="1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risk</a:t>
            </a:r>
            <a:r>
              <a:rPr sz="22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2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2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have</a:t>
            </a:r>
            <a:r>
              <a:rPr sz="22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contingency</a:t>
            </a:r>
            <a:r>
              <a:rPr sz="2200" b="1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plan</a:t>
            </a:r>
            <a:r>
              <a:rPr sz="22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2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place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2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handle</a:t>
            </a:r>
            <a:r>
              <a:rPr sz="220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unavoidable</a:t>
            </a:r>
            <a:r>
              <a:rPr sz="22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risks</a:t>
            </a:r>
            <a:r>
              <a:rPr sz="22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2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2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controlled</a:t>
            </a:r>
            <a:r>
              <a:rPr sz="22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2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effective</a:t>
            </a:r>
            <a:r>
              <a:rPr sz="2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manner)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14146"/>
            <a:ext cx="13233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Steps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2930" y="1690243"/>
            <a:ext cx="8307705" cy="337121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1215"/>
              </a:spcBef>
              <a:buClr>
                <a:srgbClr val="E38312"/>
              </a:buClr>
              <a:buAutoNum type="arabicParenR"/>
              <a:tabLst>
                <a:tab pos="621665" algn="l"/>
              </a:tabLst>
            </a:pPr>
            <a:r>
              <a:rPr sz="24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Identify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possible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risks;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recognize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what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go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wrong</a:t>
            </a:r>
            <a:endParaRPr sz="2400">
              <a:latin typeface="Times New Roman"/>
              <a:cs typeface="Times New Roman"/>
            </a:endParaRPr>
          </a:p>
          <a:p>
            <a:pPr marL="622300" marR="156210" indent="-609600">
              <a:lnSpc>
                <a:spcPts val="2590"/>
              </a:lnSpc>
              <a:spcBef>
                <a:spcPts val="1445"/>
              </a:spcBef>
              <a:buClr>
                <a:srgbClr val="E38312"/>
              </a:buClr>
              <a:buAutoNum type="arabicParenR"/>
              <a:tabLst>
                <a:tab pos="622300" algn="l"/>
              </a:tabLst>
            </a:pPr>
            <a:r>
              <a:rPr sz="24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Analyze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each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estimate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probability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will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occur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impact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(i.e.,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damage)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will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do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does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occur</a:t>
            </a:r>
            <a:endParaRPr sz="2400">
              <a:latin typeface="Times New Roman"/>
              <a:cs typeface="Times New Roman"/>
            </a:endParaRPr>
          </a:p>
          <a:p>
            <a:pPr marL="621665" indent="-608965">
              <a:lnSpc>
                <a:spcPts val="2735"/>
              </a:lnSpc>
              <a:spcBef>
                <a:spcPts val="1070"/>
              </a:spcBef>
              <a:buClr>
                <a:srgbClr val="E38312"/>
              </a:buClr>
              <a:buAutoNum type="arabicParenR"/>
              <a:tabLst>
                <a:tab pos="621665" algn="l"/>
                <a:tab pos="1794510" algn="l"/>
                <a:tab pos="2694940" algn="l"/>
                <a:tab pos="3799840" algn="l"/>
                <a:tab pos="4633595" algn="l"/>
                <a:tab pos="6497955" algn="l"/>
                <a:tab pos="7467600" algn="l"/>
              </a:tabLst>
            </a:pPr>
            <a:r>
              <a:rPr sz="2400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Rank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risks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probability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impact</a:t>
            </a:r>
            <a:endParaRPr sz="2400">
              <a:latin typeface="Times New Roman"/>
              <a:cs typeface="Times New Roman"/>
            </a:endParaRPr>
          </a:p>
          <a:p>
            <a:pPr marL="622300" marR="5080" indent="76200">
              <a:lnSpc>
                <a:spcPts val="2590"/>
              </a:lnSpc>
              <a:spcBef>
                <a:spcPts val="180"/>
              </a:spcBef>
              <a:tabLst>
                <a:tab pos="1053465" algn="l"/>
                <a:tab pos="2150745" algn="l"/>
                <a:tab pos="2926715" algn="l"/>
                <a:tab pos="3467735" algn="l"/>
                <a:tab pos="5048250" algn="l"/>
                <a:tab pos="6562090" algn="l"/>
                <a:tab pos="7804150" algn="l"/>
              </a:tabLst>
            </a:pPr>
            <a:r>
              <a:rPr sz="2400" spc="-50" dirty="0">
                <a:solidFill>
                  <a:srgbClr val="404040"/>
                </a:solidFill>
                <a:latin typeface="Times New Roman"/>
                <a:cs typeface="Times New Roman"/>
              </a:rPr>
              <a:t>-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Impact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may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negligible,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marginal,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critical,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catastrophic</a:t>
            </a:r>
            <a:endParaRPr sz="2400">
              <a:latin typeface="Times New Roman"/>
              <a:cs typeface="Times New Roman"/>
            </a:endParaRPr>
          </a:p>
          <a:p>
            <a:pPr marL="622300" marR="535305" indent="-609600">
              <a:lnSpc>
                <a:spcPts val="2590"/>
              </a:lnSpc>
              <a:spcBef>
                <a:spcPts val="1415"/>
              </a:spcBef>
              <a:buClr>
                <a:srgbClr val="E38312"/>
              </a:buClr>
              <a:buAutoNum type="arabicParenR" startAt="4"/>
              <a:tabLst>
                <a:tab pos="622300" algn="l"/>
              </a:tabLst>
            </a:pPr>
            <a:r>
              <a:rPr sz="24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Develop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contingency</a:t>
            </a:r>
            <a:r>
              <a:rPr sz="2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plan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manage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those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risks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having </a:t>
            </a:r>
            <a:r>
              <a:rPr sz="24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high</a:t>
            </a:r>
            <a:r>
              <a:rPr sz="2400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probability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sz="24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high</a:t>
            </a:r>
            <a:r>
              <a:rPr sz="24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impact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40" y="1511808"/>
            <a:ext cx="6851904" cy="41605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540" y="489584"/>
            <a:ext cx="737933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00000"/>
                </a:solidFill>
                <a:latin typeface="Calibri"/>
                <a:cs typeface="Calibri"/>
              </a:rPr>
              <a:t>Sociotechnical</a:t>
            </a:r>
            <a:r>
              <a:rPr sz="3200" b="1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00"/>
                </a:solidFill>
                <a:latin typeface="Calibri"/>
                <a:cs typeface="Calibri"/>
              </a:rPr>
              <a:t>Model</a:t>
            </a:r>
            <a:r>
              <a:rPr sz="3200" b="1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3200" b="1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00"/>
                </a:solidFill>
                <a:latin typeface="Calibri"/>
                <a:cs typeface="Calibri"/>
              </a:rPr>
              <a:t>Risk</a:t>
            </a:r>
            <a:r>
              <a:rPr sz="3200" b="1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0000"/>
                </a:solidFill>
                <a:latin typeface="Calibri"/>
                <a:cs typeface="Calibri"/>
              </a:rPr>
              <a:t>Categorization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1316" y="1093089"/>
            <a:ext cx="5626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F6268"/>
                </a:solidFill>
                <a:latin typeface="Times New Roman"/>
                <a:cs typeface="Times New Roman"/>
              </a:rPr>
              <a:t>How</a:t>
            </a:r>
            <a:r>
              <a:rPr sz="2400" b="1" spc="-50" dirty="0">
                <a:solidFill>
                  <a:srgbClr val="5F6268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F6268"/>
                </a:solidFill>
                <a:latin typeface="Times New Roman"/>
                <a:cs typeface="Times New Roman"/>
              </a:rPr>
              <a:t>any</a:t>
            </a:r>
            <a:r>
              <a:rPr sz="2400" b="1" spc="-35" dirty="0">
                <a:solidFill>
                  <a:srgbClr val="5F6268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F6268"/>
                </a:solidFill>
                <a:latin typeface="Times New Roman"/>
                <a:cs typeface="Times New Roman"/>
              </a:rPr>
              <a:t>technology</a:t>
            </a:r>
            <a:r>
              <a:rPr sz="2400" b="1" spc="-55" dirty="0">
                <a:solidFill>
                  <a:srgbClr val="5F6268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F6268"/>
                </a:solidFill>
                <a:latin typeface="Times New Roman"/>
                <a:cs typeface="Times New Roman"/>
              </a:rPr>
              <a:t>is</a:t>
            </a:r>
            <a:r>
              <a:rPr sz="2400" b="1" spc="-35" dirty="0">
                <a:solidFill>
                  <a:srgbClr val="5F6268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F6268"/>
                </a:solidFill>
                <a:latin typeface="Times New Roman"/>
                <a:cs typeface="Times New Roman"/>
              </a:rPr>
              <a:t>used</a:t>
            </a:r>
            <a:r>
              <a:rPr sz="2400" b="1" spc="-40" dirty="0">
                <a:solidFill>
                  <a:srgbClr val="5F6268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F6268"/>
                </a:solidFill>
                <a:latin typeface="Times New Roman"/>
                <a:cs typeface="Times New Roman"/>
              </a:rPr>
              <a:t>and</a:t>
            </a:r>
            <a:r>
              <a:rPr sz="2400" b="1" spc="-35" dirty="0">
                <a:solidFill>
                  <a:srgbClr val="5F6268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5F6268"/>
                </a:solidFill>
                <a:latin typeface="Times New Roman"/>
                <a:cs typeface="Times New Roman"/>
              </a:rPr>
              <a:t>produced</a:t>
            </a:r>
            <a:r>
              <a:rPr sz="2400" spc="-10" dirty="0">
                <a:solidFill>
                  <a:srgbClr val="4D5155"/>
                </a:solidFill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4607" y="5701080"/>
            <a:ext cx="5142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Lyytinen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Mathiassen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Ropponen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risk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framework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4588" y="1737360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4863" y="1831085"/>
            <a:ext cx="792353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indent="-114300">
              <a:lnSpc>
                <a:spcPts val="2735"/>
              </a:lnSpc>
              <a:spcBef>
                <a:spcPts val="100"/>
              </a:spcBef>
              <a:buClr>
                <a:srgbClr val="E38312"/>
              </a:buClr>
              <a:buSzPct val="95833"/>
              <a:buFont typeface="Times New Roman"/>
              <a:buChar char="•"/>
              <a:tabLst>
                <a:tab pos="118745" algn="l"/>
              </a:tabLst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Actors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relate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all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those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involved</a:t>
            </a:r>
            <a:r>
              <a:rPr sz="2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development</a:t>
            </a:r>
            <a:endParaRPr sz="2400">
              <a:latin typeface="Times New Roman"/>
              <a:cs typeface="Times New Roman"/>
            </a:endParaRPr>
          </a:p>
          <a:p>
            <a:pPr marL="103505">
              <a:lnSpc>
                <a:spcPts val="2735"/>
              </a:lnSpc>
              <a:tabLst>
                <a:tab pos="1405255" algn="l"/>
              </a:tabLst>
            </a:pP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including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developers,</a:t>
            </a:r>
            <a:r>
              <a:rPr sz="24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users</a:t>
            </a:r>
            <a:r>
              <a:rPr sz="24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managers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71419" y="2713482"/>
            <a:ext cx="2475230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high</a:t>
            </a:r>
            <a:r>
              <a:rPr sz="24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staff</a:t>
            </a:r>
            <a:r>
              <a:rPr sz="24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turnover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4863" y="2668015"/>
            <a:ext cx="7923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92370" algn="l"/>
              </a:tabLst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400" b="1" spc="3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could</a:t>
            </a:r>
            <a:r>
              <a:rPr sz="2400" spc="3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400" spc="3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leads</a:t>
            </a:r>
            <a:r>
              <a:rPr sz="24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400" spc="3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information</a:t>
            </a:r>
            <a:r>
              <a:rPr sz="2400" spc="3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4863" y="2997200"/>
            <a:ext cx="7925434" cy="206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importance</a:t>
            </a:r>
            <a:r>
              <a:rPr sz="24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being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lost.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25"/>
              </a:spcBef>
            </a:pPr>
            <a:endParaRPr sz="2400">
              <a:latin typeface="Times New Roman"/>
              <a:cs typeface="Times New Roman"/>
            </a:endParaRPr>
          </a:p>
          <a:p>
            <a:pPr marL="103505" marR="5080" indent="-99695" algn="just">
              <a:lnSpc>
                <a:spcPct val="90000"/>
              </a:lnSpc>
              <a:buClr>
                <a:srgbClr val="E38312"/>
              </a:buClr>
              <a:buSzPct val="95833"/>
              <a:buFont typeface="Times New Roman"/>
              <a:buChar char="•"/>
              <a:tabLst>
                <a:tab pos="103505" algn="l"/>
                <a:tab pos="118110" algn="l"/>
              </a:tabLst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Technology</a:t>
            </a:r>
            <a:r>
              <a:rPr sz="2400" b="1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2400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covers</a:t>
            </a:r>
            <a:r>
              <a:rPr sz="240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both</a:t>
            </a:r>
            <a:r>
              <a:rPr sz="2400" b="1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b="1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technology</a:t>
            </a:r>
            <a:r>
              <a:rPr sz="2400" b="1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used</a:t>
            </a:r>
            <a:r>
              <a:rPr sz="2400" b="1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400" b="1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implement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b="1" spc="50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application</a:t>
            </a:r>
            <a:r>
              <a:rPr sz="2400" b="1" spc="50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b="1" spc="50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400" b="1" spc="509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embedded</a:t>
            </a:r>
            <a:r>
              <a:rPr sz="2400" b="1" spc="50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b="1" spc="50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b="1" spc="509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project deliverables.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4863" y="5176773"/>
            <a:ext cx="3028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0730" algn="l"/>
                <a:tab pos="1591310" algn="l"/>
                <a:tab pos="2033270" algn="l"/>
                <a:tab pos="2642870" algn="l"/>
              </a:tabLst>
            </a:pP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could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3690" y="5221985"/>
            <a:ext cx="4815840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625"/>
              </a:lnSpc>
              <a:tabLst>
                <a:tab pos="1693545" algn="l"/>
                <a:tab pos="2826385" algn="l"/>
                <a:tab pos="3353435" algn="l"/>
                <a:tab pos="3896360" algn="l"/>
                <a:tab pos="4286250" algn="l"/>
              </a:tabLst>
            </a:pP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technologies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selected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not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fact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7537" y="5551195"/>
            <a:ext cx="1542415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5"/>
              </a:lnSpc>
            </a:pP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appropriate.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0997" y="389378"/>
            <a:ext cx="8522970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 marR="5080" indent="-99695">
              <a:lnSpc>
                <a:spcPct val="120000"/>
              </a:lnSpc>
              <a:spcBef>
                <a:spcPts val="95"/>
              </a:spcBef>
              <a:buClr>
                <a:srgbClr val="E38312"/>
              </a:buClr>
              <a:buSzPct val="95833"/>
              <a:buFont typeface="Times New Roman"/>
              <a:buChar char="•"/>
              <a:tabLst>
                <a:tab pos="104139" algn="l"/>
                <a:tab pos="118745" algn="l"/>
                <a:tab pos="1588135" algn="l"/>
                <a:tab pos="1961514" algn="l"/>
                <a:tab pos="2623185" algn="l"/>
                <a:tab pos="3859529" algn="l"/>
                <a:tab pos="5758180" algn="l"/>
                <a:tab pos="7424420" algn="l"/>
                <a:tab pos="8238490" algn="l"/>
              </a:tabLst>
            </a:pP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	Structure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5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includes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management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procedures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such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as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planning</a:t>
            </a:r>
            <a:r>
              <a:rPr sz="2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control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0997" y="1340358"/>
            <a:ext cx="2228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400" u="sng" spc="325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here</a:t>
            </a:r>
            <a:r>
              <a:rPr sz="2400" u="sng" spc="155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2400" u="sng" spc="155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spc="-2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that</a:t>
            </a:r>
            <a:r>
              <a:rPr sz="2400" u="sng" spc="60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5648" y="1386077"/>
            <a:ext cx="6369050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u="sng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400" u="sng" spc="21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group</a:t>
            </a:r>
            <a:r>
              <a:rPr sz="2400" u="sng" spc="215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who</a:t>
            </a:r>
            <a:r>
              <a:rPr sz="2400" u="sng" spc="22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need</a:t>
            </a:r>
            <a:r>
              <a:rPr sz="2400" u="sng" spc="215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2400" u="sng" spc="21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carry</a:t>
            </a:r>
            <a:r>
              <a:rPr sz="2400" u="sng" spc="215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out</a:t>
            </a:r>
            <a:r>
              <a:rPr sz="2400" u="sng" spc="22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400" u="sng" spc="225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particular</a:t>
            </a:r>
            <a:r>
              <a:rPr sz="2400" u="sng" spc="225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spc="-1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pro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ject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3532" y="1824989"/>
            <a:ext cx="4366260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task</a:t>
            </a:r>
            <a:r>
              <a:rPr sz="2400" spc="2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400" spc="2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not</a:t>
            </a:r>
            <a:r>
              <a:rPr sz="2400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informed</a:t>
            </a:r>
            <a:r>
              <a:rPr sz="2400" spc="2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2400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need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77917" y="1779270"/>
            <a:ext cx="4157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because</a:t>
            </a:r>
            <a:r>
              <a:rPr sz="2400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sz="2400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400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not</a:t>
            </a:r>
            <a:r>
              <a:rPr sz="2400" b="1" spc="2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part</a:t>
            </a:r>
            <a:r>
              <a:rPr sz="2400" b="1" spc="2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b="1" spc="2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0997" y="2218182"/>
            <a:ext cx="8521065" cy="170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4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communication</a:t>
            </a:r>
            <a:r>
              <a:rPr sz="24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network.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spcBef>
                <a:spcPts val="5"/>
              </a:spcBef>
              <a:buClr>
                <a:srgbClr val="E38312"/>
              </a:buClr>
              <a:buSzPct val="95833"/>
              <a:buFont typeface="Times New Roman"/>
              <a:buChar char="•"/>
              <a:tabLst>
                <a:tab pos="118745" algn="l"/>
              </a:tabLst>
            </a:pPr>
            <a:r>
              <a:rPr sz="2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Tasks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work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carried</a:t>
            </a:r>
            <a:r>
              <a:rPr sz="24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out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spc="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typical</a:t>
            </a:r>
            <a:r>
              <a:rPr sz="24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400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400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4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amount</a:t>
            </a:r>
            <a:r>
              <a:rPr sz="2400" b="1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b="1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effort</a:t>
            </a:r>
            <a:r>
              <a:rPr sz="2400" b="1" spc="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needed</a:t>
            </a:r>
            <a:r>
              <a:rPr sz="2400" b="1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400" b="1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carry</a:t>
            </a:r>
            <a:r>
              <a:rPr sz="2400" b="1" spc="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out</a:t>
            </a:r>
            <a:r>
              <a:rPr sz="2400" b="1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0997" y="3973779"/>
            <a:ext cx="7969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task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9352" y="4019550"/>
            <a:ext cx="2091055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under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estimated.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2437" y="4340097"/>
            <a:ext cx="8432800" cy="1781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spc="5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400" spc="4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could</a:t>
            </a:r>
            <a:r>
              <a:rPr sz="2400" spc="4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belong</a:t>
            </a:r>
            <a:r>
              <a:rPr sz="2400" spc="4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400" spc="4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more</a:t>
            </a:r>
            <a:r>
              <a:rPr sz="2400" spc="5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than</a:t>
            </a:r>
            <a:r>
              <a:rPr sz="2400" spc="4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one</a:t>
            </a:r>
            <a:r>
              <a:rPr sz="2400" spc="4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4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4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four</a:t>
            </a:r>
            <a:r>
              <a:rPr sz="2400" spc="4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areas</a:t>
            </a:r>
            <a:r>
              <a:rPr sz="2400" spc="4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2400" spc="4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for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example,</a:t>
            </a:r>
            <a:r>
              <a:rPr sz="24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estimates</a:t>
            </a:r>
            <a:r>
              <a:rPr sz="2400" spc="3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being</a:t>
            </a:r>
            <a:r>
              <a:rPr sz="2400" spc="3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wrong</a:t>
            </a:r>
            <a:r>
              <a:rPr sz="24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could</a:t>
            </a:r>
            <a:r>
              <a:rPr sz="2400" spc="3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400" spc="3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influenced</a:t>
            </a:r>
            <a:r>
              <a:rPr sz="24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2400" spc="3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problems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2400" spc="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actors</a:t>
            </a:r>
            <a:r>
              <a:rPr sz="2400" spc="1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(e.g.</a:t>
            </a:r>
            <a:r>
              <a:rPr sz="24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lack</a:t>
            </a:r>
            <a:r>
              <a:rPr sz="2400" spc="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experience</a:t>
            </a:r>
            <a:r>
              <a:rPr sz="2400" spc="1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2400" spc="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spc="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technical</a:t>
            </a:r>
            <a:r>
              <a:rPr sz="2400" spc="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domain)</a:t>
            </a:r>
            <a:r>
              <a:rPr sz="2400" spc="1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4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structure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(over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optimism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managers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keen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win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work).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9144000" cy="524510"/>
            <a:chOff x="0" y="6333744"/>
            <a:chExt cx="9144000" cy="524510"/>
          </a:xfrm>
        </p:grpSpPr>
        <p:sp>
          <p:nvSpPr>
            <p:cNvPr id="3" name="object 3"/>
            <p:cNvSpPr/>
            <p:nvPr/>
          </p:nvSpPr>
          <p:spPr>
            <a:xfrm>
              <a:off x="0" y="6400800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9144000" cy="67310"/>
            </a:xfrm>
            <a:custGeom>
              <a:avLst/>
              <a:gdLst/>
              <a:ahLst/>
              <a:cxnLst/>
              <a:rect l="l" t="t" r="r" b="b"/>
              <a:pathLst>
                <a:path w="9144000" h="67310">
                  <a:moveTo>
                    <a:pt x="9144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9144000" y="6705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94588" y="1737360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Barry</a:t>
            </a:r>
            <a:r>
              <a:rPr spc="-250" dirty="0"/>
              <a:t> </a:t>
            </a:r>
            <a:r>
              <a:rPr spc="-100" dirty="0"/>
              <a:t>Boehm’s</a:t>
            </a:r>
            <a:r>
              <a:rPr spc="-175" dirty="0"/>
              <a:t> </a:t>
            </a:r>
            <a:r>
              <a:rPr spc="-10" dirty="0"/>
              <a:t>Risk</a:t>
            </a:r>
            <a:r>
              <a:rPr spc="-215" dirty="0"/>
              <a:t> </a:t>
            </a:r>
            <a:r>
              <a:rPr spc="-25" dirty="0"/>
              <a:t>Engineering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2068" y="1764918"/>
            <a:ext cx="37376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solidFill>
                  <a:srgbClr val="404040"/>
                </a:solidFill>
                <a:latin typeface="Calibri"/>
                <a:cs typeface="Calibri"/>
              </a:rPr>
              <a:t>Task</a:t>
            </a:r>
            <a:r>
              <a:rPr sz="28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breakdown</a:t>
            </a:r>
            <a:r>
              <a:rPr sz="28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structure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4429" y="2387899"/>
            <a:ext cx="7509101" cy="362622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437" y="419176"/>
            <a:ext cx="77736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A</a:t>
            </a:r>
            <a:r>
              <a:rPr spc="-160" dirty="0">
                <a:solidFill>
                  <a:srgbClr val="000000"/>
                </a:solidFill>
              </a:rPr>
              <a:t> </a:t>
            </a:r>
            <a:r>
              <a:rPr spc="-114" dirty="0">
                <a:solidFill>
                  <a:srgbClr val="000000"/>
                </a:solidFill>
              </a:rPr>
              <a:t>framework</a:t>
            </a:r>
            <a:r>
              <a:rPr spc="-190" dirty="0">
                <a:solidFill>
                  <a:srgbClr val="000000"/>
                </a:solidFill>
              </a:rPr>
              <a:t> </a:t>
            </a:r>
            <a:r>
              <a:rPr spc="-95" dirty="0">
                <a:solidFill>
                  <a:srgbClr val="000000"/>
                </a:solidFill>
              </a:rPr>
              <a:t>for</a:t>
            </a:r>
            <a:r>
              <a:rPr spc="-140" dirty="0">
                <a:solidFill>
                  <a:srgbClr val="000000"/>
                </a:solidFill>
              </a:rPr>
              <a:t> </a:t>
            </a:r>
            <a:r>
              <a:rPr spc="-100" dirty="0">
                <a:solidFill>
                  <a:srgbClr val="000000"/>
                </a:solidFill>
              </a:rPr>
              <a:t>dealing</a:t>
            </a:r>
            <a:r>
              <a:rPr spc="-175" dirty="0">
                <a:solidFill>
                  <a:srgbClr val="000000"/>
                </a:solidFill>
              </a:rPr>
              <a:t> </a:t>
            </a:r>
            <a:r>
              <a:rPr spc="-75" dirty="0">
                <a:solidFill>
                  <a:srgbClr val="000000"/>
                </a:solidFill>
              </a:rPr>
              <a:t>with</a:t>
            </a:r>
            <a:r>
              <a:rPr spc="-19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risk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759" y="1185164"/>
            <a:ext cx="8810625" cy="1875789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planning</a:t>
            </a:r>
            <a:r>
              <a:rPr sz="2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2400" b="1" spc="-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4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includes</a:t>
            </a:r>
            <a:r>
              <a:rPr sz="24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these</a:t>
            </a:r>
            <a:r>
              <a:rPr sz="24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steps(Barry</a:t>
            </a:r>
            <a:r>
              <a:rPr sz="24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Boehm):</a:t>
            </a:r>
            <a:endParaRPr sz="2400">
              <a:latin typeface="Times New Roman"/>
              <a:cs typeface="Times New Roman"/>
            </a:endParaRPr>
          </a:p>
          <a:p>
            <a:pPr marL="104139" marR="5080">
              <a:lnSpc>
                <a:spcPts val="2590"/>
              </a:lnSpc>
              <a:spcBef>
                <a:spcPts val="1445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1.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identification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2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what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risks</a:t>
            </a:r>
            <a:r>
              <a:rPr sz="2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might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there</a:t>
            </a:r>
            <a:r>
              <a:rPr sz="2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be?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Eg.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what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the </a:t>
            </a:r>
            <a:r>
              <a:rPr sz="2400" b="1" dirty="0">
                <a:latin typeface="Times New Roman"/>
                <a:cs typeface="Times New Roman"/>
              </a:rPr>
              <a:t>risks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project?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Approaches</a:t>
            </a:r>
            <a:r>
              <a:rPr sz="24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4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identifying</a:t>
            </a:r>
            <a:r>
              <a:rPr sz="2400" b="1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risks</a:t>
            </a:r>
            <a:r>
              <a:rPr sz="2400" b="1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include: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9927" y="3050794"/>
            <a:ext cx="5922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Font typeface="Calibri"/>
              <a:buChar char="◦"/>
              <a:tabLst>
                <a:tab pos="194945" algn="l"/>
                <a:tab pos="836930" algn="l"/>
                <a:tab pos="1259205" algn="l"/>
                <a:tab pos="2681605" algn="l"/>
                <a:tab pos="3001645" algn="l"/>
                <a:tab pos="4102100" algn="l"/>
                <a:tab pos="5013325" algn="l"/>
                <a:tab pos="5502910" algn="l"/>
              </a:tabLst>
            </a:pP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Use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checklists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usually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6623" y="3096386"/>
            <a:ext cx="2595880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620"/>
              </a:lnSpc>
              <a:tabLst>
                <a:tab pos="1555115" algn="l"/>
                <a:tab pos="1977389" algn="l"/>
              </a:tabLst>
            </a:pP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experience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past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5571" y="3425571"/>
            <a:ext cx="1198245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projects.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3112" y="3785742"/>
            <a:ext cx="133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E38312"/>
                </a:solidFill>
                <a:latin typeface="Calibri"/>
                <a:cs typeface="Calibri"/>
              </a:rPr>
              <a:t>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8451" y="3830954"/>
            <a:ext cx="4714240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5"/>
              </a:lnSpc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Suggests</a:t>
            </a:r>
            <a:r>
              <a:rPr sz="2400" b="1" spc="-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potential</a:t>
            </a:r>
            <a:r>
              <a:rPr sz="2400" b="1" spc="-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countermeasures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9927" y="4191127"/>
            <a:ext cx="3350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Font typeface="Calibri"/>
              <a:buChar char="◦"/>
              <a:tabLst>
                <a:tab pos="194945" algn="l"/>
              </a:tabLst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Brainstorming</a:t>
            </a:r>
            <a:r>
              <a:rPr sz="2400" b="1" spc="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2400" b="1" spc="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getting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64864" y="4236339"/>
            <a:ext cx="3752215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625"/>
              </a:lnSpc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knowledgeable</a:t>
            </a:r>
            <a:r>
              <a:rPr sz="2400" b="1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stakeholders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05521" y="4191127"/>
            <a:ext cx="1447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together</a:t>
            </a:r>
            <a:r>
              <a:rPr sz="2400" b="1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3112" y="4520310"/>
            <a:ext cx="18122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pool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concerns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9144000" cy="524510"/>
            <a:chOff x="0" y="6333744"/>
            <a:chExt cx="9144000" cy="524510"/>
          </a:xfrm>
        </p:grpSpPr>
        <p:sp>
          <p:nvSpPr>
            <p:cNvPr id="3" name="object 3"/>
            <p:cNvSpPr/>
            <p:nvPr/>
          </p:nvSpPr>
          <p:spPr>
            <a:xfrm>
              <a:off x="0" y="6400800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9144000" cy="67310"/>
            </a:xfrm>
            <a:custGeom>
              <a:avLst/>
              <a:gdLst/>
              <a:ahLst/>
              <a:cxnLst/>
              <a:rect l="l" t="t" r="r" b="b"/>
              <a:pathLst>
                <a:path w="9144000" h="67310">
                  <a:moveTo>
                    <a:pt x="9144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9144000" y="6705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439" y="1711070"/>
          <a:ext cx="8935720" cy="4563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6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9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000" i="1" spc="-20" dirty="0">
                          <a:latin typeface="Times New Roman"/>
                          <a:cs typeface="Times New Roman"/>
                        </a:rPr>
                        <a:t>Risk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000" i="1" dirty="0">
                          <a:latin typeface="Times New Roman"/>
                          <a:cs typeface="Times New Roman"/>
                        </a:rPr>
                        <a:t>Risk</a:t>
                      </a:r>
                      <a:r>
                        <a:rPr sz="2000" i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i="1" dirty="0">
                          <a:latin typeface="Times New Roman"/>
                          <a:cs typeface="Times New Roman"/>
                        </a:rPr>
                        <a:t>reduction</a:t>
                      </a:r>
                      <a:r>
                        <a:rPr sz="20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i="1" spc="-10" dirty="0">
                          <a:latin typeface="Times New Roman"/>
                          <a:cs typeface="Times New Roman"/>
                        </a:rPr>
                        <a:t>techniques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2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Personnel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shortfalls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4340" marR="156845" indent="-342900">
                        <a:lnSpc>
                          <a:spcPct val="1002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Staffing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top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talent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;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job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matching;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teambuilding;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career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development;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early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scheduling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personnel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marL="433705" marR="358775" indent="-342900">
                        <a:lnSpc>
                          <a:spcPct val="100499"/>
                        </a:lnSpc>
                        <a:spcBef>
                          <a:spcPts val="28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Unrealistic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cost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estimates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4340" marR="248920" indent="-342900">
                        <a:lnSpc>
                          <a:spcPct val="100299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estimation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techniques;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20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cost;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incremental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development;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recording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past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projects;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standardization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methods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433705" marR="660400" indent="-342900">
                        <a:lnSpc>
                          <a:spcPct val="100499"/>
                        </a:lnSpc>
                        <a:spcBef>
                          <a:spcPts val="28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Developing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wrong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functions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4340" marR="431800" indent="-342900">
                        <a:lnSpc>
                          <a:spcPct val="100299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sz="20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20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evaluation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;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formal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specification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methods;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surveys;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prototyping;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early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manuals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4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Developing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wrong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user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3370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interface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Prototyping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;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analysis;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involvement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6827" y="100329"/>
            <a:ext cx="8213725" cy="150749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384175">
              <a:lnSpc>
                <a:spcPts val="3670"/>
              </a:lnSpc>
              <a:spcBef>
                <a:spcPts val="760"/>
              </a:spcBef>
            </a:pPr>
            <a:r>
              <a:rPr sz="3600" spc="-35" dirty="0"/>
              <a:t>Risk</a:t>
            </a:r>
            <a:r>
              <a:rPr sz="3600" spc="-145" dirty="0"/>
              <a:t> </a:t>
            </a:r>
            <a:r>
              <a:rPr sz="3600" spc="-65" dirty="0"/>
              <a:t>Identification:</a:t>
            </a:r>
            <a:r>
              <a:rPr sz="3600" spc="-120" dirty="0"/>
              <a:t> </a:t>
            </a:r>
            <a:r>
              <a:rPr sz="3600" spc="-90" dirty="0"/>
              <a:t>Boehm’s</a:t>
            </a:r>
            <a:r>
              <a:rPr sz="3600" spc="-120" dirty="0"/>
              <a:t> </a:t>
            </a:r>
            <a:r>
              <a:rPr sz="3600" spc="-40" dirty="0"/>
              <a:t>top</a:t>
            </a:r>
            <a:r>
              <a:rPr sz="3600" spc="-125" dirty="0"/>
              <a:t> </a:t>
            </a:r>
            <a:r>
              <a:rPr sz="3600" dirty="0"/>
              <a:t>10</a:t>
            </a:r>
            <a:r>
              <a:rPr sz="3600" spc="-114" dirty="0"/>
              <a:t> </a:t>
            </a:r>
            <a:r>
              <a:rPr sz="3600" spc="-25" dirty="0"/>
              <a:t>Software </a:t>
            </a:r>
            <a:r>
              <a:rPr sz="3600" spc="-65" dirty="0"/>
              <a:t>development</a:t>
            </a:r>
            <a:r>
              <a:rPr sz="3600" spc="-105" dirty="0"/>
              <a:t> </a:t>
            </a:r>
            <a:r>
              <a:rPr sz="3600" spc="-10" dirty="0"/>
              <a:t>risks</a:t>
            </a:r>
            <a:endParaRPr sz="3600"/>
          </a:p>
          <a:p>
            <a:pPr marL="12700">
              <a:lnSpc>
                <a:spcPts val="3665"/>
              </a:lnSpc>
            </a:pPr>
            <a:r>
              <a:rPr sz="3600" spc="-100" dirty="0"/>
              <a:t>Table:</a:t>
            </a:r>
            <a:r>
              <a:rPr sz="3600" spc="-90" dirty="0"/>
              <a:t> </a:t>
            </a:r>
            <a:r>
              <a:rPr sz="2800" spc="-60" dirty="0"/>
              <a:t>Software</a:t>
            </a:r>
            <a:r>
              <a:rPr sz="2800" spc="-95" dirty="0"/>
              <a:t> </a:t>
            </a:r>
            <a:r>
              <a:rPr sz="2800" spc="-65" dirty="0"/>
              <a:t>project</a:t>
            </a:r>
            <a:r>
              <a:rPr sz="2800" spc="-75" dirty="0"/>
              <a:t> </a:t>
            </a:r>
            <a:r>
              <a:rPr sz="2800" spc="-60" dirty="0"/>
              <a:t>risks</a:t>
            </a:r>
            <a:r>
              <a:rPr sz="2800" spc="-90" dirty="0"/>
              <a:t> </a:t>
            </a:r>
            <a:r>
              <a:rPr sz="2800" dirty="0"/>
              <a:t>&amp;</a:t>
            </a:r>
            <a:r>
              <a:rPr sz="2800" spc="-85" dirty="0"/>
              <a:t> </a:t>
            </a:r>
            <a:r>
              <a:rPr sz="2800" spc="-70" dirty="0"/>
              <a:t>strategies for</a:t>
            </a:r>
            <a:r>
              <a:rPr sz="2800" spc="-85" dirty="0"/>
              <a:t> </a:t>
            </a:r>
            <a:r>
              <a:rPr sz="2800" spc="-45" dirty="0"/>
              <a:t>risk</a:t>
            </a:r>
            <a:r>
              <a:rPr sz="2800" spc="-80" dirty="0"/>
              <a:t> </a:t>
            </a:r>
            <a:r>
              <a:rPr sz="2800" spc="-10" dirty="0"/>
              <a:t>reduction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8171180" y="6546291"/>
            <a:ext cx="1600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21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540" y="93344"/>
            <a:ext cx="693547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100" dirty="0"/>
              <a:t>Boehm’s</a:t>
            </a:r>
            <a:r>
              <a:rPr sz="4300" spc="-145" dirty="0"/>
              <a:t> </a:t>
            </a:r>
            <a:r>
              <a:rPr sz="4300" spc="-20" dirty="0"/>
              <a:t>top</a:t>
            </a:r>
            <a:r>
              <a:rPr sz="4300" spc="-225" dirty="0"/>
              <a:t> </a:t>
            </a:r>
            <a:r>
              <a:rPr sz="4300" spc="-35" dirty="0"/>
              <a:t>ten</a:t>
            </a:r>
            <a:r>
              <a:rPr sz="4300" spc="-190" dirty="0"/>
              <a:t> </a:t>
            </a:r>
            <a:r>
              <a:rPr sz="4300" spc="-10" dirty="0"/>
              <a:t>risk</a:t>
            </a:r>
            <a:r>
              <a:rPr sz="4300" spc="-125" dirty="0"/>
              <a:t> </a:t>
            </a:r>
            <a:r>
              <a:rPr sz="4300" dirty="0"/>
              <a:t>-</a:t>
            </a:r>
            <a:r>
              <a:rPr sz="4300" spc="-175" dirty="0"/>
              <a:t> </a:t>
            </a:r>
            <a:r>
              <a:rPr sz="4300" spc="-25" dirty="0"/>
              <a:t>continued</a:t>
            </a:r>
            <a:endParaRPr sz="43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7258" y="904049"/>
          <a:ext cx="8533765" cy="5160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2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10640">
                <a:tc>
                  <a:txBody>
                    <a:bodyPr/>
                    <a:lstStyle/>
                    <a:p>
                      <a:pPr marL="91440" marR="82550" algn="just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Gold</a:t>
                      </a:r>
                      <a:r>
                        <a:rPr sz="2000" spc="13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plating</a:t>
                      </a:r>
                      <a:r>
                        <a:rPr sz="2000" spc="13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spc="14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inclusion</a:t>
                      </a:r>
                      <a:r>
                        <a:rPr sz="2000" spc="13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2000" spc="16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2000" spc="16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000" spc="17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fact</a:t>
                      </a:r>
                      <a:r>
                        <a:rPr sz="2000" spc="16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unnecessary</a:t>
                      </a:r>
                      <a:r>
                        <a:rPr sz="2000" spc="7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6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sz="2000" b="1" spc="7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end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never</a:t>
                      </a: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actually</a:t>
                      </a: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being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used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Requirements</a:t>
                      </a:r>
                      <a:r>
                        <a:rPr sz="20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scrubbing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prototyping,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cost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4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Late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changes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requirements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20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control,</a:t>
                      </a:r>
                      <a:r>
                        <a:rPr sz="20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incremental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development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Shortfalls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externally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supplied</a:t>
                      </a: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components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2075" marR="4622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Benchmarking,</a:t>
                      </a:r>
                      <a:r>
                        <a:rPr sz="20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inspections,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formal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specifications,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contractual</a:t>
                      </a:r>
                      <a:r>
                        <a:rPr sz="20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agreements,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quality controls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8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Shortfalls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externally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performed</a:t>
                      </a:r>
                      <a:r>
                        <a:rPr sz="20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tasks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2075" marR="6134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20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assurance</a:t>
                      </a:r>
                      <a:r>
                        <a:rPr sz="20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procedures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competitive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design,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etc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91440" marR="8509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Real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performance problems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Simulation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0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prototyping,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tuning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91440" marR="2482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technically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too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difficult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2075" marR="9321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Technical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cost-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benefit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analysis,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prototyping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training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171180" y="6546291"/>
            <a:ext cx="1600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22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274" y="1544315"/>
            <a:ext cx="4220845" cy="408432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Staff</a:t>
            </a:r>
            <a:r>
              <a:rPr sz="2400" b="1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Factors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38500"/>
              </a:lnSpc>
              <a:spcBef>
                <a:spcPts val="10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4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Factors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/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Method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Hardware</a:t>
            </a:r>
            <a:r>
              <a:rPr sz="2400" b="1" spc="-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b="1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Software</a:t>
            </a:r>
            <a:r>
              <a:rPr sz="2400" b="1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Factors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Change</a:t>
            </a:r>
            <a:r>
              <a:rPr sz="24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Factors</a:t>
            </a:r>
            <a:endParaRPr sz="2400">
              <a:latin typeface="Times New Roman"/>
              <a:cs typeface="Times New Roman"/>
            </a:endParaRPr>
          </a:p>
          <a:p>
            <a:pPr marL="12700" marR="806450">
              <a:lnSpc>
                <a:spcPct val="138600"/>
              </a:lnSpc>
              <a:spcBef>
                <a:spcPts val="5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Supplier</a:t>
            </a:r>
            <a:r>
              <a:rPr sz="2400" b="1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Factors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Application</a:t>
            </a:r>
            <a:r>
              <a:rPr sz="24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Factors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Environmental</a:t>
            </a:r>
            <a:r>
              <a:rPr sz="2400" b="1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Factors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Health</a:t>
            </a:r>
            <a:r>
              <a:rPr sz="2400" b="1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Safety</a:t>
            </a:r>
            <a:r>
              <a:rPr sz="24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Factors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370" y="711784"/>
            <a:ext cx="652208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Factors</a:t>
            </a:r>
            <a:r>
              <a:rPr sz="32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to consider</a:t>
            </a:r>
            <a:r>
              <a:rPr sz="32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in risk </a:t>
            </a: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identification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4588" y="1737360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1998090"/>
            <a:ext cx="776097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b="1" dirty="0">
                <a:latin typeface="Times New Roman"/>
                <a:cs typeface="Times New Roman"/>
              </a:rPr>
              <a:t>Risk</a:t>
            </a:r>
            <a:r>
              <a:rPr sz="2400" b="1" spc="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assessment/analysis</a:t>
            </a:r>
            <a:r>
              <a:rPr sz="2400" b="1" spc="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prioritization</a:t>
            </a:r>
            <a:r>
              <a:rPr sz="2400" b="1" spc="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which</a:t>
            </a:r>
            <a:r>
              <a:rPr sz="2400" b="1" spc="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are</a:t>
            </a:r>
            <a:r>
              <a:rPr sz="2400" b="1" spc="3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the </a:t>
            </a:r>
            <a:r>
              <a:rPr sz="2400" b="1" dirty="0">
                <a:latin typeface="Times New Roman"/>
                <a:cs typeface="Times New Roman"/>
              </a:rPr>
              <a:t>most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serious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risks?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9027" y="2656459"/>
            <a:ext cx="4211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Eg.</a:t>
            </a:r>
            <a:r>
              <a:rPr sz="2400" spc="1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2400" b="1" spc="1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high-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risk</a:t>
            </a:r>
            <a:r>
              <a:rPr sz="2400" b="1" spc="1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event</a:t>
            </a:r>
            <a:r>
              <a:rPr sz="2400" b="1" spc="1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could</a:t>
            </a:r>
            <a:r>
              <a:rPr sz="2400" b="1" spc="1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be</a:t>
            </a:r>
            <a:r>
              <a:rPr sz="2400" b="1" spc="1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52644" y="2702051"/>
            <a:ext cx="3435350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620"/>
              </a:lnSpc>
            </a:pP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data</a:t>
            </a:r>
            <a:r>
              <a:rPr sz="2400" b="1" spc="114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breach</a:t>
            </a:r>
            <a:r>
              <a:rPr sz="2400" b="1" spc="114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or</a:t>
            </a:r>
            <a:r>
              <a:rPr sz="2400" b="1" spc="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2400" b="1" spc="1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loss</a:t>
            </a:r>
            <a:r>
              <a:rPr sz="2400" b="1" spc="1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7240" y="3031235"/>
            <a:ext cx="2360930" cy="337185"/>
          </a:xfrm>
          <a:custGeom>
            <a:avLst/>
            <a:gdLst/>
            <a:ahLst/>
            <a:cxnLst/>
            <a:rect l="l" t="t" r="r" b="b"/>
            <a:pathLst>
              <a:path w="2360930" h="337185">
                <a:moveTo>
                  <a:pt x="987539" y="0"/>
                </a:moveTo>
                <a:lnTo>
                  <a:pt x="915924" y="0"/>
                </a:lnTo>
                <a:lnTo>
                  <a:pt x="0" y="0"/>
                </a:lnTo>
                <a:lnTo>
                  <a:pt x="0" y="336804"/>
                </a:lnTo>
                <a:lnTo>
                  <a:pt x="915924" y="336804"/>
                </a:lnTo>
                <a:lnTo>
                  <a:pt x="987539" y="336804"/>
                </a:lnTo>
                <a:lnTo>
                  <a:pt x="987539" y="0"/>
                </a:lnTo>
                <a:close/>
              </a:path>
              <a:path w="2360930" h="337185">
                <a:moveTo>
                  <a:pt x="2360676" y="0"/>
                </a:moveTo>
                <a:lnTo>
                  <a:pt x="987552" y="0"/>
                </a:lnTo>
                <a:lnTo>
                  <a:pt x="987552" y="336804"/>
                </a:lnTo>
                <a:lnTo>
                  <a:pt x="2360676" y="336804"/>
                </a:lnTo>
                <a:lnTo>
                  <a:pt x="236067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4540" y="2985642"/>
            <a:ext cx="7763509" cy="3025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2735"/>
              </a:lnSpc>
              <a:spcBef>
                <a:spcPts val="100"/>
              </a:spcBef>
            </a:pP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critical</a:t>
            </a:r>
            <a:r>
              <a:rPr sz="24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operations</a:t>
            </a:r>
            <a:r>
              <a:rPr sz="2400" spc="-10" dirty="0">
                <a:solidFill>
                  <a:srgbClr val="1F2023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90000"/>
              </a:lnSpc>
              <a:spcBef>
                <a:spcPts val="140"/>
              </a:spcBef>
            </a:pP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2400" spc="290" dirty="0">
                <a:solidFill>
                  <a:srgbClr val="1F2023"/>
                </a:solidFill>
                <a:latin typeface="Times New Roman"/>
                <a:cs typeface="Times New Roman"/>
              </a:rPr>
              <a:t>  </a:t>
            </a:r>
            <a:r>
              <a:rPr sz="2400" spc="-10" dirty="0">
                <a:solidFill>
                  <a:srgbClr val="1F2023"/>
                </a:solidFill>
                <a:latin typeface="Times New Roman"/>
                <a:cs typeface="Times New Roman"/>
              </a:rPr>
              <a:t>low-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level</a:t>
            </a:r>
            <a:r>
              <a:rPr sz="2400" spc="360" dirty="0">
                <a:solidFill>
                  <a:srgbClr val="1F2023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risk</a:t>
            </a:r>
            <a:r>
              <a:rPr sz="2400" spc="365" dirty="0">
                <a:solidFill>
                  <a:srgbClr val="1F2023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might</a:t>
            </a:r>
            <a:r>
              <a:rPr sz="2400" spc="365" dirty="0">
                <a:solidFill>
                  <a:srgbClr val="1F2023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be</a:t>
            </a:r>
            <a:r>
              <a:rPr sz="2400" spc="355" dirty="0">
                <a:solidFill>
                  <a:srgbClr val="1F2023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2400" b="1" spc="355" dirty="0">
                <a:solidFill>
                  <a:srgbClr val="1F2023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minor</a:t>
            </a:r>
            <a:r>
              <a:rPr sz="2400" b="1" spc="335" dirty="0">
                <a:solidFill>
                  <a:srgbClr val="1F2023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budget</a:t>
            </a:r>
            <a:r>
              <a:rPr sz="2400" b="1" spc="365" dirty="0">
                <a:solidFill>
                  <a:srgbClr val="1F2023"/>
                </a:solidFill>
                <a:latin typeface="Times New Roman"/>
                <a:cs typeface="Times New Roman"/>
              </a:rPr>
              <a:t>  </a:t>
            </a:r>
            <a:r>
              <a:rPr sz="24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overrun</a:t>
            </a:r>
            <a:r>
              <a:rPr sz="2400" spc="-10" dirty="0">
                <a:solidFill>
                  <a:srgbClr val="1F2023"/>
                </a:solidFill>
                <a:latin typeface="Times New Roman"/>
                <a:cs typeface="Times New Roman"/>
              </a:rPr>
              <a:t>.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Regardless</a:t>
            </a:r>
            <a:r>
              <a:rPr sz="2400" spc="4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2400" spc="4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specific</a:t>
            </a:r>
            <a:r>
              <a:rPr sz="2400" spc="459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prioritization</a:t>
            </a:r>
            <a:r>
              <a:rPr sz="2400" spc="4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approach,</a:t>
            </a:r>
            <a:r>
              <a:rPr sz="2400" spc="4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2400" spc="4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idea</a:t>
            </a:r>
            <a:r>
              <a:rPr sz="2400" spc="4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2400" spc="4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1F2023"/>
                </a:solidFill>
                <a:latin typeface="Times New Roman"/>
                <a:cs typeface="Times New Roman"/>
              </a:rPr>
              <a:t>to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rank</a:t>
            </a:r>
            <a:r>
              <a:rPr sz="24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from</a:t>
            </a:r>
            <a:r>
              <a:rPr sz="2400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low risk</a:t>
            </a:r>
            <a:r>
              <a:rPr sz="2400" spc="-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24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high</a:t>
            </a:r>
            <a:r>
              <a:rPr sz="24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F2023"/>
                </a:solidFill>
                <a:latin typeface="Times New Roman"/>
                <a:cs typeface="Times New Roman"/>
              </a:rPr>
              <a:t>risk.</a:t>
            </a: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2305"/>
              </a:spcBef>
              <a:buAutoNum type="arabicPeriod" startAt="3"/>
              <a:tabLst>
                <a:tab pos="317500" algn="l"/>
              </a:tabLst>
            </a:pPr>
            <a:r>
              <a:rPr sz="2400" b="1" dirty="0">
                <a:latin typeface="Times New Roman"/>
                <a:cs typeface="Times New Roman"/>
              </a:rPr>
              <a:t>Risk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planning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what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going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do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about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them?</a:t>
            </a:r>
            <a:endParaRPr sz="2400">
              <a:latin typeface="Times New Roman"/>
              <a:cs typeface="Times New Roman"/>
            </a:endParaRPr>
          </a:p>
          <a:p>
            <a:pPr marL="12700" marR="7620" indent="332105">
              <a:lnSpc>
                <a:spcPts val="2590"/>
              </a:lnSpc>
              <a:spcBef>
                <a:spcPts val="2635"/>
              </a:spcBef>
              <a:buAutoNum type="arabicPeriod" startAt="3"/>
              <a:tabLst>
                <a:tab pos="344805" algn="l"/>
              </a:tabLst>
            </a:pPr>
            <a:r>
              <a:rPr sz="2400" b="1" dirty="0">
                <a:latin typeface="Times New Roman"/>
                <a:cs typeface="Times New Roman"/>
              </a:rPr>
              <a:t>Risk</a:t>
            </a:r>
            <a:r>
              <a:rPr sz="2400" b="1" spc="1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monitoring</a:t>
            </a:r>
            <a:r>
              <a:rPr sz="2400" b="1" spc="1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1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what</a:t>
            </a:r>
            <a:r>
              <a:rPr sz="2400" b="1" spc="1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1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current</a:t>
            </a:r>
            <a:r>
              <a:rPr sz="2400" b="1" spc="1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state</a:t>
            </a:r>
            <a:r>
              <a:rPr sz="2400" b="1" spc="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1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9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risk? </a:t>
            </a:r>
            <a:r>
              <a:rPr sz="2400" b="1" dirty="0">
                <a:latin typeface="Times New Roman"/>
                <a:cs typeface="Times New Roman"/>
              </a:rPr>
              <a:t>Has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planning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worked?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5772" y="170179"/>
            <a:ext cx="709422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60" dirty="0">
                <a:latin typeface="Times New Roman"/>
                <a:cs typeface="Times New Roman"/>
              </a:rPr>
              <a:t>Risk</a:t>
            </a:r>
            <a:r>
              <a:rPr sz="4300" spc="-335" dirty="0">
                <a:latin typeface="Times New Roman"/>
                <a:cs typeface="Times New Roman"/>
              </a:rPr>
              <a:t> </a:t>
            </a:r>
            <a:r>
              <a:rPr sz="4300" spc="-50" dirty="0">
                <a:latin typeface="Times New Roman"/>
                <a:cs typeface="Times New Roman"/>
              </a:rPr>
              <a:t>Assessment</a:t>
            </a:r>
            <a:r>
              <a:rPr sz="4300" spc="-165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&amp;</a:t>
            </a:r>
            <a:r>
              <a:rPr sz="4300" spc="-160" dirty="0">
                <a:latin typeface="Times New Roman"/>
                <a:cs typeface="Times New Roman"/>
              </a:rPr>
              <a:t> </a:t>
            </a:r>
            <a:r>
              <a:rPr sz="4300" spc="-35" dirty="0">
                <a:latin typeface="Times New Roman"/>
                <a:cs typeface="Times New Roman"/>
              </a:rPr>
              <a:t>Prioritization</a:t>
            </a:r>
            <a:endParaRPr sz="4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1088491"/>
            <a:ext cx="8256270" cy="133350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-</a:t>
            </a:r>
            <a:r>
              <a:rPr sz="2600" b="1" spc="-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600" b="1" spc="-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way</a:t>
            </a:r>
            <a:r>
              <a:rPr sz="26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6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distinguish</a:t>
            </a:r>
            <a:r>
              <a:rPr sz="26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6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damage</a:t>
            </a:r>
            <a:r>
              <a:rPr sz="26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6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likely </a:t>
            </a:r>
            <a:r>
              <a:rPr sz="2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risks</a:t>
            </a:r>
            <a:endParaRPr sz="2600">
              <a:latin typeface="Times New Roman"/>
              <a:cs typeface="Times New Roman"/>
            </a:endParaRPr>
          </a:p>
          <a:p>
            <a:pPr marL="104139" marR="5080" indent="-91440">
              <a:lnSpc>
                <a:spcPct val="80000"/>
              </a:lnSpc>
              <a:spcBef>
                <a:spcPts val="1400"/>
              </a:spcBef>
              <a:tabLst>
                <a:tab pos="3065780" algn="l"/>
              </a:tabLst>
            </a:pP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600" b="1" spc="2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exposure</a:t>
            </a:r>
            <a:r>
              <a:rPr sz="2600" b="1" spc="2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(RE)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2600" spc="2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(potential</a:t>
            </a:r>
            <a:r>
              <a:rPr sz="2600" spc="2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damage)</a:t>
            </a:r>
            <a:r>
              <a:rPr sz="2600" spc="2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x</a:t>
            </a:r>
            <a:r>
              <a:rPr sz="2600" spc="25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(probability</a:t>
            </a:r>
            <a:r>
              <a:rPr sz="2600" spc="2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occurrence)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2519045"/>
            <a:ext cx="3083560" cy="4038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05"/>
              </a:lnSpc>
            </a:pP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Quantitative</a:t>
            </a:r>
            <a:r>
              <a:rPr sz="2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approach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2890240"/>
            <a:ext cx="8258809" cy="101600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600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Ideally,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1412875" algn="l"/>
                <a:tab pos="2742565" algn="l"/>
                <a:tab pos="3097530" algn="l"/>
                <a:tab pos="4389755" algn="l"/>
                <a:tab pos="4819650" algn="l"/>
                <a:tab pos="5121910" algn="l"/>
                <a:tab pos="6193155" algn="l"/>
                <a:tab pos="7082155" algn="l"/>
                <a:tab pos="7694295" algn="l"/>
              </a:tabLst>
            </a:pPr>
            <a:r>
              <a:rPr sz="2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Potential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damage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assessed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6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6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money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6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value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e.g.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data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1167" y="3849496"/>
            <a:ext cx="3039110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840"/>
              </a:lnSpc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requiring</a:t>
            </a:r>
            <a:r>
              <a:rPr sz="2600" spc="2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Rs.5,00,000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3800983"/>
            <a:ext cx="8166734" cy="7397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725"/>
              </a:spcBef>
              <a:tabLst>
                <a:tab pos="6514465" algn="l"/>
              </a:tabLst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centre</a:t>
            </a:r>
            <a:r>
              <a:rPr sz="2600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vulnerable</a:t>
            </a:r>
            <a:r>
              <a:rPr sz="2600" spc="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600" spc="2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Fire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	to</a:t>
            </a:r>
            <a:r>
              <a:rPr sz="2600" spc="2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configure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new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data</a:t>
            </a:r>
            <a:r>
              <a:rPr sz="2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centre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500" y="4613528"/>
            <a:ext cx="8256905" cy="123317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04139" marR="5080" indent="-91440">
              <a:lnSpc>
                <a:spcPct val="80000"/>
              </a:lnSpc>
              <a:spcBef>
                <a:spcPts val="725"/>
              </a:spcBef>
            </a:pP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Probability</a:t>
            </a:r>
            <a:r>
              <a:rPr sz="2600" b="1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Chance</a:t>
            </a:r>
            <a:r>
              <a:rPr sz="2600" spc="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600" spc="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2600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6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1000</a:t>
            </a:r>
            <a:r>
              <a:rPr sz="2600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2600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fire</a:t>
            </a:r>
            <a:r>
              <a:rPr sz="2600" spc="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actually</a:t>
            </a:r>
            <a:r>
              <a:rPr sz="26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happening</a:t>
            </a:r>
            <a:r>
              <a:rPr sz="2600" spc="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50" dirty="0">
                <a:solidFill>
                  <a:srgbClr val="404040"/>
                </a:solidFill>
                <a:latin typeface="Times New Roman"/>
                <a:cs typeface="Times New Roman"/>
              </a:rPr>
              <a:t>;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hence</a:t>
            </a:r>
            <a:r>
              <a:rPr sz="2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probability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0.001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RE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= Rs.500000</a:t>
            </a:r>
            <a:r>
              <a:rPr sz="2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x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0.001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Rs.500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71180" y="6546291"/>
            <a:ext cx="1600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25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4588" y="1737360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1827402"/>
            <a:ext cx="7478395" cy="7791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455"/>
              </a:spcBef>
              <a:tabLst>
                <a:tab pos="572135" algn="l"/>
                <a:tab pos="2235200" algn="l"/>
                <a:tab pos="2926715" algn="l"/>
                <a:tab pos="3856354" algn="l"/>
                <a:tab pos="4344670" algn="l"/>
                <a:tab pos="4723765" algn="l"/>
                <a:tab pos="6316980" algn="l"/>
                <a:tab pos="7117080" algn="l"/>
              </a:tabLst>
            </a:pPr>
            <a:r>
              <a:rPr sz="2600" spc="-25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understand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value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6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minimum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6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sum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6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an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insurance</a:t>
            </a:r>
            <a:r>
              <a:rPr sz="26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company</a:t>
            </a:r>
            <a:r>
              <a:rPr sz="26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would</a:t>
            </a:r>
            <a:r>
              <a:rPr sz="26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require</a:t>
            </a:r>
            <a:r>
              <a:rPr sz="26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26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6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premium,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08988" y="2767710"/>
            <a:ext cx="2197735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0"/>
              </a:lnSpc>
            </a:pP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100</a:t>
            </a:r>
            <a:r>
              <a:rPr sz="2600" b="1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companies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2719197"/>
            <a:ext cx="747903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105150" algn="l"/>
              </a:tabLst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600" spc="2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	all</a:t>
            </a:r>
            <a:r>
              <a:rPr sz="2600" b="1" spc="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600" b="1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same</a:t>
            </a:r>
            <a:r>
              <a:rPr sz="2600" b="1" spc="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position</a:t>
            </a:r>
            <a:r>
              <a:rPr sz="2600" b="1" spc="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contribute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3133470"/>
            <a:ext cx="2517775" cy="35687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0"/>
              </a:lnSpc>
            </a:pP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Rs.5000</a:t>
            </a:r>
            <a:r>
              <a:rPr sz="2600" b="1" spc="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600" b="1" spc="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600" b="1" spc="1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fund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19983" y="3075813"/>
            <a:ext cx="496252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600" b="1" spc="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then,</a:t>
            </a:r>
            <a:r>
              <a:rPr sz="2600" spc="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when</a:t>
            </a:r>
            <a:r>
              <a:rPr sz="2600" spc="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2600" spc="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600" spc="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1000</a:t>
            </a:r>
            <a:r>
              <a:rPr sz="2600" spc="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chance</a:t>
            </a:r>
            <a:r>
              <a:rPr sz="2600" spc="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600" spc="1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700" y="3432428"/>
            <a:ext cx="7477759" cy="184785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455"/>
              </a:spcBef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fire</a:t>
            </a:r>
            <a:r>
              <a:rPr sz="2600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actually</a:t>
            </a:r>
            <a:r>
              <a:rPr sz="2600" spc="20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occurred,</a:t>
            </a:r>
            <a:r>
              <a:rPr sz="2600" spc="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there</a:t>
            </a:r>
            <a:r>
              <a:rPr sz="2600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could</a:t>
            </a:r>
            <a:r>
              <a:rPr sz="2600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600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enough</a:t>
            </a:r>
            <a:r>
              <a:rPr sz="2600" spc="2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money</a:t>
            </a:r>
            <a:r>
              <a:rPr sz="2600" spc="2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cover</a:t>
            </a:r>
            <a:r>
              <a:rPr sz="2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the cost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recovery.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60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335530" algn="l"/>
              </a:tabLst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i.e., 100*5000</a:t>
            </a:r>
            <a:r>
              <a:rPr sz="2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5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500000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9144000" cy="524510"/>
            <a:chOff x="0" y="6333744"/>
            <a:chExt cx="9144000" cy="524510"/>
          </a:xfrm>
        </p:grpSpPr>
        <p:sp>
          <p:nvSpPr>
            <p:cNvPr id="3" name="object 3"/>
            <p:cNvSpPr/>
            <p:nvPr/>
          </p:nvSpPr>
          <p:spPr>
            <a:xfrm>
              <a:off x="0" y="6400800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9144000" cy="67310"/>
            </a:xfrm>
            <a:custGeom>
              <a:avLst/>
              <a:gdLst/>
              <a:ahLst/>
              <a:cxnLst/>
              <a:rect l="l" t="t" r="r" b="b"/>
              <a:pathLst>
                <a:path w="9144000" h="67310">
                  <a:moveTo>
                    <a:pt x="9144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9144000" y="6705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4370" y="457657"/>
            <a:ext cx="7642859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Eg.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Assume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flood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would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cause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damage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5Lakhs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and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17342" y="4250054"/>
            <a:ext cx="5558155" cy="365760"/>
          </a:xfrm>
          <a:custGeom>
            <a:avLst/>
            <a:gdLst/>
            <a:ahLst/>
            <a:cxnLst/>
            <a:rect l="l" t="t" r="r" b="b"/>
            <a:pathLst>
              <a:path w="5558155" h="365760">
                <a:moveTo>
                  <a:pt x="2359139" y="0"/>
                </a:moveTo>
                <a:lnTo>
                  <a:pt x="800100" y="0"/>
                </a:lnTo>
                <a:lnTo>
                  <a:pt x="679704" y="0"/>
                </a:lnTo>
                <a:lnTo>
                  <a:pt x="0" y="0"/>
                </a:lnTo>
                <a:lnTo>
                  <a:pt x="0" y="365760"/>
                </a:lnTo>
                <a:lnTo>
                  <a:pt x="679704" y="365760"/>
                </a:lnTo>
                <a:lnTo>
                  <a:pt x="679704" y="356616"/>
                </a:lnTo>
                <a:lnTo>
                  <a:pt x="800100" y="356616"/>
                </a:lnTo>
                <a:lnTo>
                  <a:pt x="800100" y="365760"/>
                </a:lnTo>
                <a:lnTo>
                  <a:pt x="2359139" y="365760"/>
                </a:lnTo>
                <a:lnTo>
                  <a:pt x="2359139" y="0"/>
                </a:lnTo>
                <a:close/>
              </a:path>
              <a:path w="5558155" h="365760">
                <a:moveTo>
                  <a:pt x="3963911" y="0"/>
                </a:moveTo>
                <a:lnTo>
                  <a:pt x="2479548" y="0"/>
                </a:lnTo>
                <a:lnTo>
                  <a:pt x="2359152" y="0"/>
                </a:lnTo>
                <a:lnTo>
                  <a:pt x="2359152" y="356616"/>
                </a:lnTo>
                <a:lnTo>
                  <a:pt x="2479548" y="356616"/>
                </a:lnTo>
                <a:lnTo>
                  <a:pt x="2479548" y="365760"/>
                </a:lnTo>
                <a:lnTo>
                  <a:pt x="3963911" y="365760"/>
                </a:lnTo>
                <a:lnTo>
                  <a:pt x="3963911" y="0"/>
                </a:lnTo>
                <a:close/>
              </a:path>
              <a:path w="5558155" h="365760">
                <a:moveTo>
                  <a:pt x="4486643" y="0"/>
                </a:moveTo>
                <a:lnTo>
                  <a:pt x="4084320" y="0"/>
                </a:lnTo>
                <a:lnTo>
                  <a:pt x="3963924" y="0"/>
                </a:lnTo>
                <a:lnTo>
                  <a:pt x="3963924" y="356616"/>
                </a:lnTo>
                <a:lnTo>
                  <a:pt x="4084320" y="356616"/>
                </a:lnTo>
                <a:lnTo>
                  <a:pt x="4084320" y="365760"/>
                </a:lnTo>
                <a:lnTo>
                  <a:pt x="4486643" y="365760"/>
                </a:lnTo>
                <a:lnTo>
                  <a:pt x="4486643" y="0"/>
                </a:lnTo>
                <a:close/>
              </a:path>
              <a:path w="5558155" h="365760">
                <a:moveTo>
                  <a:pt x="5558028" y="0"/>
                </a:moveTo>
                <a:lnTo>
                  <a:pt x="4605528" y="0"/>
                </a:lnTo>
                <a:lnTo>
                  <a:pt x="4486656" y="0"/>
                </a:lnTo>
                <a:lnTo>
                  <a:pt x="4486656" y="356616"/>
                </a:lnTo>
                <a:lnTo>
                  <a:pt x="4605528" y="356616"/>
                </a:lnTo>
                <a:lnTo>
                  <a:pt x="4605528" y="365760"/>
                </a:lnTo>
                <a:lnTo>
                  <a:pt x="5558028" y="365760"/>
                </a:lnTo>
                <a:lnTo>
                  <a:pt x="555802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4370" y="993139"/>
            <a:ext cx="8216900" cy="3630929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algn="just">
              <a:lnSpc>
                <a:spcPts val="2810"/>
              </a:lnSpc>
              <a:spcBef>
                <a:spcPts val="455"/>
              </a:spcBef>
              <a:tabLst>
                <a:tab pos="7894955" algn="l"/>
              </a:tabLst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2600" spc="16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0.01</a:t>
            </a:r>
            <a:r>
              <a:rPr sz="2600" spc="1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(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one</a:t>
            </a:r>
            <a:r>
              <a:rPr sz="2600" b="1" spc="1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600" b="1" spc="1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hundred</a:t>
            </a:r>
            <a:r>
              <a:rPr sz="2600" b="1" spc="17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chance)</a:t>
            </a:r>
            <a:r>
              <a:rPr sz="2600" b="1" spc="16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600" spc="16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600" spc="1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probability</a:t>
            </a:r>
            <a:r>
              <a:rPr sz="2600" spc="17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600" spc="-25" dirty="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occ</a:t>
            </a:r>
            <a:r>
              <a:rPr sz="2600" u="sng" spc="-1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urrence</a:t>
            </a:r>
            <a:r>
              <a:rPr sz="2600" u="sng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	</a:t>
            </a:r>
            <a:endParaRPr sz="26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50"/>
              </a:spcBef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RE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5 Lakhs</a:t>
            </a:r>
            <a:r>
              <a:rPr sz="2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x 0.01</a:t>
            </a:r>
            <a:r>
              <a:rPr sz="2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 Rs.5000</a:t>
            </a:r>
            <a:endParaRPr sz="2600">
              <a:latin typeface="Times New Roman"/>
              <a:cs typeface="Times New Roman"/>
            </a:endParaRPr>
          </a:p>
          <a:p>
            <a:pPr marL="12700" marR="5080" algn="just">
              <a:lnSpc>
                <a:spcPts val="2810"/>
              </a:lnSpc>
              <a:spcBef>
                <a:spcPts val="1430"/>
              </a:spcBef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Crudely</a:t>
            </a:r>
            <a:r>
              <a:rPr sz="2600" spc="5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analogous</a:t>
            </a:r>
            <a:r>
              <a:rPr sz="2600" spc="5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600" spc="5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600" spc="5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amount</a:t>
            </a:r>
            <a:r>
              <a:rPr sz="2600" spc="5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needed</a:t>
            </a:r>
            <a:r>
              <a:rPr sz="2600" spc="5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2600" spc="5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600" spc="5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insurance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premium.</a:t>
            </a:r>
            <a:r>
              <a:rPr sz="26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2600" spc="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there</a:t>
            </a:r>
            <a:r>
              <a:rPr sz="26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were</a:t>
            </a:r>
            <a:r>
              <a:rPr sz="2600" spc="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100</a:t>
            </a:r>
            <a:r>
              <a:rPr sz="2600" b="1" spc="3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people</a:t>
            </a:r>
            <a:r>
              <a:rPr sz="2600" b="1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chipping</a:t>
            </a:r>
            <a:r>
              <a:rPr sz="2600" b="1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600" b="1" spc="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5000</a:t>
            </a:r>
            <a:r>
              <a:rPr sz="2600" b="1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each,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there</a:t>
            </a:r>
            <a:r>
              <a:rPr sz="2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would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enough</a:t>
            </a:r>
            <a:r>
              <a:rPr sz="2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for 1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6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100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chance</a:t>
            </a:r>
            <a:r>
              <a:rPr sz="2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flooding.</a:t>
            </a:r>
            <a:endParaRPr sz="2600">
              <a:latin typeface="Times New Roman"/>
              <a:cs typeface="Times New Roman"/>
            </a:endParaRPr>
          </a:p>
          <a:p>
            <a:pPr marL="94615" algn="just">
              <a:lnSpc>
                <a:spcPct val="100000"/>
              </a:lnSpc>
              <a:spcBef>
                <a:spcPts val="1050"/>
              </a:spcBef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there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were</a:t>
            </a:r>
            <a:r>
              <a:rPr sz="2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floods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then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 collapses!</a:t>
            </a:r>
            <a:endParaRPr sz="26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2600" spc="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600" spc="2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risks,</a:t>
            </a:r>
            <a:r>
              <a:rPr sz="2600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these</a:t>
            </a:r>
            <a:r>
              <a:rPr sz="2600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quantitative</a:t>
            </a:r>
            <a:r>
              <a:rPr sz="2600" spc="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approaches</a:t>
            </a:r>
            <a:r>
              <a:rPr sz="2600" spc="2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600" spc="2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usually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12898" y="4250054"/>
            <a:ext cx="6144895" cy="722630"/>
            <a:chOff x="2612898" y="4250054"/>
            <a:chExt cx="6144895" cy="722630"/>
          </a:xfrm>
        </p:grpSpPr>
        <p:sp>
          <p:nvSpPr>
            <p:cNvPr id="9" name="object 9"/>
            <p:cNvSpPr/>
            <p:nvPr/>
          </p:nvSpPr>
          <p:spPr>
            <a:xfrm>
              <a:off x="8675369" y="4250054"/>
              <a:ext cx="82550" cy="365760"/>
            </a:xfrm>
            <a:custGeom>
              <a:avLst/>
              <a:gdLst/>
              <a:ahLst/>
              <a:cxnLst/>
              <a:rect l="l" t="t" r="r" b="b"/>
              <a:pathLst>
                <a:path w="82550" h="365760">
                  <a:moveTo>
                    <a:pt x="82296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82296" y="365760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12898" y="4606670"/>
              <a:ext cx="5908675" cy="365760"/>
            </a:xfrm>
            <a:custGeom>
              <a:avLst/>
              <a:gdLst/>
              <a:ahLst/>
              <a:cxnLst/>
              <a:rect l="l" t="t" r="r" b="b"/>
              <a:pathLst>
                <a:path w="5908675" h="365760">
                  <a:moveTo>
                    <a:pt x="4204703" y="0"/>
                  </a:moveTo>
                  <a:lnTo>
                    <a:pt x="4204703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4204703" y="365760"/>
                  </a:lnTo>
                  <a:lnTo>
                    <a:pt x="4204703" y="0"/>
                  </a:lnTo>
                  <a:close/>
                </a:path>
                <a:path w="5908675" h="365760">
                  <a:moveTo>
                    <a:pt x="4892027" y="0"/>
                  </a:moveTo>
                  <a:lnTo>
                    <a:pt x="4285488" y="0"/>
                  </a:lnTo>
                  <a:lnTo>
                    <a:pt x="4204716" y="0"/>
                  </a:lnTo>
                  <a:lnTo>
                    <a:pt x="4204716" y="365760"/>
                  </a:lnTo>
                  <a:lnTo>
                    <a:pt x="4285488" y="365760"/>
                  </a:lnTo>
                  <a:lnTo>
                    <a:pt x="4892027" y="365760"/>
                  </a:lnTo>
                  <a:lnTo>
                    <a:pt x="4892027" y="0"/>
                  </a:lnTo>
                  <a:close/>
                </a:path>
                <a:path w="5908675" h="365760">
                  <a:moveTo>
                    <a:pt x="5908548" y="0"/>
                  </a:moveTo>
                  <a:lnTo>
                    <a:pt x="4972812" y="0"/>
                  </a:lnTo>
                  <a:lnTo>
                    <a:pt x="4892040" y="0"/>
                  </a:lnTo>
                  <a:lnTo>
                    <a:pt x="4892040" y="365760"/>
                  </a:lnTo>
                  <a:lnTo>
                    <a:pt x="4972812" y="365760"/>
                  </a:lnTo>
                  <a:lnTo>
                    <a:pt x="5908548" y="365760"/>
                  </a:lnTo>
                  <a:lnTo>
                    <a:pt x="5908548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6981" y="4606671"/>
            <a:ext cx="1567180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5"/>
              </a:lnSpc>
            </a:pP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impractical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41398" y="4558410"/>
            <a:ext cx="649351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more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qualitative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approaches</a:t>
            </a:r>
            <a:r>
              <a:rPr sz="2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used</a:t>
            </a:r>
            <a:r>
              <a:rPr sz="2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instead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521445" y="4606671"/>
            <a:ext cx="82550" cy="365760"/>
          </a:xfrm>
          <a:custGeom>
            <a:avLst/>
            <a:gdLst/>
            <a:ahLst/>
            <a:cxnLst/>
            <a:rect l="l" t="t" r="r" b="b"/>
            <a:pathLst>
              <a:path w="82550" h="365760">
                <a:moveTo>
                  <a:pt x="82296" y="0"/>
                </a:moveTo>
                <a:lnTo>
                  <a:pt x="0" y="0"/>
                </a:lnTo>
                <a:lnTo>
                  <a:pt x="0" y="365759"/>
                </a:lnTo>
                <a:lnTo>
                  <a:pt x="82296" y="365759"/>
                </a:lnTo>
                <a:lnTo>
                  <a:pt x="82296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86981" y="5143119"/>
            <a:ext cx="8257540" cy="3098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5"/>
              </a:lnSpc>
              <a:tabLst>
                <a:tab pos="798195" algn="l"/>
                <a:tab pos="2298065" algn="l"/>
                <a:tab pos="2964180" algn="l"/>
                <a:tab pos="4384675" algn="l"/>
                <a:tab pos="4841875" algn="l"/>
                <a:tab pos="5887720" algn="l"/>
                <a:tab pos="6283960" algn="l"/>
                <a:tab pos="6951345" algn="l"/>
              </a:tabLst>
            </a:pP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Note: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Probability: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200" spc="-20" dirty="0">
                <a:solidFill>
                  <a:srgbClr val="404040"/>
                </a:solidFill>
                <a:latin typeface="Times New Roman"/>
                <a:cs typeface="Times New Roman"/>
              </a:rPr>
              <a:t>0.00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(absolutely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200" spc="-25" dirty="0">
                <a:solidFill>
                  <a:srgbClr val="404040"/>
                </a:solidFill>
                <a:latin typeface="Times New Roman"/>
                <a:cs typeface="Times New Roman"/>
              </a:rPr>
              <a:t>no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chance)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200" spc="-25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200" spc="-20" dirty="0">
                <a:solidFill>
                  <a:srgbClr val="404040"/>
                </a:solidFill>
                <a:latin typeface="Times New Roman"/>
                <a:cs typeface="Times New Roman"/>
              </a:rPr>
              <a:t>1.00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(absolutely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95541" y="5143119"/>
            <a:ext cx="70485" cy="309880"/>
          </a:xfrm>
          <a:custGeom>
            <a:avLst/>
            <a:gdLst/>
            <a:ahLst/>
            <a:cxnLst/>
            <a:rect l="l" t="t" r="r" b="b"/>
            <a:pathLst>
              <a:path w="70484" h="309879">
                <a:moveTo>
                  <a:pt x="70104" y="0"/>
                </a:moveTo>
                <a:lnTo>
                  <a:pt x="0" y="0"/>
                </a:lnTo>
                <a:lnTo>
                  <a:pt x="0" y="309371"/>
                </a:lnTo>
                <a:lnTo>
                  <a:pt x="70104" y="309371"/>
                </a:lnTo>
                <a:lnTo>
                  <a:pt x="701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86981" y="5444909"/>
            <a:ext cx="922019" cy="3098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5"/>
              </a:lnSpc>
            </a:pP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certain)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95541" y="5924968"/>
            <a:ext cx="161925" cy="309880"/>
          </a:xfrm>
          <a:custGeom>
            <a:avLst/>
            <a:gdLst/>
            <a:ahLst/>
            <a:cxnLst/>
            <a:rect l="l" t="t" r="r" b="b"/>
            <a:pathLst>
              <a:path w="161925" h="309879">
                <a:moveTo>
                  <a:pt x="70104" y="0"/>
                </a:moveTo>
                <a:lnTo>
                  <a:pt x="0" y="0"/>
                </a:lnTo>
                <a:lnTo>
                  <a:pt x="0" y="309372"/>
                </a:lnTo>
                <a:lnTo>
                  <a:pt x="70104" y="309372"/>
                </a:lnTo>
                <a:lnTo>
                  <a:pt x="70104" y="0"/>
                </a:lnTo>
                <a:close/>
              </a:path>
              <a:path w="161925" h="309879">
                <a:moveTo>
                  <a:pt x="161531" y="0"/>
                </a:moveTo>
                <a:lnTo>
                  <a:pt x="91440" y="0"/>
                </a:lnTo>
                <a:lnTo>
                  <a:pt x="91440" y="309372"/>
                </a:lnTo>
                <a:lnTo>
                  <a:pt x="161531" y="309372"/>
                </a:lnTo>
                <a:lnTo>
                  <a:pt x="16153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36093"/>
            <a:ext cx="89877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70" dirty="0"/>
              <a:t>Amanda’s</a:t>
            </a:r>
            <a:r>
              <a:rPr sz="2800" spc="-85" dirty="0"/>
              <a:t> </a:t>
            </a:r>
            <a:r>
              <a:rPr sz="2800" spc="-45" dirty="0"/>
              <a:t>risk</a:t>
            </a:r>
            <a:r>
              <a:rPr sz="2800" spc="-60" dirty="0"/>
              <a:t> </a:t>
            </a:r>
            <a:r>
              <a:rPr sz="2800" spc="-70" dirty="0"/>
              <a:t>exposure</a:t>
            </a:r>
            <a:r>
              <a:rPr sz="2800" spc="-85" dirty="0"/>
              <a:t> </a:t>
            </a:r>
            <a:r>
              <a:rPr sz="2800" spc="-55" dirty="0"/>
              <a:t>assessment:</a:t>
            </a:r>
            <a:r>
              <a:rPr sz="2800" spc="-45" dirty="0"/>
              <a:t> </a:t>
            </a:r>
            <a:r>
              <a:rPr sz="2800" spc="-70" dirty="0"/>
              <a:t>Relative </a:t>
            </a:r>
            <a:r>
              <a:rPr sz="2800" spc="-60" dirty="0"/>
              <a:t>scaling</a:t>
            </a:r>
            <a:r>
              <a:rPr sz="2800" spc="-90" dirty="0"/>
              <a:t> </a:t>
            </a:r>
            <a:r>
              <a:rPr sz="2800" spc="-30" dirty="0"/>
              <a:t>in</a:t>
            </a:r>
            <a:r>
              <a:rPr sz="2800" spc="-100" dirty="0"/>
              <a:t> </a:t>
            </a:r>
            <a:r>
              <a:rPr sz="2800" spc="-20" dirty="0"/>
              <a:t>prioritizing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165227" y="850519"/>
            <a:ext cx="28575" cy="6007735"/>
          </a:xfrm>
          <a:custGeom>
            <a:avLst/>
            <a:gdLst/>
            <a:ahLst/>
            <a:cxnLst/>
            <a:rect l="l" t="t" r="r" b="b"/>
            <a:pathLst>
              <a:path w="28575" h="6007734">
                <a:moveTo>
                  <a:pt x="28575" y="0"/>
                </a:moveTo>
                <a:lnTo>
                  <a:pt x="0" y="0"/>
                </a:lnTo>
                <a:lnTo>
                  <a:pt x="0" y="6007481"/>
                </a:lnTo>
                <a:lnTo>
                  <a:pt x="28575" y="6007481"/>
                </a:lnTo>
                <a:lnTo>
                  <a:pt x="28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77312" y="850519"/>
            <a:ext cx="28575" cy="6007735"/>
          </a:xfrm>
          <a:custGeom>
            <a:avLst/>
            <a:gdLst/>
            <a:ahLst/>
            <a:cxnLst/>
            <a:rect l="l" t="t" r="r" b="b"/>
            <a:pathLst>
              <a:path w="28575" h="6007734">
                <a:moveTo>
                  <a:pt x="28575" y="0"/>
                </a:moveTo>
                <a:lnTo>
                  <a:pt x="0" y="0"/>
                </a:lnTo>
                <a:lnTo>
                  <a:pt x="0" y="6007481"/>
                </a:lnTo>
                <a:lnTo>
                  <a:pt x="28575" y="6007481"/>
                </a:lnTo>
                <a:lnTo>
                  <a:pt x="28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0" y="850455"/>
          <a:ext cx="9143365" cy="6047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3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2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7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0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10" dirty="0">
                          <a:latin typeface="Tahoma"/>
                          <a:cs typeface="Tahoma"/>
                        </a:rPr>
                        <a:t>Hazard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797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10" dirty="0">
                          <a:latin typeface="Tahoma"/>
                          <a:cs typeface="Tahoma"/>
                        </a:rPr>
                        <a:t>Likelihood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(0-10</a:t>
                      </a:r>
                      <a:r>
                        <a:rPr sz="20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scale)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33718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10" dirty="0">
                          <a:latin typeface="Tahoma"/>
                          <a:cs typeface="Tahoma"/>
                        </a:rPr>
                        <a:t>Impact(0-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10</a:t>
                      </a:r>
                      <a:r>
                        <a:rPr sz="20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scale)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501650">
                        <a:lnSpc>
                          <a:spcPts val="2880"/>
                        </a:lnSpc>
                        <a:spcBef>
                          <a:spcPts val="50"/>
                        </a:spcBef>
                      </a:pPr>
                      <a:r>
                        <a:rPr sz="2000" spc="-20" dirty="0">
                          <a:latin typeface="Tahoma"/>
                          <a:cs typeface="Tahoma"/>
                        </a:rPr>
                        <a:t>Risk 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exposure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25" dirty="0">
                          <a:latin typeface="Tahoma"/>
                          <a:cs typeface="Tahoma"/>
                        </a:rPr>
                        <a:t>R1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Changes</a:t>
                      </a:r>
                      <a:r>
                        <a:rPr sz="2000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to</a:t>
                      </a:r>
                      <a:r>
                        <a:rPr sz="20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requirement</a:t>
                      </a:r>
                      <a:endParaRPr sz="2000">
                        <a:latin typeface="Tahoma"/>
                        <a:cs typeface="Tahom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specs</a:t>
                      </a:r>
                      <a:r>
                        <a:rPr sz="200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during</a:t>
                      </a:r>
                      <a:r>
                        <a:rPr sz="20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coding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0" dirty="0">
                          <a:latin typeface="Tahoma"/>
                          <a:cs typeface="Tahoma"/>
                        </a:rPr>
                        <a:t>8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0" dirty="0">
                          <a:latin typeface="Tahoma"/>
                          <a:cs typeface="Tahoma"/>
                        </a:rPr>
                        <a:t>8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563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25" dirty="0">
                          <a:latin typeface="Tahoma"/>
                          <a:cs typeface="Tahoma"/>
                        </a:rPr>
                        <a:t>64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215"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25" dirty="0">
                          <a:latin typeface="Tahoma"/>
                          <a:cs typeface="Tahoma"/>
                        </a:rPr>
                        <a:t>R2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4851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Specification</a:t>
                      </a:r>
                      <a:r>
                        <a:rPr sz="2000" spc="-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takes</a:t>
                      </a:r>
                      <a:r>
                        <a:rPr sz="2000" spc="-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longer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than</a:t>
                      </a:r>
                      <a:r>
                        <a:rPr sz="20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expected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0" dirty="0">
                          <a:latin typeface="Tahoma"/>
                          <a:cs typeface="Tahoma"/>
                        </a:rPr>
                        <a:t>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0" dirty="0">
                          <a:latin typeface="Tahoma"/>
                          <a:cs typeface="Tahoma"/>
                        </a:rPr>
                        <a:t>7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563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25" dirty="0">
                          <a:latin typeface="Tahoma"/>
                          <a:cs typeface="Tahoma"/>
                        </a:rPr>
                        <a:t>21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944"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25" dirty="0">
                          <a:latin typeface="Tahoma"/>
                          <a:cs typeface="Tahoma"/>
                        </a:rPr>
                        <a:t>R3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5238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Significant</a:t>
                      </a:r>
                      <a:r>
                        <a:rPr sz="2000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staff</a:t>
                      </a:r>
                      <a:r>
                        <a:rPr sz="2000" spc="-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sickness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affecting</a:t>
                      </a:r>
                      <a:r>
                        <a:rPr sz="200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critical</a:t>
                      </a:r>
                      <a:r>
                        <a:rPr sz="20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activities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0" dirty="0">
                          <a:latin typeface="Tahoma"/>
                          <a:cs typeface="Tahoma"/>
                        </a:rPr>
                        <a:t>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0" dirty="0">
                          <a:latin typeface="Tahoma"/>
                          <a:cs typeface="Tahoma"/>
                        </a:rPr>
                        <a:t>7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563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25" dirty="0">
                          <a:latin typeface="Tahoma"/>
                          <a:cs typeface="Tahoma"/>
                        </a:rPr>
                        <a:t>35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205"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25" dirty="0">
                          <a:latin typeface="Tahoma"/>
                          <a:cs typeface="Tahoma"/>
                        </a:rPr>
                        <a:t>R4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1595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Significant</a:t>
                      </a:r>
                      <a:r>
                        <a:rPr sz="2000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staff</a:t>
                      </a:r>
                      <a:r>
                        <a:rPr sz="2000" spc="-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sickness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affecting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non-critical activities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25" dirty="0">
                          <a:latin typeface="Tahoma"/>
                          <a:cs typeface="Tahoma"/>
                        </a:rPr>
                        <a:t>10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0" dirty="0">
                          <a:latin typeface="Tahoma"/>
                          <a:cs typeface="Tahoma"/>
                        </a:rPr>
                        <a:t>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563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25" dirty="0">
                          <a:latin typeface="Tahoma"/>
                          <a:cs typeface="Tahoma"/>
                        </a:rPr>
                        <a:t>30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25" dirty="0">
                          <a:latin typeface="Tahoma"/>
                          <a:cs typeface="Tahoma"/>
                        </a:rPr>
                        <a:t>R5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Module</a:t>
                      </a:r>
                      <a:r>
                        <a:rPr sz="2000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coding</a:t>
                      </a:r>
                      <a:r>
                        <a:rPr sz="20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takes</a:t>
                      </a:r>
                      <a:r>
                        <a:rPr sz="20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longer</a:t>
                      </a:r>
                      <a:endParaRPr sz="2000">
                        <a:latin typeface="Tahoma"/>
                        <a:cs typeface="Tahom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than</a:t>
                      </a:r>
                      <a:r>
                        <a:rPr sz="20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expected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50" dirty="0">
                          <a:latin typeface="Tahoma"/>
                          <a:cs typeface="Tahoma"/>
                        </a:rPr>
                        <a:t>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50" dirty="0">
                          <a:latin typeface="Tahoma"/>
                          <a:cs typeface="Tahoma"/>
                        </a:rPr>
                        <a:t>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563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25" dirty="0">
                          <a:latin typeface="Tahoma"/>
                          <a:cs typeface="Tahoma"/>
                        </a:rPr>
                        <a:t>20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25" dirty="0">
                          <a:latin typeface="Tahoma"/>
                          <a:cs typeface="Tahoma"/>
                        </a:rPr>
                        <a:t>R6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marR="1003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Module</a:t>
                      </a:r>
                      <a:r>
                        <a:rPr sz="20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testing</a:t>
                      </a:r>
                      <a:r>
                        <a:rPr sz="20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demonstrates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errors</a:t>
                      </a:r>
                      <a:r>
                        <a:rPr sz="20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of</a:t>
                      </a:r>
                      <a:r>
                        <a:rPr sz="20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deficiencies</a:t>
                      </a:r>
                      <a:r>
                        <a:rPr sz="20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in 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design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50" dirty="0">
                          <a:latin typeface="Tahoma"/>
                          <a:cs typeface="Tahoma"/>
                        </a:rPr>
                        <a:t>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50" dirty="0">
                          <a:latin typeface="Tahoma"/>
                          <a:cs typeface="Tahoma"/>
                        </a:rPr>
                        <a:t>8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414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25" dirty="0">
                          <a:latin typeface="Tahoma"/>
                          <a:cs typeface="Tahoma"/>
                        </a:rPr>
                        <a:t>32</a:t>
                      </a:r>
                      <a:endParaRPr sz="2000">
                        <a:latin typeface="Tahoma"/>
                        <a:cs typeface="Tahoma"/>
                      </a:endParaRPr>
                    </a:p>
                    <a:p>
                      <a:pPr marR="158115" algn="ctr"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829" y="280542"/>
            <a:ext cx="7490459" cy="115316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 marR="5080">
              <a:lnSpc>
                <a:spcPts val="4079"/>
              </a:lnSpc>
              <a:spcBef>
                <a:spcPts val="830"/>
              </a:spcBef>
            </a:pPr>
            <a:r>
              <a:rPr sz="4000" spc="-70" dirty="0"/>
              <a:t>Risk</a:t>
            </a:r>
            <a:r>
              <a:rPr sz="4000" spc="-160" dirty="0"/>
              <a:t> </a:t>
            </a:r>
            <a:r>
              <a:rPr sz="4000" spc="-90" dirty="0"/>
              <a:t>probability:</a:t>
            </a:r>
            <a:r>
              <a:rPr sz="4000" spc="-140" dirty="0"/>
              <a:t> </a:t>
            </a:r>
            <a:r>
              <a:rPr sz="4000" spc="-95" dirty="0"/>
              <a:t>qualitative</a:t>
            </a:r>
            <a:r>
              <a:rPr sz="4000" spc="-165" dirty="0"/>
              <a:t> </a:t>
            </a:r>
            <a:r>
              <a:rPr sz="4000" spc="-70" dirty="0"/>
              <a:t>descriptors </a:t>
            </a:r>
            <a:r>
              <a:rPr sz="4000" spc="-65" dirty="0"/>
              <a:t>and</a:t>
            </a:r>
            <a:r>
              <a:rPr sz="4000" spc="-170" dirty="0"/>
              <a:t> </a:t>
            </a:r>
            <a:r>
              <a:rPr sz="4000" spc="-100" dirty="0"/>
              <a:t>range</a:t>
            </a:r>
            <a:r>
              <a:rPr sz="4000" spc="-175" dirty="0"/>
              <a:t> </a:t>
            </a:r>
            <a:r>
              <a:rPr sz="4000" spc="-10" dirty="0"/>
              <a:t>values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171180" y="6546291"/>
            <a:ext cx="1600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29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91312" y="2090039"/>
          <a:ext cx="8351520" cy="30162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4880">
                <a:tc>
                  <a:txBody>
                    <a:bodyPr/>
                    <a:lstStyle/>
                    <a:p>
                      <a:pPr marL="781050" marR="305435" indent="-469900">
                        <a:lnSpc>
                          <a:spcPct val="100699"/>
                        </a:lnSpc>
                        <a:spcBef>
                          <a:spcPts val="240"/>
                        </a:spcBef>
                      </a:pPr>
                      <a:r>
                        <a:rPr sz="2800" i="1" spc="-20" dirty="0">
                          <a:latin typeface="Times New Roman"/>
                          <a:cs typeface="Times New Roman"/>
                        </a:rPr>
                        <a:t>Probability level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8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i="1" spc="-10" dirty="0">
                          <a:latin typeface="Times New Roman"/>
                          <a:cs typeface="Times New Roman"/>
                        </a:rPr>
                        <a:t>Range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8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Greater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2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50%</a:t>
                      </a:r>
                      <a:r>
                        <a:rPr sz="2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chance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happening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Significant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30-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50%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chance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happening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Moderate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10-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29%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chance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happening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Low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8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Less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10%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chance</a:t>
                      </a:r>
                      <a:r>
                        <a:rPr sz="2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happening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8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07288" y="5328005"/>
            <a:ext cx="48895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Generally,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better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identify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51475" y="5355247"/>
            <a:ext cx="277241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770"/>
              </a:lnSpc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approximate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range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02307" y="5721006"/>
            <a:ext cx="2293620" cy="372110"/>
          </a:xfrm>
          <a:custGeom>
            <a:avLst/>
            <a:gdLst/>
            <a:ahLst/>
            <a:cxnLst/>
            <a:rect l="l" t="t" r="r" b="b"/>
            <a:pathLst>
              <a:path w="2293620" h="372110">
                <a:moveTo>
                  <a:pt x="2293620" y="0"/>
                </a:moveTo>
                <a:lnTo>
                  <a:pt x="0" y="0"/>
                </a:lnTo>
                <a:lnTo>
                  <a:pt x="0" y="371855"/>
                </a:lnTo>
                <a:lnTo>
                  <a:pt x="2293620" y="371855"/>
                </a:lnTo>
                <a:lnTo>
                  <a:pt x="229362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7288" y="5694375"/>
            <a:ext cx="4060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rather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precise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probability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540" y="321309"/>
            <a:ext cx="42926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Times New Roman"/>
                <a:cs typeface="Times New Roman"/>
              </a:rPr>
              <a:t>Qualitative</a:t>
            </a:r>
            <a:r>
              <a:rPr sz="3200" b="1" spc="-120" dirty="0">
                <a:latin typeface="Times New Roman"/>
                <a:cs typeface="Times New Roman"/>
              </a:rPr>
              <a:t> </a:t>
            </a:r>
            <a:r>
              <a:rPr sz="3200" b="1" spc="-55" dirty="0">
                <a:latin typeface="Times New Roman"/>
                <a:cs typeface="Times New Roman"/>
              </a:rPr>
              <a:t>descriptors</a:t>
            </a:r>
            <a:r>
              <a:rPr sz="3200" b="1" spc="-120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of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85258" y="377952"/>
            <a:ext cx="3241675" cy="451484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sz="32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impact</a:t>
            </a:r>
            <a:r>
              <a:rPr sz="3200" b="1" spc="-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3200" b="1" spc="-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cost</a:t>
            </a:r>
            <a:r>
              <a:rPr sz="3200" b="1" spc="-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1190" y="783336"/>
            <a:ext cx="3901440" cy="451484"/>
          </a:xfrm>
          <a:custGeom>
            <a:avLst/>
            <a:gdLst/>
            <a:ahLst/>
            <a:cxnLst/>
            <a:rect l="l" t="t" r="r" b="b"/>
            <a:pathLst>
              <a:path w="3901440" h="451484">
                <a:moveTo>
                  <a:pt x="3901440" y="0"/>
                </a:moveTo>
                <a:lnTo>
                  <a:pt x="0" y="0"/>
                </a:lnTo>
                <a:lnTo>
                  <a:pt x="0" y="451103"/>
                </a:lnTo>
                <a:lnTo>
                  <a:pt x="3901440" y="451103"/>
                </a:lnTo>
                <a:lnTo>
                  <a:pt x="390144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8540" y="726694"/>
            <a:ext cx="39338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associated</a:t>
            </a:r>
            <a:r>
              <a:rPr sz="3200" b="1" spc="-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range</a:t>
            </a:r>
            <a:r>
              <a:rPr sz="3200" b="1" spc="-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values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2663" y="758951"/>
            <a:ext cx="7782559" cy="4831715"/>
            <a:chOff x="382663" y="758951"/>
            <a:chExt cx="7782559" cy="4831715"/>
          </a:xfrm>
        </p:grpSpPr>
        <p:sp>
          <p:nvSpPr>
            <p:cNvPr id="7" name="object 7"/>
            <p:cNvSpPr/>
            <p:nvPr/>
          </p:nvSpPr>
          <p:spPr>
            <a:xfrm>
              <a:off x="631190" y="758951"/>
              <a:ext cx="3987165" cy="818515"/>
            </a:xfrm>
            <a:custGeom>
              <a:avLst/>
              <a:gdLst/>
              <a:ahLst/>
              <a:cxnLst/>
              <a:rect l="l" t="t" r="r" b="b"/>
              <a:pathLst>
                <a:path w="3987165" h="818515">
                  <a:moveTo>
                    <a:pt x="65532" y="431292"/>
                  </a:moveTo>
                  <a:lnTo>
                    <a:pt x="0" y="431292"/>
                  </a:lnTo>
                  <a:lnTo>
                    <a:pt x="0" y="818388"/>
                  </a:lnTo>
                  <a:lnTo>
                    <a:pt x="65532" y="818388"/>
                  </a:lnTo>
                  <a:lnTo>
                    <a:pt x="65532" y="431292"/>
                  </a:lnTo>
                  <a:close/>
                </a:path>
                <a:path w="3987165" h="818515">
                  <a:moveTo>
                    <a:pt x="3986784" y="0"/>
                  </a:moveTo>
                  <a:lnTo>
                    <a:pt x="3901440" y="0"/>
                  </a:lnTo>
                  <a:lnTo>
                    <a:pt x="3901440" y="496824"/>
                  </a:lnTo>
                  <a:lnTo>
                    <a:pt x="3986784" y="496824"/>
                  </a:lnTo>
                  <a:lnTo>
                    <a:pt x="398678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2663" y="1267459"/>
              <a:ext cx="7781925" cy="4323080"/>
            </a:xfrm>
            <a:custGeom>
              <a:avLst/>
              <a:gdLst/>
              <a:ahLst/>
              <a:cxnLst/>
              <a:rect l="l" t="t" r="r" b="b"/>
              <a:pathLst>
                <a:path w="7781925" h="4323080">
                  <a:moveTo>
                    <a:pt x="2478138" y="0"/>
                  </a:moveTo>
                  <a:lnTo>
                    <a:pt x="2478138" y="4323054"/>
                  </a:lnTo>
                </a:path>
                <a:path w="7781925" h="4323080">
                  <a:moveTo>
                    <a:pt x="0" y="530860"/>
                  </a:moveTo>
                  <a:lnTo>
                    <a:pt x="7781912" y="530860"/>
                  </a:lnTo>
                </a:path>
                <a:path w="7781925" h="4323080">
                  <a:moveTo>
                    <a:pt x="0" y="1475739"/>
                  </a:moveTo>
                  <a:lnTo>
                    <a:pt x="7781912" y="1475739"/>
                  </a:lnTo>
                </a:path>
                <a:path w="7781925" h="4323080">
                  <a:moveTo>
                    <a:pt x="0" y="2420620"/>
                  </a:moveTo>
                  <a:lnTo>
                    <a:pt x="7781912" y="2420620"/>
                  </a:lnTo>
                </a:path>
                <a:path w="7781925" h="4323080">
                  <a:moveTo>
                    <a:pt x="0" y="3365500"/>
                  </a:moveTo>
                  <a:lnTo>
                    <a:pt x="7781912" y="3365500"/>
                  </a:lnTo>
                </a:path>
                <a:path w="7781925" h="4323080">
                  <a:moveTo>
                    <a:pt x="4762" y="0"/>
                  </a:moveTo>
                  <a:lnTo>
                    <a:pt x="4762" y="4323054"/>
                  </a:lnTo>
                </a:path>
                <a:path w="7781925" h="4323080">
                  <a:moveTo>
                    <a:pt x="7777213" y="0"/>
                  </a:moveTo>
                  <a:lnTo>
                    <a:pt x="7777213" y="432305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2663" y="1280159"/>
              <a:ext cx="7781925" cy="4297680"/>
            </a:xfrm>
            <a:custGeom>
              <a:avLst/>
              <a:gdLst/>
              <a:ahLst/>
              <a:cxnLst/>
              <a:rect l="l" t="t" r="r" b="b"/>
              <a:pathLst>
                <a:path w="7781925" h="4297680">
                  <a:moveTo>
                    <a:pt x="0" y="0"/>
                  </a:moveTo>
                  <a:lnTo>
                    <a:pt x="7781912" y="0"/>
                  </a:lnTo>
                </a:path>
                <a:path w="7781925" h="4297680">
                  <a:moveTo>
                    <a:pt x="0" y="4297680"/>
                  </a:moveTo>
                  <a:lnTo>
                    <a:pt x="7781912" y="4297680"/>
                  </a:lnTo>
                </a:path>
              </a:pathLst>
            </a:custGeom>
            <a:ln w="254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4841113" y="1869947"/>
            <a:ext cx="3173095" cy="822960"/>
          </a:xfrm>
          <a:custGeom>
            <a:avLst/>
            <a:gdLst/>
            <a:ahLst/>
            <a:cxnLst/>
            <a:rect l="l" t="t" r="r" b="b"/>
            <a:pathLst>
              <a:path w="3173095" h="822960">
                <a:moveTo>
                  <a:pt x="3172968" y="0"/>
                </a:moveTo>
                <a:lnTo>
                  <a:pt x="845820" y="0"/>
                </a:lnTo>
                <a:lnTo>
                  <a:pt x="845820" y="393192"/>
                </a:lnTo>
                <a:lnTo>
                  <a:pt x="1679435" y="393192"/>
                </a:lnTo>
                <a:lnTo>
                  <a:pt x="1679435" y="429780"/>
                </a:lnTo>
                <a:lnTo>
                  <a:pt x="0" y="429780"/>
                </a:lnTo>
                <a:lnTo>
                  <a:pt x="0" y="822960"/>
                </a:lnTo>
                <a:lnTo>
                  <a:pt x="1679448" y="822960"/>
                </a:lnTo>
                <a:lnTo>
                  <a:pt x="1679448" y="819912"/>
                </a:lnTo>
                <a:lnTo>
                  <a:pt x="1790687" y="819912"/>
                </a:lnTo>
                <a:lnTo>
                  <a:pt x="1790687" y="393192"/>
                </a:lnTo>
                <a:lnTo>
                  <a:pt x="3172968" y="393192"/>
                </a:lnTo>
                <a:lnTo>
                  <a:pt x="317296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19277" y="1355654"/>
          <a:ext cx="7295515" cy="42202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4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0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635">
                <a:tc>
                  <a:txBody>
                    <a:bodyPr/>
                    <a:lstStyle/>
                    <a:p>
                      <a:pPr marR="258445" algn="ctr">
                        <a:lnSpc>
                          <a:spcPts val="2905"/>
                        </a:lnSpc>
                      </a:pPr>
                      <a:r>
                        <a:rPr sz="2800" i="1" dirty="0">
                          <a:latin typeface="Times New Roman"/>
                          <a:cs typeface="Times New Roman"/>
                        </a:rPr>
                        <a:t>Impact</a:t>
                      </a:r>
                      <a:r>
                        <a:rPr sz="2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i="1" spc="-20" dirty="0">
                          <a:latin typeface="Times New Roman"/>
                          <a:cs typeface="Times New Roman"/>
                        </a:rPr>
                        <a:t>level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3995" algn="ctr">
                        <a:lnSpc>
                          <a:spcPts val="2905"/>
                        </a:lnSpc>
                      </a:pPr>
                      <a:r>
                        <a:rPr sz="2800" i="1" spc="-10" dirty="0">
                          <a:latin typeface="Times New Roman"/>
                          <a:cs typeface="Times New Roman"/>
                        </a:rPr>
                        <a:t>Range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785">
                <a:tc>
                  <a:txBody>
                    <a:bodyPr/>
                    <a:lstStyle/>
                    <a:p>
                      <a:pPr marR="259079" algn="ctr">
                        <a:lnSpc>
                          <a:spcPts val="3080"/>
                        </a:lnSpc>
                      </a:pP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3360" algn="ctr">
                        <a:lnSpc>
                          <a:spcPts val="306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Greater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30%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above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budgeted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554355" algn="ctr">
                        <a:lnSpc>
                          <a:spcPts val="3270"/>
                        </a:lnSpc>
                        <a:spcBef>
                          <a:spcPts val="25"/>
                        </a:spcBef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expenditure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 marR="259079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Significant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21082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20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29%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above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budgeted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55499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expenditure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 marR="2571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Moderate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21082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19%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above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budgeted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55435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expenditure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44244">
                <a:tc>
                  <a:txBody>
                    <a:bodyPr/>
                    <a:lstStyle/>
                    <a:p>
                      <a:pPr marR="2578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Low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2003425" marR="753110" indent="-1033780">
                        <a:lnSpc>
                          <a:spcPct val="100699"/>
                        </a:lnSpc>
                        <a:spcBef>
                          <a:spcPts val="240"/>
                        </a:spcBef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Within</a:t>
                      </a:r>
                      <a:r>
                        <a:rPr sz="28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10%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budgeted expenditure.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8171180" y="6546291"/>
            <a:ext cx="1600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30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4588" y="1737360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2018156"/>
            <a:ext cx="784415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Similar</a:t>
            </a:r>
            <a:r>
              <a:rPr sz="2800" spc="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tables</a:t>
            </a:r>
            <a:r>
              <a:rPr sz="2800" spc="3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3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produced</a:t>
            </a:r>
            <a:r>
              <a:rPr sz="2800" spc="3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3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5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impact</a:t>
            </a:r>
            <a:r>
              <a:rPr sz="2800" b="1" spc="35" dirty="0">
                <a:latin typeface="Times New Roman"/>
                <a:cs typeface="Times New Roman"/>
              </a:rPr>
              <a:t>  </a:t>
            </a:r>
            <a:r>
              <a:rPr sz="2800" b="1" spc="-25" dirty="0">
                <a:latin typeface="Times New Roman"/>
                <a:cs typeface="Times New Roman"/>
              </a:rPr>
              <a:t>on </a:t>
            </a:r>
            <a:r>
              <a:rPr sz="2800" b="1" dirty="0">
                <a:latin typeface="Times New Roman"/>
                <a:cs typeface="Times New Roman"/>
              </a:rPr>
              <a:t>project</a:t>
            </a:r>
            <a:r>
              <a:rPr sz="2800" b="1" spc="140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duration</a:t>
            </a:r>
            <a:r>
              <a:rPr sz="2800" b="1" spc="145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140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on</a:t>
            </a:r>
            <a:r>
              <a:rPr sz="2800" b="1" spc="140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140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quality</a:t>
            </a:r>
            <a:r>
              <a:rPr sz="2800" b="1" spc="145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140" dirty="0">
                <a:latin typeface="Times New Roman"/>
                <a:cs typeface="Times New Roman"/>
              </a:rPr>
              <a:t>  </a:t>
            </a:r>
            <a:r>
              <a:rPr sz="2800" b="1" spc="-10" dirty="0">
                <a:latin typeface="Times New Roman"/>
                <a:cs typeface="Times New Roman"/>
              </a:rPr>
              <a:t>project deliverables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5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problem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2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5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qualitative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approach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how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4732" y="4202048"/>
            <a:ext cx="6797040" cy="3937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  <a:tabLst>
                <a:tab pos="1452245" algn="l"/>
                <a:tab pos="2117090" algn="l"/>
                <a:tab pos="3985895" algn="l"/>
                <a:tab pos="5006975" algn="l"/>
              </a:tabLst>
            </a:pPr>
            <a:r>
              <a:rPr sz="2800" spc="-10" dirty="0">
                <a:latin typeface="Times New Roman"/>
                <a:cs typeface="Times New Roman"/>
              </a:rPr>
              <a:t>combine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judgements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about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probability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4152138"/>
            <a:ext cx="78441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18375" algn="l"/>
              </a:tabLst>
            </a:pPr>
            <a:r>
              <a:rPr sz="2800" spc="-2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and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4579111"/>
            <a:ext cx="990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imes New Roman"/>
                <a:cs typeface="Times New Roman"/>
              </a:rPr>
              <a:t>impact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1848" y="4628769"/>
            <a:ext cx="4975860" cy="3937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</a:pP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can’t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multiply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them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together.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7240" y="5055489"/>
            <a:ext cx="7905115" cy="3937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  <a:tabLst>
                <a:tab pos="441959" algn="l"/>
                <a:tab pos="1238885" algn="l"/>
                <a:tab pos="2218690" algn="l"/>
                <a:tab pos="2798445" algn="l"/>
                <a:tab pos="4087495" algn="l"/>
                <a:tab pos="4528185" algn="l"/>
                <a:tab pos="5107305" algn="l"/>
                <a:tab pos="5785485" algn="l"/>
                <a:tab pos="6206490" algn="l"/>
                <a:tab pos="6510020" algn="l"/>
                <a:tab pos="7581265" algn="l"/>
              </a:tabLst>
            </a:pPr>
            <a:r>
              <a:rPr sz="2800" spc="-25" dirty="0">
                <a:latin typeface="Times New Roman"/>
                <a:cs typeface="Times New Roman"/>
              </a:rPr>
              <a:t>In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such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cases,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position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risk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in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matrix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is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7240" y="5482247"/>
            <a:ext cx="4922520" cy="3937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</a:pP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indicate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risk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exposure.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088" y="1143000"/>
            <a:ext cx="7921752" cy="43022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608330" marR="5080">
              <a:lnSpc>
                <a:spcPts val="4390"/>
              </a:lnSpc>
              <a:spcBef>
                <a:spcPts val="885"/>
              </a:spcBef>
            </a:pPr>
            <a:r>
              <a:rPr sz="4300" spc="-65" dirty="0"/>
              <a:t>Probability</a:t>
            </a:r>
            <a:r>
              <a:rPr sz="4300" spc="-180" dirty="0"/>
              <a:t> </a:t>
            </a:r>
            <a:r>
              <a:rPr sz="4300" spc="-35" dirty="0"/>
              <a:t>impact</a:t>
            </a:r>
            <a:r>
              <a:rPr sz="4300" spc="-180" dirty="0"/>
              <a:t> </a:t>
            </a:r>
            <a:r>
              <a:rPr sz="4300" spc="-60" dirty="0"/>
              <a:t>matrix/grid</a:t>
            </a:r>
            <a:r>
              <a:rPr sz="4300" spc="-185" dirty="0"/>
              <a:t> </a:t>
            </a:r>
            <a:r>
              <a:rPr sz="4300" spc="-35" dirty="0"/>
              <a:t>or </a:t>
            </a:r>
            <a:r>
              <a:rPr sz="4300" spc="-50" dirty="0"/>
              <a:t>summary</a:t>
            </a:r>
            <a:r>
              <a:rPr sz="4300" spc="-195" dirty="0"/>
              <a:t> </a:t>
            </a:r>
            <a:r>
              <a:rPr sz="4300" spc="-20" dirty="0"/>
              <a:t>risk</a:t>
            </a:r>
            <a:r>
              <a:rPr sz="4300" spc="-210" dirty="0"/>
              <a:t> </a:t>
            </a:r>
            <a:r>
              <a:rPr sz="4300" spc="-10" dirty="0"/>
              <a:t>profiles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8171180" y="6546291"/>
            <a:ext cx="1600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32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437" y="5272278"/>
            <a:ext cx="81959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R1,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R2,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etc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risks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Likelihood</a:t>
            </a:r>
            <a:r>
              <a:rPr sz="1800" dirty="0">
                <a:latin typeface="Calibri"/>
                <a:cs typeface="Calibri"/>
              </a:rPr>
              <a:t> &amp;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impact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reflected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grid.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Risks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falling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high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impact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zone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degree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seriousness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3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require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urgent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action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4588" y="1737360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1824354"/>
            <a:ext cx="7480300" cy="29349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30"/>
              </a:spcBef>
            </a:pP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R1,</a:t>
            </a:r>
            <a:r>
              <a:rPr sz="2800" spc="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R2</a:t>
            </a:r>
            <a:r>
              <a:rPr sz="28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etc</a:t>
            </a:r>
            <a:r>
              <a:rPr sz="28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refer</a:t>
            </a:r>
            <a:r>
              <a:rPr sz="2800" spc="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8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particular</a:t>
            </a:r>
            <a:r>
              <a:rPr sz="2800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risks</a:t>
            </a:r>
            <a:r>
              <a:rPr sz="28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(See</a:t>
            </a:r>
            <a:r>
              <a:rPr sz="2800" spc="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Table</a:t>
            </a:r>
            <a:r>
              <a:rPr sz="2800" spc="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7.4</a:t>
            </a:r>
            <a:r>
              <a:rPr sz="28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800" spc="42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textbook).</a:t>
            </a:r>
            <a:r>
              <a:rPr sz="2800" spc="42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sz="2800" spc="42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800" spc="42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located</a:t>
            </a:r>
            <a:r>
              <a:rPr sz="2800" spc="42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2800" spc="42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800" spc="42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800" spc="-20" dirty="0">
                <a:solidFill>
                  <a:srgbClr val="404040"/>
                </a:solidFill>
                <a:latin typeface="Times New Roman"/>
                <a:cs typeface="Times New Roman"/>
              </a:rPr>
              <a:t>grid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according</a:t>
            </a:r>
            <a:r>
              <a:rPr sz="2800" spc="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800" spc="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800" spc="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likelihood</a:t>
            </a:r>
            <a:r>
              <a:rPr sz="2800" spc="3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8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impact</a:t>
            </a:r>
            <a:r>
              <a:rPr sz="2800" spc="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ratings</a:t>
            </a:r>
            <a:r>
              <a:rPr sz="28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Times New Roman"/>
                <a:cs typeface="Times New Roman"/>
              </a:rPr>
              <a:t>that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have</a:t>
            </a:r>
            <a:r>
              <a:rPr sz="2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been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allocated</a:t>
            </a:r>
            <a:r>
              <a:rPr sz="2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 them.</a:t>
            </a:r>
            <a:endParaRPr sz="2800">
              <a:latin typeface="Times New Roman"/>
              <a:cs typeface="Times New Roman"/>
            </a:endParaRPr>
          </a:p>
          <a:p>
            <a:pPr marL="12700" marR="6350" algn="just">
              <a:lnSpc>
                <a:spcPct val="90000"/>
              </a:lnSpc>
              <a:spcBef>
                <a:spcPts val="1405"/>
              </a:spcBef>
            </a:pP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800" b="1" spc="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zone</a:t>
            </a:r>
            <a:r>
              <a:rPr sz="2800" b="1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around</a:t>
            </a:r>
            <a:r>
              <a:rPr sz="2800" b="1" spc="2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800" b="1" spc="2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top</a:t>
            </a:r>
            <a:r>
              <a:rPr sz="2800" b="1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right</a:t>
            </a:r>
            <a:r>
              <a:rPr sz="2800" b="1" spc="2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hand</a:t>
            </a:r>
            <a:r>
              <a:rPr sz="2800" b="1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corner</a:t>
            </a:r>
            <a:r>
              <a:rPr sz="2800" b="1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800" b="1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grid</a:t>
            </a:r>
            <a:r>
              <a:rPr sz="2800" b="1" spc="45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2800" b="1" spc="45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800" b="1" spc="4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designated</a:t>
            </a:r>
            <a:r>
              <a:rPr sz="2800" b="1" spc="4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800" b="1" spc="45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risks</a:t>
            </a:r>
            <a:r>
              <a:rPr sz="2800" b="1" spc="4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falling</a:t>
            </a:r>
            <a:r>
              <a:rPr sz="2800" b="1" spc="4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within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800" b="1" spc="-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zone</a:t>
            </a:r>
            <a:r>
              <a:rPr sz="28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800" b="1" spc="-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treated</a:t>
            </a:r>
            <a:r>
              <a:rPr sz="2800" b="1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2800" b="1" spc="-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requiring</a:t>
            </a:r>
            <a:r>
              <a:rPr sz="2800" b="1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urgent</a:t>
            </a:r>
            <a:r>
              <a:rPr sz="28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action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77139"/>
            <a:ext cx="8291830" cy="64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5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risk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potential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damage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$40,000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probability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450"/>
              </a:lnSpc>
            </a:pPr>
            <a:r>
              <a:rPr sz="2400" dirty="0">
                <a:latin typeface="Times New Roman"/>
                <a:cs typeface="Times New Roman"/>
              </a:rPr>
              <a:t>occurrence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12%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priority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risk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having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889761"/>
            <a:ext cx="8148955" cy="4374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5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potential</a:t>
            </a:r>
            <a:r>
              <a:rPr sz="24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damage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$35,000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likelihood</a:t>
            </a:r>
            <a:r>
              <a:rPr sz="24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14%.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(</a:t>
            </a:r>
            <a:r>
              <a:rPr sz="24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True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450"/>
              </a:lnSpc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/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False)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5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600075">
              <a:lnSpc>
                <a:spcPct val="70000"/>
              </a:lnSpc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exposure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potential</a:t>
            </a:r>
            <a:r>
              <a:rPr sz="24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damage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*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probability</a:t>
            </a:r>
            <a:r>
              <a:rPr sz="24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occurrence (likelihood)</a:t>
            </a:r>
            <a:endParaRPr sz="2400">
              <a:latin typeface="Times New Roman"/>
              <a:cs typeface="Times New Roman"/>
            </a:endParaRPr>
          </a:p>
          <a:p>
            <a:pPr marL="12700" marR="1941195">
              <a:lnSpc>
                <a:spcPct val="237100"/>
              </a:lnSpc>
              <a:spcBef>
                <a:spcPts val="10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exposure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risk1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40,000*0.12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$4800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exposure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risk2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35,000*0.14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$4900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Obviously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risk2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should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given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higher</a:t>
            </a:r>
            <a:r>
              <a:rPr sz="2400" b="1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priority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14800" y="5786628"/>
            <a:ext cx="982980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625"/>
              </a:lnSpc>
            </a:pP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FALSE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71180" y="6546291"/>
            <a:ext cx="1600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34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146" rIns="0" bIns="0" rtlCol="0">
            <a:spAutoFit/>
          </a:bodyPr>
          <a:lstStyle/>
          <a:p>
            <a:pPr marL="53594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Risk</a:t>
            </a:r>
            <a:r>
              <a:rPr spc="-210" dirty="0"/>
              <a:t> </a:t>
            </a:r>
            <a:r>
              <a:rPr spc="-75" dirty="0"/>
              <a:t>planning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303" y="1927987"/>
            <a:ext cx="8289290" cy="136271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 marR="6350">
              <a:lnSpc>
                <a:spcPct val="70000"/>
              </a:lnSpc>
              <a:spcBef>
                <a:spcPts val="825"/>
              </a:spcBef>
            </a:pP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000" b="1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acceptance</a:t>
            </a:r>
            <a:r>
              <a:rPr sz="2000" b="1" spc="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20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do</a:t>
            </a:r>
            <a:r>
              <a:rPr sz="2000" b="1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nothing</a:t>
            </a:r>
            <a:r>
              <a:rPr sz="2000" b="1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(the</a:t>
            </a:r>
            <a:r>
              <a:rPr sz="2000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cost of</a:t>
            </a:r>
            <a:r>
              <a:rPr sz="2000" spc="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avoiding</a:t>
            </a:r>
            <a:r>
              <a:rPr sz="2000" spc="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000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may</a:t>
            </a:r>
            <a:r>
              <a:rPr sz="20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0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greater</a:t>
            </a:r>
            <a:r>
              <a:rPr sz="2000" spc="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than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actual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cost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damage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might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inflicted)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039"/>
              </a:lnSpc>
              <a:spcBef>
                <a:spcPts val="680"/>
              </a:spcBef>
              <a:tabLst>
                <a:tab pos="663575" algn="l"/>
                <a:tab pos="1905635" algn="l"/>
                <a:tab pos="2804795" algn="l"/>
                <a:tab pos="3341370" algn="l"/>
                <a:tab pos="4077335" algn="l"/>
                <a:tab pos="5365750" algn="l"/>
                <a:tab pos="5761990" algn="l"/>
                <a:tab pos="6299835" algn="l"/>
                <a:tab pos="6766559" algn="l"/>
                <a:tab pos="7711440" algn="l"/>
              </a:tabLst>
            </a:pPr>
            <a:r>
              <a:rPr sz="20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avoidance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–Avoid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prone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activities.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(if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you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worried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about</a:t>
            </a:r>
            <a:endParaRPr sz="2000">
              <a:latin typeface="Times New Roman"/>
              <a:cs typeface="Times New Roman"/>
            </a:endParaRPr>
          </a:p>
          <a:p>
            <a:pPr marL="12700" marR="7620">
              <a:lnSpc>
                <a:spcPct val="70000"/>
              </a:lnSpc>
              <a:spcBef>
                <a:spcPts val="360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crocodiles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then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don’t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go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into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water).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(avoid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environment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which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risk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occurs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2683" y="3389376"/>
            <a:ext cx="2894330" cy="2819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95"/>
              </a:lnSpc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000" spc="1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accepted</a:t>
            </a:r>
            <a:r>
              <a:rPr sz="2000" spc="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but</a:t>
            </a:r>
            <a:r>
              <a:rPr sz="2000" spc="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actions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6303" y="3349574"/>
            <a:ext cx="737552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051040" algn="l"/>
              </a:tabLst>
            </a:pP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000" b="1" spc="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reduction</a:t>
            </a:r>
            <a:r>
              <a:rPr sz="2000" b="1" spc="1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2000" spc="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take</a:t>
            </a:r>
            <a:r>
              <a:rPr sz="2000" spc="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precautions</a:t>
            </a:r>
            <a:r>
              <a:rPr sz="2000" spc="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(the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89951" y="3389376"/>
            <a:ext cx="891540" cy="2819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270">
              <a:lnSpc>
                <a:spcPts val="2195"/>
              </a:lnSpc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taken</a:t>
            </a:r>
            <a:r>
              <a:rPr sz="2000" spc="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977" y="3602735"/>
            <a:ext cx="2388235" cy="2819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95"/>
              </a:lnSpc>
              <a:tabLst>
                <a:tab pos="826135" algn="l"/>
                <a:tab pos="1211580" algn="l"/>
              </a:tabLst>
            </a:pP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reduce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its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likelihood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4716" y="3563492"/>
            <a:ext cx="59004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6415" algn="l"/>
                <a:tab pos="1743710" algn="l"/>
                <a:tab pos="2471420" algn="l"/>
                <a:tab pos="2815590" algn="l"/>
                <a:tab pos="3639820" algn="l"/>
                <a:tab pos="4098925" algn="l"/>
                <a:tab pos="4626610" algn="l"/>
                <a:tab pos="4986020" algn="l"/>
              </a:tabLst>
            </a:pP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e.g.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prototypes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ought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reduce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incorrect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6303" y="3776852"/>
            <a:ext cx="6759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requirements).</a:t>
            </a:r>
            <a:r>
              <a:rPr sz="2000" spc="-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Attempts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reduce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 likelihood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risk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occurring.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303" y="4168521"/>
            <a:ext cx="8288655" cy="114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9"/>
              </a:lnSpc>
              <a:spcBef>
                <a:spcPts val="100"/>
              </a:spcBef>
            </a:pP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000" b="1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transfer</a:t>
            </a:r>
            <a:r>
              <a:rPr sz="2000" b="1" spc="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2000" spc="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000" spc="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transferred</a:t>
            </a:r>
            <a:r>
              <a:rPr sz="2000" spc="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another</a:t>
            </a:r>
            <a:r>
              <a:rPr sz="2000" spc="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person</a:t>
            </a:r>
            <a:r>
              <a:rPr sz="2000" spc="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000" spc="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organization.</a:t>
            </a:r>
            <a:r>
              <a:rPr sz="2000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000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70000"/>
              </a:lnSpc>
              <a:spcBef>
                <a:spcPts val="365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incorrect</a:t>
            </a:r>
            <a:r>
              <a:rPr sz="2000" spc="1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development</a:t>
            </a:r>
            <a:r>
              <a:rPr sz="2000" spc="1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estimates</a:t>
            </a:r>
            <a:r>
              <a:rPr sz="2000" spc="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2000" spc="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0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transferred</a:t>
            </a:r>
            <a:r>
              <a:rPr sz="20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20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negotiating</a:t>
            </a:r>
            <a:r>
              <a:rPr sz="2000" spc="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0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fixed</a:t>
            </a:r>
            <a:r>
              <a:rPr sz="2000" spc="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price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contract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outside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software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supplier.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000" b="1" spc="2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mitigation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/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contingency</a:t>
            </a:r>
            <a:r>
              <a:rPr sz="2000" b="1" spc="2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measures-</a:t>
            </a:r>
            <a:r>
              <a:rPr sz="2000" b="1" spc="2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tries</a:t>
            </a:r>
            <a:r>
              <a:rPr sz="2000" spc="2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2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reduce</a:t>
            </a:r>
            <a:r>
              <a:rPr sz="2000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2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impact</a:t>
            </a:r>
            <a:r>
              <a:rPr sz="2000" spc="2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2000" spc="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2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3426" y="5239511"/>
            <a:ext cx="1676400" cy="2819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00"/>
              </a:lnSpc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taking</a:t>
            </a:r>
            <a:r>
              <a:rPr sz="2000" spc="2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backups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6303" y="5200650"/>
            <a:ext cx="82899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03600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does</a:t>
            </a:r>
            <a:r>
              <a:rPr sz="20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occur</a:t>
            </a:r>
            <a:r>
              <a:rPr sz="20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e.g.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to</a:t>
            </a:r>
            <a:r>
              <a:rPr sz="20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allow</a:t>
            </a:r>
            <a:r>
              <a:rPr sz="20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rapid</a:t>
            </a:r>
            <a:r>
              <a:rPr sz="2000" spc="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recovery</a:t>
            </a:r>
            <a:r>
              <a:rPr sz="2000" spc="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case</a:t>
            </a:r>
            <a:r>
              <a:rPr sz="2000" spc="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6303" y="5413959"/>
            <a:ext cx="48240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crash</a:t>
            </a:r>
            <a:r>
              <a:rPr sz="2000" spc="-1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Action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taken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reduce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impact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risk.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71180" y="6546291"/>
            <a:ext cx="1600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35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4630" rIns="0" bIns="0" rtlCol="0">
            <a:spAutoFit/>
          </a:bodyPr>
          <a:lstStyle/>
          <a:p>
            <a:pPr marL="7473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Risk</a:t>
            </a:r>
            <a:r>
              <a:rPr spc="-229" dirty="0"/>
              <a:t> </a:t>
            </a:r>
            <a:r>
              <a:rPr spc="-50" dirty="0"/>
              <a:t>reduction</a:t>
            </a:r>
            <a:r>
              <a:rPr spc="-215" dirty="0"/>
              <a:t> </a:t>
            </a:r>
            <a:r>
              <a:rPr spc="-50" dirty="0"/>
              <a:t>leverage</a:t>
            </a:r>
          </a:p>
        </p:txBody>
      </p:sp>
      <p:sp>
        <p:nvSpPr>
          <p:cNvPr id="3" name="object 3"/>
          <p:cNvSpPr/>
          <p:nvPr/>
        </p:nvSpPr>
        <p:spPr>
          <a:xfrm>
            <a:off x="2906268" y="3011550"/>
            <a:ext cx="5461000" cy="337185"/>
          </a:xfrm>
          <a:custGeom>
            <a:avLst/>
            <a:gdLst/>
            <a:ahLst/>
            <a:cxnLst/>
            <a:rect l="l" t="t" r="r" b="b"/>
            <a:pathLst>
              <a:path w="5461000" h="337185">
                <a:moveTo>
                  <a:pt x="851903" y="0"/>
                </a:moveTo>
                <a:lnTo>
                  <a:pt x="594360" y="0"/>
                </a:lnTo>
                <a:lnTo>
                  <a:pt x="0" y="0"/>
                </a:lnTo>
                <a:lnTo>
                  <a:pt x="0" y="336804"/>
                </a:lnTo>
                <a:lnTo>
                  <a:pt x="594360" y="336804"/>
                </a:lnTo>
                <a:lnTo>
                  <a:pt x="851903" y="336804"/>
                </a:lnTo>
                <a:lnTo>
                  <a:pt x="851903" y="0"/>
                </a:lnTo>
                <a:close/>
              </a:path>
              <a:path w="5461000" h="337185">
                <a:moveTo>
                  <a:pt x="3425939" y="0"/>
                </a:moveTo>
                <a:lnTo>
                  <a:pt x="3166872" y="0"/>
                </a:lnTo>
                <a:lnTo>
                  <a:pt x="2342388" y="0"/>
                </a:lnTo>
                <a:lnTo>
                  <a:pt x="2081784" y="0"/>
                </a:lnTo>
                <a:lnTo>
                  <a:pt x="851916" y="0"/>
                </a:lnTo>
                <a:lnTo>
                  <a:pt x="851916" y="336804"/>
                </a:lnTo>
                <a:lnTo>
                  <a:pt x="2081784" y="336804"/>
                </a:lnTo>
                <a:lnTo>
                  <a:pt x="2342388" y="336804"/>
                </a:lnTo>
                <a:lnTo>
                  <a:pt x="3166872" y="336804"/>
                </a:lnTo>
                <a:lnTo>
                  <a:pt x="3425939" y="336804"/>
                </a:lnTo>
                <a:lnTo>
                  <a:pt x="3425939" y="0"/>
                </a:lnTo>
                <a:close/>
              </a:path>
              <a:path w="5461000" h="337185">
                <a:moveTo>
                  <a:pt x="5460492" y="0"/>
                </a:moveTo>
                <a:lnTo>
                  <a:pt x="5460492" y="0"/>
                </a:lnTo>
                <a:lnTo>
                  <a:pt x="3425952" y="0"/>
                </a:lnTo>
                <a:lnTo>
                  <a:pt x="3425952" y="336804"/>
                </a:lnTo>
                <a:lnTo>
                  <a:pt x="5460492" y="336804"/>
                </a:lnTo>
                <a:lnTo>
                  <a:pt x="546049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1700" y="1868551"/>
            <a:ext cx="7480934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>
              <a:lnSpc>
                <a:spcPct val="100000"/>
              </a:lnSpc>
              <a:spcBef>
                <a:spcPts val="100"/>
              </a:spcBef>
              <a:tabLst>
                <a:tab pos="802005" algn="l"/>
                <a:tab pos="2625090" algn="l"/>
                <a:tab pos="3073400" algn="l"/>
                <a:tab pos="3422015" algn="l"/>
                <a:tab pos="4126229" algn="l"/>
                <a:tab pos="5569585" algn="l"/>
                <a:tab pos="6560820" algn="l"/>
                <a:tab pos="7181215" algn="l"/>
              </a:tabLst>
            </a:pPr>
            <a:r>
              <a:rPr sz="2400" b="1" spc="-20" dirty="0">
                <a:solidFill>
                  <a:srgbClr val="1F2023"/>
                </a:solidFill>
                <a:latin typeface="Times New Roman"/>
                <a:cs typeface="Times New Roman"/>
              </a:rPr>
              <a:t>Cost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effectiveness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	</a:t>
            </a:r>
            <a:r>
              <a:rPr sz="24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	</a:t>
            </a:r>
            <a:r>
              <a:rPr sz="2400" b="1" spc="-5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	</a:t>
            </a:r>
            <a:r>
              <a:rPr sz="2400" b="1" spc="-20" dirty="0">
                <a:solidFill>
                  <a:srgbClr val="1F2023"/>
                </a:solidFill>
                <a:latin typeface="Times New Roman"/>
                <a:cs typeface="Times New Roman"/>
              </a:rPr>
              <a:t>risk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reduction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action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1F2023"/>
                </a:solidFill>
                <a:latin typeface="Times New Roman"/>
                <a:cs typeface="Times New Roman"/>
              </a:rPr>
              <a:t>can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	</a:t>
            </a:r>
            <a:r>
              <a:rPr sz="2400" spc="-35" dirty="0">
                <a:solidFill>
                  <a:srgbClr val="1F2023"/>
                </a:solidFill>
                <a:latin typeface="Times New Roman"/>
                <a:cs typeface="Times New Roman"/>
              </a:rPr>
              <a:t>be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assessed</a:t>
            </a:r>
            <a:r>
              <a:rPr sz="24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by</a:t>
            </a:r>
            <a:r>
              <a:rPr sz="24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1F2023"/>
                </a:solidFill>
                <a:latin typeface="Times New Roman"/>
                <a:cs typeface="Times New Roman"/>
              </a:rPr>
              <a:t>RRL.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Risk</a:t>
            </a:r>
            <a:r>
              <a:rPr sz="2400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Reduction</a:t>
            </a:r>
            <a:r>
              <a:rPr sz="2400" spc="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Leverage</a:t>
            </a:r>
            <a:r>
              <a:rPr sz="2400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(RRL)</a:t>
            </a:r>
            <a:r>
              <a:rPr sz="2400" spc="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2400" spc="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defined</a:t>
            </a:r>
            <a:r>
              <a:rPr sz="2400" spc="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F2023"/>
                </a:solidFill>
                <a:latin typeface="Times New Roman"/>
                <a:cs typeface="Times New Roman"/>
              </a:rPr>
              <a:t>as</a:t>
            </a:r>
            <a:r>
              <a:rPr sz="2400" spc="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2400" b="1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difference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336675" algn="l"/>
                <a:tab pos="2004695" algn="l"/>
                <a:tab pos="2856865" algn="l"/>
                <a:tab pos="4347210" algn="l"/>
                <a:tab pos="5431155" algn="l"/>
                <a:tab pos="6179185" algn="l"/>
                <a:tab pos="7060565" algn="l"/>
              </a:tabLst>
            </a:pPr>
            <a:r>
              <a:rPr sz="24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between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	</a:t>
            </a:r>
            <a:r>
              <a:rPr sz="24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	</a:t>
            </a:r>
            <a:r>
              <a:rPr sz="2400" b="1" spc="-20" dirty="0">
                <a:solidFill>
                  <a:srgbClr val="1F2023"/>
                </a:solidFill>
                <a:latin typeface="Times New Roman"/>
                <a:cs typeface="Times New Roman"/>
              </a:rPr>
              <a:t>Risk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Exposure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before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	</a:t>
            </a:r>
            <a:r>
              <a:rPr sz="24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and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after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	</a:t>
            </a:r>
            <a:r>
              <a:rPr sz="24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6759" y="3011551"/>
            <a:ext cx="76200" cy="337185"/>
          </a:xfrm>
          <a:custGeom>
            <a:avLst/>
            <a:gdLst/>
            <a:ahLst/>
            <a:cxnLst/>
            <a:rect l="l" t="t" r="r" b="b"/>
            <a:pathLst>
              <a:path w="76200" h="337185">
                <a:moveTo>
                  <a:pt x="76200" y="0"/>
                </a:moveTo>
                <a:lnTo>
                  <a:pt x="0" y="0"/>
                </a:lnTo>
                <a:lnTo>
                  <a:pt x="0" y="336803"/>
                </a:lnTo>
                <a:lnTo>
                  <a:pt x="76200" y="336803"/>
                </a:lnTo>
                <a:lnTo>
                  <a:pt x="762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4400" y="3348354"/>
            <a:ext cx="4869180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reduction</a:t>
            </a:r>
            <a:r>
              <a:rPr sz="2400" b="1" spc="-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activity</a:t>
            </a:r>
            <a:r>
              <a:rPr sz="2400" b="1" spc="-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divided</a:t>
            </a:r>
            <a:r>
              <a:rPr sz="2400" b="1" spc="-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by</a:t>
            </a:r>
            <a:r>
              <a:rPr sz="2400" b="1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2400" b="1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1F2023"/>
                </a:solidFill>
                <a:latin typeface="Times New Roman"/>
                <a:cs typeface="Times New Roman"/>
              </a:rPr>
              <a:t>cost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71769" y="3331845"/>
            <a:ext cx="20027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2400" b="1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that</a:t>
            </a:r>
            <a:r>
              <a:rPr sz="24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activity</a:t>
            </a:r>
            <a:r>
              <a:rPr sz="2400" spc="-10" dirty="0">
                <a:solidFill>
                  <a:srgbClr val="1F2023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8360" y="3776853"/>
            <a:ext cx="7553959" cy="11550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66040" marR="43180" indent="-15240">
              <a:lnSpc>
                <a:spcPct val="80000"/>
              </a:lnSpc>
              <a:spcBef>
                <a:spcPts val="675"/>
              </a:spcBef>
              <a:tabLst>
                <a:tab pos="4215130" algn="l"/>
                <a:tab pos="5478145" algn="l"/>
              </a:tabLst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 reduction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leverage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(RRL)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(RE</a:t>
            </a:r>
            <a:r>
              <a:rPr sz="2400" spc="-15" baseline="-20833" dirty="0">
                <a:solidFill>
                  <a:srgbClr val="404040"/>
                </a:solidFill>
                <a:latin typeface="Times New Roman"/>
                <a:cs typeface="Times New Roman"/>
              </a:rPr>
              <a:t>before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-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RE</a:t>
            </a:r>
            <a:r>
              <a:rPr sz="2400" baseline="-20833" dirty="0">
                <a:solidFill>
                  <a:srgbClr val="404040"/>
                </a:solidFill>
                <a:latin typeface="Times New Roman"/>
                <a:cs typeface="Times New Roman"/>
              </a:rPr>
              <a:t>after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)</a:t>
            </a:r>
            <a:r>
              <a:rPr sz="24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/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(cost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reduction)</a:t>
            </a: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830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(RRL</a:t>
            </a:r>
            <a:r>
              <a:rPr sz="2400" spc="-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&gt;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1),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RRL</a:t>
            </a:r>
            <a:r>
              <a:rPr sz="2400" spc="-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greater</a:t>
            </a:r>
            <a:r>
              <a:rPr sz="2400" b="1" spc="-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than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indicates</a:t>
            </a:r>
            <a:r>
              <a:rPr sz="24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700" y="4833366"/>
            <a:ext cx="6441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reduction</a:t>
            </a:r>
            <a:r>
              <a:rPr sz="24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4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exposure</a:t>
            </a:r>
            <a:r>
              <a:rPr sz="2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achieved</a:t>
            </a:r>
            <a:r>
              <a:rPr sz="24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measure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99019" y="4878451"/>
            <a:ext cx="279400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270">
              <a:lnSpc>
                <a:spcPts val="2625"/>
              </a:lnSpc>
            </a:pPr>
            <a:r>
              <a:rPr sz="24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5171059"/>
            <a:ext cx="2723515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5"/>
              </a:lnSpc>
            </a:pP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greater</a:t>
            </a:r>
            <a:r>
              <a:rPr sz="2400" b="1" spc="-8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than</a:t>
            </a:r>
            <a:r>
              <a:rPr sz="2400" b="1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F2023"/>
                </a:solidFill>
                <a:latin typeface="Times New Roman"/>
                <a:cs typeface="Times New Roman"/>
              </a:rPr>
              <a:t>its</a:t>
            </a:r>
            <a:r>
              <a:rPr sz="2400" b="1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1F2023"/>
                </a:solidFill>
                <a:latin typeface="Times New Roman"/>
                <a:cs typeface="Times New Roman"/>
              </a:rPr>
              <a:t>cost.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25722" y="5125973"/>
            <a:ext cx="39325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would, in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long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term, 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1700" y="5418531"/>
            <a:ext cx="1305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beneficial.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71180" y="6546291"/>
            <a:ext cx="1600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36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9144000" cy="524510"/>
            <a:chOff x="0" y="6333744"/>
            <a:chExt cx="9144000" cy="524510"/>
          </a:xfrm>
        </p:grpSpPr>
        <p:sp>
          <p:nvSpPr>
            <p:cNvPr id="3" name="object 3"/>
            <p:cNvSpPr/>
            <p:nvPr/>
          </p:nvSpPr>
          <p:spPr>
            <a:xfrm>
              <a:off x="0" y="6400800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9144000" cy="67310"/>
            </a:xfrm>
            <a:custGeom>
              <a:avLst/>
              <a:gdLst/>
              <a:ahLst/>
              <a:cxnLst/>
              <a:rect l="l" t="t" r="r" b="b"/>
              <a:pathLst>
                <a:path w="9144000" h="67310">
                  <a:moveTo>
                    <a:pt x="9144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9144000" y="6705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94588" y="1737360"/>
            <a:ext cx="572770" cy="0"/>
          </a:xfrm>
          <a:custGeom>
            <a:avLst/>
            <a:gdLst/>
            <a:ahLst/>
            <a:cxnLst/>
            <a:rect l="l" t="t" r="r" b="b"/>
            <a:pathLst>
              <a:path w="572769">
                <a:moveTo>
                  <a:pt x="0" y="0"/>
                </a:moveTo>
                <a:lnTo>
                  <a:pt x="572643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80022" y="1737360"/>
            <a:ext cx="2089785" cy="0"/>
          </a:xfrm>
          <a:custGeom>
            <a:avLst/>
            <a:gdLst/>
            <a:ahLst/>
            <a:cxnLst/>
            <a:rect l="l" t="t" r="r" b="b"/>
            <a:pathLst>
              <a:path w="2089784">
                <a:moveTo>
                  <a:pt x="0" y="0"/>
                </a:moveTo>
                <a:lnTo>
                  <a:pt x="2089784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0620" rIns="0" bIns="0" rtlCol="0">
            <a:spAutoFit/>
          </a:bodyPr>
          <a:lstStyle/>
          <a:p>
            <a:pPr marL="60833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Risk</a:t>
            </a:r>
            <a:r>
              <a:rPr spc="-160" dirty="0"/>
              <a:t> </a:t>
            </a:r>
            <a:r>
              <a:rPr spc="-105" dirty="0"/>
              <a:t>reduction</a:t>
            </a:r>
            <a:r>
              <a:rPr spc="-160" dirty="0"/>
              <a:t> </a:t>
            </a:r>
            <a:r>
              <a:rPr spc="-80" dirty="0"/>
              <a:t>leverage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1427" y="1765173"/>
            <a:ext cx="128079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900" spc="-15" baseline="13888" dirty="0">
                <a:solidFill>
                  <a:srgbClr val="404040"/>
                </a:solidFill>
                <a:latin typeface="Times New Roman"/>
                <a:cs typeface="Times New Roman"/>
              </a:rPr>
              <a:t>RE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before</a:t>
            </a:r>
            <a:r>
              <a:rPr sz="3900" spc="-15" baseline="13888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endParaRPr sz="3900" baseline="13888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7230" y="1737360"/>
            <a:ext cx="4813300" cy="3619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05"/>
              </a:lnSpc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exposure</a:t>
            </a:r>
            <a:r>
              <a:rPr sz="26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before</a:t>
            </a:r>
            <a:r>
              <a:rPr sz="26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 reduction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1427" y="2219325"/>
            <a:ext cx="117856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900" baseline="13888" dirty="0">
                <a:solidFill>
                  <a:srgbClr val="404040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after</a:t>
            </a:r>
            <a:r>
              <a:rPr sz="1700" spc="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900" spc="-37" baseline="13888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endParaRPr sz="3900" baseline="13888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65122" y="2187320"/>
            <a:ext cx="4599940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0"/>
              </a:lnSpc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exposure</a:t>
            </a:r>
            <a:r>
              <a:rPr sz="2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after</a:t>
            </a:r>
            <a:r>
              <a:rPr sz="26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risk 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reduction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93383" y="2642997"/>
            <a:ext cx="82550" cy="365760"/>
          </a:xfrm>
          <a:custGeom>
            <a:avLst/>
            <a:gdLst/>
            <a:ahLst/>
            <a:cxnLst/>
            <a:rect l="l" t="t" r="r" b="b"/>
            <a:pathLst>
              <a:path w="82550" h="365760">
                <a:moveTo>
                  <a:pt x="82295" y="0"/>
                </a:moveTo>
                <a:lnTo>
                  <a:pt x="0" y="0"/>
                </a:lnTo>
                <a:lnTo>
                  <a:pt x="0" y="365760"/>
                </a:lnTo>
                <a:lnTo>
                  <a:pt x="82295" y="365760"/>
                </a:lnTo>
                <a:lnTo>
                  <a:pt x="8229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66827" y="2535021"/>
            <a:ext cx="8811260" cy="332740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e.g.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1%</a:t>
            </a:r>
            <a:r>
              <a:rPr sz="2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chance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fire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causing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£200k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damage.</a:t>
            </a:r>
            <a:endParaRPr sz="2600">
              <a:latin typeface="Times New Roman"/>
              <a:cs typeface="Times New Roman"/>
            </a:endParaRPr>
          </a:p>
          <a:p>
            <a:pPr marL="104139" marR="5080" indent="-91440">
              <a:lnSpc>
                <a:spcPct val="70000"/>
              </a:lnSpc>
              <a:spcBef>
                <a:spcPts val="1405"/>
              </a:spcBef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e.g.</a:t>
            </a:r>
            <a:r>
              <a:rPr sz="2600" spc="2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installing</a:t>
            </a:r>
            <a:r>
              <a:rPr sz="2600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fire</a:t>
            </a:r>
            <a:r>
              <a:rPr sz="2600" spc="25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alarm</a:t>
            </a:r>
            <a:r>
              <a:rPr sz="2600" spc="2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costing</a:t>
            </a:r>
            <a:r>
              <a:rPr sz="2600" spc="2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£500</a:t>
            </a:r>
            <a:r>
              <a:rPr sz="2600" spc="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reduces</a:t>
            </a:r>
            <a:r>
              <a:rPr sz="2600" spc="2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probability</a:t>
            </a:r>
            <a:r>
              <a:rPr sz="2600" spc="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600" spc="25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fire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damage</a:t>
            </a:r>
            <a:r>
              <a:rPr sz="2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0.5%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RRL</a:t>
            </a:r>
            <a:r>
              <a:rPr sz="2600" spc="-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(1%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£200k)-(0.5%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£200k)/£500</a:t>
            </a:r>
            <a:r>
              <a:rPr sz="2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50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RRL</a:t>
            </a:r>
            <a:r>
              <a:rPr sz="2600" b="1" spc="-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&gt;</a:t>
            </a:r>
            <a:r>
              <a:rPr sz="26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1.00</a:t>
            </a:r>
            <a:r>
              <a:rPr sz="26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therefore</a:t>
            </a:r>
            <a:r>
              <a:rPr sz="26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its</a:t>
            </a:r>
            <a:r>
              <a:rPr sz="26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404040"/>
                </a:solidFill>
                <a:latin typeface="Times New Roman"/>
                <a:cs typeface="Times New Roman"/>
              </a:rPr>
              <a:t>worth</a:t>
            </a:r>
            <a:r>
              <a:rPr sz="26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doing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ts val="2450"/>
              </a:lnSpc>
              <a:spcBef>
                <a:spcPts val="540"/>
              </a:spcBef>
            </a:pPr>
            <a:r>
              <a:rPr sz="2400" spc="-65" dirty="0">
                <a:solidFill>
                  <a:srgbClr val="404040"/>
                </a:solidFill>
                <a:latin typeface="Times New Roman"/>
                <a:cs typeface="Times New Roman"/>
              </a:rPr>
              <a:t>W.r.t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analogy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insurance,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insurance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company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might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reduce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the</a:t>
            </a:r>
            <a:endParaRPr sz="2400">
              <a:latin typeface="Times New Roman"/>
              <a:cs typeface="Times New Roman"/>
            </a:endParaRPr>
          </a:p>
          <a:p>
            <a:pPr marL="104139">
              <a:lnSpc>
                <a:spcPts val="2014"/>
              </a:lnSpc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fire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insurance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premium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from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£2k to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£1k</a:t>
            </a:r>
            <a:r>
              <a:rPr sz="240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condition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fire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alarm</a:t>
            </a:r>
            <a:endParaRPr sz="2400">
              <a:latin typeface="Times New Roman"/>
              <a:cs typeface="Times New Roman"/>
            </a:endParaRPr>
          </a:p>
          <a:p>
            <a:pPr marL="104139" marR="145415">
              <a:lnSpc>
                <a:spcPct val="70000"/>
              </a:lnSpc>
              <a:spcBef>
                <a:spcPts val="430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installed.</a:t>
            </a:r>
            <a:r>
              <a:rPr sz="2400" spc="-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insured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would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save £1k a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year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by investing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£500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so 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it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would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worth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doing.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71180" y="6546291"/>
            <a:ext cx="1600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37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413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95"/>
              </a:spcBef>
            </a:pPr>
            <a:r>
              <a:rPr sz="4300" spc="-60" dirty="0"/>
              <a:t>Seven</a:t>
            </a:r>
            <a:r>
              <a:rPr sz="4300" spc="-185" dirty="0"/>
              <a:t> </a:t>
            </a:r>
            <a:r>
              <a:rPr sz="4300" spc="-55" dirty="0"/>
              <a:t>Principles</a:t>
            </a:r>
            <a:r>
              <a:rPr sz="4300" spc="-180" dirty="0"/>
              <a:t> </a:t>
            </a:r>
            <a:r>
              <a:rPr sz="4300" dirty="0"/>
              <a:t>of</a:t>
            </a:r>
            <a:r>
              <a:rPr sz="4300" spc="-190" dirty="0"/>
              <a:t> </a:t>
            </a:r>
            <a:r>
              <a:rPr sz="4300" spc="-20" dirty="0"/>
              <a:t>Risk</a:t>
            </a:r>
            <a:r>
              <a:rPr sz="4300" spc="-180" dirty="0"/>
              <a:t> </a:t>
            </a:r>
            <a:r>
              <a:rPr sz="4300" spc="-25" dirty="0"/>
              <a:t>Management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213156" y="1768221"/>
            <a:ext cx="8323580" cy="449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AutoNum type="arabicPeriod"/>
              <a:tabLst>
                <a:tab pos="469265" algn="l"/>
              </a:tabLst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Maintain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 global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perspective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ts val="2740"/>
              </a:lnSpc>
              <a:spcBef>
                <a:spcPts val="105"/>
              </a:spcBef>
            </a:pP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View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software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risks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within</a:t>
            </a:r>
            <a:r>
              <a:rPr sz="2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context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sz="2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ts val="2740"/>
              </a:lnSpc>
              <a:tabLst>
                <a:tab pos="3556000" algn="l"/>
              </a:tabLst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business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problem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	intended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solve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320"/>
              </a:spcBef>
              <a:buClr>
                <a:srgbClr val="E38312"/>
              </a:buClr>
              <a:buAutoNum type="arabicPeriod" startAt="2"/>
              <a:tabLst>
                <a:tab pos="469265" algn="l"/>
              </a:tabLst>
            </a:pPr>
            <a:r>
              <a:rPr sz="24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Take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forward-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looking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view</a:t>
            </a:r>
            <a:endParaRPr sz="2400">
              <a:latin typeface="Times New Roman"/>
              <a:cs typeface="Times New Roman"/>
            </a:endParaRPr>
          </a:p>
          <a:p>
            <a:pPr marL="469900" marR="1069340">
              <a:lnSpc>
                <a:spcPts val="2590"/>
              </a:lnSpc>
              <a:spcBef>
                <a:spcPts val="434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Think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about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risks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may arise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future;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establish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contingency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plans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75"/>
              </a:spcBef>
              <a:buClr>
                <a:srgbClr val="E38312"/>
              </a:buClr>
              <a:buAutoNum type="arabicPeriod" startAt="3"/>
              <a:tabLst>
                <a:tab pos="469265" algn="l"/>
              </a:tabLst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Encourage</a:t>
            </a:r>
            <a:r>
              <a:rPr sz="24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open</a:t>
            </a:r>
            <a:r>
              <a:rPr sz="24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communication</a:t>
            </a:r>
            <a:endParaRPr sz="2400">
              <a:latin typeface="Times New Roman"/>
              <a:cs typeface="Times New Roman"/>
            </a:endParaRPr>
          </a:p>
          <a:p>
            <a:pPr marL="469900" marR="5080">
              <a:lnSpc>
                <a:spcPts val="2590"/>
              </a:lnSpc>
              <a:spcBef>
                <a:spcPts val="450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Encourage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all</a:t>
            </a:r>
            <a:r>
              <a:rPr sz="2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stakeholders</a:t>
            </a:r>
            <a:r>
              <a:rPr sz="24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users</a:t>
            </a:r>
            <a:r>
              <a:rPr sz="24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point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out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risks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at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any 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time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75"/>
              </a:spcBef>
              <a:buClr>
                <a:srgbClr val="E38312"/>
              </a:buClr>
              <a:buAutoNum type="arabicPeriod" startAt="4"/>
              <a:tabLst>
                <a:tab pos="469265" algn="l"/>
              </a:tabLst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Integrate</a:t>
            </a:r>
            <a:r>
              <a:rPr sz="24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4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management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Integrate</a:t>
            </a:r>
            <a:r>
              <a:rPr sz="24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consideration</a:t>
            </a:r>
            <a:r>
              <a:rPr sz="2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into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software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process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25459" y="651824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imes New Roman"/>
                <a:cs typeface="Times New Roman"/>
              </a:rPr>
              <a:t>41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4588" y="1737360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10259" y="1831975"/>
            <a:ext cx="7400925" cy="358457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16865" marR="5080" indent="-304800">
              <a:lnSpc>
                <a:spcPct val="96900"/>
              </a:lnSpc>
              <a:spcBef>
                <a:spcPts val="190"/>
              </a:spcBef>
              <a:buAutoNum type="arabicPeriod" startAt="5"/>
              <a:tabLst>
                <a:tab pos="469900" algn="l"/>
              </a:tabLst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Emphasize</a:t>
            </a:r>
            <a:r>
              <a:rPr sz="24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continuous</a:t>
            </a:r>
            <a:r>
              <a:rPr sz="24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process</a:t>
            </a:r>
            <a:r>
              <a:rPr sz="2400" b="1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400" b="1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management 	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Modify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identified</a:t>
            </a:r>
            <a:r>
              <a:rPr sz="24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risks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more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becomes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known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add 	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new risks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better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insight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achieved</a:t>
            </a: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1320"/>
              </a:spcBef>
              <a:buAutoNum type="arabicPeriod" startAt="5"/>
              <a:tabLst>
                <a:tab pos="317500" algn="l"/>
              </a:tabLst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Develop</a:t>
            </a:r>
            <a:r>
              <a:rPr sz="24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shared</a:t>
            </a:r>
            <a:r>
              <a:rPr sz="24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product</a:t>
            </a:r>
            <a:r>
              <a:rPr sz="24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vision</a:t>
            </a:r>
            <a:endParaRPr sz="2400">
              <a:latin typeface="Times New Roman"/>
              <a:cs typeface="Times New Roman"/>
            </a:endParaRPr>
          </a:p>
          <a:p>
            <a:pPr marL="469900" marR="111760">
              <a:lnSpc>
                <a:spcPts val="2590"/>
              </a:lnSpc>
              <a:spcBef>
                <a:spcPts val="434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spc="-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shared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vision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all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stakeholders</a:t>
            </a:r>
            <a:r>
              <a:rPr sz="2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facilitates</a:t>
            </a:r>
            <a:r>
              <a:rPr sz="2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better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risk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identification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assessment</a:t>
            </a: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1275"/>
              </a:spcBef>
              <a:buAutoNum type="arabicPeriod" startAt="7"/>
              <a:tabLst>
                <a:tab pos="317500" algn="l"/>
              </a:tabLst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Encourage</a:t>
            </a:r>
            <a:r>
              <a:rPr sz="24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teamwork</a:t>
            </a:r>
            <a:r>
              <a:rPr sz="24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when</a:t>
            </a:r>
            <a:r>
              <a:rPr sz="24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managing</a:t>
            </a:r>
            <a:r>
              <a:rPr sz="24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endParaRPr sz="2400">
              <a:latin typeface="Times New Roman"/>
              <a:cs typeface="Times New Roman"/>
            </a:endParaRPr>
          </a:p>
          <a:p>
            <a:pPr marL="469900" marR="246379">
              <a:lnSpc>
                <a:spcPts val="2590"/>
              </a:lnSpc>
              <a:spcBef>
                <a:spcPts val="450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Pool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skills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experience</a:t>
            </a:r>
            <a:r>
              <a:rPr sz="24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 all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stakeholders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when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conducting</a:t>
            </a:r>
            <a:r>
              <a:rPr sz="24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management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activities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26338"/>
            <a:ext cx="44570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latin typeface="Times New Roman"/>
                <a:cs typeface="Times New Roman"/>
              </a:rPr>
              <a:t>Reducing</a:t>
            </a:r>
            <a:r>
              <a:rPr spc="-2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220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risks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688530"/>
            <a:ext cx="3176905" cy="2835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63830">
              <a:lnSpc>
                <a:spcPct val="131800"/>
              </a:lnSpc>
              <a:spcBef>
                <a:spcPts val="95"/>
              </a:spcBef>
            </a:pP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Hazard</a:t>
            </a:r>
            <a:r>
              <a:rPr sz="2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prevention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Likelihood</a:t>
            </a:r>
            <a:r>
              <a:rPr sz="2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reduction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avoidance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ts val="4430"/>
              </a:lnSpc>
              <a:spcBef>
                <a:spcPts val="115"/>
              </a:spcBef>
            </a:pP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transfer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Contingency</a:t>
            </a:r>
            <a:r>
              <a:rPr sz="2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planning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4630" rIns="0" bIns="0" rtlCol="0">
            <a:spAutoFit/>
          </a:bodyPr>
          <a:lstStyle/>
          <a:p>
            <a:pPr marL="747395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Causal</a:t>
            </a:r>
            <a:r>
              <a:rPr spc="-170" dirty="0"/>
              <a:t> </a:t>
            </a:r>
            <a:r>
              <a:rPr spc="-65" dirty="0"/>
              <a:t>mapping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831975"/>
            <a:ext cx="7480300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just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Times New Roman"/>
                <a:cs typeface="Times New Roman"/>
              </a:rPr>
              <a:t>Causal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mapping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technique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229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visually </a:t>
            </a:r>
            <a:r>
              <a:rPr sz="2400" b="1" dirty="0">
                <a:latin typeface="Times New Roman"/>
                <a:cs typeface="Times New Roman"/>
              </a:rPr>
              <a:t>represent</a:t>
            </a:r>
            <a:r>
              <a:rPr sz="2400" b="1" spc="37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385" dirty="0">
                <a:latin typeface="Times New Roman"/>
                <a:cs typeface="Times New Roman"/>
              </a:rPr>
              <a:t>  </a:t>
            </a:r>
            <a:r>
              <a:rPr sz="2400" b="1" spc="-20" dirty="0">
                <a:latin typeface="Times New Roman"/>
                <a:cs typeface="Times New Roman"/>
              </a:rPr>
              <a:t>cause-and-</a:t>
            </a:r>
            <a:r>
              <a:rPr sz="2400" b="1" dirty="0">
                <a:latin typeface="Times New Roman"/>
                <a:cs typeface="Times New Roman"/>
              </a:rPr>
              <a:t>effect</a:t>
            </a:r>
            <a:r>
              <a:rPr sz="2400" b="1" spc="38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relationships</a:t>
            </a:r>
            <a:r>
              <a:rPr sz="2400" b="1" spc="38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between </a:t>
            </a:r>
            <a:r>
              <a:rPr sz="2400" dirty="0">
                <a:latin typeface="Times New Roman"/>
                <a:cs typeface="Times New Roman"/>
              </a:rPr>
              <a:t>factors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influence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business's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performance.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998089"/>
            <a:ext cx="4068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4735" algn="l"/>
                <a:tab pos="2352040" algn="l"/>
                <a:tab pos="2649220" algn="l"/>
              </a:tabLst>
            </a:pP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Causal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mapping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identifying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02352" y="3043554"/>
            <a:ext cx="3340735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620"/>
              </a:lnSpc>
              <a:tabLst>
                <a:tab pos="1178560" algn="l"/>
                <a:tab pos="2152650" algn="l"/>
                <a:tab pos="2552065" algn="l"/>
              </a:tabLst>
            </a:pP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possible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chains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cause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3372739"/>
            <a:ext cx="1358265" cy="337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effect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3833241"/>
            <a:ext cx="748157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  <a:tabLst>
                <a:tab pos="427355" algn="l"/>
                <a:tab pos="859790" algn="l"/>
                <a:tab pos="2172335" algn="l"/>
                <a:tab pos="2755900" algn="l"/>
                <a:tab pos="3357879" algn="l"/>
                <a:tab pos="4620260" algn="l"/>
                <a:tab pos="5339715" algn="l"/>
                <a:tab pos="7211695" algn="l"/>
              </a:tabLst>
            </a:pPr>
            <a:r>
              <a:rPr sz="2400" spc="-25" dirty="0">
                <a:latin typeface="Times New Roman"/>
                <a:cs typeface="Times New Roman"/>
              </a:rPr>
              <a:t>It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designed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analysis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and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visualization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of </a:t>
            </a:r>
            <a:r>
              <a:rPr sz="2400" b="1" dirty="0">
                <a:latin typeface="Times New Roman"/>
                <a:cs typeface="Times New Roman"/>
              </a:rPr>
              <a:t>qualitative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causal</a:t>
            </a:r>
            <a:r>
              <a:rPr sz="2400" spc="-10" dirty="0">
                <a:latin typeface="Times New Roman"/>
                <a:cs typeface="Times New Roman"/>
              </a:rPr>
              <a:t> links.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4630" rIns="0" bIns="0" rtlCol="0">
            <a:spAutoFit/>
          </a:bodyPr>
          <a:lstStyle/>
          <a:p>
            <a:pPr marL="747395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Causal</a:t>
            </a:r>
            <a:r>
              <a:rPr spc="-170" dirty="0"/>
              <a:t> </a:t>
            </a:r>
            <a:r>
              <a:rPr spc="-65" dirty="0"/>
              <a:t>mapping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67" y="1839595"/>
            <a:ext cx="8719820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Causal</a:t>
            </a:r>
            <a:r>
              <a:rPr sz="2000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mapping</a:t>
            </a:r>
            <a:r>
              <a:rPr sz="2000" spc="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2000" b="1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a tool</a:t>
            </a:r>
            <a:r>
              <a:rPr sz="20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that</a:t>
            </a:r>
            <a:r>
              <a:rPr sz="2000" b="1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enables</a:t>
            </a:r>
            <a:r>
              <a:rPr sz="2000" b="1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you</a:t>
            </a:r>
            <a:r>
              <a:rPr sz="2000" b="1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2000" b="1" spc="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make</a:t>
            </a:r>
            <a:r>
              <a:rPr sz="2000" b="1" spc="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sense</a:t>
            </a:r>
            <a:r>
              <a:rPr sz="2000" b="1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2000" b="1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challenging </a:t>
            </a:r>
            <a:r>
              <a:rPr sz="20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situations,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so</a:t>
            </a:r>
            <a:r>
              <a:rPr sz="2000" spc="-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that</a:t>
            </a:r>
            <a:r>
              <a:rPr sz="20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you</a:t>
            </a:r>
            <a:r>
              <a:rPr sz="2000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can</a:t>
            </a:r>
            <a:r>
              <a:rPr sz="2000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get</a:t>
            </a:r>
            <a:r>
              <a:rPr sz="2000" spc="-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more</a:t>
            </a:r>
            <a:r>
              <a:rPr sz="20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out</a:t>
            </a:r>
            <a:r>
              <a:rPr sz="20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1F2023"/>
                </a:solidFill>
                <a:latin typeface="Times New Roman"/>
                <a:cs typeface="Times New Roman"/>
              </a:rPr>
              <a:t>them.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8267" y="2566238"/>
            <a:ext cx="61715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2000" spc="3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causal</a:t>
            </a:r>
            <a:r>
              <a:rPr sz="2000" spc="4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map</a:t>
            </a:r>
            <a:r>
              <a:rPr sz="2000" spc="4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2000" spc="4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2000" b="1" spc="4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word</a:t>
            </a:r>
            <a:r>
              <a:rPr sz="2000" b="1" spc="4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and</a:t>
            </a:r>
            <a:r>
              <a:rPr sz="2000" b="1" spc="4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arrow</a:t>
            </a:r>
            <a:r>
              <a:rPr sz="2000" b="1" spc="4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diagram</a:t>
            </a:r>
            <a:r>
              <a:rPr sz="2000" b="1" spc="4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2000" b="1" spc="4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which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36055" y="2606167"/>
            <a:ext cx="2490470" cy="2819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190"/>
              </a:lnSpc>
            </a:pP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ideas</a:t>
            </a:r>
            <a:r>
              <a:rPr sz="2000" b="1" spc="4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and</a:t>
            </a:r>
            <a:r>
              <a:rPr sz="2000" b="1" spc="4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actions</a:t>
            </a:r>
            <a:r>
              <a:rPr sz="2000" b="1" spc="4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are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0954" y="2880486"/>
            <a:ext cx="3569335" cy="2819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95"/>
              </a:lnSpc>
            </a:pP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causally</a:t>
            </a:r>
            <a:r>
              <a:rPr sz="2000" b="1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linked</a:t>
            </a:r>
            <a:r>
              <a:rPr sz="20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with</a:t>
            </a:r>
            <a:r>
              <a:rPr sz="2000" b="1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one</a:t>
            </a:r>
            <a:r>
              <a:rPr sz="2000" b="1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another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28034" y="2841117"/>
            <a:ext cx="28740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through</a:t>
            </a:r>
            <a:r>
              <a:rPr sz="2000" b="1" spc="-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2000" b="1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use</a:t>
            </a:r>
            <a:r>
              <a:rPr sz="2000" b="1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20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arrows</a:t>
            </a:r>
            <a:r>
              <a:rPr sz="2000" spc="-10" dirty="0">
                <a:solidFill>
                  <a:srgbClr val="1F2023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8267" y="3292220"/>
            <a:ext cx="8718550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  <a:tabLst>
                <a:tab pos="814387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Eg.</a:t>
            </a:r>
            <a:r>
              <a:rPr sz="2000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Gather</a:t>
            </a:r>
            <a:r>
              <a:rPr sz="2000" spc="20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major</a:t>
            </a:r>
            <a:r>
              <a:rPr sz="2000" spc="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stakeholders</a:t>
            </a:r>
            <a:r>
              <a:rPr sz="2000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together</a:t>
            </a:r>
            <a:r>
              <a:rPr sz="2000" spc="20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spc="20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brainstorm</a:t>
            </a:r>
            <a:r>
              <a:rPr sz="20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collectively</a:t>
            </a:r>
            <a:r>
              <a:rPr sz="20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2000" spc="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what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could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go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wrong.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8267" y="4019169"/>
            <a:ext cx="48285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0230" algn="l"/>
                <a:tab pos="1391920" algn="l"/>
                <a:tab pos="1763395" algn="l"/>
                <a:tab pos="2233295" algn="l"/>
                <a:tab pos="3338195" algn="l"/>
                <a:tab pos="4467225" algn="l"/>
              </a:tabLst>
            </a:pP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causes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problems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identified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33034" y="4058539"/>
            <a:ext cx="3793490" cy="2819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195"/>
              </a:lnSpc>
              <a:tabLst>
                <a:tab pos="852805" algn="l"/>
                <a:tab pos="1536700" algn="l"/>
                <a:tab pos="2274570" algn="l"/>
                <a:tab pos="2773045" algn="l"/>
              </a:tabLst>
            </a:pP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traced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back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using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mapping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0954" y="4340478"/>
            <a:ext cx="4962525" cy="2743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35"/>
              </a:lnSpc>
            </a:pP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technique</a:t>
            </a:r>
            <a:r>
              <a:rPr sz="2000" b="1" spc="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which</a:t>
            </a:r>
            <a:r>
              <a:rPr sz="2000" b="1" spc="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identifies</a:t>
            </a:r>
            <a:r>
              <a:rPr sz="2000" b="1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b="1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000" b="1" spc="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factors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62498" y="4293870"/>
            <a:ext cx="37172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(</a:t>
            </a:r>
            <a:r>
              <a:rPr sz="200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0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‘concept</a:t>
            </a:r>
            <a:r>
              <a:rPr sz="200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variables’)</a:t>
            </a:r>
            <a:r>
              <a:rPr sz="200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000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people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74923" y="5334165"/>
            <a:ext cx="5023485" cy="281940"/>
          </a:xfrm>
          <a:custGeom>
            <a:avLst/>
            <a:gdLst/>
            <a:ahLst/>
            <a:cxnLst/>
            <a:rect l="l" t="t" r="r" b="b"/>
            <a:pathLst>
              <a:path w="5023484" h="281939">
                <a:moveTo>
                  <a:pt x="158483" y="0"/>
                </a:moveTo>
                <a:lnTo>
                  <a:pt x="64008" y="0"/>
                </a:lnTo>
                <a:lnTo>
                  <a:pt x="0" y="0"/>
                </a:lnTo>
                <a:lnTo>
                  <a:pt x="0" y="281940"/>
                </a:lnTo>
                <a:lnTo>
                  <a:pt x="64008" y="281940"/>
                </a:lnTo>
                <a:lnTo>
                  <a:pt x="158483" y="281940"/>
                </a:lnTo>
                <a:lnTo>
                  <a:pt x="158483" y="0"/>
                </a:lnTo>
                <a:close/>
              </a:path>
              <a:path w="5023484" h="281939">
                <a:moveTo>
                  <a:pt x="3899903" y="0"/>
                </a:moveTo>
                <a:lnTo>
                  <a:pt x="3899903" y="0"/>
                </a:lnTo>
                <a:lnTo>
                  <a:pt x="158496" y="0"/>
                </a:lnTo>
                <a:lnTo>
                  <a:pt x="158496" y="281940"/>
                </a:lnTo>
                <a:lnTo>
                  <a:pt x="3899903" y="281940"/>
                </a:lnTo>
                <a:lnTo>
                  <a:pt x="3899903" y="0"/>
                </a:lnTo>
                <a:close/>
              </a:path>
              <a:path w="5023484" h="281939">
                <a:moveTo>
                  <a:pt x="5023104" y="0"/>
                </a:moveTo>
                <a:lnTo>
                  <a:pt x="4927092" y="0"/>
                </a:lnTo>
                <a:lnTo>
                  <a:pt x="3899916" y="0"/>
                </a:lnTo>
                <a:lnTo>
                  <a:pt x="3899916" y="281940"/>
                </a:lnTo>
                <a:lnTo>
                  <a:pt x="4927092" y="281940"/>
                </a:lnTo>
                <a:lnTo>
                  <a:pt x="5023104" y="281940"/>
                </a:lnTo>
                <a:lnTo>
                  <a:pt x="50231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58267" y="4568190"/>
            <a:ext cx="8721090" cy="13322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see</a:t>
            </a:r>
            <a:r>
              <a:rPr sz="2000" spc="40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2000" spc="4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being</a:t>
            </a:r>
            <a:r>
              <a:rPr sz="2000" spc="4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important</a:t>
            </a:r>
            <a:r>
              <a:rPr sz="2000" spc="4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spc="4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4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causal</a:t>
            </a:r>
            <a:r>
              <a:rPr sz="2000" b="1" spc="4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links</a:t>
            </a:r>
            <a:r>
              <a:rPr sz="2000" b="1" spc="4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between</a:t>
            </a:r>
            <a:r>
              <a:rPr sz="2000" b="1" spc="40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them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r>
              <a:rPr sz="2000" spc="4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These</a:t>
            </a:r>
            <a:r>
              <a:rPr sz="2000" spc="4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links</a:t>
            </a:r>
            <a:r>
              <a:rPr sz="2000" spc="4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2000" spc="4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be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positive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negative.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ts val="2160"/>
              </a:lnSpc>
              <a:spcBef>
                <a:spcPts val="1405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Where</a:t>
            </a:r>
            <a:r>
              <a:rPr sz="2000" spc="2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possible,</a:t>
            </a:r>
            <a:r>
              <a:rPr sz="2000" spc="2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2000" spc="22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each</a:t>
            </a:r>
            <a:r>
              <a:rPr sz="2000" spc="2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factor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000" b="1" spc="2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positive</a:t>
            </a:r>
            <a:r>
              <a:rPr sz="2000" b="1" spc="2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b="1" spc="2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negative</a:t>
            </a:r>
            <a:r>
              <a:rPr sz="2000" b="1" spc="2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aspects</a:t>
            </a:r>
            <a:r>
              <a:rPr sz="2000" b="1" spc="2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b="1" spc="2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identified</a:t>
            </a:r>
            <a:r>
              <a:rPr sz="2000" b="1" spc="2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e.g.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‘stable…unstable</a:t>
            </a:r>
            <a:r>
              <a:rPr sz="2000" spc="-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requirements’.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303" y="380237"/>
            <a:ext cx="6967855" cy="81470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marR="5080">
              <a:lnSpc>
                <a:spcPts val="2860"/>
              </a:lnSpc>
              <a:spcBef>
                <a:spcPts val="605"/>
              </a:spcBef>
            </a:pPr>
            <a:r>
              <a:rPr sz="2800" spc="-70" dirty="0"/>
              <a:t>Causal</a:t>
            </a:r>
            <a:r>
              <a:rPr sz="2800" spc="-130" dirty="0"/>
              <a:t> </a:t>
            </a:r>
            <a:r>
              <a:rPr sz="2800" spc="-75" dirty="0"/>
              <a:t>mapping:</a:t>
            </a:r>
            <a:r>
              <a:rPr sz="2800" spc="-135" dirty="0"/>
              <a:t> </a:t>
            </a:r>
            <a:r>
              <a:rPr sz="2800" spc="-10" dirty="0"/>
              <a:t>is</a:t>
            </a:r>
            <a:r>
              <a:rPr sz="2800" spc="-70" dirty="0"/>
              <a:t> </a:t>
            </a:r>
            <a:r>
              <a:rPr sz="2800" dirty="0"/>
              <a:t>a</a:t>
            </a:r>
            <a:r>
              <a:rPr sz="2800" spc="-80" dirty="0"/>
              <a:t> </a:t>
            </a:r>
            <a:r>
              <a:rPr sz="2800" spc="-65" dirty="0"/>
              <a:t>network</a:t>
            </a:r>
            <a:r>
              <a:rPr sz="2800" spc="-70" dirty="0"/>
              <a:t> </a:t>
            </a:r>
            <a:r>
              <a:rPr sz="2800" spc="-65" dirty="0"/>
              <a:t>diagram</a:t>
            </a:r>
            <a:r>
              <a:rPr sz="2800" spc="-80" dirty="0"/>
              <a:t> </a:t>
            </a:r>
            <a:r>
              <a:rPr sz="2800" spc="-45" dirty="0"/>
              <a:t>representing </a:t>
            </a:r>
            <a:r>
              <a:rPr sz="2800" spc="-75" dirty="0"/>
              <a:t>causes</a:t>
            </a:r>
            <a:r>
              <a:rPr sz="2800" spc="-145" dirty="0"/>
              <a:t> </a:t>
            </a:r>
            <a:r>
              <a:rPr sz="2800" spc="-45" dirty="0"/>
              <a:t>and</a:t>
            </a:r>
            <a:r>
              <a:rPr sz="2800" spc="-140" dirty="0"/>
              <a:t> </a:t>
            </a:r>
            <a:r>
              <a:rPr sz="2800" spc="-10" dirty="0"/>
              <a:t>effects</a:t>
            </a:r>
            <a:r>
              <a:rPr sz="2700" spc="-10" dirty="0"/>
              <a:t>.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8171180" y="6546291"/>
            <a:ext cx="1600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50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7075" y="1269491"/>
            <a:ext cx="8689975" cy="4030979"/>
            <a:chOff x="227075" y="1269491"/>
            <a:chExt cx="8689975" cy="4030979"/>
          </a:xfrm>
        </p:grpSpPr>
        <p:sp>
          <p:nvSpPr>
            <p:cNvPr id="3" name="object 3"/>
            <p:cNvSpPr/>
            <p:nvPr/>
          </p:nvSpPr>
          <p:spPr>
            <a:xfrm>
              <a:off x="894588" y="1737359"/>
              <a:ext cx="7475220" cy="0"/>
            </a:xfrm>
            <a:custGeom>
              <a:avLst/>
              <a:gdLst/>
              <a:ahLst/>
              <a:cxnLst/>
              <a:rect l="l" t="t" r="r" b="b"/>
              <a:pathLst>
                <a:path w="7475220">
                  <a:moveTo>
                    <a:pt x="0" y="0"/>
                  </a:moveTo>
                  <a:lnTo>
                    <a:pt x="7475219" y="0"/>
                  </a:lnTo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075" y="1269491"/>
              <a:ext cx="8689848" cy="40309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470" rIns="0" bIns="0" rtlCol="0">
            <a:spAutoFit/>
          </a:bodyPr>
          <a:lstStyle/>
          <a:p>
            <a:pPr marL="229235">
              <a:lnSpc>
                <a:spcPts val="5625"/>
              </a:lnSpc>
              <a:spcBef>
                <a:spcPts val="100"/>
              </a:spcBef>
            </a:pPr>
            <a:r>
              <a:rPr spc="-70" dirty="0">
                <a:solidFill>
                  <a:srgbClr val="FF0000"/>
                </a:solidFill>
              </a:rPr>
              <a:t>Questionnaire</a:t>
            </a:r>
            <a:r>
              <a:rPr spc="-16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on</a:t>
            </a:r>
            <a:r>
              <a:rPr spc="-170" dirty="0">
                <a:solidFill>
                  <a:srgbClr val="FF0000"/>
                </a:solidFill>
              </a:rPr>
              <a:t> </a:t>
            </a:r>
            <a:r>
              <a:rPr spc="-55" dirty="0">
                <a:solidFill>
                  <a:srgbClr val="FF0000"/>
                </a:solidFill>
              </a:rPr>
              <a:t>Project</a:t>
            </a:r>
            <a:r>
              <a:rPr spc="-200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Risk</a:t>
            </a:r>
          </a:p>
          <a:p>
            <a:pPr marL="1296035">
              <a:lnSpc>
                <a:spcPts val="1785"/>
              </a:lnSpc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(Questions</a:t>
            </a:r>
            <a:r>
              <a:rPr sz="16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are</a:t>
            </a:r>
            <a:r>
              <a:rPr sz="16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ordered</a:t>
            </a:r>
            <a:r>
              <a:rPr sz="16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by</a:t>
            </a:r>
            <a:r>
              <a:rPr sz="16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their</a:t>
            </a:r>
            <a:r>
              <a:rPr sz="16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relative</a:t>
            </a:r>
            <a:r>
              <a:rPr sz="16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importance</a:t>
            </a:r>
            <a:r>
              <a:rPr sz="16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6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sz="16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00000"/>
                </a:solidFill>
                <a:latin typeface="Times New Roman"/>
                <a:cs typeface="Times New Roman"/>
              </a:rPr>
              <a:t>success)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100" y="1729181"/>
            <a:ext cx="7501890" cy="4245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indent="-609600">
              <a:lnSpc>
                <a:spcPts val="2740"/>
              </a:lnSpc>
              <a:spcBef>
                <a:spcPts val="100"/>
              </a:spcBef>
              <a:buClr>
                <a:srgbClr val="E38312"/>
              </a:buClr>
              <a:buAutoNum type="arabicParenR"/>
              <a:tabLst>
                <a:tab pos="6223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4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top</a:t>
            </a:r>
            <a:r>
              <a:rPr sz="2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software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customer</a:t>
            </a:r>
            <a:r>
              <a:rPr sz="2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managers</a:t>
            </a:r>
            <a:r>
              <a:rPr sz="2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formally</a:t>
            </a:r>
            <a:endParaRPr sz="2400">
              <a:latin typeface="Calibri"/>
              <a:cs typeface="Calibri"/>
            </a:endParaRPr>
          </a:p>
          <a:p>
            <a:pPr marL="622300">
              <a:lnSpc>
                <a:spcPts val="2740"/>
              </a:lnSpc>
            </a:pP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committed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support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project?</a:t>
            </a:r>
            <a:endParaRPr sz="2400">
              <a:latin typeface="Calibri"/>
              <a:cs typeface="Calibri"/>
            </a:endParaRPr>
          </a:p>
          <a:p>
            <a:pPr marL="622300" marR="5080" indent="-610235">
              <a:lnSpc>
                <a:spcPts val="2590"/>
              </a:lnSpc>
              <a:spcBef>
                <a:spcPts val="1445"/>
              </a:spcBef>
              <a:buClr>
                <a:srgbClr val="E38312"/>
              </a:buClr>
              <a:buAutoNum type="arabicParenR" startAt="2"/>
              <a:tabLst>
                <a:tab pos="6223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end-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users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enthusiastically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committed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project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system/product</a:t>
            </a:r>
            <a:r>
              <a:rPr sz="24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built?</a:t>
            </a:r>
            <a:endParaRPr sz="2400">
              <a:latin typeface="Calibri"/>
              <a:cs typeface="Calibri"/>
            </a:endParaRPr>
          </a:p>
          <a:p>
            <a:pPr marL="622300" indent="-609600">
              <a:lnSpc>
                <a:spcPts val="2735"/>
              </a:lnSpc>
              <a:spcBef>
                <a:spcPts val="1080"/>
              </a:spcBef>
              <a:buClr>
                <a:srgbClr val="E38312"/>
              </a:buClr>
              <a:buAutoNum type="arabicParenR" startAt="2"/>
              <a:tabLst>
                <a:tab pos="6223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requirements</a:t>
            </a:r>
            <a:r>
              <a:rPr sz="24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fully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understood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software</a:t>
            </a:r>
            <a:endParaRPr sz="2400">
              <a:latin typeface="Calibri"/>
              <a:cs typeface="Calibri"/>
            </a:endParaRPr>
          </a:p>
          <a:p>
            <a:pPr marL="622300">
              <a:lnSpc>
                <a:spcPts val="2735"/>
              </a:lnSpc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engineering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team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its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customers?</a:t>
            </a:r>
            <a:endParaRPr sz="2400">
              <a:latin typeface="Calibri"/>
              <a:cs typeface="Calibri"/>
            </a:endParaRPr>
          </a:p>
          <a:p>
            <a:pPr marL="622300" marR="138430" indent="-610235">
              <a:lnSpc>
                <a:spcPts val="2590"/>
              </a:lnSpc>
              <a:spcBef>
                <a:spcPts val="1430"/>
              </a:spcBef>
              <a:buClr>
                <a:srgbClr val="E38312"/>
              </a:buClr>
              <a:buAutoNum type="arabicParenR" startAt="4"/>
              <a:tabLst>
                <a:tab pos="6223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customers</a:t>
            </a:r>
            <a:r>
              <a:rPr sz="2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been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involved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fully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definition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requirements?</a:t>
            </a:r>
            <a:endParaRPr sz="24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spcBef>
                <a:spcPts val="1080"/>
              </a:spcBef>
              <a:buClr>
                <a:srgbClr val="E38312"/>
              </a:buClr>
              <a:buAutoNum type="arabicParenR" startAt="4"/>
              <a:tabLst>
                <a:tab pos="6223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r>
              <a:rPr sz="2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end-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users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realistic</a:t>
            </a:r>
            <a:r>
              <a:rPr sz="2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expectations?</a:t>
            </a:r>
            <a:endParaRPr sz="24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spcBef>
                <a:spcPts val="1120"/>
              </a:spcBef>
              <a:buClr>
                <a:srgbClr val="E38312"/>
              </a:buClr>
              <a:buAutoNum type="arabicParenR" startAt="4"/>
              <a:tabLst>
                <a:tab pos="6223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scope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stable?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25459" y="651824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imes New Roman"/>
                <a:cs typeface="Times New Roman"/>
              </a:rPr>
              <a:t>52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84575" y="6352743"/>
            <a:ext cx="16916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(More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next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slide)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95" rIns="0" bIns="0" rtlCol="0">
            <a:spAutoFit/>
          </a:bodyPr>
          <a:lstStyle/>
          <a:p>
            <a:pPr marL="686435" marR="5080">
              <a:lnSpc>
                <a:spcPts val="4390"/>
              </a:lnSpc>
              <a:spcBef>
                <a:spcPts val="885"/>
              </a:spcBef>
            </a:pPr>
            <a:r>
              <a:rPr sz="4300" spc="-65" dirty="0"/>
              <a:t>Questionnaire</a:t>
            </a:r>
            <a:r>
              <a:rPr sz="4300" spc="-150" dirty="0"/>
              <a:t> </a:t>
            </a:r>
            <a:r>
              <a:rPr sz="4300" dirty="0"/>
              <a:t>on</a:t>
            </a:r>
            <a:r>
              <a:rPr sz="4300" spc="-145" dirty="0"/>
              <a:t> </a:t>
            </a:r>
            <a:r>
              <a:rPr sz="4300" spc="-65" dirty="0"/>
              <a:t>Project</a:t>
            </a:r>
            <a:r>
              <a:rPr sz="4300" spc="-160" dirty="0"/>
              <a:t> </a:t>
            </a:r>
            <a:r>
              <a:rPr sz="4300" spc="-20" dirty="0"/>
              <a:t>Risk </a:t>
            </a:r>
            <a:r>
              <a:rPr sz="4300" spc="-10" dirty="0"/>
              <a:t>(continued)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673100" y="1729181"/>
            <a:ext cx="7762875" cy="4067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indent="-609600">
              <a:lnSpc>
                <a:spcPts val="2740"/>
              </a:lnSpc>
              <a:spcBef>
                <a:spcPts val="100"/>
              </a:spcBef>
              <a:buClr>
                <a:srgbClr val="E38312"/>
              </a:buClr>
              <a:buAutoNum type="arabicParenR" startAt="7"/>
              <a:tabLst>
                <a:tab pos="6223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Does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software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engineering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team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right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mix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endParaRPr sz="2400">
              <a:latin typeface="Calibri"/>
              <a:cs typeface="Calibri"/>
            </a:endParaRPr>
          </a:p>
          <a:p>
            <a:pPr marL="622300">
              <a:lnSpc>
                <a:spcPts val="2740"/>
              </a:lnSpc>
            </a:pP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skills?</a:t>
            </a:r>
            <a:endParaRPr sz="24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spcBef>
                <a:spcPts val="1115"/>
              </a:spcBef>
              <a:buClr>
                <a:srgbClr val="E38312"/>
              </a:buClr>
              <a:buAutoNum type="arabicParenR" startAt="8"/>
              <a:tabLst>
                <a:tab pos="6223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requirements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stable?</a:t>
            </a:r>
            <a:endParaRPr sz="2400">
              <a:latin typeface="Calibri"/>
              <a:cs typeface="Calibri"/>
            </a:endParaRPr>
          </a:p>
          <a:p>
            <a:pPr marL="622300" marR="1189355" indent="-610235">
              <a:lnSpc>
                <a:spcPts val="2590"/>
              </a:lnSpc>
              <a:spcBef>
                <a:spcPts val="1445"/>
              </a:spcBef>
              <a:buClr>
                <a:srgbClr val="E38312"/>
              </a:buClr>
              <a:buAutoNum type="arabicParenR" startAt="8"/>
              <a:tabLst>
                <a:tab pos="6223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Does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team</a:t>
            </a:r>
            <a:r>
              <a:rPr sz="2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experience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technology</a:t>
            </a:r>
            <a:r>
              <a:rPr sz="24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implemented?</a:t>
            </a:r>
            <a:endParaRPr sz="2400">
              <a:latin typeface="Calibri"/>
              <a:cs typeface="Calibri"/>
            </a:endParaRPr>
          </a:p>
          <a:p>
            <a:pPr marL="622300" marR="59690" indent="-610235">
              <a:lnSpc>
                <a:spcPts val="2590"/>
              </a:lnSpc>
              <a:spcBef>
                <a:spcPts val="1400"/>
              </a:spcBef>
              <a:buClr>
                <a:srgbClr val="E38312"/>
              </a:buClr>
              <a:buAutoNum type="arabicParenR" startAt="8"/>
              <a:tabLst>
                <a:tab pos="6223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people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team</a:t>
            </a:r>
            <a:r>
              <a:rPr sz="2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adequate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job?</a:t>
            </a:r>
            <a:endParaRPr sz="2400">
              <a:latin typeface="Calibri"/>
              <a:cs typeface="Calibri"/>
            </a:endParaRPr>
          </a:p>
          <a:p>
            <a:pPr marL="622300" marR="383540" indent="-610235">
              <a:lnSpc>
                <a:spcPct val="90000"/>
              </a:lnSpc>
              <a:spcBef>
                <a:spcPts val="1365"/>
              </a:spcBef>
              <a:buClr>
                <a:srgbClr val="E38312"/>
              </a:buClr>
              <a:buAutoNum type="arabicParenR" startAt="8"/>
              <a:tabLst>
                <a:tab pos="6223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customer/user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constituencies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agree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importance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requirements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for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system/product</a:t>
            </a:r>
            <a:r>
              <a:rPr sz="24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built?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25459" y="651824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imes New Roman"/>
                <a:cs typeface="Times New Roman"/>
              </a:rPr>
              <a:t>53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4630" rIns="0" bIns="0" rtlCol="0">
            <a:spAutoFit/>
          </a:bodyPr>
          <a:lstStyle/>
          <a:p>
            <a:pPr marL="747395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Tutorials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831975"/>
            <a:ext cx="7481570" cy="30511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just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List</a:t>
            </a:r>
            <a:r>
              <a:rPr sz="2400" spc="19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19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major</a:t>
            </a:r>
            <a:r>
              <a:rPr sz="2400" spc="20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risks</a:t>
            </a:r>
            <a:r>
              <a:rPr sz="2400" spc="19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400" spc="19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might</a:t>
            </a:r>
            <a:r>
              <a:rPr sz="2400" spc="20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affect</a:t>
            </a:r>
            <a:r>
              <a:rPr sz="2400" spc="20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your</a:t>
            </a:r>
            <a:r>
              <a:rPr sz="2400" spc="19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400" spc="19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(J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component)</a:t>
            </a:r>
            <a:r>
              <a:rPr sz="2400" spc="3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3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identify</a:t>
            </a:r>
            <a:r>
              <a:rPr sz="24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strategies</a:t>
            </a:r>
            <a:r>
              <a:rPr sz="24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24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minimizing</a:t>
            </a:r>
            <a:r>
              <a:rPr sz="2400" spc="4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each</a:t>
            </a:r>
            <a:r>
              <a:rPr sz="24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those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risks.</a:t>
            </a:r>
            <a:endParaRPr sz="2400">
              <a:latin typeface="Times New Roman"/>
              <a:cs typeface="Times New Roman"/>
            </a:endParaRPr>
          </a:p>
          <a:p>
            <a:pPr marL="12700" marR="6350" algn="just">
              <a:lnSpc>
                <a:spcPts val="2590"/>
              </a:lnSpc>
              <a:spcBef>
                <a:spcPts val="1415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List</a:t>
            </a:r>
            <a:r>
              <a:rPr sz="2400" spc="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top</a:t>
            </a:r>
            <a:r>
              <a:rPr sz="24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risks</a:t>
            </a:r>
            <a:r>
              <a:rPr sz="24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400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may</a:t>
            </a:r>
            <a:r>
              <a:rPr sz="24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happen</a:t>
            </a:r>
            <a:r>
              <a:rPr sz="2400" spc="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spc="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highly</a:t>
            </a:r>
            <a:r>
              <a:rPr sz="24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user</a:t>
            </a:r>
            <a:r>
              <a:rPr sz="2400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friendly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web</a:t>
            </a:r>
            <a:r>
              <a:rPr sz="2400" spc="50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sz="2400" spc="5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development</a:t>
            </a:r>
            <a:r>
              <a:rPr sz="2400" spc="5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400" spc="5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50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also</a:t>
            </a:r>
            <a:r>
              <a:rPr sz="2400" spc="5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provide</a:t>
            </a:r>
            <a:r>
              <a:rPr sz="2400" spc="5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5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risk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table</a:t>
            </a:r>
            <a:r>
              <a:rPr sz="2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same.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ts val="2735"/>
              </a:lnSpc>
              <a:spcBef>
                <a:spcPts val="1070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Identify</a:t>
            </a:r>
            <a:r>
              <a:rPr sz="2400" spc="55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56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various</a:t>
            </a:r>
            <a:r>
              <a:rPr sz="2400" spc="54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risk</a:t>
            </a:r>
            <a:r>
              <a:rPr sz="2400" spc="55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tools</a:t>
            </a:r>
            <a:r>
              <a:rPr sz="2400" spc="56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available</a:t>
            </a:r>
            <a:r>
              <a:rPr sz="2400" spc="55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online</a:t>
            </a:r>
            <a:r>
              <a:rPr sz="2400" spc="55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35"/>
              </a:lnSpc>
            </a:pP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demonstrate.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580CC-F54E-5EFA-D71E-815D75F90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E022DC-1F7A-CC4E-EEBD-7DE4D9B4267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64203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9CDBC-B7BE-2EDF-0D5B-F6F87EA9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27" y="0"/>
            <a:ext cx="8810345" cy="1477328"/>
          </a:xfrm>
        </p:spPr>
        <p:txBody>
          <a:bodyPr/>
          <a:lstStyle/>
          <a:p>
            <a:pPr algn="ctr"/>
            <a:r>
              <a:rPr lang="en-IN" b="1" dirty="0"/>
              <a:t>Risk Management in Educational Projects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BCE293A-DF23-3241-49D3-C9CB8462C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6400"/>
            <a:ext cx="9220201" cy="4694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23268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F825D-99C6-8D5B-17F2-9D754A1CD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27" y="30480"/>
            <a:ext cx="8810345" cy="738664"/>
          </a:xfrm>
        </p:spPr>
        <p:txBody>
          <a:bodyPr/>
          <a:lstStyle/>
          <a:p>
            <a:r>
              <a:rPr lang="en-IN" dirty="0"/>
              <a:t>Sample Student Risk 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1BB7B-A0AD-8060-4B44-3D5248CAE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79B3C-D257-5B85-05EF-2526701FF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77" y="1297376"/>
            <a:ext cx="802005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2939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6A3C-F772-22E2-BFD8-7C39C11CE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E7E311-E9FC-982D-AAB6-6FCA6AA8D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1750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007E09-DBA5-627F-B5B9-F9AB4B9FC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49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3418</Words>
  <Application>Microsoft Office PowerPoint</Application>
  <PresentationFormat>On-screen Show (4:3)</PresentationFormat>
  <Paragraphs>436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 MT</vt:lpstr>
      <vt:lpstr>Calibri</vt:lpstr>
      <vt:lpstr>Calibri Light</vt:lpstr>
      <vt:lpstr>Tahoma</vt:lpstr>
      <vt:lpstr>Times New Roman</vt:lpstr>
      <vt:lpstr>Office Theme</vt:lpstr>
      <vt:lpstr>PowerPoint Presentation</vt:lpstr>
      <vt:lpstr>RISK</vt:lpstr>
      <vt:lpstr>Risk Definition</vt:lpstr>
      <vt:lpstr>Risk Management</vt:lpstr>
      <vt:lpstr>PowerPoint Presentation</vt:lpstr>
      <vt:lpstr>PowerPoint Presentation</vt:lpstr>
      <vt:lpstr>Risk Categorization</vt:lpstr>
      <vt:lpstr>PowerPoint Presentation</vt:lpstr>
      <vt:lpstr>Operational Risks</vt:lpstr>
      <vt:lpstr>PowerPoint Presentation</vt:lpstr>
      <vt:lpstr>Sub-categories of Business risks</vt:lpstr>
      <vt:lpstr>Risk Categorization – Approach #2</vt:lpstr>
      <vt:lpstr>Risk Management approaches: Reactive vs. Proactive Risk Strategies</vt:lpstr>
      <vt:lpstr>Steps</vt:lpstr>
      <vt:lpstr>Sociotechnical Model of Risk Categorization</vt:lpstr>
      <vt:lpstr>PowerPoint Presentation</vt:lpstr>
      <vt:lpstr>PowerPoint Presentation</vt:lpstr>
      <vt:lpstr>Barry Boehm’s Risk Engineering</vt:lpstr>
      <vt:lpstr>A framework for dealing with risk</vt:lpstr>
      <vt:lpstr>Risk Identification: Boehm’s top 10 Software development risks Table: Software project risks &amp; strategies for risk reduction</vt:lpstr>
      <vt:lpstr>Boehm’s top ten risk - continued</vt:lpstr>
      <vt:lpstr>Factors to consider in risk identification</vt:lpstr>
      <vt:lpstr>PowerPoint Presentation</vt:lpstr>
      <vt:lpstr>Risk Assessment &amp; Prioritization</vt:lpstr>
      <vt:lpstr>PowerPoint Presentation</vt:lpstr>
      <vt:lpstr>Eg. Assume a flood would cause a damage of 5Lakhs and</vt:lpstr>
      <vt:lpstr>Amanda’s risk exposure assessment: Relative scaling in prioritizing</vt:lpstr>
      <vt:lpstr>Risk probability: qualitative descriptors and range values</vt:lpstr>
      <vt:lpstr>Qualitative descriptors of</vt:lpstr>
      <vt:lpstr>PowerPoint Presentation</vt:lpstr>
      <vt:lpstr>Probability impact matrix/grid or summary risk profiles</vt:lpstr>
      <vt:lpstr>PowerPoint Presentation</vt:lpstr>
      <vt:lpstr>A risk that has a potential damage of $40,000 and a probability of occurrence of 12% will be given a higher priority than a risk having</vt:lpstr>
      <vt:lpstr>Risk planning</vt:lpstr>
      <vt:lpstr>Risk reduction leverage</vt:lpstr>
      <vt:lpstr>Risk reduction leverage</vt:lpstr>
      <vt:lpstr>Seven Principles of Risk Management</vt:lpstr>
      <vt:lpstr>PowerPoint Presentation</vt:lpstr>
      <vt:lpstr>Reducing the risks</vt:lpstr>
      <vt:lpstr>Causal mapping</vt:lpstr>
      <vt:lpstr>Causal mapping</vt:lpstr>
      <vt:lpstr>Causal mapping: is a network diagram representing causes and effects.</vt:lpstr>
      <vt:lpstr>PowerPoint Presentation</vt:lpstr>
      <vt:lpstr>Questionnaire on Project Risk (Questions are ordered by their relative importance to project success)</vt:lpstr>
      <vt:lpstr>Questionnaire on Project Risk (continued)</vt:lpstr>
      <vt:lpstr>Tutorials</vt:lpstr>
      <vt:lpstr>PowerPoint Presentation</vt:lpstr>
      <vt:lpstr>Risk Management in Educational Projects</vt:lpstr>
      <vt:lpstr>Sample Student Risk Table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</dc:title>
  <dc:creator>HP</dc:creator>
  <cp:lastModifiedBy>Vijay R</cp:lastModifiedBy>
  <cp:revision>1</cp:revision>
  <dcterms:created xsi:type="dcterms:W3CDTF">2026-02-18T17:44:04Z</dcterms:created>
  <dcterms:modified xsi:type="dcterms:W3CDTF">2026-02-18T17:50:22Z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2026-02-18T00:00:00Z</vt:filetime>
  </property>
  <property fmtid="{D5CDD505-2E9C-101B-9397-08002B2CF9AE}" pid="5" name="Producer">
    <vt:lpwstr>Microsoft® PowerPoint® 2013</vt:lpwstr>
  </property>
</Properties>
</file>