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-81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45EF11-6902-429D-9659-EA9FDBC85271}" type="datetimeFigureOut">
              <a:rPr lang="en-IN" smtClean="0"/>
              <a:t>04-10-2021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15C4FD-3AE1-4852-8DC3-D989868FF5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929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2B5BA23-F65A-482E-947A-5BF669CCEC5E}" type="slidenum">
              <a:rPr lang="en-CA" altLang="en-US"/>
              <a:pPr/>
              <a:t>2</a:t>
            </a:fld>
            <a:endParaRPr lang="en-CA" altLang="en-US"/>
          </a:p>
        </p:txBody>
      </p:sp>
      <p:sp>
        <p:nvSpPr>
          <p:cNvPr id="67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7984E76-6330-4310-8707-6B95C5D105FC}" type="slidenum">
              <a:rPr lang="en-CA" altLang="en-US"/>
              <a:pPr/>
              <a:t>3</a:t>
            </a:fld>
            <a:endParaRPr lang="en-CA" altLang="en-US"/>
          </a:p>
        </p:txBody>
      </p:sp>
      <p:sp>
        <p:nvSpPr>
          <p:cNvPr id="68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E640C8B-CA73-4599-88F8-49D65AB94185}" type="slidenum">
              <a:rPr lang="en-CA" altLang="en-US"/>
              <a:pPr/>
              <a:t>4</a:t>
            </a:fld>
            <a:endParaRPr lang="en-CA" altLang="en-US"/>
          </a:p>
        </p:txBody>
      </p:sp>
      <p:sp>
        <p:nvSpPr>
          <p:cNvPr id="68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36359B-84D3-40B8-860F-04997F3922B5}" type="slidenum">
              <a:rPr lang="en-CA" altLang="en-US"/>
              <a:pPr/>
              <a:t>5</a:t>
            </a:fld>
            <a:endParaRPr lang="en-CA" altLang="en-US"/>
          </a:p>
        </p:txBody>
      </p:sp>
      <p:sp>
        <p:nvSpPr>
          <p:cNvPr id="68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2B4CE5-1C70-4D4A-91B3-861C32349B09}" type="slidenum">
              <a:rPr lang="en-CA" altLang="en-US"/>
              <a:pPr/>
              <a:t>6</a:t>
            </a:fld>
            <a:endParaRPr lang="en-CA" altLang="en-US"/>
          </a:p>
        </p:txBody>
      </p:sp>
      <p:sp>
        <p:nvSpPr>
          <p:cNvPr id="68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53E050-40FC-4765-A7D0-37B46B8A23F9}" type="slidenum">
              <a:rPr lang="en-CA" altLang="en-US"/>
              <a:pPr/>
              <a:t>7</a:t>
            </a:fld>
            <a:endParaRPr lang="en-CA" altLang="en-US"/>
          </a:p>
        </p:txBody>
      </p:sp>
      <p:sp>
        <p:nvSpPr>
          <p:cNvPr id="77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0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3CE2973-A23D-4896-A0B1-00CE5F9F32A9}" type="slidenum">
              <a:rPr lang="en-CA" altLang="en-US"/>
              <a:pPr/>
              <a:t>8</a:t>
            </a:fld>
            <a:endParaRPr lang="en-CA" altLang="en-US"/>
          </a:p>
        </p:txBody>
      </p:sp>
      <p:sp>
        <p:nvSpPr>
          <p:cNvPr id="68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C5D6349-D7D6-4121-9A18-EE2390E04706}" type="slidenum">
              <a:rPr lang="en-CA" altLang="en-US"/>
              <a:pPr/>
              <a:t>9</a:t>
            </a:fld>
            <a:endParaRPr lang="en-CA" altLang="en-US"/>
          </a:p>
        </p:txBody>
      </p:sp>
      <p:sp>
        <p:nvSpPr>
          <p:cNvPr id="69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DD2981-736B-4631-BF62-3E4B3F449953}" type="slidenum">
              <a:rPr lang="en-CA" altLang="en-US"/>
              <a:pPr/>
              <a:t>10</a:t>
            </a:fld>
            <a:endParaRPr lang="en-CA" altLang="en-US"/>
          </a:p>
        </p:txBody>
      </p:sp>
      <p:sp>
        <p:nvSpPr>
          <p:cNvPr id="69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EBB252-D4D8-4978-A602-D6022D14B5B0}" type="slidenum">
              <a:rPr lang="en-CA" altLang="en-US"/>
              <a:pPr/>
              <a:t>11</a:t>
            </a:fld>
            <a:endParaRPr lang="en-CA" altLang="en-US"/>
          </a:p>
        </p:txBody>
      </p:sp>
      <p:sp>
        <p:nvSpPr>
          <p:cNvPr id="69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0F7247-0C81-4485-BDE3-3C0E7C4256AE}" type="slidenum">
              <a:rPr lang="en-CA" altLang="en-US"/>
              <a:pPr/>
              <a:t>12</a:t>
            </a:fld>
            <a:endParaRPr lang="en-CA" altLang="en-US"/>
          </a:p>
        </p:txBody>
      </p:sp>
      <p:sp>
        <p:nvSpPr>
          <p:cNvPr id="69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7C78-460A-4206-9C2B-B0F6310B709B}" type="datetimeFigureOut">
              <a:rPr lang="en-IN" smtClean="0"/>
              <a:t>04-10-2021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473A5-8C84-40A1-9EED-B6EAF3D520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568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7C78-460A-4206-9C2B-B0F6310B709B}" type="datetimeFigureOut">
              <a:rPr lang="en-IN" smtClean="0"/>
              <a:t>04-10-2021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473A5-8C84-40A1-9EED-B6EAF3D520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0556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7C78-460A-4206-9C2B-B0F6310B709B}" type="datetimeFigureOut">
              <a:rPr lang="en-IN" smtClean="0"/>
              <a:t>04-10-2021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473A5-8C84-40A1-9EED-B6EAF3D520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860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7C78-460A-4206-9C2B-B0F6310B709B}" type="datetimeFigureOut">
              <a:rPr lang="en-IN" smtClean="0"/>
              <a:t>04-10-2021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473A5-8C84-40A1-9EED-B6EAF3D520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597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7C78-460A-4206-9C2B-B0F6310B709B}" type="datetimeFigureOut">
              <a:rPr lang="en-IN" smtClean="0"/>
              <a:t>04-10-2021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473A5-8C84-40A1-9EED-B6EAF3D520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049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7C78-460A-4206-9C2B-B0F6310B709B}" type="datetimeFigureOut">
              <a:rPr lang="en-IN" smtClean="0"/>
              <a:t>04-10-2021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473A5-8C84-40A1-9EED-B6EAF3D520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4449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7C78-460A-4206-9C2B-B0F6310B709B}" type="datetimeFigureOut">
              <a:rPr lang="en-IN" smtClean="0"/>
              <a:t>04-10-2021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473A5-8C84-40A1-9EED-B6EAF3D520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070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7C78-460A-4206-9C2B-B0F6310B709B}" type="datetimeFigureOut">
              <a:rPr lang="en-IN" smtClean="0"/>
              <a:t>04-10-2021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473A5-8C84-40A1-9EED-B6EAF3D520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654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7C78-460A-4206-9C2B-B0F6310B709B}" type="datetimeFigureOut">
              <a:rPr lang="en-IN" smtClean="0"/>
              <a:t>04-10-2021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473A5-8C84-40A1-9EED-B6EAF3D520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007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7C78-460A-4206-9C2B-B0F6310B709B}" type="datetimeFigureOut">
              <a:rPr lang="en-IN" smtClean="0"/>
              <a:t>04-10-2021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473A5-8C84-40A1-9EED-B6EAF3D520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981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7C78-460A-4206-9C2B-B0F6310B709B}" type="datetimeFigureOut">
              <a:rPr lang="en-IN" smtClean="0"/>
              <a:t>04-10-2021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473A5-8C84-40A1-9EED-B6EAF3D520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0581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A77C78-460A-4206-9C2B-B0F6310B709B}" type="datetimeFigureOut">
              <a:rPr lang="en-IN" smtClean="0"/>
              <a:t>04-10-2021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A473A5-8C84-40A1-9EED-B6EAF3D520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0000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Chapter 10-</a:t>
            </a:r>
            <a:fld id="{6A53F78B-8CA8-4B3A-8E23-60643D3F4D78}" type="slidenum">
              <a:rPr lang="en-US"/>
              <a:pPr/>
              <a:t>1</a:t>
            </a:fld>
            <a:endParaRPr lang="en-US"/>
          </a:p>
        </p:txBody>
      </p:sp>
      <p:sp>
        <p:nvSpPr>
          <p:cNvPr id="71684" name="Rectangle 4"/>
          <p:cNvSpPr>
            <a:spLocks noGrp="1" noChangeArrowheads="1"/>
          </p:cNvSpPr>
          <p:nvPr>
            <p:ph type="title"/>
          </p:nvPr>
        </p:nvSpPr>
        <p:spPr>
          <a:xfrm>
            <a:off x="250825" y="303213"/>
            <a:ext cx="8534400" cy="842962"/>
          </a:xfrm>
        </p:spPr>
        <p:txBody>
          <a:bodyPr/>
          <a:lstStyle/>
          <a:p>
            <a:r>
              <a:rPr lang="en-US" sz="4000" dirty="0">
                <a:cs typeface="Times New Roman" pitchFamily="18" charset="0"/>
              </a:rPr>
              <a:t>Informal Design Guidelines</a:t>
            </a:r>
            <a:endParaRPr lang="en-US" sz="4000" dirty="0"/>
          </a:p>
        </p:txBody>
      </p:sp>
      <p:sp>
        <p:nvSpPr>
          <p:cNvPr id="7168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51520" y="1389062"/>
            <a:ext cx="8892480" cy="4920257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buNone/>
            </a:pPr>
            <a:r>
              <a:rPr lang="en-US" sz="2800" b="1" i="1" dirty="0"/>
              <a:t>goodness </a:t>
            </a:r>
            <a:r>
              <a:rPr lang="en-US" sz="2800" b="1" dirty="0"/>
              <a:t>to measure the quality of the </a:t>
            </a:r>
            <a:r>
              <a:rPr lang="en-US" sz="2800" b="1" dirty="0" smtClean="0"/>
              <a:t>design</a:t>
            </a:r>
          </a:p>
          <a:p>
            <a:pPr marL="533400" indent="-533400">
              <a:lnSpc>
                <a:spcPct val="90000"/>
              </a:lnSpc>
              <a:buNone/>
            </a:pPr>
            <a:r>
              <a:rPr lang="en-US" sz="2800" dirty="0"/>
              <a:t>first is the </a:t>
            </a:r>
            <a:r>
              <a:rPr lang="en-US" sz="2800" b="1" dirty="0"/>
              <a:t>logical </a:t>
            </a:r>
            <a:r>
              <a:rPr lang="en-US" sz="2800" dirty="0"/>
              <a:t>(or </a:t>
            </a:r>
            <a:r>
              <a:rPr lang="en-US" sz="2800" b="1" dirty="0"/>
              <a:t>conceptual</a:t>
            </a:r>
            <a:r>
              <a:rPr lang="en-US" sz="2800" dirty="0"/>
              <a:t>) </a:t>
            </a:r>
            <a:r>
              <a:rPr lang="en-US" sz="2800" b="1" dirty="0" smtClean="0"/>
              <a:t>level</a:t>
            </a:r>
          </a:p>
          <a:p>
            <a:pPr marL="533400" indent="-533400">
              <a:lnSpc>
                <a:spcPct val="90000"/>
              </a:lnSpc>
              <a:buNone/>
            </a:pPr>
            <a:r>
              <a:rPr lang="en-US" sz="2800" dirty="0"/>
              <a:t>The second is the </a:t>
            </a:r>
            <a:r>
              <a:rPr lang="en-US" sz="2800" b="1" dirty="0" smtClean="0"/>
              <a:t>implementation </a:t>
            </a:r>
            <a:r>
              <a:rPr lang="en-US" sz="2800" b="1" dirty="0" smtClean="0"/>
              <a:t>(physical </a:t>
            </a:r>
            <a:r>
              <a:rPr lang="en-US" sz="2800" b="1" dirty="0"/>
              <a:t>storage) level </a:t>
            </a:r>
            <a:endParaRPr lang="en-US" sz="2800" b="1" dirty="0" smtClean="0"/>
          </a:p>
          <a:p>
            <a:pPr marL="533400" indent="-533400">
              <a:lnSpc>
                <a:spcPct val="90000"/>
              </a:lnSpc>
              <a:buNone/>
            </a:pPr>
            <a:endParaRPr lang="en-US" sz="2800" b="1" dirty="0" smtClean="0">
              <a:cs typeface="Times New Roman" pitchFamily="18" charset="0"/>
            </a:endParaRPr>
          </a:p>
          <a:p>
            <a:pPr marL="533400" indent="-533400">
              <a:lnSpc>
                <a:spcPct val="90000"/>
              </a:lnSpc>
              <a:buFont typeface="Wingdings" pitchFamily="2" charset="2"/>
              <a:buNone/>
            </a:pPr>
            <a:r>
              <a:rPr lang="en-US" sz="2800" dirty="0" smtClean="0">
                <a:cs typeface="Times New Roman" pitchFamily="18" charset="0"/>
              </a:rPr>
              <a:t>Informal </a:t>
            </a:r>
            <a:r>
              <a:rPr lang="en-US" sz="2800" dirty="0">
                <a:cs typeface="Times New Roman" pitchFamily="18" charset="0"/>
              </a:rPr>
              <a:t>Design Guidelines for Relational Databases</a:t>
            </a:r>
          </a:p>
          <a:p>
            <a:pPr marL="533400" indent="-533400">
              <a:lnSpc>
                <a:spcPct val="90000"/>
              </a:lnSpc>
              <a:buFont typeface="Wingdings" pitchFamily="2" charset="2"/>
              <a:buNone/>
            </a:pPr>
            <a:r>
              <a:rPr lang="en-US" sz="2800" dirty="0">
                <a:cs typeface="Times New Roman" pitchFamily="18" charset="0"/>
              </a:rPr>
              <a:t>	</a:t>
            </a:r>
            <a:r>
              <a:rPr lang="en-US" sz="2800" dirty="0" smtClean="0">
                <a:cs typeface="Times New Roman" pitchFamily="18" charset="0"/>
              </a:rPr>
              <a:t>1. Semantics </a:t>
            </a:r>
            <a:r>
              <a:rPr lang="en-US" sz="2800" dirty="0">
                <a:cs typeface="Times New Roman" pitchFamily="18" charset="0"/>
              </a:rPr>
              <a:t>of the Relation Attributes</a:t>
            </a:r>
          </a:p>
          <a:p>
            <a:pPr marL="533400" indent="-533400">
              <a:lnSpc>
                <a:spcPct val="90000"/>
              </a:lnSpc>
              <a:buFont typeface="Wingdings" pitchFamily="2" charset="2"/>
              <a:buNone/>
            </a:pPr>
            <a:r>
              <a:rPr lang="en-US" sz="2800" dirty="0">
                <a:cs typeface="Times New Roman" pitchFamily="18" charset="0"/>
              </a:rPr>
              <a:t>	</a:t>
            </a:r>
            <a:r>
              <a:rPr lang="en-US" sz="2800" dirty="0" smtClean="0">
                <a:cs typeface="Times New Roman" pitchFamily="18" charset="0"/>
              </a:rPr>
              <a:t>2. </a:t>
            </a:r>
            <a:r>
              <a:rPr lang="en-US" sz="2800" dirty="0">
                <a:cs typeface="Times New Roman" pitchFamily="18" charset="0"/>
              </a:rPr>
              <a:t>Redundant Information in Tuples and Update </a:t>
            </a:r>
            <a:r>
              <a:rPr lang="en-US" sz="2800" dirty="0" smtClean="0">
                <a:cs typeface="Times New Roman" pitchFamily="18" charset="0"/>
              </a:rPr>
              <a:t>   </a:t>
            </a:r>
          </a:p>
          <a:p>
            <a:pPr marL="533400" indent="-533400">
              <a:lnSpc>
                <a:spcPct val="90000"/>
              </a:lnSpc>
              <a:buFont typeface="Wingdings" pitchFamily="2" charset="2"/>
              <a:buNone/>
            </a:pP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smtClean="0">
                <a:cs typeface="Times New Roman" pitchFamily="18" charset="0"/>
              </a:rPr>
              <a:t>               Anomalies</a:t>
            </a:r>
            <a:endParaRPr lang="en-US" sz="2800" dirty="0">
              <a:cs typeface="Times New Roman" pitchFamily="18" charset="0"/>
            </a:endParaRPr>
          </a:p>
          <a:p>
            <a:pPr marL="533400" indent="-533400">
              <a:lnSpc>
                <a:spcPct val="90000"/>
              </a:lnSpc>
              <a:buFont typeface="Wingdings" pitchFamily="2" charset="2"/>
              <a:buNone/>
            </a:pPr>
            <a:r>
              <a:rPr lang="en-US" sz="2800" dirty="0">
                <a:cs typeface="Times New Roman" pitchFamily="18" charset="0"/>
              </a:rPr>
              <a:t>	</a:t>
            </a:r>
            <a:r>
              <a:rPr lang="en-US" sz="2800" dirty="0" smtClean="0">
                <a:cs typeface="Times New Roman" pitchFamily="18" charset="0"/>
              </a:rPr>
              <a:t>3. </a:t>
            </a:r>
            <a:r>
              <a:rPr lang="en-US" sz="2800" dirty="0">
                <a:cs typeface="Times New Roman" pitchFamily="18" charset="0"/>
              </a:rPr>
              <a:t>Null Values in Tuples</a:t>
            </a:r>
          </a:p>
          <a:p>
            <a:pPr marL="533400" indent="-533400">
              <a:lnSpc>
                <a:spcPct val="90000"/>
              </a:lnSpc>
              <a:buFont typeface="Wingdings" pitchFamily="2" charset="2"/>
              <a:buNone/>
            </a:pPr>
            <a:r>
              <a:rPr lang="en-US" sz="2800" dirty="0">
                <a:cs typeface="Times New Roman" pitchFamily="18" charset="0"/>
              </a:rPr>
              <a:t>	4</a:t>
            </a:r>
            <a:r>
              <a:rPr lang="en-US" sz="2800" dirty="0" smtClean="0">
                <a:cs typeface="Times New Roman" pitchFamily="18" charset="0"/>
              </a:rPr>
              <a:t>. Spurious </a:t>
            </a:r>
            <a:r>
              <a:rPr lang="en-US" sz="2800" dirty="0">
                <a:cs typeface="Times New Roman" pitchFamily="18" charset="0"/>
              </a:rPr>
              <a:t>Tuples</a:t>
            </a:r>
          </a:p>
          <a:p>
            <a:pPr marL="533400" indent="-533400">
              <a:lnSpc>
                <a:spcPct val="90000"/>
              </a:lnSpc>
              <a:buFont typeface="Wingdings" pitchFamily="2" charset="2"/>
              <a:buNone/>
            </a:pPr>
            <a:endParaRPr lang="en-US" sz="2400" dirty="0">
              <a:cs typeface="Times New Roman" pitchFamily="18" charset="0"/>
            </a:endParaRPr>
          </a:p>
          <a:p>
            <a:pPr marL="533400" indent="-533400">
              <a:lnSpc>
                <a:spcPct val="90000"/>
              </a:lnSpc>
              <a:buFont typeface="Wingdings" pitchFamily="2" charset="2"/>
              <a:buNone/>
            </a:pPr>
            <a:endParaRPr lang="en-US" sz="2400" dirty="0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146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10- </a:t>
            </a:r>
            <a:fld id="{D64AEF69-A31C-4F29-95E3-485B60BE8C62}" type="slidenum">
              <a:rPr lang="en-US" altLang="en-US"/>
              <a:pPr/>
              <a:t>2</a:t>
            </a:fld>
            <a:endParaRPr lang="en-CA" altLang="en-US"/>
          </a:p>
        </p:txBody>
      </p:sp>
      <p:sp>
        <p:nvSpPr>
          <p:cNvPr id="67789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1.1	Semantics of the Relation Attributes </a:t>
            </a:r>
          </a:p>
        </p:txBody>
      </p:sp>
      <p:sp>
        <p:nvSpPr>
          <p:cNvPr id="677895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/>
              <a:t>GUIDELINE 1: Informally, each tuple in a relation should represent one entity or relationship instance. (Applies to individual relations and their attributes).</a:t>
            </a:r>
          </a:p>
          <a:p>
            <a:pPr lvl="1"/>
            <a:r>
              <a:rPr lang="en-US" altLang="en-US" sz="2200"/>
              <a:t>Attributes of different entities (EMPLOYEEs, DEPARTMENTs, PROJECTs) should not be mixed in the same relation</a:t>
            </a:r>
          </a:p>
          <a:p>
            <a:pPr lvl="1"/>
            <a:r>
              <a:rPr lang="en-US" altLang="en-US" sz="2200"/>
              <a:t>Only foreign keys should be used to refer to other entities</a:t>
            </a:r>
          </a:p>
          <a:p>
            <a:pPr lvl="1"/>
            <a:r>
              <a:rPr lang="en-US" altLang="en-US" sz="2200"/>
              <a:t>Entity and relationship attributes should be kept apart as much as possible.</a:t>
            </a:r>
          </a:p>
          <a:p>
            <a:r>
              <a:rPr lang="en-US" altLang="en-US" sz="2400" u="sng"/>
              <a:t>Bottom Line:</a:t>
            </a:r>
            <a:r>
              <a:rPr lang="en-US" altLang="en-US" sz="2400"/>
              <a:t> </a:t>
            </a:r>
            <a:r>
              <a:rPr lang="en-US" altLang="en-US" sz="2400" i="1"/>
              <a:t>Design a schema that can be explained easily relation by relation. The semantics of attributes should be easy to interpret. </a:t>
            </a:r>
          </a:p>
        </p:txBody>
      </p:sp>
    </p:spTree>
    <p:extLst>
      <p:ext uri="{BB962C8B-B14F-4D97-AF65-F5344CB8AC3E}">
        <p14:creationId xmlns:p14="http://schemas.microsoft.com/office/powerpoint/2010/main" val="2290090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10- </a:t>
            </a:r>
            <a:fld id="{D52E121D-4D1A-481D-B8E9-B7FFBC1725E2}" type="slidenum">
              <a:rPr lang="en-US" altLang="en-US"/>
              <a:pPr/>
              <a:t>3</a:t>
            </a:fld>
            <a:endParaRPr lang="en-CA" altLang="en-US"/>
          </a:p>
        </p:txBody>
      </p:sp>
      <p:sp>
        <p:nvSpPr>
          <p:cNvPr id="679945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Figure 10.1 A simplified COMPANY relational database schema</a:t>
            </a:r>
          </a:p>
        </p:txBody>
      </p:sp>
      <p:sp>
        <p:nvSpPr>
          <p:cNvPr id="679940" name="Rectangle 4"/>
          <p:cNvSpPr>
            <a:spLocks noChangeArrowheads="1"/>
          </p:cNvSpPr>
          <p:nvPr/>
        </p:nvSpPr>
        <p:spPr bwMode="auto">
          <a:xfrm>
            <a:off x="1828800" y="1309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pic>
        <p:nvPicPr>
          <p:cNvPr id="679947" name="Picture 11" descr="fig10_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628800"/>
            <a:ext cx="5105400" cy="493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2671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10- </a:t>
            </a:r>
            <a:fld id="{69E836ED-1D01-4C3A-A084-A2C19FB4201B}" type="slidenum">
              <a:rPr lang="en-US" altLang="en-US"/>
              <a:pPr/>
              <a:t>4</a:t>
            </a:fld>
            <a:endParaRPr lang="en-CA" altLang="en-US"/>
          </a:p>
        </p:txBody>
      </p:sp>
      <p:sp>
        <p:nvSpPr>
          <p:cNvPr id="68199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1.2 Redundant Information in Tuples and Update Anomalies </a:t>
            </a:r>
          </a:p>
        </p:txBody>
      </p:sp>
      <p:sp>
        <p:nvSpPr>
          <p:cNvPr id="681991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Information is stored redundantly </a:t>
            </a:r>
          </a:p>
          <a:p>
            <a:pPr lvl="1"/>
            <a:r>
              <a:rPr lang="en-US" altLang="en-US"/>
              <a:t>Wastes storage</a:t>
            </a:r>
          </a:p>
          <a:p>
            <a:pPr lvl="1"/>
            <a:r>
              <a:rPr lang="en-US" altLang="en-US"/>
              <a:t>Causes problems with update anomalies</a:t>
            </a:r>
          </a:p>
          <a:p>
            <a:pPr lvl="2"/>
            <a:r>
              <a:rPr lang="en-US" altLang="en-US"/>
              <a:t>Insertion anomalies</a:t>
            </a:r>
          </a:p>
          <a:p>
            <a:pPr lvl="2"/>
            <a:r>
              <a:rPr lang="en-US" altLang="en-US"/>
              <a:t>Deletion anomalies</a:t>
            </a:r>
          </a:p>
          <a:p>
            <a:pPr lvl="2"/>
            <a:r>
              <a:rPr lang="en-US" altLang="en-US"/>
              <a:t>Modification anomalies </a:t>
            </a:r>
          </a:p>
        </p:txBody>
      </p:sp>
    </p:spTree>
    <p:extLst>
      <p:ext uri="{BB962C8B-B14F-4D97-AF65-F5344CB8AC3E}">
        <p14:creationId xmlns:p14="http://schemas.microsoft.com/office/powerpoint/2010/main" val="412194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10- </a:t>
            </a:r>
            <a:fld id="{1C71CC13-CD22-42E6-8F88-36C82F41D4B8}" type="slidenum">
              <a:rPr lang="en-US" altLang="en-US"/>
              <a:pPr/>
              <a:t>5</a:t>
            </a:fld>
            <a:endParaRPr lang="en-CA" altLang="en-US"/>
          </a:p>
        </p:txBody>
      </p:sp>
      <p:sp>
        <p:nvSpPr>
          <p:cNvPr id="68403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 OF AN UPDATE ANOMALY</a:t>
            </a:r>
          </a:p>
        </p:txBody>
      </p:sp>
      <p:sp>
        <p:nvSpPr>
          <p:cNvPr id="684039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Consider the relation:</a:t>
            </a:r>
          </a:p>
          <a:p>
            <a:pPr lvl="1"/>
            <a:r>
              <a:rPr lang="en-US" altLang="en-US"/>
              <a:t>EMP_PROJ(Emp#, Proj#, Ename, Pname, No_hours)</a:t>
            </a:r>
          </a:p>
          <a:p>
            <a:r>
              <a:rPr lang="en-US" altLang="en-US"/>
              <a:t>Update Anomaly:</a:t>
            </a:r>
          </a:p>
          <a:p>
            <a:pPr lvl="1"/>
            <a:r>
              <a:rPr lang="en-US" altLang="en-US"/>
              <a:t>Changing the name of  project number P1 from “Billing” to “Customer-Accounting” may cause this update to be made for all 100 employees working on project P1. </a:t>
            </a:r>
          </a:p>
        </p:txBody>
      </p:sp>
    </p:spTree>
    <p:extLst>
      <p:ext uri="{BB962C8B-B14F-4D97-AF65-F5344CB8AC3E}">
        <p14:creationId xmlns:p14="http://schemas.microsoft.com/office/powerpoint/2010/main" val="2428476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10- </a:t>
            </a:r>
            <a:fld id="{0B0307B0-607C-4DF8-9BA5-D2EA0AA8BBDA}" type="slidenum">
              <a:rPr lang="en-US" altLang="en-US"/>
              <a:pPr/>
              <a:t>6</a:t>
            </a:fld>
            <a:endParaRPr lang="en-CA" altLang="en-US"/>
          </a:p>
        </p:txBody>
      </p:sp>
      <p:sp>
        <p:nvSpPr>
          <p:cNvPr id="68608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 OF AN INSERT ANOMALY</a:t>
            </a:r>
          </a:p>
        </p:txBody>
      </p:sp>
      <p:sp>
        <p:nvSpPr>
          <p:cNvPr id="686087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/>
              <a:t>Consider the relation:</a:t>
            </a:r>
          </a:p>
          <a:p>
            <a:pPr lvl="1"/>
            <a:r>
              <a:rPr lang="en-US" altLang="en-US"/>
              <a:t>EMP_PROJ(Emp#, Proj#, Ename, Pname, No_hours)</a:t>
            </a:r>
          </a:p>
          <a:p>
            <a:r>
              <a:rPr lang="en-US" altLang="en-US"/>
              <a:t>Insert  Anomaly:</a:t>
            </a:r>
          </a:p>
          <a:p>
            <a:pPr lvl="1"/>
            <a:r>
              <a:rPr lang="en-US" altLang="en-US"/>
              <a:t>Cannot insert a project unless an employee is assigned to it.</a:t>
            </a:r>
          </a:p>
          <a:p>
            <a:r>
              <a:rPr lang="en-US" altLang="en-US"/>
              <a:t>Conversely</a:t>
            </a:r>
          </a:p>
          <a:p>
            <a:pPr lvl="1"/>
            <a:r>
              <a:rPr lang="en-US" altLang="en-US"/>
              <a:t>Cannot insert an employee unless an he/she is assigned to a project. </a:t>
            </a:r>
          </a:p>
        </p:txBody>
      </p:sp>
    </p:spTree>
    <p:extLst>
      <p:ext uri="{BB962C8B-B14F-4D97-AF65-F5344CB8AC3E}">
        <p14:creationId xmlns:p14="http://schemas.microsoft.com/office/powerpoint/2010/main" val="1812665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10- </a:t>
            </a:r>
            <a:fld id="{5B442C5B-DD38-490E-92E5-C1EA742D284A}" type="slidenum">
              <a:rPr lang="en-US" altLang="en-US"/>
              <a:pPr/>
              <a:t>7</a:t>
            </a:fld>
            <a:endParaRPr lang="en-CA" altLang="en-US"/>
          </a:p>
        </p:txBody>
      </p:sp>
      <p:sp>
        <p:nvSpPr>
          <p:cNvPr id="76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EXAMPLE OF AN DELETE ANOMALY</a:t>
            </a:r>
          </a:p>
        </p:txBody>
      </p:sp>
      <p:sp>
        <p:nvSpPr>
          <p:cNvPr id="769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Consider the relation:</a:t>
            </a:r>
          </a:p>
          <a:p>
            <a:pPr lvl="1"/>
            <a:r>
              <a:rPr lang="en-US" altLang="en-US"/>
              <a:t>EMP_PROJ(Emp#, Proj#, Ename, Pname, No_hours)</a:t>
            </a:r>
          </a:p>
          <a:p>
            <a:r>
              <a:rPr lang="en-US" altLang="en-US"/>
              <a:t>Delete Anomaly:</a:t>
            </a:r>
          </a:p>
          <a:p>
            <a:pPr lvl="1"/>
            <a:r>
              <a:rPr lang="en-US" altLang="en-US"/>
              <a:t>When a project is deleted, it will result in deleting all the employees who work on that project.</a:t>
            </a:r>
          </a:p>
          <a:p>
            <a:pPr lvl="1"/>
            <a:r>
              <a:rPr lang="en-US" altLang="en-US"/>
              <a:t>Alternately, if an employee is the sole employee on a project, deleting that employee would result in deleting the corresponding project.</a:t>
            </a: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8478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10- </a:t>
            </a:r>
            <a:fld id="{D593E61F-4623-4FCC-84DE-66CEA6028EAB}" type="slidenum">
              <a:rPr lang="en-US" altLang="en-US"/>
              <a:pPr/>
              <a:t>8</a:t>
            </a:fld>
            <a:endParaRPr lang="en-CA" altLang="en-US"/>
          </a:p>
        </p:txBody>
      </p:sp>
      <p:sp>
        <p:nvSpPr>
          <p:cNvPr id="688137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Figure 10.3 Two relation schemas suffering from update anomalies</a:t>
            </a:r>
          </a:p>
        </p:txBody>
      </p:sp>
      <p:sp>
        <p:nvSpPr>
          <p:cNvPr id="688132" name="Rectangle 4"/>
          <p:cNvSpPr>
            <a:spLocks noChangeArrowheads="1"/>
          </p:cNvSpPr>
          <p:nvPr/>
        </p:nvSpPr>
        <p:spPr bwMode="auto">
          <a:xfrm>
            <a:off x="1828800" y="1309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pic>
        <p:nvPicPr>
          <p:cNvPr id="688139" name="Picture 11" descr="fig10_0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2057400"/>
            <a:ext cx="8207375" cy="339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091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10- </a:t>
            </a:r>
            <a:fld id="{82F03596-4EA6-4E79-83DC-A02A021D748A}" type="slidenum">
              <a:rPr lang="en-US" altLang="en-US"/>
              <a:pPr/>
              <a:t>9</a:t>
            </a:fld>
            <a:endParaRPr lang="en-CA" altLang="en-US"/>
          </a:p>
        </p:txBody>
      </p:sp>
      <p:sp>
        <p:nvSpPr>
          <p:cNvPr id="690184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Figure 10.4 Example States for EMP_DEPT and EMP_PROJ</a:t>
            </a:r>
          </a:p>
        </p:txBody>
      </p:sp>
      <p:pic>
        <p:nvPicPr>
          <p:cNvPr id="690186" name="Picture 10" descr="fig10_0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608138"/>
            <a:ext cx="4646613" cy="4792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5004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10- </a:t>
            </a:r>
            <a:fld id="{8D095039-4459-483D-A7B6-823F4F1F84F5}" type="slidenum">
              <a:rPr lang="en-US" altLang="en-US"/>
              <a:pPr/>
              <a:t>10</a:t>
            </a:fld>
            <a:endParaRPr lang="en-CA" altLang="en-US"/>
          </a:p>
        </p:txBody>
      </p:sp>
      <p:sp>
        <p:nvSpPr>
          <p:cNvPr id="69223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Guideline to Redundant Information in Tuples and Update Anomalies</a:t>
            </a:r>
          </a:p>
        </p:txBody>
      </p:sp>
      <p:sp>
        <p:nvSpPr>
          <p:cNvPr id="692231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GUIDELINE 2: </a:t>
            </a:r>
          </a:p>
          <a:p>
            <a:pPr lvl="1"/>
            <a:r>
              <a:rPr lang="en-US" altLang="en-US"/>
              <a:t>Design a schema that does not suffer from the insertion, deletion and update anomalies.</a:t>
            </a:r>
          </a:p>
          <a:p>
            <a:pPr lvl="1"/>
            <a:r>
              <a:rPr lang="en-US" altLang="en-US"/>
              <a:t>If there are any anomalies present, then note them so that applications can be made to take them into account. </a:t>
            </a:r>
          </a:p>
        </p:txBody>
      </p:sp>
    </p:spTree>
    <p:extLst>
      <p:ext uri="{BB962C8B-B14F-4D97-AF65-F5344CB8AC3E}">
        <p14:creationId xmlns:p14="http://schemas.microsoft.com/office/powerpoint/2010/main" val="4162738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10- </a:t>
            </a:r>
            <a:fld id="{A6CD3163-ECFF-4974-8BD2-78DA8B9462FC}" type="slidenum">
              <a:rPr lang="en-US" altLang="en-US"/>
              <a:pPr/>
              <a:t>11</a:t>
            </a:fld>
            <a:endParaRPr lang="en-CA" altLang="en-US"/>
          </a:p>
        </p:txBody>
      </p:sp>
      <p:sp>
        <p:nvSpPr>
          <p:cNvPr id="69427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1.3 Null Values in Tuples </a:t>
            </a:r>
          </a:p>
        </p:txBody>
      </p:sp>
      <p:sp>
        <p:nvSpPr>
          <p:cNvPr id="694279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/>
              <a:t>GUIDELINE 3:</a:t>
            </a:r>
          </a:p>
          <a:p>
            <a:pPr lvl="1"/>
            <a:r>
              <a:rPr lang="en-US" altLang="en-US"/>
              <a:t>Relations should be designed such that their tuples will have as few NULL values as possible</a:t>
            </a:r>
          </a:p>
          <a:p>
            <a:pPr lvl="1"/>
            <a:r>
              <a:rPr lang="en-US" altLang="en-US"/>
              <a:t>Attributes that are NULL frequently could be placed in separate relations (with the primary key)</a:t>
            </a:r>
          </a:p>
          <a:p>
            <a:r>
              <a:rPr lang="en-US" altLang="en-US"/>
              <a:t> Reasons for nulls:</a:t>
            </a:r>
          </a:p>
          <a:p>
            <a:pPr lvl="1"/>
            <a:r>
              <a:rPr lang="en-US" altLang="en-US"/>
              <a:t>Attribute not applicable or invalid</a:t>
            </a:r>
          </a:p>
          <a:p>
            <a:pPr lvl="1"/>
            <a:r>
              <a:rPr lang="en-US" altLang="en-US"/>
              <a:t>Attribute value unknown  (may exist)</a:t>
            </a:r>
          </a:p>
          <a:p>
            <a:pPr lvl="1"/>
            <a:r>
              <a:rPr lang="en-US" altLang="en-US"/>
              <a:t>Value known to exist, but unavailable </a:t>
            </a:r>
          </a:p>
        </p:txBody>
      </p:sp>
    </p:spTree>
    <p:extLst>
      <p:ext uri="{BB962C8B-B14F-4D97-AF65-F5344CB8AC3E}">
        <p14:creationId xmlns:p14="http://schemas.microsoft.com/office/powerpoint/2010/main" val="2504738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10- </a:t>
            </a:r>
            <a:fld id="{1EFB014B-226C-4CAE-B219-C5E7BBBFAA3B}" type="slidenum">
              <a:rPr lang="en-US" altLang="en-US"/>
              <a:pPr/>
              <a:t>12</a:t>
            </a:fld>
            <a:endParaRPr lang="en-CA" altLang="en-US"/>
          </a:p>
        </p:txBody>
      </p:sp>
      <p:sp>
        <p:nvSpPr>
          <p:cNvPr id="69632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1.4 Spurious Tuples </a:t>
            </a:r>
          </a:p>
        </p:txBody>
      </p:sp>
      <p:sp>
        <p:nvSpPr>
          <p:cNvPr id="69632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457200" y="1052736"/>
            <a:ext cx="8229600" cy="5328592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Bad designs for a relational database may result in erroneous results for certain JOIN operations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The "lossless join" property is used to guarantee meaningful results for join operations 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GUIDELINE 4: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The relations should be designed to satisfy the lossless join condition.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No spurious tuples should be generated by doing a natural-join of any relations.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64753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 smtClean="0"/>
              <a:t>Slide 10- </a:t>
            </a:r>
            <a:fld id="{50FF4CA6-FFB3-442C-BB20-9BFB70D3249B}" type="slidenum">
              <a:rPr lang="en-US" altLang="en-US" smtClean="0"/>
              <a:pPr/>
              <a:t>13</a:t>
            </a:fld>
            <a:endParaRPr lang="en-CA" alt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484784"/>
            <a:ext cx="7416823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9579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 smtClean="0"/>
              <a:t>Slide 10- </a:t>
            </a:r>
            <a:fld id="{50FF4CA6-FFB3-442C-BB20-9BFB70D3249B}" type="slidenum">
              <a:rPr lang="en-US" altLang="en-US" smtClean="0"/>
              <a:pPr/>
              <a:t>14</a:t>
            </a:fld>
            <a:endParaRPr lang="en-CA" alt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700809"/>
            <a:ext cx="6768752" cy="4699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449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554</Words>
  <Application>Microsoft Office PowerPoint</Application>
  <PresentationFormat>On-screen Show (4:3)</PresentationFormat>
  <Paragraphs>89</Paragraphs>
  <Slides>14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Informal Design Guidelines</vt:lpstr>
      <vt:lpstr>1.1 Semantics of the Relation Attributes </vt:lpstr>
      <vt:lpstr>Figure 10.1 A simplified COMPANY relational database schema</vt:lpstr>
      <vt:lpstr>1.2 Redundant Information in Tuples and Update Anomalies </vt:lpstr>
      <vt:lpstr>EXAMPLE OF AN UPDATE ANOMALY</vt:lpstr>
      <vt:lpstr>EXAMPLE OF AN INSERT ANOMALY</vt:lpstr>
      <vt:lpstr>EXAMPLE OF AN DELETE ANOMALY</vt:lpstr>
      <vt:lpstr>Figure 10.3 Two relation schemas suffering from update anomalies</vt:lpstr>
      <vt:lpstr>Figure 10.4 Example States for EMP_DEPT and EMP_PROJ</vt:lpstr>
      <vt:lpstr>Guideline to Redundant Information in Tuples and Update Anomalies</vt:lpstr>
      <vt:lpstr>1.3 Null Values in Tuples </vt:lpstr>
      <vt:lpstr>1.4 Spurious Tuples 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Admin</cp:lastModifiedBy>
  <cp:revision>6</cp:revision>
  <dcterms:created xsi:type="dcterms:W3CDTF">2018-04-04T04:22:12Z</dcterms:created>
  <dcterms:modified xsi:type="dcterms:W3CDTF">2021-10-04T11:41:21Z</dcterms:modified>
</cp:coreProperties>
</file>