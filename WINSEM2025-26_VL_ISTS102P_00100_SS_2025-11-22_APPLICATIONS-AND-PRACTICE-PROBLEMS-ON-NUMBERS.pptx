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p:sldMasterIdLst>
    <p:sldMasterId id="2147483648" r:id="rId1"/>
  </p:sldMasterIdLst>
  <p:notesMasterIdLst>
    <p:notesMasterId r:id="rId21"/>
  </p:notesMasterIdLst>
  <p:sldIdLst>
    <p:sldId id="272" r:id="rId2"/>
    <p:sldId id="271" r:id="rId3"/>
    <p:sldId id="258" r:id="rId4"/>
    <p:sldId id="375" r:id="rId5"/>
    <p:sldId id="376" r:id="rId6"/>
    <p:sldId id="379" r:id="rId7"/>
    <p:sldId id="380" r:id="rId8"/>
    <p:sldId id="381" r:id="rId9"/>
    <p:sldId id="384" r:id="rId10"/>
    <p:sldId id="385" r:id="rId11"/>
    <p:sldId id="388" r:id="rId12"/>
    <p:sldId id="386" r:id="rId13"/>
    <p:sldId id="389" r:id="rId14"/>
    <p:sldId id="382" r:id="rId15"/>
    <p:sldId id="387" r:id="rId16"/>
    <p:sldId id="383" r:id="rId17"/>
    <p:sldId id="377" r:id="rId18"/>
    <p:sldId id="378" r:id="rId19"/>
    <p:sldId id="289" r:id="rId20"/>
  </p:sldIdLst>
  <p:sldSz cx="12192000" cy="6858000"/>
  <p:notesSz cx="6858000" cy="9144000"/>
  <p:embeddedFontLst>
    <p:embeddedFont>
      <p:font typeface="Nunito Sans" pitchFamily="2" charset="0"/>
      <p:regular r:id="rId22"/>
      <p:bold r:id="rId23"/>
      <p:italic r:id="rId24"/>
      <p:boldItalic r:id="rId25"/>
    </p:embeddedFont>
    <p:embeddedFont>
      <p:font typeface="Nunito Sans SemiBold" pitchFamily="2" charset="0"/>
      <p:bold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5136"/>
    <a:srgbClr val="303030"/>
    <a:srgbClr val="4A4A4A"/>
    <a:srgbClr val="3D3D3D"/>
    <a:srgbClr val="212121"/>
    <a:srgbClr val="000000"/>
    <a:srgbClr val="131313"/>
    <a:srgbClr val="F69180"/>
    <a:srgbClr val="FBD0C9"/>
    <a:srgbClr val="E9E9E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94" autoAdjust="0"/>
    <p:restoredTop sz="85516" autoAdjust="0"/>
  </p:normalViewPr>
  <p:slideViewPr>
    <p:cSldViewPr>
      <p:cViewPr varScale="1">
        <p:scale>
          <a:sx n="62" d="100"/>
          <a:sy n="62" d="100"/>
        </p:scale>
        <p:origin x="840" y="66"/>
      </p:cViewPr>
      <p:guideLst>
        <p:guide orient="horz" pos="2160"/>
        <p:guide pos="3840"/>
      </p:guideLst>
    </p:cSldViewPr>
  </p:slideViewPr>
  <p:outlineViewPr>
    <p:cViewPr>
      <p:scale>
        <a:sx n="33" d="100"/>
        <a:sy n="33" d="100"/>
      </p:scale>
      <p:origin x="0" y="-566"/>
    </p:cViewPr>
  </p:outlineViewPr>
  <p:notesTextViewPr>
    <p:cViewPr>
      <p:scale>
        <a:sx n="100" d="100"/>
        <a:sy n="100" d="100"/>
      </p:scale>
      <p:origin x="0" y="0"/>
    </p:cViewPr>
  </p:notesTextViewPr>
  <p:notesViewPr>
    <p:cSldViewPr>
      <p:cViewPr>
        <p:scale>
          <a:sx n="66" d="100"/>
          <a:sy n="66" d="100"/>
        </p:scale>
        <p:origin x="1733" y="-7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99A3E1-D0AF-40CA-9CA4-BE00645EFE64}" type="datetimeFigureOut">
              <a:rPr lang="en-US" smtClean="0"/>
              <a:t>5/17/2024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AB6876-1BF1-4B88-890A-0B4E46201506}" type="slidenum">
              <a:rPr lang="en-US" smtClean="0"/>
              <a:t>‹#›</a:t>
            </a:fld>
            <a:endParaRPr lang="en-US"/>
          </a:p>
        </p:txBody>
      </p:sp>
    </p:spTree>
    <p:extLst>
      <p:ext uri="{BB962C8B-B14F-4D97-AF65-F5344CB8AC3E}">
        <p14:creationId xmlns:p14="http://schemas.microsoft.com/office/powerpoint/2010/main" val="22064915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a:t>
            </a:fld>
            <a:endParaRPr lang="en-US"/>
          </a:p>
        </p:txBody>
      </p:sp>
    </p:spTree>
    <p:extLst>
      <p:ext uri="{BB962C8B-B14F-4D97-AF65-F5344CB8AC3E}">
        <p14:creationId xmlns:p14="http://schemas.microsoft.com/office/powerpoint/2010/main" val="630894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latin typeface="Nunito Sans" panose="00000500000000000000" pitchFamily="2" charset="0"/>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2</a:t>
            </a:fld>
            <a:endParaRPr lang="en-US"/>
          </a:p>
        </p:txBody>
      </p:sp>
    </p:spTree>
    <p:extLst>
      <p:ext uri="{BB962C8B-B14F-4D97-AF65-F5344CB8AC3E}">
        <p14:creationId xmlns:p14="http://schemas.microsoft.com/office/powerpoint/2010/main" val="32774486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b="0" dirty="0"/>
          </a:p>
        </p:txBody>
      </p:sp>
      <p:sp>
        <p:nvSpPr>
          <p:cNvPr id="4" name="Slide Number Placeholder 3"/>
          <p:cNvSpPr>
            <a:spLocks noGrp="1"/>
          </p:cNvSpPr>
          <p:nvPr>
            <p:ph type="sldNum" sz="quarter" idx="5"/>
          </p:nvPr>
        </p:nvSpPr>
        <p:spPr/>
        <p:txBody>
          <a:bodyPr/>
          <a:lstStyle/>
          <a:p>
            <a:fld id="{0AAB6876-1BF1-4B88-890A-0B4E46201506}" type="slidenum">
              <a:rPr lang="en-US" smtClean="0"/>
              <a:t>3</a:t>
            </a:fld>
            <a:endParaRPr lang="en-US"/>
          </a:p>
        </p:txBody>
      </p:sp>
    </p:spTree>
    <p:extLst>
      <p:ext uri="{BB962C8B-B14F-4D97-AF65-F5344CB8AC3E}">
        <p14:creationId xmlns:p14="http://schemas.microsoft.com/office/powerpoint/2010/main" val="3368284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Let the number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Then,1/3 of ¼ of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15      </a:t>
            </a:r>
          </a:p>
          <a:p>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15 x 3 x 4 = 180.	</a:t>
            </a:r>
          </a:p>
          <a:p>
            <a:r>
              <a:rPr lang="en-US" sz="1200" b="0" i="0" kern="1200" dirty="0">
                <a:solidFill>
                  <a:schemeClr val="tx1"/>
                </a:solidFill>
                <a:effectLst/>
                <a:latin typeface="+mn-lt"/>
                <a:ea typeface="+mn-ea"/>
                <a:cs typeface="+mn-cs"/>
              </a:rPr>
              <a:t>So, required number =(3 /10) x 180= 54.</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4</a:t>
            </a:fld>
            <a:endParaRPr lang="en-US"/>
          </a:p>
        </p:txBody>
      </p:sp>
    </p:spTree>
    <p:extLst>
      <p:ext uri="{BB962C8B-B14F-4D97-AF65-F5344CB8AC3E}">
        <p14:creationId xmlns:p14="http://schemas.microsoft.com/office/powerpoint/2010/main" val="37479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Let the three integers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+ 4.</a:t>
            </a:r>
          </a:p>
          <a:p>
            <a:r>
              <a:rPr lang="en-US" sz="1200" b="0" i="0" kern="1200" dirty="0">
                <a:solidFill>
                  <a:schemeClr val="tx1"/>
                </a:solidFill>
                <a:effectLst/>
                <a:latin typeface="+mn-lt"/>
                <a:ea typeface="+mn-ea"/>
                <a:cs typeface="+mn-cs"/>
              </a:rPr>
              <a:t>Then, 3</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+ 4) + 3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11.</a:t>
            </a:r>
          </a:p>
          <a:p>
            <a:r>
              <a:rPr lang="en-US" sz="1200" b="0" i="0" kern="1200" dirty="0">
                <a:solidFill>
                  <a:schemeClr val="tx1"/>
                </a:solidFill>
                <a:effectLst/>
                <a:latin typeface="+mn-lt"/>
                <a:ea typeface="+mn-ea"/>
                <a:cs typeface="+mn-cs"/>
              </a:rPr>
              <a:t> Third integer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+ 4 = 15.</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5</a:t>
            </a:fld>
            <a:endParaRPr lang="en-US"/>
          </a:p>
        </p:txBody>
      </p:sp>
    </p:spTree>
    <p:extLst>
      <p:ext uri="{BB962C8B-B14F-4D97-AF65-F5344CB8AC3E}">
        <p14:creationId xmlns:p14="http://schemas.microsoft.com/office/powerpoint/2010/main" val="859338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Let the ten's and unit digit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and8respectively.</a:t>
            </a:r>
            <a:r>
              <a:rPr lang="en-US" sz="1200" b="0" i="1" kern="1200" dirty="0">
                <a:solidFill>
                  <a:schemeClr val="tx1"/>
                </a:solidFill>
                <a:effectLst/>
                <a:latin typeface="+mn-lt"/>
                <a:ea typeface="+mn-ea"/>
                <a:cs typeface="+mn-cs"/>
              </a:rPr>
              <a:t>x</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Then,(10</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+ 8/x )+ 18 = 10 x 8/x+ x</a:t>
            </a:r>
          </a:p>
          <a:p>
            <a:r>
              <a:rPr lang="en-US" sz="1200" b="0" i="0" kern="1200" dirty="0">
                <a:solidFill>
                  <a:schemeClr val="tx1"/>
                </a:solidFill>
                <a:effectLst/>
                <a:latin typeface="+mn-lt"/>
                <a:ea typeface="+mn-ea"/>
                <a:cs typeface="+mn-cs"/>
              </a:rPr>
              <a:t> 10</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+ 8 + 18</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80 + </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9</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+ 18</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- 72 = 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- 8 = 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+ 4)(</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 = 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6</a:t>
            </a:fld>
            <a:endParaRPr lang="en-US"/>
          </a:p>
        </p:txBody>
      </p:sp>
    </p:spTree>
    <p:extLst>
      <p:ext uri="{BB962C8B-B14F-4D97-AF65-F5344CB8AC3E}">
        <p14:creationId xmlns:p14="http://schemas.microsoft.com/office/powerpoint/2010/main" val="1564611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Let the ten's digit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and unit's digit be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15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3   or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3.</a:t>
            </a:r>
          </a:p>
          <a:p>
            <a:r>
              <a:rPr lang="en-US" sz="1200" b="0" i="0" kern="1200" dirty="0">
                <a:solidFill>
                  <a:schemeClr val="tx1"/>
                </a:solidFill>
                <a:effectLst/>
                <a:latin typeface="+mn-lt"/>
                <a:ea typeface="+mn-ea"/>
                <a:cs typeface="+mn-cs"/>
              </a:rPr>
              <a:t>Solving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15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3, we get: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9,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6.</a:t>
            </a:r>
          </a:p>
          <a:p>
            <a:r>
              <a:rPr lang="en-US" sz="1200" b="0" i="0" kern="1200" dirty="0">
                <a:solidFill>
                  <a:schemeClr val="tx1"/>
                </a:solidFill>
                <a:effectLst/>
                <a:latin typeface="+mn-lt"/>
                <a:ea typeface="+mn-ea"/>
                <a:cs typeface="+mn-cs"/>
              </a:rPr>
              <a:t>Solving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15   and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3, we get: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6,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9.</a:t>
            </a:r>
          </a:p>
          <a:p>
            <a:r>
              <a:rPr lang="en-US" sz="1200" b="0" i="0" kern="1200" dirty="0">
                <a:solidFill>
                  <a:schemeClr val="tx1"/>
                </a:solidFill>
                <a:effectLst/>
                <a:latin typeface="+mn-lt"/>
                <a:ea typeface="+mn-ea"/>
                <a:cs typeface="+mn-cs"/>
              </a:rPr>
              <a:t>So, the number is either 96 or 69.</a:t>
            </a:r>
          </a:p>
          <a:p>
            <a:r>
              <a:rPr lang="en-US" sz="1200" b="0" i="0" kern="1200" dirty="0">
                <a:solidFill>
                  <a:schemeClr val="tx1"/>
                </a:solidFill>
                <a:effectLst/>
                <a:latin typeface="+mn-lt"/>
                <a:ea typeface="+mn-ea"/>
                <a:cs typeface="+mn-cs"/>
              </a:rPr>
              <a:t>Hence, the number cannot be determined.</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7</a:t>
            </a:fld>
            <a:endParaRPr lang="en-US"/>
          </a:p>
        </p:txBody>
      </p:sp>
    </p:spTree>
    <p:extLst>
      <p:ext uri="{BB962C8B-B14F-4D97-AF65-F5344CB8AC3E}">
        <p14:creationId xmlns:p14="http://schemas.microsoft.com/office/powerpoint/2010/main" val="8649593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Let the numbers be </a:t>
            </a:r>
            <a:r>
              <a:rPr lang="en-US" sz="1200" b="0" i="1" kern="1200" dirty="0">
                <a:solidFill>
                  <a:schemeClr val="tx1"/>
                </a:solidFill>
                <a:effectLst/>
                <a:latin typeface="+mn-lt"/>
                <a:ea typeface="+mn-ea"/>
                <a:cs typeface="+mn-cs"/>
              </a:rPr>
              <a:t>a</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b</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c</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a:t>
            </a:r>
            <a:r>
              <a:rPr lang="en-US" sz="1200" b="0" i="1" kern="1200" dirty="0">
                <a:solidFill>
                  <a:schemeClr val="tx1"/>
                </a:solidFill>
                <a:effectLst/>
                <a:latin typeface="+mn-lt"/>
                <a:ea typeface="+mn-ea"/>
                <a:cs typeface="+mn-cs"/>
              </a:rPr>
              <a:t>a</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b</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c</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138 and (</a:t>
            </a:r>
            <a:r>
              <a:rPr lang="en-US" sz="1200" b="0" i="1" kern="1200" dirty="0">
                <a:solidFill>
                  <a:schemeClr val="tx1"/>
                </a:solidFill>
                <a:effectLst/>
                <a:latin typeface="+mn-lt"/>
                <a:ea typeface="+mn-ea"/>
                <a:cs typeface="+mn-cs"/>
              </a:rPr>
              <a:t>ab</a:t>
            </a:r>
            <a:r>
              <a:rPr lang="en-US" sz="1200" b="0" i="0" kern="1200" dirty="0">
                <a:solidFill>
                  <a:schemeClr val="tx1"/>
                </a:solidFill>
                <a:effectLst/>
                <a:latin typeface="+mn-lt"/>
                <a:ea typeface="+mn-ea"/>
                <a:cs typeface="+mn-cs"/>
              </a:rPr>
              <a:t> + </a:t>
            </a:r>
            <a:r>
              <a:rPr lang="en-US" sz="1200" b="0" i="1" kern="1200" dirty="0" err="1">
                <a:solidFill>
                  <a:schemeClr val="tx1"/>
                </a:solidFill>
                <a:effectLst/>
                <a:latin typeface="+mn-lt"/>
                <a:ea typeface="+mn-ea"/>
                <a:cs typeface="+mn-cs"/>
              </a:rPr>
              <a:t>bc</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ca</a:t>
            </a:r>
            <a:r>
              <a:rPr lang="en-US" sz="1200" b="0" i="0" kern="1200" dirty="0">
                <a:solidFill>
                  <a:schemeClr val="tx1"/>
                </a:solidFill>
                <a:effectLst/>
                <a:latin typeface="+mn-lt"/>
                <a:ea typeface="+mn-ea"/>
                <a:cs typeface="+mn-cs"/>
              </a:rPr>
              <a:t>) = 131.</a:t>
            </a:r>
          </a:p>
          <a:p>
            <a:r>
              <a:rPr lang="en-US" sz="1200" b="0" i="0" kern="1200" dirty="0">
                <a:solidFill>
                  <a:schemeClr val="tx1"/>
                </a:solidFill>
                <a:effectLst/>
                <a:latin typeface="+mn-lt"/>
                <a:ea typeface="+mn-ea"/>
                <a:cs typeface="+mn-cs"/>
              </a:rPr>
              <a:t>(a + b + c)</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a</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b</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c</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+ 2(</a:t>
            </a:r>
            <a:r>
              <a:rPr lang="en-US" sz="1200" b="0" i="1" kern="1200" dirty="0">
                <a:solidFill>
                  <a:schemeClr val="tx1"/>
                </a:solidFill>
                <a:effectLst/>
                <a:latin typeface="+mn-lt"/>
                <a:ea typeface="+mn-ea"/>
                <a:cs typeface="+mn-cs"/>
              </a:rPr>
              <a:t>ab</a:t>
            </a:r>
            <a:r>
              <a:rPr lang="en-US" sz="1200" b="0" i="0" kern="1200" dirty="0">
                <a:solidFill>
                  <a:schemeClr val="tx1"/>
                </a:solidFill>
                <a:effectLst/>
                <a:latin typeface="+mn-lt"/>
                <a:ea typeface="+mn-ea"/>
                <a:cs typeface="+mn-cs"/>
              </a:rPr>
              <a:t> + </a:t>
            </a:r>
            <a:r>
              <a:rPr lang="en-US" sz="1200" b="0" i="1" kern="1200" dirty="0" err="1">
                <a:solidFill>
                  <a:schemeClr val="tx1"/>
                </a:solidFill>
                <a:effectLst/>
                <a:latin typeface="+mn-lt"/>
                <a:ea typeface="+mn-ea"/>
                <a:cs typeface="+mn-cs"/>
              </a:rPr>
              <a:t>bc</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ca</a:t>
            </a:r>
            <a:r>
              <a:rPr lang="en-US" sz="1200" b="0" i="0" kern="1200" dirty="0">
                <a:solidFill>
                  <a:schemeClr val="tx1"/>
                </a:solidFill>
                <a:effectLst/>
                <a:latin typeface="+mn-lt"/>
                <a:ea typeface="+mn-ea"/>
                <a:cs typeface="+mn-cs"/>
              </a:rPr>
              <a:t>) = 138 + 2 x 131 = 400.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a</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b</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c</a:t>
            </a:r>
            <a:r>
              <a:rPr lang="en-US" sz="1200" b="0" i="0" kern="1200" dirty="0">
                <a:solidFill>
                  <a:schemeClr val="tx1"/>
                </a:solidFill>
                <a:effectLst/>
                <a:latin typeface="+mn-lt"/>
                <a:ea typeface="+mn-ea"/>
                <a:cs typeface="+mn-cs"/>
              </a:rPr>
              <a:t>) = √400 = 20.</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8</a:t>
            </a:fld>
            <a:endParaRPr lang="en-US"/>
          </a:p>
        </p:txBody>
      </p:sp>
    </p:spTree>
    <p:extLst>
      <p:ext uri="{BB962C8B-B14F-4D97-AF65-F5344CB8AC3E}">
        <p14:creationId xmlns:p14="http://schemas.microsoft.com/office/powerpoint/2010/main" val="16533327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Let the number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+ 17 =60/</a:t>
            </a:r>
            <a:r>
              <a:rPr lang="en-US" sz="1200" b="0" i="1" kern="1200" dirty="0">
                <a:solidFill>
                  <a:schemeClr val="tx1"/>
                </a:solidFill>
                <a:effectLst/>
                <a:latin typeface="+mn-lt"/>
                <a:ea typeface="+mn-ea"/>
                <a:cs typeface="+mn-cs"/>
              </a:rPr>
              <a:t>x</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+ 17</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- 60 = 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+ 20)(</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- 3) = 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3.</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9</a:t>
            </a:fld>
            <a:endParaRPr lang="en-US"/>
          </a:p>
        </p:txBody>
      </p:sp>
    </p:spTree>
    <p:extLst>
      <p:ext uri="{BB962C8B-B14F-4D97-AF65-F5344CB8AC3E}">
        <p14:creationId xmlns:p14="http://schemas.microsoft.com/office/powerpoint/2010/main" val="314349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Let the numbers be x and y.</a:t>
            </a:r>
          </a:p>
          <a:p>
            <a:r>
              <a:rPr lang="en-US" sz="1200" b="0" i="0" kern="1200" dirty="0">
                <a:solidFill>
                  <a:schemeClr val="tx1"/>
                </a:solidFill>
                <a:effectLst/>
                <a:latin typeface="+mn-lt"/>
                <a:ea typeface="+mn-ea"/>
                <a:cs typeface="+mn-cs"/>
              </a:rPr>
              <a:t>Then, </a:t>
            </a:r>
            <a:r>
              <a:rPr lang="en-US" sz="1200" b="0" i="0" kern="1200" dirty="0" err="1">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 9375 and x/y= 15.</a:t>
            </a:r>
          </a:p>
          <a:p>
            <a:r>
              <a:rPr lang="en-US" sz="1200" b="0" i="0" kern="1200" dirty="0" err="1">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 (x/y)=9375 / 15</a:t>
            </a:r>
          </a:p>
          <a:p>
            <a:r>
              <a:rPr lang="en-US" sz="1200" b="0" i="0" kern="1200" dirty="0">
                <a:solidFill>
                  <a:schemeClr val="tx1"/>
                </a:solidFill>
                <a:effectLst/>
                <a:latin typeface="+mn-lt"/>
                <a:ea typeface="+mn-ea"/>
                <a:cs typeface="+mn-cs"/>
              </a:rPr>
              <a:t> y</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625.</a:t>
            </a:r>
          </a:p>
          <a:p>
            <a:r>
              <a:rPr lang="en-US" sz="1200" b="0" i="0" kern="1200" dirty="0">
                <a:solidFill>
                  <a:schemeClr val="tx1"/>
                </a:solidFill>
                <a:effectLst/>
                <a:latin typeface="+mn-lt"/>
                <a:ea typeface="+mn-ea"/>
                <a:cs typeface="+mn-cs"/>
              </a:rPr>
              <a:t> y = 25.</a:t>
            </a:r>
          </a:p>
          <a:p>
            <a:r>
              <a:rPr lang="en-US" sz="1200" b="0" i="0" kern="1200" dirty="0">
                <a:solidFill>
                  <a:schemeClr val="tx1"/>
                </a:solidFill>
                <a:effectLst/>
                <a:latin typeface="+mn-lt"/>
                <a:ea typeface="+mn-ea"/>
                <a:cs typeface="+mn-cs"/>
              </a:rPr>
              <a:t> x = 15y = (15 x 25) = 375.</a:t>
            </a:r>
          </a:p>
          <a:p>
            <a:r>
              <a:rPr lang="en-US" sz="1200" b="0" i="0" kern="1200" dirty="0">
                <a:solidFill>
                  <a:schemeClr val="tx1"/>
                </a:solidFill>
                <a:effectLst/>
                <a:latin typeface="+mn-lt"/>
                <a:ea typeface="+mn-ea"/>
                <a:cs typeface="+mn-cs"/>
              </a:rPr>
              <a:t> Sum of the numbers = x + y = 375 + 25 = 400.</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10</a:t>
            </a:fld>
            <a:endParaRPr lang="en-US"/>
          </a:p>
        </p:txBody>
      </p:sp>
    </p:spTree>
    <p:extLst>
      <p:ext uri="{BB962C8B-B14F-4D97-AF65-F5344CB8AC3E}">
        <p14:creationId xmlns:p14="http://schemas.microsoft.com/office/powerpoint/2010/main" val="657469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Let the numbers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25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13.</a:t>
            </a:r>
          </a:p>
          <a:p>
            <a:r>
              <a:rPr lang="en-US" sz="1200" b="0" i="0" kern="1200" dirty="0">
                <a:solidFill>
                  <a:schemeClr val="tx1"/>
                </a:solidFill>
                <a:effectLst/>
                <a:latin typeface="+mn-lt"/>
                <a:ea typeface="+mn-ea"/>
                <a:cs typeface="+mn-cs"/>
              </a:rPr>
              <a:t>4</a:t>
            </a:r>
            <a:r>
              <a:rPr lang="en-US" sz="1200" b="0" i="1" kern="1200" dirty="0">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 (25)</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(13)</a:t>
            </a:r>
            <a:r>
              <a:rPr lang="en-US" sz="1200" b="0" i="0" kern="1200" baseline="30000" dirty="0">
                <a:solidFill>
                  <a:schemeClr val="tx1"/>
                </a:solidFill>
                <a:effectLst/>
                <a:latin typeface="+mn-lt"/>
                <a:ea typeface="+mn-ea"/>
                <a:cs typeface="+mn-cs"/>
              </a:rPr>
              <a:t>2</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   = (625 - 169)</a:t>
            </a:r>
          </a:p>
          <a:p>
            <a:r>
              <a:rPr lang="en-US" sz="1200" b="0" i="0" kern="1200" dirty="0">
                <a:solidFill>
                  <a:schemeClr val="tx1"/>
                </a:solidFill>
                <a:effectLst/>
                <a:latin typeface="+mn-lt"/>
                <a:ea typeface="+mn-ea"/>
                <a:cs typeface="+mn-cs"/>
              </a:rPr>
              <a:t>   = 456</a:t>
            </a:r>
          </a:p>
          <a:p>
            <a:r>
              <a:rPr lang="en-US" sz="1200" b="0" i="0" kern="1200" dirty="0">
                <a:solidFill>
                  <a:schemeClr val="tx1"/>
                </a:solidFill>
                <a:effectLst/>
                <a:latin typeface="+mn-lt"/>
                <a:ea typeface="+mn-ea"/>
                <a:cs typeface="+mn-cs"/>
              </a:rPr>
              <a:t> </a:t>
            </a:r>
            <a:r>
              <a:rPr lang="en-US" sz="1200" b="0" i="1" kern="1200" dirty="0" err="1">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 114.</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11</a:t>
            </a:fld>
            <a:endParaRPr lang="en-US"/>
          </a:p>
        </p:txBody>
      </p:sp>
    </p:spTree>
    <p:extLst>
      <p:ext uri="{BB962C8B-B14F-4D97-AF65-F5344CB8AC3E}">
        <p14:creationId xmlns:p14="http://schemas.microsoft.com/office/powerpoint/2010/main" val="4349292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Let the numbers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a:t>
            </a:r>
            <a:r>
              <a:rPr lang="en-US" sz="1200" b="0" i="1" kern="1200" dirty="0" err="1">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 120 and </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289.</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+ 2</a:t>
            </a:r>
            <a:r>
              <a:rPr lang="en-US" sz="1200" b="0" i="1" kern="1200" dirty="0">
                <a:solidFill>
                  <a:schemeClr val="tx1"/>
                </a:solidFill>
                <a:effectLst/>
                <a:latin typeface="+mn-lt"/>
                <a:ea typeface="+mn-ea"/>
                <a:cs typeface="+mn-cs"/>
              </a:rPr>
              <a:t>xy</a:t>
            </a:r>
            <a:r>
              <a:rPr lang="en-US" sz="1200" b="0" i="0" kern="1200" dirty="0">
                <a:solidFill>
                  <a:schemeClr val="tx1"/>
                </a:solidFill>
                <a:effectLst/>
                <a:latin typeface="+mn-lt"/>
                <a:ea typeface="+mn-ea"/>
                <a:cs typeface="+mn-cs"/>
              </a:rPr>
              <a:t> = 289 + (2 x 120) = 529</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√529 = 23.</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12</a:t>
            </a:fld>
            <a:endParaRPr lang="en-US"/>
          </a:p>
        </p:txBody>
      </p:sp>
    </p:spTree>
    <p:extLst>
      <p:ext uri="{BB962C8B-B14F-4D97-AF65-F5344CB8AC3E}">
        <p14:creationId xmlns:p14="http://schemas.microsoft.com/office/powerpoint/2010/main" val="176143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C</a:t>
            </a:r>
          </a:p>
          <a:p>
            <a:r>
              <a:rPr lang="en-US" sz="1200" b="0" i="0" kern="1200" dirty="0">
                <a:solidFill>
                  <a:schemeClr val="tx1"/>
                </a:solidFill>
                <a:effectLst/>
                <a:latin typeface="+mn-lt"/>
                <a:ea typeface="+mn-ea"/>
                <a:cs typeface="+mn-cs"/>
              </a:rPr>
              <a:t>Let the numbers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p>
          <a:p>
            <a:r>
              <a:rPr lang="en-US" sz="1200" b="0" i="0" kern="1200" dirty="0">
                <a:solidFill>
                  <a:schemeClr val="tx1"/>
                </a:solidFill>
                <a:effectLst/>
                <a:latin typeface="+mn-lt"/>
                <a:ea typeface="+mn-ea"/>
                <a:cs typeface="+mn-cs"/>
              </a:rPr>
              <a:t>Then,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84</a:t>
            </a:r>
          </a:p>
          <a:p>
            <a:r>
              <a:rPr lang="en-US" sz="1200" b="0" i="0" kern="1200" dirty="0">
                <a:solidFill>
                  <a:schemeClr val="tx1"/>
                </a:solidFill>
                <a:effectLst/>
                <a:latin typeface="+mn-lt"/>
                <a:ea typeface="+mn-ea"/>
                <a:cs typeface="+mn-cs"/>
              </a:rPr>
              <a:t> 4</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+ 4 = 84</a:t>
            </a:r>
          </a:p>
          <a:p>
            <a:r>
              <a:rPr lang="en-US" sz="1200" b="0" i="0" kern="1200" dirty="0">
                <a:solidFill>
                  <a:schemeClr val="tx1"/>
                </a:solidFill>
                <a:effectLst/>
                <a:latin typeface="+mn-lt"/>
                <a:ea typeface="+mn-ea"/>
                <a:cs typeface="+mn-cs"/>
              </a:rPr>
              <a:t> 4</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80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20.</a:t>
            </a:r>
          </a:p>
          <a:p>
            <a:r>
              <a:rPr lang="en-US" sz="1200" b="0" i="0" kern="1200" dirty="0">
                <a:solidFill>
                  <a:schemeClr val="tx1"/>
                </a:solidFill>
                <a:effectLst/>
                <a:latin typeface="+mn-lt"/>
                <a:ea typeface="+mn-ea"/>
                <a:cs typeface="+mn-cs"/>
              </a:rPr>
              <a:t> The required sum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 =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 = 42.</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13</a:t>
            </a:fld>
            <a:endParaRPr lang="en-US"/>
          </a:p>
        </p:txBody>
      </p:sp>
    </p:spTree>
    <p:extLst>
      <p:ext uri="{BB962C8B-B14F-4D97-AF65-F5344CB8AC3E}">
        <p14:creationId xmlns:p14="http://schemas.microsoft.com/office/powerpoint/2010/main" val="41992291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D</a:t>
            </a:r>
          </a:p>
          <a:p>
            <a:r>
              <a:rPr lang="en-US" sz="1200" b="0" i="0" kern="1200" dirty="0">
                <a:solidFill>
                  <a:schemeClr val="tx1"/>
                </a:solidFill>
                <a:effectLst/>
                <a:latin typeface="+mn-lt"/>
                <a:ea typeface="+mn-ea"/>
                <a:cs typeface="+mn-cs"/>
              </a:rPr>
              <a:t>Let the ten's digit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and unit's digit be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number = 10</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Number obtained by interchanging the digits = 10</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 (10</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(10</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11(</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which is divisible by 11.</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14</a:t>
            </a:fld>
            <a:endParaRPr lang="en-US"/>
          </a:p>
        </p:txBody>
      </p:sp>
    </p:spTree>
    <p:extLst>
      <p:ext uri="{BB962C8B-B14F-4D97-AF65-F5344CB8AC3E}">
        <p14:creationId xmlns:p14="http://schemas.microsoft.com/office/powerpoint/2010/main" val="40468052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Let the middle digit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10 or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5. So, the number is either 253 or 352.</a:t>
            </a:r>
          </a:p>
          <a:p>
            <a:r>
              <a:rPr lang="en-US" sz="1200" b="0" i="0" kern="1200" dirty="0">
                <a:solidFill>
                  <a:schemeClr val="tx1"/>
                </a:solidFill>
                <a:effectLst/>
                <a:latin typeface="+mn-lt"/>
                <a:ea typeface="+mn-ea"/>
                <a:cs typeface="+mn-cs"/>
              </a:rPr>
              <a:t>Since the number increases on reversing the digits, so the hundred's digits is smaller than the unit's digit.</a:t>
            </a:r>
          </a:p>
          <a:p>
            <a:r>
              <a:rPr lang="en-US" sz="1200" b="0" i="0" kern="1200" dirty="0">
                <a:solidFill>
                  <a:schemeClr val="tx1"/>
                </a:solidFill>
                <a:effectLst/>
                <a:latin typeface="+mn-lt"/>
                <a:ea typeface="+mn-ea"/>
                <a:cs typeface="+mn-cs"/>
              </a:rPr>
              <a:t>Hence, required number = 253.</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15</a:t>
            </a:fld>
            <a:endParaRPr lang="en-US"/>
          </a:p>
        </p:txBody>
      </p:sp>
    </p:spTree>
    <p:extLst>
      <p:ext uri="{BB962C8B-B14F-4D97-AF65-F5344CB8AC3E}">
        <p14:creationId xmlns:p14="http://schemas.microsoft.com/office/powerpoint/2010/main" val="21937128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A</a:t>
            </a:r>
          </a:p>
          <a:p>
            <a:r>
              <a:rPr lang="en-US" sz="1200" b="0" i="0" kern="1200" dirty="0">
                <a:solidFill>
                  <a:schemeClr val="tx1"/>
                </a:solidFill>
                <a:effectLst/>
                <a:latin typeface="+mn-lt"/>
                <a:ea typeface="+mn-ea"/>
                <a:cs typeface="+mn-cs"/>
              </a:rPr>
              <a:t>Let the ten's digit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unit's digit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p>
          <a:p>
            <a:r>
              <a:rPr lang="en-US" sz="1200" b="0" i="0" kern="1200" dirty="0">
                <a:solidFill>
                  <a:schemeClr val="tx1"/>
                </a:solidFill>
                <a:effectLst/>
                <a:latin typeface="+mn-lt"/>
                <a:ea typeface="+mn-ea"/>
                <a:cs typeface="+mn-cs"/>
              </a:rPr>
              <a:t>Number = 10</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 = 11</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p>
          <a:p>
            <a:r>
              <a:rPr lang="en-US" sz="1200" b="0" i="0" kern="1200" dirty="0">
                <a:solidFill>
                  <a:schemeClr val="tx1"/>
                </a:solidFill>
                <a:effectLst/>
                <a:latin typeface="+mn-lt"/>
                <a:ea typeface="+mn-ea"/>
                <a:cs typeface="+mn-cs"/>
              </a:rPr>
              <a:t>Sum of digits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 =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p>
          <a:p>
            <a:r>
              <a:rPr lang="en-US" sz="1200" b="0" i="0" kern="1200" dirty="0">
                <a:solidFill>
                  <a:schemeClr val="tx1"/>
                </a:solidFill>
                <a:effectLst/>
                <a:latin typeface="+mn-lt"/>
                <a:ea typeface="+mn-ea"/>
                <a:cs typeface="+mn-cs"/>
              </a:rPr>
              <a:t> (11</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 = 144</a:t>
            </a:r>
          </a:p>
          <a:p>
            <a:r>
              <a:rPr lang="en-US" sz="1200" b="0" i="0" kern="1200" dirty="0">
                <a:solidFill>
                  <a:schemeClr val="tx1"/>
                </a:solidFill>
                <a:effectLst/>
                <a:latin typeface="+mn-lt"/>
                <a:ea typeface="+mn-ea"/>
                <a:cs typeface="+mn-cs"/>
              </a:rPr>
              <a:t> 22</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+ 26</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- 140 = 0</a:t>
            </a:r>
          </a:p>
          <a:p>
            <a:r>
              <a:rPr lang="en-US" sz="1200" b="0" i="0" kern="1200" dirty="0">
                <a:solidFill>
                  <a:schemeClr val="tx1"/>
                </a:solidFill>
                <a:effectLst/>
                <a:latin typeface="+mn-lt"/>
                <a:ea typeface="+mn-ea"/>
                <a:cs typeface="+mn-cs"/>
              </a:rPr>
              <a:t> 11</a:t>
            </a:r>
            <a:r>
              <a:rPr lang="en-US" sz="1200" b="0" i="1" kern="1200" dirty="0">
                <a:solidFill>
                  <a:schemeClr val="tx1"/>
                </a:solidFill>
                <a:effectLst/>
                <a:latin typeface="+mn-lt"/>
                <a:ea typeface="+mn-ea"/>
                <a:cs typeface="+mn-cs"/>
              </a:rPr>
              <a:t>x</a:t>
            </a:r>
            <a:r>
              <a:rPr lang="en-US" sz="1200" b="0" i="0" kern="1200" baseline="30000" dirty="0">
                <a:solidFill>
                  <a:schemeClr val="tx1"/>
                </a:solidFill>
                <a:effectLst/>
                <a:latin typeface="+mn-lt"/>
                <a:ea typeface="+mn-ea"/>
                <a:cs typeface="+mn-cs"/>
              </a:rPr>
              <a:t>2</a:t>
            </a:r>
            <a:r>
              <a:rPr lang="en-US" sz="1200" b="0" i="0" kern="1200" dirty="0">
                <a:solidFill>
                  <a:schemeClr val="tx1"/>
                </a:solidFill>
                <a:effectLst/>
                <a:latin typeface="+mn-lt"/>
                <a:ea typeface="+mn-ea"/>
                <a:cs typeface="+mn-cs"/>
              </a:rPr>
              <a:t> + 13</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- 70 = 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- 2)(11</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+ 35) = 0</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p>
          <a:p>
            <a:r>
              <a:rPr lang="en-US" sz="1200" b="0" i="0" kern="1200" dirty="0">
                <a:solidFill>
                  <a:schemeClr val="tx1"/>
                </a:solidFill>
                <a:effectLst/>
                <a:latin typeface="+mn-lt"/>
                <a:ea typeface="+mn-ea"/>
                <a:cs typeface="+mn-cs"/>
              </a:rPr>
              <a:t>Hence, required number = 11</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 = 24.</a:t>
            </a:r>
          </a:p>
        </p:txBody>
      </p:sp>
      <p:sp>
        <p:nvSpPr>
          <p:cNvPr id="4" name="Slide Number Placeholder 3"/>
          <p:cNvSpPr>
            <a:spLocks noGrp="1"/>
          </p:cNvSpPr>
          <p:nvPr>
            <p:ph type="sldNum" sz="quarter" idx="5"/>
          </p:nvPr>
        </p:nvSpPr>
        <p:spPr/>
        <p:txBody>
          <a:bodyPr/>
          <a:lstStyle/>
          <a:p>
            <a:fld id="{0AAB6876-1BF1-4B88-890A-0B4E46201506}" type="slidenum">
              <a:rPr lang="en-US" smtClean="0"/>
              <a:t>16</a:t>
            </a:fld>
            <a:endParaRPr lang="en-US"/>
          </a:p>
        </p:txBody>
      </p:sp>
    </p:spTree>
    <p:extLst>
      <p:ext uri="{BB962C8B-B14F-4D97-AF65-F5344CB8AC3E}">
        <p14:creationId xmlns:p14="http://schemas.microsoft.com/office/powerpoint/2010/main" val="22178508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Let the ten's digit be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and unit's digit be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Then, (10</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(10</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36</a:t>
            </a:r>
          </a:p>
          <a:p>
            <a:r>
              <a:rPr lang="en-US" sz="1200" b="0" i="0" kern="1200" dirty="0">
                <a:solidFill>
                  <a:schemeClr val="tx1"/>
                </a:solidFill>
                <a:effectLst/>
                <a:latin typeface="+mn-lt"/>
                <a:ea typeface="+mn-ea"/>
                <a:cs typeface="+mn-cs"/>
              </a:rPr>
              <a:t> 9(</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36</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 4.</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17</a:t>
            </a:fld>
            <a:endParaRPr lang="en-US"/>
          </a:p>
        </p:txBody>
      </p:sp>
    </p:spTree>
    <p:extLst>
      <p:ext uri="{BB962C8B-B14F-4D97-AF65-F5344CB8AC3E}">
        <p14:creationId xmlns:p14="http://schemas.microsoft.com/office/powerpoint/2010/main" val="7559727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Answer: B</a:t>
            </a:r>
          </a:p>
          <a:p>
            <a:r>
              <a:rPr lang="en-US" sz="1200" b="0" i="0" kern="1200" dirty="0">
                <a:solidFill>
                  <a:schemeClr val="tx1"/>
                </a:solidFill>
                <a:effectLst/>
                <a:latin typeface="+mn-lt"/>
                <a:ea typeface="+mn-ea"/>
                <a:cs typeface="+mn-cs"/>
              </a:rPr>
              <a:t>Since the number is greater than the number obtained on reversing the digits, so the ten's digit is greater than the unit's digit.</a:t>
            </a:r>
          </a:p>
          <a:p>
            <a:r>
              <a:rPr lang="en-US" sz="1200" b="0" i="0" kern="1200" dirty="0">
                <a:solidFill>
                  <a:schemeClr val="tx1"/>
                </a:solidFill>
                <a:effectLst/>
                <a:latin typeface="+mn-lt"/>
                <a:ea typeface="+mn-ea"/>
                <a:cs typeface="+mn-cs"/>
              </a:rPr>
              <a:t>Let ten's and unit's digits be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and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respectively.</a:t>
            </a:r>
          </a:p>
          <a:p>
            <a:r>
              <a:rPr lang="en-US" sz="1200" b="0" i="0" kern="1200" dirty="0">
                <a:solidFill>
                  <a:schemeClr val="tx1"/>
                </a:solidFill>
                <a:effectLst/>
                <a:latin typeface="+mn-lt"/>
                <a:ea typeface="+mn-ea"/>
                <a:cs typeface="+mn-cs"/>
              </a:rPr>
              <a:t>Then, (10 x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(10</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36</a:t>
            </a:r>
          </a:p>
          <a:p>
            <a:r>
              <a:rPr lang="en-US" sz="1200" b="0" i="0" kern="1200" dirty="0">
                <a:solidFill>
                  <a:schemeClr val="tx1"/>
                </a:solidFill>
                <a:effectLst/>
                <a:latin typeface="+mn-lt"/>
                <a:ea typeface="+mn-ea"/>
                <a:cs typeface="+mn-cs"/>
              </a:rPr>
              <a:t> 9</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36</a:t>
            </a:r>
          </a:p>
          <a:p>
            <a:r>
              <a:rPr lang="en-US" sz="1200" b="0" i="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4.</a:t>
            </a:r>
          </a:p>
          <a:p>
            <a:r>
              <a:rPr lang="en-US" sz="1200" b="0" i="0" kern="1200" dirty="0">
                <a:solidFill>
                  <a:schemeClr val="tx1"/>
                </a:solidFill>
                <a:effectLst/>
                <a:latin typeface="+mn-lt"/>
                <a:ea typeface="+mn-ea"/>
                <a:cs typeface="+mn-cs"/>
              </a:rPr>
              <a:t> Required difference =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2</a:t>
            </a:r>
            <a:r>
              <a:rPr lang="en-US" sz="1200" b="0" i="1" kern="1200" dirty="0">
                <a:solidFill>
                  <a:schemeClr val="tx1"/>
                </a:solidFill>
                <a:effectLst/>
                <a:latin typeface="+mn-lt"/>
                <a:ea typeface="+mn-ea"/>
                <a:cs typeface="+mn-cs"/>
              </a:rPr>
              <a:t>x</a:t>
            </a:r>
            <a:r>
              <a:rPr lang="en-US" sz="1200" b="0" i="0" kern="1200" dirty="0">
                <a:solidFill>
                  <a:schemeClr val="tx1"/>
                </a:solidFill>
                <a:effectLst/>
                <a:latin typeface="+mn-lt"/>
                <a:ea typeface="+mn-ea"/>
                <a:cs typeface="+mn-cs"/>
              </a:rPr>
              <a:t> = 8.</a:t>
            </a:r>
          </a:p>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0AAB6876-1BF1-4B88-890A-0B4E46201506}" type="slidenum">
              <a:rPr lang="en-US" smtClean="0"/>
              <a:t>18</a:t>
            </a:fld>
            <a:endParaRPr lang="en-US"/>
          </a:p>
        </p:txBody>
      </p:sp>
    </p:spTree>
    <p:extLst>
      <p:ext uri="{BB962C8B-B14F-4D97-AF65-F5344CB8AC3E}">
        <p14:creationId xmlns:p14="http://schemas.microsoft.com/office/powerpoint/2010/main" val="222961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5"/>
          </p:nvPr>
        </p:nvSpPr>
        <p:spPr/>
        <p:txBody>
          <a:bodyPr/>
          <a:lstStyle/>
          <a:p>
            <a:fld id="{0AAB6876-1BF1-4B88-890A-0B4E46201506}" type="slidenum">
              <a:rPr lang="en-US" smtClean="0"/>
              <a:t>19</a:t>
            </a:fld>
            <a:endParaRPr lang="en-US"/>
          </a:p>
        </p:txBody>
      </p:sp>
    </p:spTree>
    <p:extLst>
      <p:ext uri="{BB962C8B-B14F-4D97-AF65-F5344CB8AC3E}">
        <p14:creationId xmlns:p14="http://schemas.microsoft.com/office/powerpoint/2010/main" val="41901331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5/17/2024</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122E405-3950-5E55-3562-408F06D3DE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540578" y="3105000"/>
            <a:ext cx="5110844" cy="648000"/>
          </a:xfrm>
          <a:prstGeom prst="rect">
            <a:avLst/>
          </a:prstGeom>
        </p:spPr>
      </p:pic>
    </p:spTree>
    <p:extLst>
      <p:ext uri="{BB962C8B-B14F-4D97-AF65-F5344CB8AC3E}">
        <p14:creationId xmlns:p14="http://schemas.microsoft.com/office/powerpoint/2010/main" val="1596884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Here is where the title goes. Sometimes it could be two lines too"/>
          <p:cNvSpPr txBox="1"/>
          <p:nvPr/>
        </p:nvSpPr>
        <p:spPr>
          <a:xfrm>
            <a:off x="2228195" y="1789871"/>
            <a:ext cx="8458198" cy="7465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r>
              <a:rPr lang="en-US" sz="4500" b="1" dirty="0">
                <a:solidFill>
                  <a:schemeClr val="bg1"/>
                </a:solidFill>
                <a:latin typeface="Nunito Sans" panose="00000500000000000000" pitchFamily="2" charset="0"/>
              </a:rPr>
              <a:t>Topic/Course</a:t>
            </a:r>
            <a:endParaRPr sz="4500" b="1" dirty="0">
              <a:solidFill>
                <a:schemeClr val="bg1"/>
              </a:solidFill>
              <a:latin typeface="Nunito Sans" panose="00000500000000000000" pitchFamily="2" charset="0"/>
            </a:endParaRPr>
          </a:p>
        </p:txBody>
      </p:sp>
      <p:sp>
        <p:nvSpPr>
          <p:cNvPr id="12" name="Here is where the title goes. Sometimes it could be two lines too">
            <a:extLst>
              <a:ext uri="{FF2B5EF4-FFF2-40B4-BE49-F238E27FC236}">
                <a16:creationId xmlns:a16="http://schemas.microsoft.com/office/drawing/2014/main" id="{B5763151-1884-4565-B779-CF2D697C82C8}"/>
              </a:ext>
            </a:extLst>
          </p:cNvPr>
          <p:cNvSpPr txBox="1"/>
          <p:nvPr/>
        </p:nvSpPr>
        <p:spPr>
          <a:xfrm>
            <a:off x="2228196" y="2514600"/>
            <a:ext cx="6745013" cy="28493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r>
              <a:rPr lang="en-US" sz="1500" b="1" dirty="0">
                <a:solidFill>
                  <a:schemeClr val="bg1"/>
                </a:solidFill>
                <a:latin typeface="Nunito Sans" panose="00000500000000000000" pitchFamily="2" charset="0"/>
              </a:rPr>
              <a:t>Sub-Topic (Example: name of college)</a:t>
            </a:r>
            <a:endParaRPr sz="1500" b="1" dirty="0">
              <a:solidFill>
                <a:schemeClr val="bg1"/>
              </a:solidFill>
              <a:latin typeface="Nunito Sans" panose="00000500000000000000" pitchFamily="2" charset="0"/>
            </a:endParaRPr>
          </a:p>
        </p:txBody>
      </p:sp>
      <p:sp>
        <p:nvSpPr>
          <p:cNvPr id="13" name="TextBox 12">
            <a:extLst>
              <a:ext uri="{FF2B5EF4-FFF2-40B4-BE49-F238E27FC236}">
                <a16:creationId xmlns:a16="http://schemas.microsoft.com/office/drawing/2014/main" id="{FC4BA18A-B0F2-4D62-9B28-7B486D4C70CF}"/>
              </a:ext>
            </a:extLst>
          </p:cNvPr>
          <p:cNvSpPr txBox="1"/>
          <p:nvPr/>
        </p:nvSpPr>
        <p:spPr>
          <a:xfrm>
            <a:off x="1015554" y="1740939"/>
            <a:ext cx="10160892" cy="1015663"/>
          </a:xfrm>
          <a:prstGeom prst="rect">
            <a:avLst/>
          </a:prstGeom>
          <a:noFill/>
        </p:spPr>
        <p:txBody>
          <a:bodyPr wrap="square" rtlCol="0">
            <a:spAutoFit/>
          </a:bodyPr>
          <a:lstStyle/>
          <a:p>
            <a:r>
              <a:rPr lang="en-US" sz="6000" dirty="0">
                <a:latin typeface="Nunito Sans SemiBold" panose="00000700000000000000" pitchFamily="2" charset="0"/>
              </a:rPr>
              <a:t>VIT</a:t>
            </a:r>
          </a:p>
        </p:txBody>
      </p:sp>
      <p:sp>
        <p:nvSpPr>
          <p:cNvPr id="10" name="Rectangle 9">
            <a:extLst>
              <a:ext uri="{FF2B5EF4-FFF2-40B4-BE49-F238E27FC236}">
                <a16:creationId xmlns:a16="http://schemas.microsoft.com/office/drawing/2014/main" id="{82037F44-B579-465E-912D-7578628D7D24}"/>
              </a:ext>
            </a:extLst>
          </p:cNvPr>
          <p:cNvSpPr/>
          <p:nvPr/>
        </p:nvSpPr>
        <p:spPr>
          <a:xfrm>
            <a:off x="1110149" y="1640233"/>
            <a:ext cx="794852" cy="57773"/>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02C35BF4-5043-70BB-D41C-2240A48FDE4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72400" y="5950626"/>
            <a:ext cx="4272644" cy="541725"/>
          </a:xfrm>
          <a:prstGeom prst="rect">
            <a:avLst/>
          </a:prstGeom>
        </p:spPr>
      </p:pic>
    </p:spTree>
    <p:extLst>
      <p:ext uri="{BB962C8B-B14F-4D97-AF65-F5344CB8AC3E}">
        <p14:creationId xmlns:p14="http://schemas.microsoft.com/office/powerpoint/2010/main" val="37075444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5136"/>
        </a:solidFill>
        <a:effectLst/>
      </p:bgPr>
    </p:bg>
    <p:spTree>
      <p:nvGrpSpPr>
        <p:cNvPr id="1" name=""/>
        <p:cNvGrpSpPr/>
        <p:nvPr/>
      </p:nvGrpSpPr>
      <p:grpSpPr>
        <a:xfrm>
          <a:off x="0" y="0"/>
          <a:ext cx="0" cy="0"/>
          <a:chOff x="0" y="0"/>
          <a:chExt cx="0" cy="0"/>
        </a:xfrm>
      </p:grpSpPr>
      <p:sp>
        <p:nvSpPr>
          <p:cNvPr id="4" name="Here is where the title goes. Sometimes it could be two lines too">
            <a:extLst>
              <a:ext uri="{FF2B5EF4-FFF2-40B4-BE49-F238E27FC236}">
                <a16:creationId xmlns:a16="http://schemas.microsoft.com/office/drawing/2014/main" id="{456C9966-3D51-4F1F-BF70-A36692846596}"/>
              </a:ext>
            </a:extLst>
          </p:cNvPr>
          <p:cNvSpPr txBox="1"/>
          <p:nvPr/>
        </p:nvSpPr>
        <p:spPr>
          <a:xfrm>
            <a:off x="228600" y="2286000"/>
            <a:ext cx="12192000" cy="17160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26789" tIns="26789" rIns="26789" bIns="26789">
            <a:spAutoFit/>
          </a:bodyPr>
          <a:lstStyle>
            <a:lvl1pPr>
              <a:defRPr sz="9600">
                <a:solidFill>
                  <a:srgbClr val="000000"/>
                </a:solidFill>
              </a:defRPr>
            </a:lvl1pPr>
          </a:lstStyle>
          <a:p>
            <a:pPr algn="ctr"/>
            <a:r>
              <a:rPr lang="en-US" sz="5400" b="1" dirty="0">
                <a:solidFill>
                  <a:schemeClr val="bg1"/>
                </a:solidFill>
                <a:latin typeface="Nunito Sans" panose="00000500000000000000" pitchFamily="2" charset="0"/>
              </a:rPr>
              <a:t>APPLICATIONS AND PRACTICE PROBLEMS ON NUMBERS</a:t>
            </a:r>
          </a:p>
        </p:txBody>
      </p:sp>
      <p:pic>
        <p:nvPicPr>
          <p:cNvPr id="2" name="Picture 1">
            <a:extLst>
              <a:ext uri="{FF2B5EF4-FFF2-40B4-BE49-F238E27FC236}">
                <a16:creationId xmlns:a16="http://schemas.microsoft.com/office/drawing/2014/main" id="{12C98B3B-0E6F-D62B-0DC0-F766E1248F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48600" y="6096000"/>
            <a:ext cx="3962400" cy="502390"/>
          </a:xfrm>
          <a:prstGeom prst="rect">
            <a:avLst/>
          </a:prstGeom>
        </p:spPr>
      </p:pic>
    </p:spTree>
    <p:extLst>
      <p:ext uri="{BB962C8B-B14F-4D97-AF65-F5344CB8AC3E}">
        <p14:creationId xmlns:p14="http://schemas.microsoft.com/office/powerpoint/2010/main" val="4065581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If one-third of one-fourth of a number is 15, then three-tenth of that number is _______________.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35</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45</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54</a:t>
            </a:r>
          </a:p>
        </p:txBody>
      </p:sp>
      <p:pic>
        <p:nvPicPr>
          <p:cNvPr id="2" name="Picture 1">
            <a:extLst>
              <a:ext uri="{FF2B5EF4-FFF2-40B4-BE49-F238E27FC236}">
                <a16:creationId xmlns:a16="http://schemas.microsoft.com/office/drawing/2014/main" id="{5EC7AE50-F5A3-1402-1ED7-261234B828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21195919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Three times the first of three consecutive odd integers is 3 more than twice the third. The third integer is __________.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11</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2</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13</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15</a:t>
            </a:r>
          </a:p>
        </p:txBody>
      </p:sp>
      <p:pic>
        <p:nvPicPr>
          <p:cNvPr id="2" name="Picture 1">
            <a:extLst>
              <a:ext uri="{FF2B5EF4-FFF2-40B4-BE49-F238E27FC236}">
                <a16:creationId xmlns:a16="http://schemas.microsoft.com/office/drawing/2014/main" id="{35CB3E49-7A4B-2CA7-BC60-D8876D58024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3304669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two-digit number is such that the product of the digits is 8. When 18 is added to the number, then the digits are reversed. The number is ___________.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18</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3</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42</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81</a:t>
            </a:r>
          </a:p>
        </p:txBody>
      </p:sp>
      <p:pic>
        <p:nvPicPr>
          <p:cNvPr id="2" name="Picture 1">
            <a:extLst>
              <a:ext uri="{FF2B5EF4-FFF2-40B4-BE49-F238E27FC236}">
                <a16:creationId xmlns:a16="http://schemas.microsoft.com/office/drawing/2014/main" id="{0F851FEC-8417-2738-7C52-B9396AB1F42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2902704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sum of the digits of a two-digit number is 15 and the difference between the digits is 3. What is the two-digit number?</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69</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78</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4</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96</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Cannot be determined</a:t>
            </a:r>
          </a:p>
        </p:txBody>
      </p:sp>
      <p:pic>
        <p:nvPicPr>
          <p:cNvPr id="2" name="Picture 1">
            <a:extLst>
              <a:ext uri="{FF2B5EF4-FFF2-40B4-BE49-F238E27FC236}">
                <a16:creationId xmlns:a16="http://schemas.microsoft.com/office/drawing/2014/main" id="{3FB1D63F-8C8F-619A-CA43-4C07C0FB6F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4095650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sum of the squares of three numbers is 138, while the sum of their products taken two at a time is 131. Their sum is ___________.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5</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pic>
        <p:nvPicPr>
          <p:cNvPr id="2" name="Picture 1">
            <a:extLst>
              <a:ext uri="{FF2B5EF4-FFF2-40B4-BE49-F238E27FC236}">
                <a16:creationId xmlns:a16="http://schemas.microsoft.com/office/drawing/2014/main" id="{C2B989A4-89BF-67C9-43DC-1E422719DA7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2411205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Find a positive number which when increased by 17 is equal to 60 times the reciprocal of the number.</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6</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17</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pic>
        <p:nvPicPr>
          <p:cNvPr id="2" name="Picture 1">
            <a:extLst>
              <a:ext uri="{FF2B5EF4-FFF2-40B4-BE49-F238E27FC236}">
                <a16:creationId xmlns:a16="http://schemas.microsoft.com/office/drawing/2014/main" id="{A06C5608-8DBA-1BFA-CEBD-84719BE538B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3419895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product of two numbers is 9375 and the quotient, when the larger one is divided by the smaller, is 15. The sum of the numbers is 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380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395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7</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400</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425</a:t>
            </a:r>
          </a:p>
        </p:txBody>
      </p:sp>
      <p:pic>
        <p:nvPicPr>
          <p:cNvPr id="2" name="Picture 1">
            <a:extLst>
              <a:ext uri="{FF2B5EF4-FFF2-40B4-BE49-F238E27FC236}">
                <a16:creationId xmlns:a16="http://schemas.microsoft.com/office/drawing/2014/main" id="{538F7C4B-A0D0-BB66-1A3B-DBA4652B68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1899524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477054"/>
          </a:xfrm>
          <a:prstGeom prst="rect">
            <a:avLst/>
          </a:prstGeom>
          <a:noFill/>
        </p:spPr>
        <p:txBody>
          <a:bodyPr wrap="square" rtlCol="0">
            <a:spAutoFit/>
          </a:bodyPr>
          <a:lstStyle/>
          <a:p>
            <a:pPr algn="just"/>
            <a:r>
              <a:rPr lang="en-US" sz="2500" dirty="0">
                <a:latin typeface="Nunito Sans" panose="00000500000000000000" pitchFamily="2" charset="0"/>
              </a:rPr>
              <a:t>The sum of two number is 25 and their difference is 13. Find their product.</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104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114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8</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315</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325</a:t>
            </a:r>
          </a:p>
        </p:txBody>
      </p:sp>
      <p:pic>
        <p:nvPicPr>
          <p:cNvPr id="2" name="Picture 1">
            <a:extLst>
              <a:ext uri="{FF2B5EF4-FFF2-40B4-BE49-F238E27FC236}">
                <a16:creationId xmlns:a16="http://schemas.microsoft.com/office/drawing/2014/main" id="{DC575134-0859-62E2-73DC-29B116D26C5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4842665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The product of two numbers is 120 and the sum of their squares is 289. The sum of the number is ___________.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20</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23</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9</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169</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pic>
        <p:nvPicPr>
          <p:cNvPr id="2" name="Picture 1">
            <a:extLst>
              <a:ext uri="{FF2B5EF4-FFF2-40B4-BE49-F238E27FC236}">
                <a16:creationId xmlns:a16="http://schemas.microsoft.com/office/drawing/2014/main" id="{6441E879-E433-5948-85C9-FFDD3456269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2575468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861774"/>
          </a:xfrm>
          <a:prstGeom prst="rect">
            <a:avLst/>
          </a:prstGeom>
          <a:noFill/>
        </p:spPr>
        <p:txBody>
          <a:bodyPr wrap="square" rtlCol="0">
            <a:spAutoFit/>
          </a:bodyPr>
          <a:lstStyle/>
          <a:p>
            <a:pPr algn="just"/>
            <a:r>
              <a:rPr lang="en-US" sz="2500" dirty="0">
                <a:latin typeface="Nunito Sans" panose="00000500000000000000" pitchFamily="2" charset="0"/>
              </a:rPr>
              <a:t>What is the sum of two consecutive even numbers, the difference of whose squares is 84?</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38</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10</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42</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46</a:t>
            </a:r>
          </a:p>
        </p:txBody>
      </p:sp>
      <p:pic>
        <p:nvPicPr>
          <p:cNvPr id="2" name="Picture 1">
            <a:extLst>
              <a:ext uri="{FF2B5EF4-FFF2-40B4-BE49-F238E27FC236}">
                <a16:creationId xmlns:a16="http://schemas.microsoft.com/office/drawing/2014/main" id="{0A2EB205-1C44-DBB0-BFFC-45BC3004C47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3393225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number consists of two digits. If the digits interchange places and the new number is added to the original number, then the resulting number will be divisible by ___________.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5</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11</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11</a:t>
            </a:r>
          </a:p>
        </p:txBody>
      </p:sp>
      <p:pic>
        <p:nvPicPr>
          <p:cNvPr id="2" name="Picture 1">
            <a:extLst>
              <a:ext uri="{FF2B5EF4-FFF2-40B4-BE49-F238E27FC236}">
                <a16:creationId xmlns:a16="http://schemas.microsoft.com/office/drawing/2014/main" id="{DB9A54BA-2277-1879-6781-56679B851CB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11208289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A number consists of 3 digits whose sum is 10. The middle digit is equal to the sum of the other two and the number will be increased by 99 if its digits are reversed. The number is ______________.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145</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253</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12</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370</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352</a:t>
            </a:r>
          </a:p>
        </p:txBody>
      </p:sp>
      <p:pic>
        <p:nvPicPr>
          <p:cNvPr id="2" name="Picture 1">
            <a:extLst>
              <a:ext uri="{FF2B5EF4-FFF2-40B4-BE49-F238E27FC236}">
                <a16:creationId xmlns:a16="http://schemas.microsoft.com/office/drawing/2014/main" id="{B3CD6067-6295-E1FD-C7CC-D4AE975F5A8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2201867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In a two-digit, if it is known that its unit's digit exceeds its ten's digit by 2 and that the product of the given number and the sum of its digits is equal to 144, then the number is ___________.</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26</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13</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42</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46</a:t>
            </a:r>
          </a:p>
        </p:txBody>
      </p:sp>
      <p:pic>
        <p:nvPicPr>
          <p:cNvPr id="2" name="Picture 1">
            <a:extLst>
              <a:ext uri="{FF2B5EF4-FFF2-40B4-BE49-F238E27FC236}">
                <a16:creationId xmlns:a16="http://schemas.microsoft.com/office/drawing/2014/main" id="{C6798C3C-327C-9D13-E232-7D06CA707A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2245059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246495"/>
          </a:xfrm>
          <a:prstGeom prst="rect">
            <a:avLst/>
          </a:prstGeom>
          <a:noFill/>
        </p:spPr>
        <p:txBody>
          <a:bodyPr wrap="square" rtlCol="0">
            <a:spAutoFit/>
          </a:bodyPr>
          <a:lstStyle/>
          <a:p>
            <a:pPr algn="just"/>
            <a:r>
              <a:rPr lang="en-US" sz="2500" dirty="0">
                <a:latin typeface="Nunito Sans" panose="00000500000000000000" pitchFamily="2" charset="0"/>
              </a:rPr>
              <a:t>The difference between a two-digit number and the number obtained by interchanging the positions of its digits is 36. What is the difference between the two digits of that number?</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3</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14</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9</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Cannot be determined</a:t>
            </a:r>
          </a:p>
        </p:txBody>
      </p:sp>
      <p:pic>
        <p:nvPicPr>
          <p:cNvPr id="2" name="Picture 1">
            <a:extLst>
              <a:ext uri="{FF2B5EF4-FFF2-40B4-BE49-F238E27FC236}">
                <a16:creationId xmlns:a16="http://schemas.microsoft.com/office/drawing/2014/main" id="{8F8CA810-1DE9-B273-4922-832AA8885F9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3353361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05EFE211-1D0D-4979-87E6-8967C2913C04}"/>
              </a:ext>
            </a:extLst>
          </p:cNvPr>
          <p:cNvSpPr txBox="1"/>
          <p:nvPr/>
        </p:nvSpPr>
        <p:spPr>
          <a:xfrm>
            <a:off x="642479" y="1156906"/>
            <a:ext cx="10907041" cy="1631216"/>
          </a:xfrm>
          <a:prstGeom prst="rect">
            <a:avLst/>
          </a:prstGeom>
          <a:noFill/>
        </p:spPr>
        <p:txBody>
          <a:bodyPr wrap="square" rtlCol="0">
            <a:spAutoFit/>
          </a:bodyPr>
          <a:lstStyle/>
          <a:p>
            <a:pPr algn="just"/>
            <a:r>
              <a:rPr lang="en-US" sz="2500" dirty="0">
                <a:latin typeface="Nunito Sans" panose="00000500000000000000" pitchFamily="2" charset="0"/>
              </a:rPr>
              <a:t>The difference between a two-digit number and the number obtained by interchanging the digits is 36. What is the difference between the sum and the difference of the digits of the number if the ratio between the digits of the number is 1 : 2 ?</a:t>
            </a:r>
          </a:p>
        </p:txBody>
      </p:sp>
      <p:sp>
        <p:nvSpPr>
          <p:cNvPr id="4" name="Rectangle 3">
            <a:extLst>
              <a:ext uri="{FF2B5EF4-FFF2-40B4-BE49-F238E27FC236}">
                <a16:creationId xmlns:a16="http://schemas.microsoft.com/office/drawing/2014/main" id="{E5DD2504-B1FF-4F55-B4FA-4AEA19FF2DD8}"/>
              </a:ext>
            </a:extLst>
          </p:cNvPr>
          <p:cNvSpPr/>
          <p:nvPr/>
        </p:nvSpPr>
        <p:spPr>
          <a:xfrm>
            <a:off x="657998" y="342900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A)</a:t>
            </a:r>
          </a:p>
        </p:txBody>
      </p:sp>
      <p:sp>
        <p:nvSpPr>
          <p:cNvPr id="16" name="Rectangle 15">
            <a:extLst>
              <a:ext uri="{FF2B5EF4-FFF2-40B4-BE49-F238E27FC236}">
                <a16:creationId xmlns:a16="http://schemas.microsoft.com/office/drawing/2014/main" id="{72143B70-2774-4C1B-BA6C-0E2C89AD6E8B}"/>
              </a:ext>
            </a:extLst>
          </p:cNvPr>
          <p:cNvSpPr/>
          <p:nvPr/>
        </p:nvSpPr>
        <p:spPr>
          <a:xfrm>
            <a:off x="647791" y="4003760"/>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B)</a:t>
            </a:r>
          </a:p>
        </p:txBody>
      </p:sp>
      <p:sp>
        <p:nvSpPr>
          <p:cNvPr id="23" name="Rectangle 22">
            <a:extLst>
              <a:ext uri="{FF2B5EF4-FFF2-40B4-BE49-F238E27FC236}">
                <a16:creationId xmlns:a16="http://schemas.microsoft.com/office/drawing/2014/main" id="{116C2E0D-93FB-4ADC-BC2B-83DFED946B7A}"/>
              </a:ext>
            </a:extLst>
          </p:cNvPr>
          <p:cNvSpPr/>
          <p:nvPr/>
        </p:nvSpPr>
        <p:spPr>
          <a:xfrm>
            <a:off x="1456098" y="342900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4</a:t>
            </a:r>
          </a:p>
        </p:txBody>
      </p:sp>
      <p:sp>
        <p:nvSpPr>
          <p:cNvPr id="24" name="Rectangle 23">
            <a:extLst>
              <a:ext uri="{FF2B5EF4-FFF2-40B4-BE49-F238E27FC236}">
                <a16:creationId xmlns:a16="http://schemas.microsoft.com/office/drawing/2014/main" id="{F62FDC11-1E2D-428B-8217-CF9104F9B6D7}"/>
              </a:ext>
            </a:extLst>
          </p:cNvPr>
          <p:cNvSpPr/>
          <p:nvPr/>
        </p:nvSpPr>
        <p:spPr>
          <a:xfrm>
            <a:off x="1445891" y="4003760"/>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8</a:t>
            </a:r>
          </a:p>
        </p:txBody>
      </p:sp>
      <p:sp>
        <p:nvSpPr>
          <p:cNvPr id="19" name="Rectangle 18">
            <a:extLst>
              <a:ext uri="{FF2B5EF4-FFF2-40B4-BE49-F238E27FC236}">
                <a16:creationId xmlns:a16="http://schemas.microsoft.com/office/drawing/2014/main" id="{BC5E04D4-0543-4484-B3B6-0DDB2FCDCEA4}"/>
              </a:ext>
            </a:extLst>
          </p:cNvPr>
          <p:cNvSpPr/>
          <p:nvPr/>
        </p:nvSpPr>
        <p:spPr>
          <a:xfrm>
            <a:off x="0" y="0"/>
            <a:ext cx="12192000" cy="883618"/>
          </a:xfrm>
          <a:prstGeom prst="rect">
            <a:avLst/>
          </a:prstGeom>
          <a:solidFill>
            <a:srgbClr val="F051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8D2B7F5C-7E52-4144-8109-FAA3BD7AA776}"/>
              </a:ext>
            </a:extLst>
          </p:cNvPr>
          <p:cNvSpPr txBox="1"/>
          <p:nvPr/>
        </p:nvSpPr>
        <p:spPr>
          <a:xfrm>
            <a:off x="3890150" y="228600"/>
            <a:ext cx="7772400" cy="830997"/>
          </a:xfrm>
          <a:prstGeom prst="rect">
            <a:avLst/>
          </a:prstGeom>
          <a:noFill/>
        </p:spPr>
        <p:txBody>
          <a:bodyPr wrap="square" rtlCol="0">
            <a:spAutoFit/>
          </a:bodyPr>
          <a:lstStyle/>
          <a:p>
            <a:pPr algn="r"/>
            <a:r>
              <a:rPr lang="en-US" sz="4800" b="1" dirty="0">
                <a:solidFill>
                  <a:schemeClr val="bg1"/>
                </a:solidFill>
                <a:latin typeface="Nunito Sans" panose="00000500000000000000" pitchFamily="2" charset="0"/>
              </a:rPr>
              <a:t>Question 15</a:t>
            </a:r>
          </a:p>
        </p:txBody>
      </p:sp>
      <p:sp>
        <p:nvSpPr>
          <p:cNvPr id="10" name="Rectangle 9">
            <a:extLst>
              <a:ext uri="{FF2B5EF4-FFF2-40B4-BE49-F238E27FC236}">
                <a16:creationId xmlns:a16="http://schemas.microsoft.com/office/drawing/2014/main" id="{E5DD2504-B1FF-4F55-B4FA-4AEA19FF2DD8}"/>
              </a:ext>
            </a:extLst>
          </p:cNvPr>
          <p:cNvSpPr/>
          <p:nvPr/>
        </p:nvSpPr>
        <p:spPr>
          <a:xfrm>
            <a:off x="657998" y="458108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C)</a:t>
            </a:r>
          </a:p>
        </p:txBody>
      </p:sp>
      <p:sp>
        <p:nvSpPr>
          <p:cNvPr id="11" name="Rectangle 10">
            <a:extLst>
              <a:ext uri="{FF2B5EF4-FFF2-40B4-BE49-F238E27FC236}">
                <a16:creationId xmlns:a16="http://schemas.microsoft.com/office/drawing/2014/main" id="{72143B70-2774-4C1B-BA6C-0E2C89AD6E8B}"/>
              </a:ext>
            </a:extLst>
          </p:cNvPr>
          <p:cNvSpPr/>
          <p:nvPr/>
        </p:nvSpPr>
        <p:spPr>
          <a:xfrm>
            <a:off x="647791" y="5155844"/>
            <a:ext cx="696697" cy="621324"/>
          </a:xfrm>
          <a:prstGeom prst="rect">
            <a:avLst/>
          </a:prstGeom>
          <a:noFill/>
        </p:spPr>
        <p:txBody>
          <a:bodyPr wrap="square" lIns="91440" tIns="45720" rIns="91440" bIns="45720">
            <a:spAutoFit/>
          </a:bodyPr>
          <a:lstStyle/>
          <a:p>
            <a:pPr>
              <a:lnSpc>
                <a:spcPct val="150000"/>
              </a:lnSpc>
            </a:pPr>
            <a:r>
              <a:rPr lang="en-US" sz="2500" b="1" dirty="0">
                <a:latin typeface="Nunito Sans" panose="00000500000000000000" pitchFamily="2" charset="0"/>
              </a:rPr>
              <a:t>D)</a:t>
            </a:r>
          </a:p>
        </p:txBody>
      </p:sp>
      <p:sp>
        <p:nvSpPr>
          <p:cNvPr id="12" name="Rectangle 11">
            <a:extLst>
              <a:ext uri="{FF2B5EF4-FFF2-40B4-BE49-F238E27FC236}">
                <a16:creationId xmlns:a16="http://schemas.microsoft.com/office/drawing/2014/main" id="{116C2E0D-93FB-4ADC-BC2B-83DFED946B7A}"/>
              </a:ext>
            </a:extLst>
          </p:cNvPr>
          <p:cNvSpPr/>
          <p:nvPr/>
        </p:nvSpPr>
        <p:spPr>
          <a:xfrm>
            <a:off x="1456098" y="458108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16</a:t>
            </a:r>
          </a:p>
        </p:txBody>
      </p:sp>
      <p:sp>
        <p:nvSpPr>
          <p:cNvPr id="13" name="Rectangle 12">
            <a:extLst>
              <a:ext uri="{FF2B5EF4-FFF2-40B4-BE49-F238E27FC236}">
                <a16:creationId xmlns:a16="http://schemas.microsoft.com/office/drawing/2014/main" id="{F62FDC11-1E2D-428B-8217-CF9104F9B6D7}"/>
              </a:ext>
            </a:extLst>
          </p:cNvPr>
          <p:cNvSpPr/>
          <p:nvPr/>
        </p:nvSpPr>
        <p:spPr>
          <a:xfrm>
            <a:off x="1445891" y="5155844"/>
            <a:ext cx="10098317" cy="621324"/>
          </a:xfrm>
          <a:prstGeom prst="rect">
            <a:avLst/>
          </a:prstGeom>
          <a:noFill/>
        </p:spPr>
        <p:txBody>
          <a:bodyPr wrap="square" lIns="91440" tIns="45720" rIns="91440" bIns="45720">
            <a:spAutoFit/>
          </a:bodyPr>
          <a:lstStyle/>
          <a:p>
            <a:pPr>
              <a:lnSpc>
                <a:spcPct val="150000"/>
              </a:lnSpc>
            </a:pPr>
            <a:r>
              <a:rPr lang="en-US" sz="2500" dirty="0">
                <a:latin typeface="Nunito Sans" panose="00000500000000000000" pitchFamily="2" charset="0"/>
              </a:rPr>
              <a:t>None of these</a:t>
            </a:r>
          </a:p>
        </p:txBody>
      </p:sp>
      <p:pic>
        <p:nvPicPr>
          <p:cNvPr id="2" name="Picture 1">
            <a:extLst>
              <a:ext uri="{FF2B5EF4-FFF2-40B4-BE49-F238E27FC236}">
                <a16:creationId xmlns:a16="http://schemas.microsoft.com/office/drawing/2014/main" id="{A4C28F5D-5FF8-D295-12E4-CE3B180FD02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3756625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D71EE1CC-5860-4236-A6FD-56296450190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a:xfrm rot="355158">
            <a:off x="-214550" y="3101269"/>
            <a:ext cx="4219796" cy="3942674"/>
          </a:xfrm>
          <a:custGeom>
            <a:avLst/>
            <a:gdLst>
              <a:gd name="connsiteX0" fmla="*/ 0 w 4219796"/>
              <a:gd name="connsiteY0" fmla="*/ 0 h 3942674"/>
              <a:gd name="connsiteX1" fmla="*/ 4219796 w 4219796"/>
              <a:gd name="connsiteY1" fmla="*/ 0 h 3942674"/>
              <a:gd name="connsiteX2" fmla="*/ 4219796 w 4219796"/>
              <a:gd name="connsiteY2" fmla="*/ 3547546 h 3942674"/>
              <a:gd name="connsiteX3" fmla="*/ 408778 w 4219796"/>
              <a:gd name="connsiteY3" fmla="*/ 3942674 h 3942674"/>
            </a:gdLst>
            <a:ahLst/>
            <a:cxnLst>
              <a:cxn ang="0">
                <a:pos x="connsiteX0" y="connsiteY0"/>
              </a:cxn>
              <a:cxn ang="0">
                <a:pos x="connsiteX1" y="connsiteY1"/>
              </a:cxn>
              <a:cxn ang="0">
                <a:pos x="connsiteX2" y="connsiteY2"/>
              </a:cxn>
              <a:cxn ang="0">
                <a:pos x="connsiteX3" y="connsiteY3"/>
              </a:cxn>
            </a:cxnLst>
            <a:rect l="l" t="t" r="r" b="b"/>
            <a:pathLst>
              <a:path w="4219796" h="3942674">
                <a:moveTo>
                  <a:pt x="0" y="0"/>
                </a:moveTo>
                <a:lnTo>
                  <a:pt x="4219796" y="0"/>
                </a:lnTo>
                <a:lnTo>
                  <a:pt x="4219796" y="3547546"/>
                </a:lnTo>
                <a:lnTo>
                  <a:pt x="408778" y="3942674"/>
                </a:lnTo>
                <a:close/>
              </a:path>
            </a:pathLst>
          </a:custGeom>
        </p:spPr>
      </p:pic>
      <p:sp>
        <p:nvSpPr>
          <p:cNvPr id="6" name="Rectangle 5">
            <a:extLst>
              <a:ext uri="{FF2B5EF4-FFF2-40B4-BE49-F238E27FC236}">
                <a16:creationId xmlns:a16="http://schemas.microsoft.com/office/drawing/2014/main" id="{BA29A662-E105-4DCD-B841-5AE7DE607E52}"/>
              </a:ext>
            </a:extLst>
          </p:cNvPr>
          <p:cNvSpPr/>
          <p:nvPr/>
        </p:nvSpPr>
        <p:spPr>
          <a:xfrm>
            <a:off x="0" y="2438400"/>
            <a:ext cx="12192000" cy="1323439"/>
          </a:xfrm>
          <a:prstGeom prst="rect">
            <a:avLst/>
          </a:prstGeom>
        </p:spPr>
        <p:txBody>
          <a:bodyPr wrap="square">
            <a:spAutoFit/>
          </a:bodyPr>
          <a:lstStyle/>
          <a:p>
            <a:pPr algn="ctr"/>
            <a:r>
              <a:rPr lang="en-US" sz="8000" b="1" dirty="0">
                <a:solidFill>
                  <a:srgbClr val="F05136"/>
                </a:solidFill>
                <a:latin typeface="Nunito Sans" panose="00000500000000000000" pitchFamily="2" charset="0"/>
              </a:rPr>
              <a:t>THANK YOU</a:t>
            </a:r>
            <a:endParaRPr lang="en-US" sz="8000" b="1" dirty="0">
              <a:solidFill>
                <a:srgbClr val="F05136"/>
              </a:solidFill>
            </a:endParaRPr>
          </a:p>
        </p:txBody>
      </p:sp>
      <p:pic>
        <p:nvPicPr>
          <p:cNvPr id="2" name="Picture 1">
            <a:extLst>
              <a:ext uri="{FF2B5EF4-FFF2-40B4-BE49-F238E27FC236}">
                <a16:creationId xmlns:a16="http://schemas.microsoft.com/office/drawing/2014/main" id="{FC0F656A-A403-44D0-4347-CAB45A40A8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01200" y="6366837"/>
            <a:ext cx="2356664" cy="298800"/>
          </a:xfrm>
          <a:prstGeom prst="rect">
            <a:avLst/>
          </a:prstGeom>
        </p:spPr>
      </p:pic>
    </p:spTree>
    <p:extLst>
      <p:ext uri="{BB962C8B-B14F-4D97-AF65-F5344CB8AC3E}">
        <p14:creationId xmlns:p14="http://schemas.microsoft.com/office/powerpoint/2010/main" val="31241366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1670</Words>
  <Application>Microsoft Office PowerPoint</Application>
  <PresentationFormat>Widescreen</PresentationFormat>
  <Paragraphs>270</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Arial</vt:lpstr>
      <vt:lpstr>Nunito Sans</vt:lpstr>
      <vt:lpstr>Nunito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2019-07-10T08:30:58Z</dcterms:created>
  <dcterms:modified xsi:type="dcterms:W3CDTF">2024-05-17T09:18:33Z</dcterms:modified>
</cp:coreProperties>
</file>