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36"/>
  </p:notesMasterIdLst>
  <p:sldIdLst>
    <p:sldId id="272" r:id="rId2"/>
    <p:sldId id="271" r:id="rId3"/>
    <p:sldId id="258" r:id="rId4"/>
    <p:sldId id="282" r:id="rId5"/>
    <p:sldId id="290" r:id="rId6"/>
    <p:sldId id="291" r:id="rId7"/>
    <p:sldId id="292" r:id="rId8"/>
    <p:sldId id="293" r:id="rId9"/>
    <p:sldId id="294" r:id="rId10"/>
    <p:sldId id="295" r:id="rId11"/>
    <p:sldId id="296" r:id="rId12"/>
    <p:sldId id="297" r:id="rId13"/>
    <p:sldId id="298" r:id="rId14"/>
    <p:sldId id="299" r:id="rId15"/>
    <p:sldId id="300" r:id="rId16"/>
    <p:sldId id="301" r:id="rId17"/>
    <p:sldId id="302" r:id="rId18"/>
    <p:sldId id="303" r:id="rId19"/>
    <p:sldId id="304" r:id="rId20"/>
    <p:sldId id="305" r:id="rId21"/>
    <p:sldId id="306" r:id="rId22"/>
    <p:sldId id="307" r:id="rId23"/>
    <p:sldId id="308" r:id="rId24"/>
    <p:sldId id="309" r:id="rId25"/>
    <p:sldId id="310" r:id="rId26"/>
    <p:sldId id="311" r:id="rId27"/>
    <p:sldId id="312" r:id="rId28"/>
    <p:sldId id="313" r:id="rId29"/>
    <p:sldId id="314" r:id="rId30"/>
    <p:sldId id="315" r:id="rId31"/>
    <p:sldId id="316" r:id="rId32"/>
    <p:sldId id="317" r:id="rId33"/>
    <p:sldId id="318" r:id="rId34"/>
    <p:sldId id="289" r:id="rId35"/>
  </p:sldIdLst>
  <p:sldSz cx="12192000" cy="6858000"/>
  <p:notesSz cx="6858000" cy="9144000"/>
  <p:embeddedFontLst>
    <p:embeddedFont>
      <p:font typeface="Nunito Sans" pitchFamily="2" charset="0"/>
      <p:regular r:id="rId37"/>
      <p:bold r:id="rId38"/>
      <p:italic r:id="rId39"/>
      <p:boldItalic r:id="rId40"/>
    </p:embeddedFont>
    <p:embeddedFont>
      <p:font typeface="Nunito Sans SemiBold" pitchFamily="2" charset="0"/>
      <p:bold r:id="rId41"/>
      <p:boldItalic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5136"/>
    <a:srgbClr val="303030"/>
    <a:srgbClr val="4A4A4A"/>
    <a:srgbClr val="3D3D3D"/>
    <a:srgbClr val="212121"/>
    <a:srgbClr val="000000"/>
    <a:srgbClr val="131313"/>
    <a:srgbClr val="F69180"/>
    <a:srgbClr val="FBD0C9"/>
    <a:srgbClr val="E9E9E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294" autoAdjust="0"/>
    <p:restoredTop sz="84899" autoAdjust="0"/>
  </p:normalViewPr>
  <p:slideViewPr>
    <p:cSldViewPr>
      <p:cViewPr varScale="1">
        <p:scale>
          <a:sx n="70" d="100"/>
          <a:sy n="70" d="100"/>
        </p:scale>
        <p:origin x="926" y="48"/>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6.fntdata"/><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5.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HUVANA PERI" userId="405b126c80b4ce21" providerId="LiveId" clId="{0F04FFBB-BF37-42A6-94E8-4A8E6C8A669F}"/>
    <pc:docChg chg="mod">
      <pc:chgData name="BHUVANA PERI" userId="405b126c80b4ce21" providerId="LiveId" clId="{0F04FFBB-BF37-42A6-94E8-4A8E6C8A669F}" dt="2025-09-09T10:35:25.294" v="0"/>
      <pc:docMkLst>
        <pc:docMk/>
      </pc:docMkLst>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99A3E1-D0AF-40CA-9CA4-BE00645EFE64}" type="datetimeFigureOut">
              <a:rPr lang="en-US" smtClean="0"/>
              <a:t>9/9/2025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AB6876-1BF1-4B88-890A-0B4E46201506}" type="slidenum">
              <a:rPr lang="en-US" smtClean="0"/>
              <a:t>‹#›</a:t>
            </a:fld>
            <a:endParaRPr lang="en-US"/>
          </a:p>
        </p:txBody>
      </p:sp>
    </p:spTree>
    <p:extLst>
      <p:ext uri="{BB962C8B-B14F-4D97-AF65-F5344CB8AC3E}">
        <p14:creationId xmlns:p14="http://schemas.microsoft.com/office/powerpoint/2010/main" val="22064915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0AAB6876-1BF1-4B88-890A-0B4E46201506}" type="slidenum">
              <a:rPr lang="en-US" smtClean="0"/>
              <a:t>1</a:t>
            </a:fld>
            <a:endParaRPr lang="en-US"/>
          </a:p>
        </p:txBody>
      </p:sp>
    </p:spTree>
    <p:extLst>
      <p:ext uri="{BB962C8B-B14F-4D97-AF65-F5344CB8AC3E}">
        <p14:creationId xmlns:p14="http://schemas.microsoft.com/office/powerpoint/2010/main" val="6308949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latin typeface="Nunito Sans" panose="00000500000000000000" pitchFamily="2" charset="0"/>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2</a:t>
            </a:fld>
            <a:endParaRPr lang="en-US"/>
          </a:p>
        </p:txBody>
      </p:sp>
    </p:spTree>
    <p:extLst>
      <p:ext uri="{BB962C8B-B14F-4D97-AF65-F5344CB8AC3E}">
        <p14:creationId xmlns:p14="http://schemas.microsoft.com/office/powerpoint/2010/main" val="32774486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5"/>
          </p:nvPr>
        </p:nvSpPr>
        <p:spPr/>
        <p:txBody>
          <a:bodyPr/>
          <a:lstStyle/>
          <a:p>
            <a:fld id="{0AAB6876-1BF1-4B88-890A-0B4E46201506}" type="slidenum">
              <a:rPr lang="en-US" smtClean="0"/>
              <a:t>3</a:t>
            </a:fld>
            <a:endParaRPr lang="en-US"/>
          </a:p>
        </p:txBody>
      </p:sp>
    </p:spTree>
    <p:extLst>
      <p:ext uri="{BB962C8B-B14F-4D97-AF65-F5344CB8AC3E}">
        <p14:creationId xmlns:p14="http://schemas.microsoft.com/office/powerpoint/2010/main" val="3368284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Answer : A</a:t>
            </a:r>
          </a:p>
          <a:p>
            <a:r>
              <a:rPr lang="en-US" b="1" dirty="0"/>
              <a:t>Explanation : </a:t>
            </a:r>
          </a:p>
          <a:p>
            <a:r>
              <a:rPr lang="en-US" b="0" dirty="0"/>
              <a:t>Multiples of 48 =&gt; 48,96,144,192</a:t>
            </a:r>
          </a:p>
          <a:p>
            <a:r>
              <a:rPr lang="en-US" b="0" dirty="0"/>
              <a:t>Multiples of 32 =&gt; 32,64,96,128</a:t>
            </a:r>
          </a:p>
          <a:p>
            <a:r>
              <a:rPr lang="en-US" b="0" dirty="0"/>
              <a:t>Least common multiple is 96. </a:t>
            </a:r>
          </a:p>
          <a:p>
            <a:endParaRPr lang="en-US" b="0" dirty="0"/>
          </a:p>
          <a:p>
            <a:r>
              <a:rPr lang="en-US" b="0" dirty="0"/>
              <a:t>Alternate :</a:t>
            </a:r>
          </a:p>
          <a:p>
            <a:r>
              <a:rPr lang="en-US" b="0" dirty="0"/>
              <a:t>Express 48, 32 as ratio.</a:t>
            </a:r>
          </a:p>
          <a:p>
            <a:r>
              <a:rPr lang="en-US" b="0" dirty="0"/>
              <a:t>48 : 96</a:t>
            </a:r>
          </a:p>
          <a:p>
            <a:r>
              <a:rPr lang="en-US" b="0" dirty="0"/>
              <a:t>3 : 2</a:t>
            </a:r>
          </a:p>
          <a:p>
            <a:r>
              <a:rPr lang="en-US" b="0" dirty="0"/>
              <a:t>48  x 2 = 96</a:t>
            </a:r>
          </a:p>
          <a:p>
            <a:r>
              <a:rPr lang="en-US" b="0" dirty="0"/>
              <a:t>32 x 3= 96 (cross multiplying the ratios)</a:t>
            </a:r>
          </a:p>
          <a:p>
            <a:r>
              <a:rPr lang="en-US" b="0" dirty="0"/>
              <a:t>Hence, the LCM is 96.</a:t>
            </a:r>
          </a:p>
        </p:txBody>
      </p:sp>
      <p:sp>
        <p:nvSpPr>
          <p:cNvPr id="4" name="Slide Number Placeholder 3"/>
          <p:cNvSpPr>
            <a:spLocks noGrp="1"/>
          </p:cNvSpPr>
          <p:nvPr>
            <p:ph type="sldNum" sz="quarter" idx="5"/>
          </p:nvPr>
        </p:nvSpPr>
        <p:spPr/>
        <p:txBody>
          <a:bodyPr/>
          <a:lstStyle/>
          <a:p>
            <a:fld id="{0AAB6876-1BF1-4B88-890A-0B4E46201506}" type="slidenum">
              <a:rPr lang="en-US" smtClean="0"/>
              <a:t>4</a:t>
            </a:fld>
            <a:endParaRPr lang="en-US"/>
          </a:p>
        </p:txBody>
      </p:sp>
    </p:spTree>
    <p:extLst>
      <p:ext uri="{BB962C8B-B14F-4D97-AF65-F5344CB8AC3E}">
        <p14:creationId xmlns:p14="http://schemas.microsoft.com/office/powerpoint/2010/main" val="38671593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effectLst/>
              </a:rPr>
              <a:t>Answer : A</a:t>
            </a:r>
          </a:p>
          <a:p>
            <a:r>
              <a:rPr lang="en-US" b="1" dirty="0">
                <a:effectLst/>
              </a:rPr>
              <a:t>Explanation : </a:t>
            </a:r>
          </a:p>
          <a:p>
            <a:r>
              <a:rPr lang="en-US" b="0" dirty="0">
                <a:effectLst/>
              </a:rPr>
              <a:t> </a:t>
            </a:r>
          </a:p>
          <a:p>
            <a:r>
              <a:rPr lang="en-US" b="0" dirty="0">
                <a:effectLst/>
              </a:rPr>
              <a:t>The first bell chimes at 10th, 20th, 30th, 40th minute and so on.</a:t>
            </a:r>
          </a:p>
          <a:p>
            <a:r>
              <a:rPr lang="en-US" b="0" dirty="0">
                <a:effectLst/>
              </a:rPr>
              <a:t>The second bell chimes at 15th, 30th, 45th minute and so on.</a:t>
            </a:r>
          </a:p>
          <a:p>
            <a:r>
              <a:rPr lang="en-US" b="0" dirty="0">
                <a:effectLst/>
              </a:rPr>
              <a:t>From the above observation, both of them chime together at 30th minute.</a:t>
            </a:r>
          </a:p>
          <a:p>
            <a:r>
              <a:rPr lang="en-US" b="0" dirty="0">
                <a:effectLst/>
              </a:rPr>
              <a:t>(OR)</a:t>
            </a:r>
          </a:p>
          <a:p>
            <a:r>
              <a:rPr lang="en-US" b="0" dirty="0">
                <a:effectLst/>
              </a:rPr>
              <a:t>This question is an application of LCM .</a:t>
            </a:r>
          </a:p>
          <a:p>
            <a:r>
              <a:rPr lang="en-US" b="0" dirty="0">
                <a:effectLst/>
              </a:rPr>
              <a:t>LCM of 10 and 15 is 30. </a:t>
            </a:r>
          </a:p>
          <a:p>
            <a:r>
              <a:rPr lang="en-US" b="0" dirty="0">
                <a:effectLst/>
              </a:rPr>
              <a:t>So, both the bells will chime together at 30th minute.</a:t>
            </a:r>
          </a:p>
        </p:txBody>
      </p:sp>
      <p:sp>
        <p:nvSpPr>
          <p:cNvPr id="4" name="Slide Number Placeholder 3"/>
          <p:cNvSpPr>
            <a:spLocks noGrp="1"/>
          </p:cNvSpPr>
          <p:nvPr>
            <p:ph type="sldNum" sz="quarter" idx="5"/>
          </p:nvPr>
        </p:nvSpPr>
        <p:spPr/>
        <p:txBody>
          <a:bodyPr/>
          <a:lstStyle/>
          <a:p>
            <a:fld id="{0AAB6876-1BF1-4B88-890A-0B4E46201506}" type="slidenum">
              <a:rPr lang="en-US" smtClean="0"/>
              <a:t>5</a:t>
            </a:fld>
            <a:endParaRPr lang="en-US"/>
          </a:p>
        </p:txBody>
      </p:sp>
    </p:spTree>
    <p:extLst>
      <p:ext uri="{BB962C8B-B14F-4D97-AF65-F5344CB8AC3E}">
        <p14:creationId xmlns:p14="http://schemas.microsoft.com/office/powerpoint/2010/main" val="2014499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Answer : D</a:t>
            </a:r>
          </a:p>
          <a:p>
            <a:r>
              <a:rPr lang="en-US" b="1" dirty="0"/>
              <a:t>Explanation : </a:t>
            </a:r>
          </a:p>
          <a:p>
            <a:r>
              <a:rPr lang="en-US" b="0" dirty="0"/>
              <a:t> The question is application of HCF.</a:t>
            </a:r>
          </a:p>
          <a:p>
            <a:r>
              <a:rPr lang="en-US" b="0" dirty="0"/>
              <a:t>The factors of 12 - 1,2,3,4,6,12</a:t>
            </a:r>
          </a:p>
          <a:p>
            <a:r>
              <a:rPr lang="en-US" b="0" dirty="0"/>
              <a:t>The factors of 36 - 1,2,3,4,6,9,12,18,36</a:t>
            </a:r>
          </a:p>
          <a:p>
            <a:r>
              <a:rPr lang="en-US" b="0" dirty="0"/>
              <a:t>The factors of 54 - 1,2,3,6,9,18,54</a:t>
            </a:r>
          </a:p>
          <a:p>
            <a:endParaRPr lang="en-US" b="0" dirty="0"/>
          </a:p>
          <a:p>
            <a:r>
              <a:rPr lang="en-US" b="0" dirty="0"/>
              <a:t>The common factors are 1,2,3,6</a:t>
            </a:r>
          </a:p>
          <a:p>
            <a:r>
              <a:rPr lang="en-US" b="0" dirty="0"/>
              <a:t>The highest value (HCF) is 6.</a:t>
            </a:r>
          </a:p>
          <a:p>
            <a:r>
              <a:rPr lang="en-US" b="0" dirty="0"/>
              <a:t>Hence, 6 is the greatest number that will divide 12, 36 and 54 exactly. </a:t>
            </a:r>
          </a:p>
        </p:txBody>
      </p:sp>
      <p:sp>
        <p:nvSpPr>
          <p:cNvPr id="4" name="Slide Number Placeholder 3"/>
          <p:cNvSpPr>
            <a:spLocks noGrp="1"/>
          </p:cNvSpPr>
          <p:nvPr>
            <p:ph type="sldNum" sz="quarter" idx="5"/>
          </p:nvPr>
        </p:nvSpPr>
        <p:spPr/>
        <p:txBody>
          <a:bodyPr/>
          <a:lstStyle/>
          <a:p>
            <a:fld id="{0AAB6876-1BF1-4B88-890A-0B4E46201506}" type="slidenum">
              <a:rPr lang="en-US" smtClean="0"/>
              <a:t>6</a:t>
            </a:fld>
            <a:endParaRPr lang="en-US"/>
          </a:p>
        </p:txBody>
      </p:sp>
    </p:spTree>
    <p:extLst>
      <p:ext uri="{BB962C8B-B14F-4D97-AF65-F5344CB8AC3E}">
        <p14:creationId xmlns:p14="http://schemas.microsoft.com/office/powerpoint/2010/main" val="24234017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Answer : D</a:t>
            </a:r>
          </a:p>
          <a:p>
            <a:r>
              <a:rPr lang="en-US" b="1" dirty="0"/>
              <a:t>Explanation : </a:t>
            </a:r>
          </a:p>
          <a:p>
            <a:r>
              <a:rPr lang="en-US" b="0" dirty="0"/>
              <a:t> The question is application of  LCM, since the questions states that the result gets divisible by the given numbers.</a:t>
            </a:r>
          </a:p>
          <a:p>
            <a:r>
              <a:rPr lang="en-US" b="0" dirty="0"/>
              <a:t>The multiples of 6 - 6, 12, 18, 24, 30,...</a:t>
            </a:r>
          </a:p>
          <a:p>
            <a:r>
              <a:rPr lang="en-US" b="0" dirty="0"/>
              <a:t>The multiples of 8 - 8, 16, 24, 32, 40,...</a:t>
            </a:r>
          </a:p>
          <a:p>
            <a:r>
              <a:rPr lang="en-US" b="0" dirty="0"/>
              <a:t>The multiples of 12 - 12, 24, 36, 48,...</a:t>
            </a:r>
          </a:p>
          <a:p>
            <a:endParaRPr lang="en-US" b="0" dirty="0"/>
          </a:p>
          <a:p>
            <a:r>
              <a:rPr lang="en-US" b="0" dirty="0"/>
              <a:t>The least number divisible by 6, 8, 12 is 24.</a:t>
            </a:r>
          </a:p>
        </p:txBody>
      </p:sp>
      <p:sp>
        <p:nvSpPr>
          <p:cNvPr id="4" name="Slide Number Placeholder 3"/>
          <p:cNvSpPr>
            <a:spLocks noGrp="1"/>
          </p:cNvSpPr>
          <p:nvPr>
            <p:ph type="sldNum" sz="quarter" idx="5"/>
          </p:nvPr>
        </p:nvSpPr>
        <p:spPr/>
        <p:txBody>
          <a:bodyPr/>
          <a:lstStyle/>
          <a:p>
            <a:fld id="{0AAB6876-1BF1-4B88-890A-0B4E46201506}" type="slidenum">
              <a:rPr lang="en-US" smtClean="0"/>
              <a:t>7</a:t>
            </a:fld>
            <a:endParaRPr lang="en-US"/>
          </a:p>
        </p:txBody>
      </p:sp>
    </p:spTree>
    <p:extLst>
      <p:ext uri="{BB962C8B-B14F-4D97-AF65-F5344CB8AC3E}">
        <p14:creationId xmlns:p14="http://schemas.microsoft.com/office/powerpoint/2010/main" val="7001485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 D</a:t>
            </a:r>
          </a:p>
          <a:p>
            <a:r>
              <a:rPr lang="en-US" sz="1200" b="1" i="0" kern="1200" dirty="0">
                <a:solidFill>
                  <a:schemeClr val="tx1"/>
                </a:solidFill>
                <a:effectLst/>
                <a:latin typeface="+mn-lt"/>
                <a:ea typeface="+mn-ea"/>
                <a:cs typeface="+mn-cs"/>
              </a:rPr>
              <a:t>Explanation : </a:t>
            </a:r>
          </a:p>
          <a:p>
            <a:r>
              <a:rPr lang="en-US" sz="1200" b="0" i="0" kern="1200" dirty="0">
                <a:solidFill>
                  <a:schemeClr val="tx1"/>
                </a:solidFill>
                <a:effectLst/>
                <a:latin typeface="+mn-lt"/>
                <a:ea typeface="+mn-ea"/>
                <a:cs typeface="+mn-cs"/>
              </a:rPr>
              <a:t> The multiples of 30 =&gt;30, 60, 90, 120, 150</a:t>
            </a:r>
          </a:p>
          <a:p>
            <a:r>
              <a:rPr lang="en-US" sz="1200" b="0" i="0" kern="1200" dirty="0">
                <a:solidFill>
                  <a:schemeClr val="tx1"/>
                </a:solidFill>
                <a:effectLst/>
                <a:latin typeface="+mn-lt"/>
                <a:ea typeface="+mn-ea"/>
                <a:cs typeface="+mn-cs"/>
              </a:rPr>
              <a:t>The multiples of 50 =&gt; 50, 100,150</a:t>
            </a:r>
          </a:p>
          <a:p>
            <a:r>
              <a:rPr lang="en-US" sz="1200" b="0" i="0" kern="1200" dirty="0">
                <a:solidFill>
                  <a:schemeClr val="tx1"/>
                </a:solidFill>
                <a:effectLst/>
                <a:latin typeface="+mn-lt"/>
                <a:ea typeface="+mn-ea"/>
                <a:cs typeface="+mn-cs"/>
              </a:rPr>
              <a:t>Hence, the least common multiple is 150</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Alternate:</a:t>
            </a:r>
          </a:p>
          <a:p>
            <a:r>
              <a:rPr lang="en-US" sz="1200" b="0" i="0" kern="1200" dirty="0">
                <a:solidFill>
                  <a:schemeClr val="tx1"/>
                </a:solidFill>
                <a:effectLst/>
                <a:latin typeface="+mn-lt"/>
                <a:ea typeface="+mn-ea"/>
                <a:cs typeface="+mn-cs"/>
              </a:rPr>
              <a:t>Express 30, 50 as ratio</a:t>
            </a:r>
          </a:p>
          <a:p>
            <a:r>
              <a:rPr lang="en-US" sz="1200" b="0" i="0" kern="1200" dirty="0">
                <a:solidFill>
                  <a:schemeClr val="tx1"/>
                </a:solidFill>
                <a:effectLst/>
                <a:latin typeface="+mn-lt"/>
                <a:ea typeface="+mn-ea"/>
                <a:cs typeface="+mn-cs"/>
              </a:rPr>
              <a:t>30: 50</a:t>
            </a:r>
          </a:p>
          <a:p>
            <a:r>
              <a:rPr lang="en-US" sz="1200" b="0" i="0" kern="1200" dirty="0">
                <a:solidFill>
                  <a:schemeClr val="tx1"/>
                </a:solidFill>
                <a:effectLst/>
                <a:latin typeface="+mn-lt"/>
                <a:ea typeface="+mn-ea"/>
                <a:cs typeface="+mn-cs"/>
              </a:rPr>
              <a:t>3 : 5</a:t>
            </a:r>
          </a:p>
          <a:p>
            <a:r>
              <a:rPr lang="en-US" sz="1200" b="0" i="0" kern="1200" dirty="0">
                <a:solidFill>
                  <a:schemeClr val="tx1"/>
                </a:solidFill>
                <a:effectLst/>
                <a:latin typeface="+mn-lt"/>
                <a:ea typeface="+mn-ea"/>
                <a:cs typeface="+mn-cs"/>
              </a:rPr>
              <a:t>30 x 5 = 150</a:t>
            </a:r>
          </a:p>
          <a:p>
            <a:r>
              <a:rPr lang="en-US" sz="1200" b="0" i="0" kern="1200" dirty="0">
                <a:solidFill>
                  <a:schemeClr val="tx1"/>
                </a:solidFill>
                <a:effectLst/>
                <a:latin typeface="+mn-lt"/>
                <a:ea typeface="+mn-ea"/>
                <a:cs typeface="+mn-cs"/>
              </a:rPr>
              <a:t>50 x 3= 150 (cross multiplying the ratios).</a:t>
            </a:r>
          </a:p>
          <a:p>
            <a:r>
              <a:rPr lang="en-US" sz="1200" b="0" i="0" kern="1200" dirty="0">
                <a:solidFill>
                  <a:schemeClr val="tx1"/>
                </a:solidFill>
                <a:effectLst/>
                <a:latin typeface="+mn-lt"/>
                <a:ea typeface="+mn-ea"/>
                <a:cs typeface="+mn-cs"/>
              </a:rPr>
              <a:t>The factors of 30 - 1,2,3,5,6,10,15,30.</a:t>
            </a:r>
          </a:p>
          <a:p>
            <a:r>
              <a:rPr lang="en-US" sz="1200" b="0" i="0" kern="1200" dirty="0">
                <a:solidFill>
                  <a:schemeClr val="tx1"/>
                </a:solidFill>
                <a:effectLst/>
                <a:latin typeface="+mn-lt"/>
                <a:ea typeface="+mn-ea"/>
                <a:cs typeface="+mn-cs"/>
              </a:rPr>
              <a:t>The factors of 50 - 1,2,5,10,25,50.</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common factors are 1,2,5,10 and the highest common factor is 10.</a:t>
            </a:r>
          </a:p>
        </p:txBody>
      </p:sp>
      <p:sp>
        <p:nvSpPr>
          <p:cNvPr id="4" name="Slide Number Placeholder 3"/>
          <p:cNvSpPr>
            <a:spLocks noGrp="1"/>
          </p:cNvSpPr>
          <p:nvPr>
            <p:ph type="sldNum" sz="quarter" idx="5"/>
          </p:nvPr>
        </p:nvSpPr>
        <p:spPr/>
        <p:txBody>
          <a:bodyPr/>
          <a:lstStyle/>
          <a:p>
            <a:fld id="{0AAB6876-1BF1-4B88-890A-0B4E46201506}" type="slidenum">
              <a:rPr lang="en-US" smtClean="0"/>
              <a:t>8</a:t>
            </a:fld>
            <a:endParaRPr lang="en-US"/>
          </a:p>
        </p:txBody>
      </p:sp>
    </p:spTree>
    <p:extLst>
      <p:ext uri="{BB962C8B-B14F-4D97-AF65-F5344CB8AC3E}">
        <p14:creationId xmlns:p14="http://schemas.microsoft.com/office/powerpoint/2010/main" val="33102505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 B</a:t>
            </a:r>
          </a:p>
          <a:p>
            <a:r>
              <a:rPr lang="en-US" sz="1200" b="1" i="0" kern="1200" dirty="0">
                <a:solidFill>
                  <a:schemeClr val="tx1"/>
                </a:solidFill>
                <a:effectLst/>
                <a:latin typeface="+mn-lt"/>
                <a:ea typeface="+mn-ea"/>
                <a:cs typeface="+mn-cs"/>
              </a:rPr>
              <a:t>Explanation : </a:t>
            </a:r>
          </a:p>
          <a:p>
            <a:r>
              <a:rPr lang="en-US" sz="1200" b="0" i="0" kern="1200" dirty="0">
                <a:solidFill>
                  <a:schemeClr val="tx1"/>
                </a:solidFill>
                <a:effectLst/>
                <a:latin typeface="+mn-lt"/>
                <a:ea typeface="+mn-ea"/>
                <a:cs typeface="+mn-cs"/>
              </a:rPr>
              <a:t> Application of HCF :</a:t>
            </a:r>
          </a:p>
          <a:p>
            <a:r>
              <a:rPr lang="en-US" sz="1200" b="0" i="0" kern="1200" dirty="0">
                <a:solidFill>
                  <a:schemeClr val="tx1"/>
                </a:solidFill>
                <a:effectLst/>
                <a:latin typeface="+mn-lt"/>
                <a:ea typeface="+mn-ea"/>
                <a:cs typeface="+mn-cs"/>
              </a:rPr>
              <a:t>HCF (9, 27,18) = 9</a:t>
            </a:r>
          </a:p>
        </p:txBody>
      </p:sp>
      <p:sp>
        <p:nvSpPr>
          <p:cNvPr id="4" name="Slide Number Placeholder 3"/>
          <p:cNvSpPr>
            <a:spLocks noGrp="1"/>
          </p:cNvSpPr>
          <p:nvPr>
            <p:ph type="sldNum" sz="quarter" idx="5"/>
          </p:nvPr>
        </p:nvSpPr>
        <p:spPr/>
        <p:txBody>
          <a:bodyPr/>
          <a:lstStyle/>
          <a:p>
            <a:fld id="{0AAB6876-1BF1-4B88-890A-0B4E46201506}" type="slidenum">
              <a:rPr lang="en-US" smtClean="0"/>
              <a:t>9</a:t>
            </a:fld>
            <a:endParaRPr lang="en-US"/>
          </a:p>
        </p:txBody>
      </p:sp>
    </p:spTree>
    <p:extLst>
      <p:ext uri="{BB962C8B-B14F-4D97-AF65-F5344CB8AC3E}">
        <p14:creationId xmlns:p14="http://schemas.microsoft.com/office/powerpoint/2010/main" val="30828604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 B</a:t>
            </a:r>
          </a:p>
          <a:p>
            <a:r>
              <a:rPr lang="en-US" sz="1200" b="1" i="0" kern="1200" dirty="0">
                <a:solidFill>
                  <a:schemeClr val="tx1"/>
                </a:solidFill>
                <a:effectLst/>
                <a:latin typeface="+mn-lt"/>
                <a:ea typeface="+mn-ea"/>
                <a:cs typeface="+mn-cs"/>
              </a:rPr>
              <a:t>Explanation : </a:t>
            </a:r>
          </a:p>
          <a:p>
            <a:r>
              <a:rPr lang="en-US" sz="1200" b="0" i="0" kern="1200" dirty="0">
                <a:solidFill>
                  <a:schemeClr val="tx1"/>
                </a:solidFill>
                <a:effectLst/>
                <a:latin typeface="+mn-lt"/>
                <a:ea typeface="+mn-ea"/>
                <a:cs typeface="+mn-cs"/>
              </a:rPr>
              <a:t> Application of LCM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LCM of (3, 6, 8, 10, 12)= 120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So after 120 minutes(i.e., 2 hours) from 2.23pm again they will toll together = 2:23 pm + 2 </a:t>
            </a:r>
            <a:r>
              <a:rPr lang="en-US" sz="1200" b="0" i="0" kern="1200" dirty="0" err="1">
                <a:solidFill>
                  <a:schemeClr val="tx1"/>
                </a:solidFill>
                <a:effectLst/>
                <a:latin typeface="+mn-lt"/>
                <a:ea typeface="+mn-ea"/>
                <a:cs typeface="+mn-cs"/>
              </a:rPr>
              <a:t>hrs</a:t>
            </a:r>
            <a:r>
              <a:rPr lang="en-US" sz="1200" b="0" i="0" kern="1200" dirty="0">
                <a:solidFill>
                  <a:schemeClr val="tx1"/>
                </a:solidFill>
                <a:effectLst/>
                <a:latin typeface="+mn-lt"/>
                <a:ea typeface="+mn-ea"/>
                <a:cs typeface="+mn-cs"/>
              </a:rPr>
              <a:t>= 4:23pm</a:t>
            </a:r>
          </a:p>
        </p:txBody>
      </p:sp>
      <p:sp>
        <p:nvSpPr>
          <p:cNvPr id="4" name="Slide Number Placeholder 3"/>
          <p:cNvSpPr>
            <a:spLocks noGrp="1"/>
          </p:cNvSpPr>
          <p:nvPr>
            <p:ph type="sldNum" sz="quarter" idx="5"/>
          </p:nvPr>
        </p:nvSpPr>
        <p:spPr/>
        <p:txBody>
          <a:bodyPr/>
          <a:lstStyle/>
          <a:p>
            <a:fld id="{0AAB6876-1BF1-4B88-890A-0B4E46201506}" type="slidenum">
              <a:rPr lang="en-US" smtClean="0"/>
              <a:t>10</a:t>
            </a:fld>
            <a:endParaRPr lang="en-US"/>
          </a:p>
        </p:txBody>
      </p:sp>
    </p:spTree>
    <p:extLst>
      <p:ext uri="{BB962C8B-B14F-4D97-AF65-F5344CB8AC3E}">
        <p14:creationId xmlns:p14="http://schemas.microsoft.com/office/powerpoint/2010/main" val="4867950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 A</a:t>
            </a:r>
          </a:p>
          <a:p>
            <a:r>
              <a:rPr lang="en-US" sz="1200" b="1" i="0" kern="1200" dirty="0">
                <a:solidFill>
                  <a:schemeClr val="tx1"/>
                </a:solidFill>
                <a:effectLst/>
                <a:latin typeface="+mn-lt"/>
                <a:ea typeface="+mn-ea"/>
                <a:cs typeface="+mn-cs"/>
              </a:rPr>
              <a:t>Explanation : </a:t>
            </a:r>
          </a:p>
          <a:p>
            <a:r>
              <a:rPr lang="en-US" sz="1200" b="0" i="0" kern="1200" dirty="0">
                <a:solidFill>
                  <a:schemeClr val="tx1"/>
                </a:solidFill>
                <a:effectLst/>
                <a:latin typeface="+mn-lt"/>
                <a:ea typeface="+mn-ea"/>
                <a:cs typeface="+mn-cs"/>
              </a:rPr>
              <a:t>For the LCM and HCF of fractions,  there is a formula.</a:t>
            </a:r>
          </a:p>
          <a:p>
            <a:r>
              <a:rPr lang="en-US" sz="1200" b="0" i="0" kern="1200" dirty="0">
                <a:solidFill>
                  <a:schemeClr val="tx1"/>
                </a:solidFill>
                <a:effectLst/>
                <a:latin typeface="+mn-lt"/>
                <a:ea typeface="+mn-ea"/>
                <a:cs typeface="+mn-cs"/>
              </a:rPr>
              <a:t>L.C.M.= L.C.M. of numerators/ HCF of denominators</a:t>
            </a:r>
          </a:p>
          <a:p>
            <a:r>
              <a:rPr lang="en-US" sz="1200" b="0" i="0" kern="1200" dirty="0">
                <a:solidFill>
                  <a:schemeClr val="tx1"/>
                </a:solidFill>
                <a:effectLst/>
                <a:latin typeface="+mn-lt"/>
                <a:ea typeface="+mn-ea"/>
                <a:cs typeface="+mn-cs"/>
              </a:rPr>
              <a:t>H.C.F.= H.C.F. of numerators/ LCM of denominators</a:t>
            </a:r>
          </a:p>
          <a:p>
            <a:r>
              <a:rPr lang="en-US" sz="1200" b="0" i="0" kern="1200" dirty="0">
                <a:solidFill>
                  <a:schemeClr val="tx1"/>
                </a:solidFill>
                <a:effectLst/>
                <a:latin typeface="+mn-lt"/>
                <a:ea typeface="+mn-ea"/>
                <a:cs typeface="+mn-cs"/>
              </a:rPr>
              <a:t>L.C.M. =  L.C.M.(6, 60, 12)/ HCF(1,17,17)</a:t>
            </a:r>
          </a:p>
          <a:p>
            <a:r>
              <a:rPr lang="en-US" sz="1200" b="0" i="0" kern="1200" dirty="0">
                <a:solidFill>
                  <a:schemeClr val="tx1"/>
                </a:solidFill>
                <a:effectLst/>
                <a:latin typeface="+mn-lt"/>
                <a:ea typeface="+mn-ea"/>
                <a:cs typeface="+mn-cs"/>
              </a:rPr>
              <a:t>= 60/1= 60</a:t>
            </a:r>
          </a:p>
          <a:p>
            <a:r>
              <a:rPr lang="en-US" sz="1200" b="0" i="0" kern="1200" dirty="0">
                <a:solidFill>
                  <a:schemeClr val="tx1"/>
                </a:solidFill>
                <a:effectLst/>
                <a:latin typeface="+mn-lt"/>
                <a:ea typeface="+mn-ea"/>
                <a:cs typeface="+mn-cs"/>
              </a:rPr>
              <a:t>H.C.F.= H.C.F.(6,60,12)/ L.C.M.(1,17,17)</a:t>
            </a:r>
          </a:p>
          <a:p>
            <a:r>
              <a:rPr lang="en-US" sz="1200" b="0" i="0" kern="1200" dirty="0">
                <a:solidFill>
                  <a:schemeClr val="tx1"/>
                </a:solidFill>
                <a:effectLst/>
                <a:latin typeface="+mn-lt"/>
                <a:ea typeface="+mn-ea"/>
                <a:cs typeface="+mn-cs"/>
              </a:rPr>
              <a:t>= 6/17</a:t>
            </a:r>
          </a:p>
          <a:p>
            <a:r>
              <a:rPr lang="en-US" sz="1200" b="0" i="0" kern="1200" dirty="0">
                <a:solidFill>
                  <a:schemeClr val="tx1"/>
                </a:solidFill>
                <a:effectLst/>
                <a:latin typeface="+mn-lt"/>
                <a:ea typeface="+mn-ea"/>
                <a:cs typeface="+mn-cs"/>
              </a:rPr>
              <a:t>Answer: 60, 6/17</a:t>
            </a:r>
          </a:p>
        </p:txBody>
      </p:sp>
      <p:sp>
        <p:nvSpPr>
          <p:cNvPr id="4" name="Slide Number Placeholder 3"/>
          <p:cNvSpPr>
            <a:spLocks noGrp="1"/>
          </p:cNvSpPr>
          <p:nvPr>
            <p:ph type="sldNum" sz="quarter" idx="5"/>
          </p:nvPr>
        </p:nvSpPr>
        <p:spPr/>
        <p:txBody>
          <a:bodyPr/>
          <a:lstStyle/>
          <a:p>
            <a:fld id="{0AAB6876-1BF1-4B88-890A-0B4E46201506}" type="slidenum">
              <a:rPr lang="en-US" smtClean="0"/>
              <a:t>11</a:t>
            </a:fld>
            <a:endParaRPr lang="en-US"/>
          </a:p>
        </p:txBody>
      </p:sp>
    </p:spTree>
    <p:extLst>
      <p:ext uri="{BB962C8B-B14F-4D97-AF65-F5344CB8AC3E}">
        <p14:creationId xmlns:p14="http://schemas.microsoft.com/office/powerpoint/2010/main" val="13623780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 A</a:t>
            </a:r>
          </a:p>
          <a:p>
            <a:r>
              <a:rPr lang="en-US" sz="1200" b="1" i="0" kern="1200" dirty="0">
                <a:solidFill>
                  <a:schemeClr val="tx1"/>
                </a:solidFill>
                <a:effectLst/>
                <a:latin typeface="+mn-lt"/>
                <a:ea typeface="+mn-ea"/>
                <a:cs typeface="+mn-cs"/>
              </a:rPr>
              <a:t>Explanation : </a:t>
            </a:r>
          </a:p>
          <a:p>
            <a:r>
              <a:rPr lang="en-US" sz="1200" b="0" i="0" kern="1200" dirty="0">
                <a:solidFill>
                  <a:schemeClr val="tx1"/>
                </a:solidFill>
                <a:effectLst/>
                <a:latin typeface="+mn-lt"/>
                <a:ea typeface="+mn-ea"/>
                <a:cs typeface="+mn-cs"/>
              </a:rPr>
              <a:t> </a:t>
            </a:r>
          </a:p>
          <a:p>
            <a:r>
              <a:rPr lang="en-US" sz="1200" b="0" i="0" kern="1200" dirty="0">
                <a:solidFill>
                  <a:schemeClr val="tx1"/>
                </a:solidFill>
                <a:effectLst/>
                <a:latin typeface="+mn-lt"/>
                <a:ea typeface="+mn-ea"/>
                <a:cs typeface="+mn-cs"/>
              </a:rPr>
              <a:t>Length of the two Choco sticks are 48 cm and 64 cm.</a:t>
            </a:r>
          </a:p>
          <a:p>
            <a:r>
              <a:rPr lang="en-US" sz="1200" b="0" i="0" kern="1200" dirty="0">
                <a:solidFill>
                  <a:schemeClr val="tx1"/>
                </a:solidFill>
                <a:effectLst/>
                <a:latin typeface="+mn-lt"/>
                <a:ea typeface="+mn-ea"/>
                <a:cs typeface="+mn-cs"/>
              </a:rPr>
              <a:t>We have to make minimum number of similar Choco sticks which means that each Choco stick should have maximum length.</a:t>
            </a:r>
          </a:p>
          <a:p>
            <a:r>
              <a:rPr lang="en-US" sz="1200" b="0" i="0" kern="1200" dirty="0">
                <a:solidFill>
                  <a:schemeClr val="tx1"/>
                </a:solidFill>
                <a:effectLst/>
                <a:latin typeface="+mn-lt"/>
                <a:ea typeface="+mn-ea"/>
                <a:cs typeface="+mn-cs"/>
              </a:rPr>
              <a:t>Therefore we can find maximum length by taking HCF(48,64) = 16.</a:t>
            </a:r>
          </a:p>
          <a:p>
            <a:r>
              <a:rPr lang="en-US" sz="1200" b="0" i="0" kern="1200" dirty="0">
                <a:solidFill>
                  <a:schemeClr val="tx1"/>
                </a:solidFill>
                <a:effectLst/>
                <a:latin typeface="+mn-lt"/>
                <a:ea typeface="+mn-ea"/>
                <a:cs typeface="+mn-cs"/>
              </a:rPr>
              <a:t>Each Choco stick should have length 16 cm.</a:t>
            </a:r>
          </a:p>
          <a:p>
            <a:r>
              <a:rPr lang="en-US" sz="1200" b="0" i="0" kern="1200" dirty="0">
                <a:solidFill>
                  <a:schemeClr val="tx1"/>
                </a:solidFill>
                <a:effectLst/>
                <a:latin typeface="+mn-lt"/>
                <a:ea typeface="+mn-ea"/>
                <a:cs typeface="+mn-cs"/>
              </a:rPr>
              <a:t>Therefore number of Choco sticks = (48+64)/16 = 112/16 = 7 Choco sticks</a:t>
            </a:r>
          </a:p>
          <a:p>
            <a:r>
              <a:rPr lang="en-US" sz="1200" b="0" i="0" kern="1200" dirty="0">
                <a:solidFill>
                  <a:schemeClr val="tx1"/>
                </a:solidFill>
                <a:effectLst/>
                <a:latin typeface="+mn-lt"/>
                <a:ea typeface="+mn-ea"/>
                <a:cs typeface="+mn-cs"/>
              </a:rPr>
              <a:t>Hence, the answer is 7.</a:t>
            </a:r>
          </a:p>
        </p:txBody>
      </p:sp>
      <p:sp>
        <p:nvSpPr>
          <p:cNvPr id="4" name="Slide Number Placeholder 3"/>
          <p:cNvSpPr>
            <a:spLocks noGrp="1"/>
          </p:cNvSpPr>
          <p:nvPr>
            <p:ph type="sldNum" sz="quarter" idx="5"/>
          </p:nvPr>
        </p:nvSpPr>
        <p:spPr/>
        <p:txBody>
          <a:bodyPr/>
          <a:lstStyle/>
          <a:p>
            <a:fld id="{0AAB6876-1BF1-4B88-890A-0B4E46201506}" type="slidenum">
              <a:rPr lang="en-US" smtClean="0"/>
              <a:t>12</a:t>
            </a:fld>
            <a:endParaRPr lang="en-US"/>
          </a:p>
        </p:txBody>
      </p:sp>
    </p:spTree>
    <p:extLst>
      <p:ext uri="{BB962C8B-B14F-4D97-AF65-F5344CB8AC3E}">
        <p14:creationId xmlns:p14="http://schemas.microsoft.com/office/powerpoint/2010/main" val="14601788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 B</a:t>
            </a:r>
          </a:p>
          <a:p>
            <a:r>
              <a:rPr lang="en-US" sz="1200" b="1" i="0" kern="1200" dirty="0">
                <a:solidFill>
                  <a:schemeClr val="tx1"/>
                </a:solidFill>
                <a:effectLst/>
                <a:latin typeface="+mn-lt"/>
                <a:ea typeface="+mn-ea"/>
                <a:cs typeface="+mn-cs"/>
              </a:rPr>
              <a:t>Explanation : </a:t>
            </a:r>
          </a:p>
          <a:p>
            <a:r>
              <a:rPr lang="en-US" sz="1200" b="0" i="0" kern="1200" dirty="0">
                <a:solidFill>
                  <a:schemeClr val="tx1"/>
                </a:solidFill>
                <a:effectLst/>
                <a:latin typeface="+mn-lt"/>
                <a:ea typeface="+mn-ea"/>
                <a:cs typeface="+mn-cs"/>
              </a:rPr>
              <a:t> </a:t>
            </a:r>
          </a:p>
          <a:p>
            <a:r>
              <a:rPr lang="en-US" sz="1200" b="0" i="0" kern="1200" dirty="0">
                <a:solidFill>
                  <a:schemeClr val="tx1"/>
                </a:solidFill>
                <a:effectLst/>
                <a:latin typeface="+mn-lt"/>
                <a:ea typeface="+mn-ea"/>
                <a:cs typeface="+mn-cs"/>
              </a:rPr>
              <a:t>This question is application of LCM.</a:t>
            </a:r>
          </a:p>
          <a:p>
            <a:r>
              <a:rPr lang="en-US" sz="1200" b="0" i="0" kern="1200" dirty="0">
                <a:solidFill>
                  <a:schemeClr val="tx1"/>
                </a:solidFill>
                <a:effectLst/>
                <a:latin typeface="+mn-lt"/>
                <a:ea typeface="+mn-ea"/>
                <a:cs typeface="+mn-cs"/>
              </a:rPr>
              <a:t>LCM of 4 and 6 is 12</a:t>
            </a:r>
          </a:p>
          <a:p>
            <a:r>
              <a:rPr lang="en-US" sz="1200" b="0" i="0" kern="1200" dirty="0">
                <a:solidFill>
                  <a:schemeClr val="tx1"/>
                </a:solidFill>
                <a:effectLst/>
                <a:latin typeface="+mn-lt"/>
                <a:ea typeface="+mn-ea"/>
                <a:cs typeface="+mn-cs"/>
              </a:rPr>
              <a:t>So, at 12th second, the flash lamps flash simultaneously for first time.</a:t>
            </a:r>
          </a:p>
          <a:p>
            <a:r>
              <a:rPr lang="en-US" sz="1200" b="0" i="0" kern="1200" dirty="0">
                <a:solidFill>
                  <a:schemeClr val="tx1"/>
                </a:solidFill>
                <a:effectLst/>
                <a:latin typeface="+mn-lt"/>
                <a:ea typeface="+mn-ea"/>
                <a:cs typeface="+mn-cs"/>
              </a:rPr>
              <a:t>After next 12 seconds, they flash simultaneously.</a:t>
            </a:r>
          </a:p>
          <a:p>
            <a:r>
              <a:rPr lang="en-US" sz="1200" b="0" i="0" kern="1200" dirty="0">
                <a:solidFill>
                  <a:schemeClr val="tx1"/>
                </a:solidFill>
                <a:effectLst/>
                <a:latin typeface="+mn-lt"/>
                <a:ea typeface="+mn-ea"/>
                <a:cs typeface="+mn-cs"/>
              </a:rPr>
              <a:t>Hence, the answer is 12.</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Alternate:</a:t>
            </a:r>
          </a:p>
          <a:p>
            <a:r>
              <a:rPr lang="en-US" sz="1200" b="0" i="0" kern="1200" dirty="0">
                <a:solidFill>
                  <a:schemeClr val="tx1"/>
                </a:solidFill>
                <a:effectLst/>
                <a:latin typeface="+mn-lt"/>
                <a:ea typeface="+mn-ea"/>
                <a:cs typeface="+mn-cs"/>
              </a:rPr>
              <a:t>The first flash lamp flashes at 4, 8, 12, 16, 20, 24,….</a:t>
            </a:r>
          </a:p>
          <a:p>
            <a:r>
              <a:rPr lang="en-US" sz="1200" b="0" i="0" kern="1200" dirty="0">
                <a:solidFill>
                  <a:schemeClr val="tx1"/>
                </a:solidFill>
                <a:effectLst/>
                <a:latin typeface="+mn-lt"/>
                <a:ea typeface="+mn-ea"/>
                <a:cs typeface="+mn-cs"/>
              </a:rPr>
              <a:t>The second flash lamp flashes at 6, 12, 18, 24, ….</a:t>
            </a:r>
          </a:p>
          <a:p>
            <a:r>
              <a:rPr lang="en-US" sz="1200" b="0" i="0" kern="1200" dirty="0">
                <a:solidFill>
                  <a:schemeClr val="tx1"/>
                </a:solidFill>
                <a:effectLst/>
                <a:latin typeface="+mn-lt"/>
                <a:ea typeface="+mn-ea"/>
                <a:cs typeface="+mn-cs"/>
              </a:rPr>
              <a:t>First simultaneous flash is at 12th second.</a:t>
            </a:r>
          </a:p>
          <a:p>
            <a:r>
              <a:rPr lang="en-US" sz="1200" b="0" i="0" kern="1200" dirty="0">
                <a:solidFill>
                  <a:schemeClr val="tx1"/>
                </a:solidFill>
                <a:effectLst/>
                <a:latin typeface="+mn-lt"/>
                <a:ea typeface="+mn-ea"/>
                <a:cs typeface="+mn-cs"/>
              </a:rPr>
              <a:t>Second simultaneous flash is at 24th second.</a:t>
            </a:r>
          </a:p>
          <a:p>
            <a:r>
              <a:rPr lang="en-US" sz="1200" b="0" i="0" kern="1200" dirty="0">
                <a:solidFill>
                  <a:schemeClr val="tx1"/>
                </a:solidFill>
                <a:effectLst/>
                <a:latin typeface="+mn-lt"/>
                <a:ea typeface="+mn-ea"/>
                <a:cs typeface="+mn-cs"/>
              </a:rPr>
              <a:t>Since, the question is to calculate the time taken by the lamps to flash again simultaneously from the first simultaneous flash. We can say that the lamps are flashing at the interval of 12 seconds.</a:t>
            </a:r>
          </a:p>
          <a:p>
            <a:r>
              <a:rPr lang="en-US" sz="1200" b="0" i="0" kern="1200" dirty="0">
                <a:solidFill>
                  <a:schemeClr val="tx1"/>
                </a:solidFill>
                <a:effectLst/>
                <a:latin typeface="+mn-lt"/>
                <a:ea typeface="+mn-ea"/>
                <a:cs typeface="+mn-cs"/>
              </a:rPr>
              <a:t>Hence, the answer is 12.</a:t>
            </a:r>
          </a:p>
        </p:txBody>
      </p:sp>
      <p:sp>
        <p:nvSpPr>
          <p:cNvPr id="4" name="Slide Number Placeholder 3"/>
          <p:cNvSpPr>
            <a:spLocks noGrp="1"/>
          </p:cNvSpPr>
          <p:nvPr>
            <p:ph type="sldNum" sz="quarter" idx="5"/>
          </p:nvPr>
        </p:nvSpPr>
        <p:spPr/>
        <p:txBody>
          <a:bodyPr/>
          <a:lstStyle/>
          <a:p>
            <a:fld id="{0AAB6876-1BF1-4B88-890A-0B4E46201506}" type="slidenum">
              <a:rPr lang="en-US" smtClean="0"/>
              <a:t>13</a:t>
            </a:fld>
            <a:endParaRPr lang="en-US"/>
          </a:p>
        </p:txBody>
      </p:sp>
    </p:spTree>
    <p:extLst>
      <p:ext uri="{BB962C8B-B14F-4D97-AF65-F5344CB8AC3E}">
        <p14:creationId xmlns:p14="http://schemas.microsoft.com/office/powerpoint/2010/main" val="40963992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 B</a:t>
            </a:r>
          </a:p>
          <a:p>
            <a:r>
              <a:rPr lang="en-US" sz="1200" b="1" i="0" kern="1200" dirty="0">
                <a:solidFill>
                  <a:schemeClr val="tx1"/>
                </a:solidFill>
                <a:effectLst/>
                <a:latin typeface="+mn-lt"/>
                <a:ea typeface="+mn-ea"/>
                <a:cs typeface="+mn-cs"/>
              </a:rPr>
              <a:t>Explanation : </a:t>
            </a:r>
          </a:p>
          <a:p>
            <a:r>
              <a:rPr lang="en-US" sz="1200" b="0" i="0" kern="1200" dirty="0">
                <a:solidFill>
                  <a:schemeClr val="tx1"/>
                </a:solidFill>
                <a:effectLst/>
                <a:latin typeface="+mn-lt"/>
                <a:ea typeface="+mn-ea"/>
                <a:cs typeface="+mn-cs"/>
              </a:rPr>
              <a:t> </a:t>
            </a:r>
          </a:p>
          <a:p>
            <a:r>
              <a:rPr lang="en-US" sz="1200" b="0" i="0" kern="1200" dirty="0">
                <a:solidFill>
                  <a:schemeClr val="tx1"/>
                </a:solidFill>
                <a:effectLst/>
                <a:latin typeface="+mn-lt"/>
                <a:ea typeface="+mn-ea"/>
                <a:cs typeface="+mn-cs"/>
              </a:rPr>
              <a:t>Given ratio of the numbers is 13:7.</a:t>
            </a:r>
          </a:p>
          <a:p>
            <a:r>
              <a:rPr lang="en-US" sz="1200" b="0" i="0" kern="1200" dirty="0">
                <a:solidFill>
                  <a:schemeClr val="tx1"/>
                </a:solidFill>
                <a:effectLst/>
                <a:latin typeface="+mn-lt"/>
                <a:ea typeface="+mn-ea"/>
                <a:cs typeface="+mn-cs"/>
              </a:rPr>
              <a:t>Let the numbers be 13x and 7x.</a:t>
            </a:r>
          </a:p>
          <a:p>
            <a:r>
              <a:rPr lang="en-US" sz="1200" b="0" i="0" kern="1200" dirty="0">
                <a:solidFill>
                  <a:schemeClr val="tx1"/>
                </a:solidFill>
                <a:effectLst/>
                <a:latin typeface="+mn-lt"/>
                <a:ea typeface="+mn-ea"/>
                <a:cs typeface="+mn-cs"/>
              </a:rPr>
              <a:t>HCF of 13x and 7x will be x.</a:t>
            </a:r>
          </a:p>
          <a:p>
            <a:r>
              <a:rPr lang="en-US" sz="1200" b="0" i="0" kern="1200" dirty="0">
                <a:solidFill>
                  <a:schemeClr val="tx1"/>
                </a:solidFill>
                <a:effectLst/>
                <a:latin typeface="+mn-lt"/>
                <a:ea typeface="+mn-ea"/>
                <a:cs typeface="+mn-cs"/>
              </a:rPr>
              <a:t>Given that: x = 15</a:t>
            </a:r>
          </a:p>
          <a:p>
            <a:r>
              <a:rPr lang="en-US" sz="1200" b="0" i="0" kern="1200" dirty="0">
                <a:solidFill>
                  <a:schemeClr val="tx1"/>
                </a:solidFill>
                <a:effectLst/>
                <a:latin typeface="+mn-lt"/>
                <a:ea typeface="+mn-ea"/>
                <a:cs typeface="+mn-cs"/>
              </a:rPr>
              <a:t>The sum of two numbers= 13x + 7x = 20x</a:t>
            </a:r>
          </a:p>
          <a:p>
            <a:r>
              <a:rPr lang="en-US" sz="1200" b="0" i="0" kern="1200" dirty="0">
                <a:solidFill>
                  <a:schemeClr val="tx1"/>
                </a:solidFill>
                <a:effectLst/>
                <a:latin typeface="+mn-lt"/>
                <a:ea typeface="+mn-ea"/>
                <a:cs typeface="+mn-cs"/>
              </a:rPr>
              <a:t>Hence, sum of the two numbers = 20 * 15= 300.</a:t>
            </a:r>
          </a:p>
        </p:txBody>
      </p:sp>
      <p:sp>
        <p:nvSpPr>
          <p:cNvPr id="4" name="Slide Number Placeholder 3"/>
          <p:cNvSpPr>
            <a:spLocks noGrp="1"/>
          </p:cNvSpPr>
          <p:nvPr>
            <p:ph type="sldNum" sz="quarter" idx="5"/>
          </p:nvPr>
        </p:nvSpPr>
        <p:spPr/>
        <p:txBody>
          <a:bodyPr/>
          <a:lstStyle/>
          <a:p>
            <a:fld id="{0AAB6876-1BF1-4B88-890A-0B4E46201506}" type="slidenum">
              <a:rPr lang="en-US" smtClean="0"/>
              <a:t>14</a:t>
            </a:fld>
            <a:endParaRPr lang="en-US"/>
          </a:p>
        </p:txBody>
      </p:sp>
    </p:spTree>
    <p:extLst>
      <p:ext uri="{BB962C8B-B14F-4D97-AF65-F5344CB8AC3E}">
        <p14:creationId xmlns:p14="http://schemas.microsoft.com/office/powerpoint/2010/main" val="11334615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 A</a:t>
            </a:r>
          </a:p>
          <a:p>
            <a:r>
              <a:rPr lang="en-US" sz="1200" b="1" i="0" kern="1200" dirty="0">
                <a:solidFill>
                  <a:schemeClr val="tx1"/>
                </a:solidFill>
                <a:effectLst/>
                <a:latin typeface="+mn-lt"/>
                <a:ea typeface="+mn-ea"/>
                <a:cs typeface="+mn-cs"/>
              </a:rPr>
              <a:t>Explanation : </a:t>
            </a:r>
          </a:p>
          <a:p>
            <a:r>
              <a:rPr lang="en-US" sz="1200" b="0" i="0" kern="1200" dirty="0">
                <a:solidFill>
                  <a:schemeClr val="tx1"/>
                </a:solidFill>
                <a:effectLst/>
                <a:latin typeface="+mn-lt"/>
                <a:ea typeface="+mn-ea"/>
                <a:cs typeface="+mn-cs"/>
              </a:rPr>
              <a:t> </a:t>
            </a:r>
          </a:p>
          <a:p>
            <a:r>
              <a:rPr lang="en-US" sz="1200" b="0" i="0" kern="1200" dirty="0">
                <a:solidFill>
                  <a:schemeClr val="tx1"/>
                </a:solidFill>
                <a:effectLst/>
                <a:latin typeface="+mn-lt"/>
                <a:ea typeface="+mn-ea"/>
                <a:cs typeface="+mn-cs"/>
              </a:rPr>
              <a:t>     1. H.C.F. =	H.C.F. of Numerators / L.C.M. of Denominators</a:t>
            </a:r>
          </a:p>
          <a:p>
            <a:r>
              <a:rPr lang="en-US" sz="1200" b="0" i="0" kern="1200" dirty="0">
                <a:solidFill>
                  <a:schemeClr val="tx1"/>
                </a:solidFill>
                <a:effectLst/>
                <a:latin typeface="+mn-lt"/>
                <a:ea typeface="+mn-ea"/>
                <a:cs typeface="+mn-cs"/>
              </a:rPr>
              <a:t>    2. L.C.M. =	L.C.M. of Numerators / H.C.F. of Denominators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LCM=(LCM of numerator) / (HCF of denominator) </a:t>
            </a:r>
          </a:p>
          <a:p>
            <a:r>
              <a:rPr lang="en-US" sz="1200" b="0" i="0" kern="1200" dirty="0">
                <a:solidFill>
                  <a:schemeClr val="tx1"/>
                </a:solidFill>
                <a:effectLst/>
                <a:latin typeface="+mn-lt"/>
                <a:ea typeface="+mn-ea"/>
                <a:cs typeface="+mn-cs"/>
              </a:rPr>
              <a:t> LCM of (7, 63, 9) / HCF of (9, 8, 7)=63</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HCF of numerators=1 </a:t>
            </a:r>
          </a:p>
          <a:p>
            <a:r>
              <a:rPr lang="en-US" sz="1200" b="0" i="0" kern="1200" dirty="0">
                <a:solidFill>
                  <a:schemeClr val="tx1"/>
                </a:solidFill>
                <a:effectLst/>
                <a:latin typeface="+mn-lt"/>
                <a:ea typeface="+mn-ea"/>
                <a:cs typeface="+mn-cs"/>
              </a:rPr>
              <a:t>LCM of denominators=504</a:t>
            </a:r>
          </a:p>
          <a:p>
            <a:r>
              <a:rPr lang="en-US" sz="1200" b="0" i="0" kern="1200" dirty="0">
                <a:solidFill>
                  <a:schemeClr val="tx1"/>
                </a:solidFill>
                <a:effectLst/>
                <a:latin typeface="+mn-lt"/>
                <a:ea typeface="+mn-ea"/>
                <a:cs typeface="+mn-cs"/>
              </a:rPr>
              <a:t>Thus HCF= 1/504.</a:t>
            </a:r>
          </a:p>
          <a:p>
            <a:r>
              <a:rPr lang="en-US" sz="1200" b="0" i="0" kern="1200" dirty="0">
                <a:solidFill>
                  <a:schemeClr val="tx1"/>
                </a:solidFill>
                <a:effectLst/>
                <a:latin typeface="+mn-lt"/>
                <a:ea typeface="+mn-ea"/>
                <a:cs typeface="+mn-cs"/>
              </a:rPr>
              <a:t>Hence, the answer is 63, 1/504.</a:t>
            </a:r>
          </a:p>
        </p:txBody>
      </p:sp>
      <p:sp>
        <p:nvSpPr>
          <p:cNvPr id="4" name="Slide Number Placeholder 3"/>
          <p:cNvSpPr>
            <a:spLocks noGrp="1"/>
          </p:cNvSpPr>
          <p:nvPr>
            <p:ph type="sldNum" sz="quarter" idx="5"/>
          </p:nvPr>
        </p:nvSpPr>
        <p:spPr/>
        <p:txBody>
          <a:bodyPr/>
          <a:lstStyle/>
          <a:p>
            <a:fld id="{0AAB6876-1BF1-4B88-890A-0B4E46201506}" type="slidenum">
              <a:rPr lang="en-US" smtClean="0"/>
              <a:t>15</a:t>
            </a:fld>
            <a:endParaRPr lang="en-US"/>
          </a:p>
        </p:txBody>
      </p:sp>
    </p:spTree>
    <p:extLst>
      <p:ext uri="{BB962C8B-B14F-4D97-AF65-F5344CB8AC3E}">
        <p14:creationId xmlns:p14="http://schemas.microsoft.com/office/powerpoint/2010/main" val="27109831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 A</a:t>
            </a:r>
          </a:p>
          <a:p>
            <a:r>
              <a:rPr lang="en-US" sz="1200" b="1" i="0" kern="1200" dirty="0">
                <a:solidFill>
                  <a:schemeClr val="tx1"/>
                </a:solidFill>
                <a:effectLst/>
                <a:latin typeface="+mn-lt"/>
                <a:ea typeface="+mn-ea"/>
                <a:cs typeface="+mn-cs"/>
              </a:rPr>
              <a:t>Explanation : </a:t>
            </a:r>
          </a:p>
          <a:p>
            <a:r>
              <a:rPr lang="en-US" sz="1200" b="1" i="0" kern="1200" dirty="0">
                <a:solidFill>
                  <a:schemeClr val="tx1"/>
                </a:solidFill>
                <a:effectLst/>
                <a:latin typeface="+mn-lt"/>
                <a:ea typeface="+mn-ea"/>
                <a:cs typeface="+mn-cs"/>
              </a:rPr>
              <a:t> </a:t>
            </a:r>
          </a:p>
          <a:p>
            <a:r>
              <a:rPr lang="en-US" sz="1200" b="0" i="0" kern="1200" dirty="0">
                <a:solidFill>
                  <a:schemeClr val="tx1"/>
                </a:solidFill>
                <a:effectLst/>
                <a:latin typeface="+mn-lt"/>
                <a:ea typeface="+mn-ea"/>
                <a:cs typeface="+mn-cs"/>
              </a:rPr>
              <a:t>We need to HCF of the lengths of two sticks so that we can get the minimum length of the stick.</a:t>
            </a:r>
          </a:p>
          <a:p>
            <a:r>
              <a:rPr lang="en-US" sz="1200" b="0" i="0" kern="1200" dirty="0">
                <a:solidFill>
                  <a:schemeClr val="tx1"/>
                </a:solidFill>
                <a:effectLst/>
                <a:latin typeface="+mn-lt"/>
                <a:ea typeface="+mn-ea"/>
                <a:cs typeface="+mn-cs"/>
              </a:rPr>
              <a:t>HCF</a:t>
            </a:r>
          </a:p>
          <a:p>
            <a:r>
              <a:rPr lang="en-US" sz="1200" b="0" i="0" kern="1200" dirty="0">
                <a:solidFill>
                  <a:schemeClr val="tx1"/>
                </a:solidFill>
                <a:effectLst/>
                <a:latin typeface="+mn-lt"/>
                <a:ea typeface="+mn-ea"/>
                <a:cs typeface="+mn-cs"/>
              </a:rPr>
              <a:t>36= 2*2*3*3</a:t>
            </a:r>
          </a:p>
          <a:p>
            <a:r>
              <a:rPr lang="en-US" sz="1200" b="0" i="0" kern="1200" dirty="0">
                <a:solidFill>
                  <a:schemeClr val="tx1"/>
                </a:solidFill>
                <a:effectLst/>
                <a:latin typeface="+mn-lt"/>
                <a:ea typeface="+mn-ea"/>
                <a:cs typeface="+mn-cs"/>
              </a:rPr>
              <a:t>48= 2*2*2*2*3</a:t>
            </a:r>
          </a:p>
          <a:p>
            <a:r>
              <a:rPr lang="en-US" sz="1200" b="0" i="0" kern="1200" dirty="0">
                <a:solidFill>
                  <a:schemeClr val="tx1"/>
                </a:solidFill>
                <a:effectLst/>
                <a:latin typeface="+mn-lt"/>
                <a:ea typeface="+mn-ea"/>
                <a:cs typeface="+mn-cs"/>
              </a:rPr>
              <a:t>HCF= 2*2*3 = 12</a:t>
            </a:r>
          </a:p>
          <a:p>
            <a:r>
              <a:rPr lang="en-US" sz="1200" b="0" i="0" kern="1200" dirty="0">
                <a:solidFill>
                  <a:schemeClr val="tx1"/>
                </a:solidFill>
                <a:effectLst/>
                <a:latin typeface="+mn-lt"/>
                <a:ea typeface="+mn-ea"/>
                <a:cs typeface="+mn-cs"/>
              </a:rPr>
              <a:t>The minimum length of the stick is 12cm.</a:t>
            </a:r>
          </a:p>
          <a:p>
            <a:r>
              <a:rPr lang="en-US" sz="1200" b="0" i="0" kern="1200" dirty="0">
                <a:solidFill>
                  <a:schemeClr val="tx1"/>
                </a:solidFill>
                <a:effectLst/>
                <a:latin typeface="+mn-lt"/>
                <a:ea typeface="+mn-ea"/>
                <a:cs typeface="+mn-cs"/>
              </a:rPr>
              <a:t>Total length of the two sticks is (36+48) that is 84.</a:t>
            </a:r>
          </a:p>
          <a:p>
            <a:r>
              <a:rPr lang="en-US" sz="1200" b="0" i="0" kern="1200" dirty="0">
                <a:solidFill>
                  <a:schemeClr val="tx1"/>
                </a:solidFill>
                <a:effectLst/>
                <a:latin typeface="+mn-lt"/>
                <a:ea typeface="+mn-ea"/>
                <a:cs typeface="+mn-cs"/>
              </a:rPr>
              <a:t>With the total length of 84 cm, we can make 7 sticks of 12 cm long.</a:t>
            </a:r>
          </a:p>
          <a:p>
            <a:r>
              <a:rPr lang="en-US" sz="1200" b="0" i="0" kern="1200" dirty="0">
                <a:solidFill>
                  <a:schemeClr val="tx1"/>
                </a:solidFill>
                <a:effectLst/>
                <a:latin typeface="+mn-lt"/>
                <a:ea typeface="+mn-ea"/>
                <a:cs typeface="+mn-cs"/>
              </a:rPr>
              <a:t>Thus, the answer is 7.</a:t>
            </a:r>
          </a:p>
        </p:txBody>
      </p:sp>
      <p:sp>
        <p:nvSpPr>
          <p:cNvPr id="4" name="Slide Number Placeholder 3"/>
          <p:cNvSpPr>
            <a:spLocks noGrp="1"/>
          </p:cNvSpPr>
          <p:nvPr>
            <p:ph type="sldNum" sz="quarter" idx="5"/>
          </p:nvPr>
        </p:nvSpPr>
        <p:spPr/>
        <p:txBody>
          <a:bodyPr/>
          <a:lstStyle/>
          <a:p>
            <a:fld id="{0AAB6876-1BF1-4B88-890A-0B4E46201506}" type="slidenum">
              <a:rPr lang="en-US" smtClean="0"/>
              <a:t>16</a:t>
            </a:fld>
            <a:endParaRPr lang="en-US"/>
          </a:p>
        </p:txBody>
      </p:sp>
    </p:spTree>
    <p:extLst>
      <p:ext uri="{BB962C8B-B14F-4D97-AF65-F5344CB8AC3E}">
        <p14:creationId xmlns:p14="http://schemas.microsoft.com/office/powerpoint/2010/main" val="24454860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 D</a:t>
            </a:r>
          </a:p>
          <a:p>
            <a:r>
              <a:rPr lang="en-US" sz="1200" b="1" i="0" kern="1200" dirty="0">
                <a:solidFill>
                  <a:schemeClr val="tx1"/>
                </a:solidFill>
                <a:effectLst/>
                <a:latin typeface="+mn-lt"/>
                <a:ea typeface="+mn-ea"/>
                <a:cs typeface="+mn-cs"/>
              </a:rPr>
              <a:t>Explanation : </a:t>
            </a:r>
          </a:p>
          <a:p>
            <a:r>
              <a:rPr lang="en-US" sz="1200" b="0" i="0" kern="1200" dirty="0">
                <a:solidFill>
                  <a:schemeClr val="tx1"/>
                </a:solidFill>
                <a:effectLst/>
                <a:latin typeface="+mn-lt"/>
                <a:ea typeface="+mn-ea"/>
                <a:cs typeface="+mn-cs"/>
              </a:rPr>
              <a:t> As 12 is the HCF, the numbers must be 12*a and 12*b. Here a and b are co-prime numbers. Also, we use the formula: the product of numbers = HCF*LCM</a:t>
            </a:r>
          </a:p>
          <a:p>
            <a:r>
              <a:rPr lang="en-US" sz="1200" b="0" i="0" kern="1200" dirty="0">
                <a:solidFill>
                  <a:schemeClr val="tx1"/>
                </a:solidFill>
                <a:effectLst/>
                <a:latin typeface="+mn-lt"/>
                <a:ea typeface="+mn-ea"/>
                <a:cs typeface="+mn-cs"/>
              </a:rPr>
              <a:t>12*a*12*b = 144*12</a:t>
            </a:r>
          </a:p>
          <a:p>
            <a:r>
              <a:rPr lang="en-US" sz="1200" b="0" i="0" kern="1200" dirty="0">
                <a:solidFill>
                  <a:schemeClr val="tx1"/>
                </a:solidFill>
                <a:effectLst/>
                <a:latin typeface="+mn-lt"/>
                <a:ea typeface="+mn-ea"/>
                <a:cs typeface="+mn-cs"/>
              </a:rPr>
              <a:t>=&gt; a*b = 12</a:t>
            </a:r>
          </a:p>
          <a:p>
            <a:r>
              <a:rPr lang="en-US" sz="1200" b="0" i="0" kern="1200" dirty="0">
                <a:solidFill>
                  <a:schemeClr val="tx1"/>
                </a:solidFill>
                <a:effectLst/>
                <a:latin typeface="+mn-lt"/>
                <a:ea typeface="+mn-ea"/>
                <a:cs typeface="+mn-cs"/>
              </a:rPr>
              <a:t>Therefore possible values of a and b are (1,12) or (3,4)      (2 and 6 aren't considered as they aren't co-prime numbers)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If a = 1 and b = 12; we get 12 and 144 as the 2 numbers. </a:t>
            </a:r>
          </a:p>
          <a:p>
            <a:r>
              <a:rPr lang="en-US" sz="1200" b="0" i="0" kern="1200" dirty="0">
                <a:solidFill>
                  <a:schemeClr val="tx1"/>
                </a:solidFill>
                <a:effectLst/>
                <a:latin typeface="+mn-lt"/>
                <a:ea typeface="+mn-ea"/>
                <a:cs typeface="+mn-cs"/>
              </a:rPr>
              <a:t>Their sum = 156.</a:t>
            </a:r>
          </a:p>
        </p:txBody>
      </p:sp>
      <p:sp>
        <p:nvSpPr>
          <p:cNvPr id="4" name="Slide Number Placeholder 3"/>
          <p:cNvSpPr>
            <a:spLocks noGrp="1"/>
          </p:cNvSpPr>
          <p:nvPr>
            <p:ph type="sldNum" sz="quarter" idx="5"/>
          </p:nvPr>
        </p:nvSpPr>
        <p:spPr/>
        <p:txBody>
          <a:bodyPr/>
          <a:lstStyle/>
          <a:p>
            <a:fld id="{0AAB6876-1BF1-4B88-890A-0B4E46201506}" type="slidenum">
              <a:rPr lang="en-US" smtClean="0"/>
              <a:t>17</a:t>
            </a:fld>
            <a:endParaRPr lang="en-US"/>
          </a:p>
        </p:txBody>
      </p:sp>
    </p:spTree>
    <p:extLst>
      <p:ext uri="{BB962C8B-B14F-4D97-AF65-F5344CB8AC3E}">
        <p14:creationId xmlns:p14="http://schemas.microsoft.com/office/powerpoint/2010/main" val="33225982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 B</a:t>
            </a:r>
          </a:p>
          <a:p>
            <a:r>
              <a:rPr lang="en-US" sz="1200" b="1" i="0" kern="1200" dirty="0">
                <a:solidFill>
                  <a:schemeClr val="tx1"/>
                </a:solidFill>
                <a:effectLst/>
                <a:latin typeface="+mn-lt"/>
                <a:ea typeface="+mn-ea"/>
                <a:cs typeface="+mn-cs"/>
              </a:rPr>
              <a:t>Explanation : </a:t>
            </a:r>
          </a:p>
          <a:p>
            <a:r>
              <a:rPr lang="en-US" sz="1200" b="0" i="0" kern="1200" dirty="0">
                <a:solidFill>
                  <a:schemeClr val="tx1"/>
                </a:solidFill>
                <a:effectLst/>
                <a:latin typeface="+mn-lt"/>
                <a:ea typeface="+mn-ea"/>
                <a:cs typeface="+mn-cs"/>
              </a:rPr>
              <a:t> The smallest number divisible by the 3 numbers will be their LCM (least common multiple)</a:t>
            </a:r>
          </a:p>
          <a:p>
            <a:r>
              <a:rPr lang="en-US" sz="1200" b="0" i="0" kern="1200" dirty="0">
                <a:solidFill>
                  <a:schemeClr val="tx1"/>
                </a:solidFill>
                <a:effectLst/>
                <a:latin typeface="+mn-lt"/>
                <a:ea typeface="+mn-ea"/>
                <a:cs typeface="+mn-cs"/>
              </a:rPr>
              <a:t>LCM(14,22,26) = 2002</a:t>
            </a:r>
          </a:p>
        </p:txBody>
      </p:sp>
      <p:sp>
        <p:nvSpPr>
          <p:cNvPr id="4" name="Slide Number Placeholder 3"/>
          <p:cNvSpPr>
            <a:spLocks noGrp="1"/>
          </p:cNvSpPr>
          <p:nvPr>
            <p:ph type="sldNum" sz="quarter" idx="5"/>
          </p:nvPr>
        </p:nvSpPr>
        <p:spPr/>
        <p:txBody>
          <a:bodyPr/>
          <a:lstStyle/>
          <a:p>
            <a:fld id="{0AAB6876-1BF1-4B88-890A-0B4E46201506}" type="slidenum">
              <a:rPr lang="en-US" smtClean="0"/>
              <a:t>18</a:t>
            </a:fld>
            <a:endParaRPr lang="en-US"/>
          </a:p>
        </p:txBody>
      </p:sp>
    </p:spTree>
    <p:extLst>
      <p:ext uri="{BB962C8B-B14F-4D97-AF65-F5344CB8AC3E}">
        <p14:creationId xmlns:p14="http://schemas.microsoft.com/office/powerpoint/2010/main" val="12837806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a:t>
            </a:r>
            <a:r>
              <a:rPr lang="en-US" sz="1200" b="1" i="0" kern="1200" baseline="0" dirty="0">
                <a:solidFill>
                  <a:schemeClr val="tx1"/>
                </a:solidFill>
                <a:effectLst/>
                <a:latin typeface="+mn-lt"/>
                <a:ea typeface="+mn-ea"/>
                <a:cs typeface="+mn-cs"/>
              </a:rPr>
              <a:t> C</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19</a:t>
            </a:fld>
            <a:endParaRPr lang="en-US"/>
          </a:p>
        </p:txBody>
      </p:sp>
    </p:spTree>
    <p:extLst>
      <p:ext uri="{BB962C8B-B14F-4D97-AF65-F5344CB8AC3E}">
        <p14:creationId xmlns:p14="http://schemas.microsoft.com/office/powerpoint/2010/main" val="38246295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a:t>
            </a:r>
            <a:r>
              <a:rPr lang="en-US" sz="1200" b="1" i="0" kern="1200" baseline="0" dirty="0">
                <a:solidFill>
                  <a:schemeClr val="tx1"/>
                </a:solidFill>
                <a:effectLst/>
                <a:latin typeface="+mn-lt"/>
                <a:ea typeface="+mn-ea"/>
                <a:cs typeface="+mn-cs"/>
              </a:rPr>
              <a:t> B</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20</a:t>
            </a:fld>
            <a:endParaRPr lang="en-US"/>
          </a:p>
        </p:txBody>
      </p:sp>
    </p:spTree>
    <p:extLst>
      <p:ext uri="{BB962C8B-B14F-4D97-AF65-F5344CB8AC3E}">
        <p14:creationId xmlns:p14="http://schemas.microsoft.com/office/powerpoint/2010/main" val="31931543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a:t>
            </a:r>
            <a:r>
              <a:rPr lang="en-US" sz="1200" b="1" i="0" kern="1200" baseline="0" dirty="0">
                <a:solidFill>
                  <a:schemeClr val="tx1"/>
                </a:solidFill>
                <a:effectLst/>
                <a:latin typeface="+mn-lt"/>
                <a:ea typeface="+mn-ea"/>
                <a:cs typeface="+mn-cs"/>
              </a:rPr>
              <a:t> A</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21</a:t>
            </a:fld>
            <a:endParaRPr lang="en-US"/>
          </a:p>
        </p:txBody>
      </p:sp>
    </p:spTree>
    <p:extLst>
      <p:ext uri="{BB962C8B-B14F-4D97-AF65-F5344CB8AC3E}">
        <p14:creationId xmlns:p14="http://schemas.microsoft.com/office/powerpoint/2010/main" val="38032804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a:t>
            </a:r>
            <a:r>
              <a:rPr lang="en-US" sz="1200" b="1" i="0" kern="1200" baseline="0" dirty="0">
                <a:solidFill>
                  <a:schemeClr val="tx1"/>
                </a:solidFill>
                <a:effectLst/>
                <a:latin typeface="+mn-lt"/>
                <a:ea typeface="+mn-ea"/>
                <a:cs typeface="+mn-cs"/>
              </a:rPr>
              <a:t> D</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22</a:t>
            </a:fld>
            <a:endParaRPr lang="en-US"/>
          </a:p>
        </p:txBody>
      </p:sp>
    </p:spTree>
    <p:extLst>
      <p:ext uri="{BB962C8B-B14F-4D97-AF65-F5344CB8AC3E}">
        <p14:creationId xmlns:p14="http://schemas.microsoft.com/office/powerpoint/2010/main" val="4418536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a:t>
            </a:r>
            <a:r>
              <a:rPr lang="en-US" sz="1200" b="1" i="0" kern="1200" baseline="0" dirty="0">
                <a:solidFill>
                  <a:schemeClr val="tx1"/>
                </a:solidFill>
                <a:effectLst/>
                <a:latin typeface="+mn-lt"/>
                <a:ea typeface="+mn-ea"/>
                <a:cs typeface="+mn-cs"/>
              </a:rPr>
              <a:t> C</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23</a:t>
            </a:fld>
            <a:endParaRPr lang="en-US"/>
          </a:p>
        </p:txBody>
      </p:sp>
    </p:spTree>
    <p:extLst>
      <p:ext uri="{BB962C8B-B14F-4D97-AF65-F5344CB8AC3E}">
        <p14:creationId xmlns:p14="http://schemas.microsoft.com/office/powerpoint/2010/main" val="39377802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a:t>
            </a:r>
            <a:r>
              <a:rPr lang="en-US" sz="1200" b="1" i="0" kern="1200" baseline="0" dirty="0">
                <a:solidFill>
                  <a:schemeClr val="tx1"/>
                </a:solidFill>
                <a:effectLst/>
                <a:latin typeface="+mn-lt"/>
                <a:ea typeface="+mn-ea"/>
                <a:cs typeface="+mn-cs"/>
              </a:rPr>
              <a:t> C</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24</a:t>
            </a:fld>
            <a:endParaRPr lang="en-US"/>
          </a:p>
        </p:txBody>
      </p:sp>
    </p:spTree>
    <p:extLst>
      <p:ext uri="{BB962C8B-B14F-4D97-AF65-F5344CB8AC3E}">
        <p14:creationId xmlns:p14="http://schemas.microsoft.com/office/powerpoint/2010/main" val="73119100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a:t>
            </a:r>
            <a:r>
              <a:rPr lang="en-US" sz="1200" b="1" i="0" kern="1200" baseline="0" dirty="0">
                <a:solidFill>
                  <a:schemeClr val="tx1"/>
                </a:solidFill>
                <a:effectLst/>
                <a:latin typeface="+mn-lt"/>
                <a:ea typeface="+mn-ea"/>
                <a:cs typeface="+mn-cs"/>
              </a:rPr>
              <a:t> B</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25</a:t>
            </a:fld>
            <a:endParaRPr lang="en-US"/>
          </a:p>
        </p:txBody>
      </p:sp>
    </p:spTree>
    <p:extLst>
      <p:ext uri="{BB962C8B-B14F-4D97-AF65-F5344CB8AC3E}">
        <p14:creationId xmlns:p14="http://schemas.microsoft.com/office/powerpoint/2010/main" val="39277200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a:t>
            </a:r>
            <a:r>
              <a:rPr lang="en-US" sz="1200" b="1" i="0" kern="1200" baseline="0" dirty="0">
                <a:solidFill>
                  <a:schemeClr val="tx1"/>
                </a:solidFill>
                <a:effectLst/>
                <a:latin typeface="+mn-lt"/>
                <a:ea typeface="+mn-ea"/>
                <a:cs typeface="+mn-cs"/>
              </a:rPr>
              <a:t> A</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26</a:t>
            </a:fld>
            <a:endParaRPr lang="en-US"/>
          </a:p>
        </p:txBody>
      </p:sp>
    </p:spTree>
    <p:extLst>
      <p:ext uri="{BB962C8B-B14F-4D97-AF65-F5344CB8AC3E}">
        <p14:creationId xmlns:p14="http://schemas.microsoft.com/office/powerpoint/2010/main" val="294741898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a:t>
            </a:r>
            <a:r>
              <a:rPr lang="en-US" sz="1200" b="1" i="0" kern="1200" baseline="0" dirty="0">
                <a:solidFill>
                  <a:schemeClr val="tx1"/>
                </a:solidFill>
                <a:effectLst/>
                <a:latin typeface="+mn-lt"/>
                <a:ea typeface="+mn-ea"/>
                <a:cs typeface="+mn-cs"/>
              </a:rPr>
              <a:t> B</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27</a:t>
            </a:fld>
            <a:endParaRPr lang="en-US"/>
          </a:p>
        </p:txBody>
      </p:sp>
    </p:spTree>
    <p:extLst>
      <p:ext uri="{BB962C8B-B14F-4D97-AF65-F5344CB8AC3E}">
        <p14:creationId xmlns:p14="http://schemas.microsoft.com/office/powerpoint/2010/main" val="132255879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a:t>
            </a:r>
            <a:r>
              <a:rPr lang="en-US" sz="1200" b="1" i="0" kern="1200" baseline="0" dirty="0">
                <a:solidFill>
                  <a:schemeClr val="tx1"/>
                </a:solidFill>
                <a:effectLst/>
                <a:latin typeface="+mn-lt"/>
                <a:ea typeface="+mn-ea"/>
                <a:cs typeface="+mn-cs"/>
              </a:rPr>
              <a:t> C</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28</a:t>
            </a:fld>
            <a:endParaRPr lang="en-US"/>
          </a:p>
        </p:txBody>
      </p:sp>
    </p:spTree>
    <p:extLst>
      <p:ext uri="{BB962C8B-B14F-4D97-AF65-F5344CB8AC3E}">
        <p14:creationId xmlns:p14="http://schemas.microsoft.com/office/powerpoint/2010/main" val="339559332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a:t>
            </a:r>
            <a:r>
              <a:rPr lang="en-US" sz="1200" b="1" i="0" kern="1200" baseline="0" dirty="0">
                <a:solidFill>
                  <a:schemeClr val="tx1"/>
                </a:solidFill>
                <a:effectLst/>
                <a:latin typeface="+mn-lt"/>
                <a:ea typeface="+mn-ea"/>
                <a:cs typeface="+mn-cs"/>
              </a:rPr>
              <a:t> D</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29</a:t>
            </a:fld>
            <a:endParaRPr lang="en-US"/>
          </a:p>
        </p:txBody>
      </p:sp>
    </p:spTree>
    <p:extLst>
      <p:ext uri="{BB962C8B-B14F-4D97-AF65-F5344CB8AC3E}">
        <p14:creationId xmlns:p14="http://schemas.microsoft.com/office/powerpoint/2010/main" val="37459442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a:t>
            </a:r>
            <a:r>
              <a:rPr lang="en-US" sz="1200" b="1" i="0" kern="1200" baseline="0" dirty="0">
                <a:solidFill>
                  <a:schemeClr val="tx1"/>
                </a:solidFill>
                <a:effectLst/>
                <a:latin typeface="+mn-lt"/>
                <a:ea typeface="+mn-ea"/>
                <a:cs typeface="+mn-cs"/>
              </a:rPr>
              <a:t> A</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30</a:t>
            </a:fld>
            <a:endParaRPr lang="en-US"/>
          </a:p>
        </p:txBody>
      </p:sp>
    </p:spTree>
    <p:extLst>
      <p:ext uri="{BB962C8B-B14F-4D97-AF65-F5344CB8AC3E}">
        <p14:creationId xmlns:p14="http://schemas.microsoft.com/office/powerpoint/2010/main" val="48906350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a:t>
            </a:r>
            <a:r>
              <a:rPr lang="en-US" sz="1200" b="1" i="0" kern="1200" baseline="0" dirty="0">
                <a:solidFill>
                  <a:schemeClr val="tx1"/>
                </a:solidFill>
                <a:effectLst/>
                <a:latin typeface="+mn-lt"/>
                <a:ea typeface="+mn-ea"/>
                <a:cs typeface="+mn-cs"/>
              </a:rPr>
              <a:t> D</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31</a:t>
            </a:fld>
            <a:endParaRPr lang="en-US"/>
          </a:p>
        </p:txBody>
      </p:sp>
    </p:spTree>
    <p:extLst>
      <p:ext uri="{BB962C8B-B14F-4D97-AF65-F5344CB8AC3E}">
        <p14:creationId xmlns:p14="http://schemas.microsoft.com/office/powerpoint/2010/main" val="121191902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a:t>
            </a:r>
            <a:r>
              <a:rPr lang="en-US" sz="1200" b="1" i="0" kern="1200" baseline="0" dirty="0">
                <a:solidFill>
                  <a:schemeClr val="tx1"/>
                </a:solidFill>
                <a:effectLst/>
                <a:latin typeface="+mn-lt"/>
                <a:ea typeface="+mn-ea"/>
                <a:cs typeface="+mn-cs"/>
              </a:rPr>
              <a:t> D</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32</a:t>
            </a:fld>
            <a:endParaRPr lang="en-US"/>
          </a:p>
        </p:txBody>
      </p:sp>
    </p:spTree>
    <p:extLst>
      <p:ext uri="{BB962C8B-B14F-4D97-AF65-F5344CB8AC3E}">
        <p14:creationId xmlns:p14="http://schemas.microsoft.com/office/powerpoint/2010/main" val="76904741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a:t>
            </a:r>
            <a:r>
              <a:rPr lang="en-US" sz="1200" b="1" i="0" kern="1200" baseline="0" dirty="0">
                <a:solidFill>
                  <a:schemeClr val="tx1"/>
                </a:solidFill>
                <a:effectLst/>
                <a:latin typeface="+mn-lt"/>
                <a:ea typeface="+mn-ea"/>
                <a:cs typeface="+mn-cs"/>
              </a:rPr>
              <a:t> D</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33</a:t>
            </a:fld>
            <a:endParaRPr lang="en-US"/>
          </a:p>
        </p:txBody>
      </p:sp>
    </p:spTree>
    <p:extLst>
      <p:ext uri="{BB962C8B-B14F-4D97-AF65-F5344CB8AC3E}">
        <p14:creationId xmlns:p14="http://schemas.microsoft.com/office/powerpoint/2010/main" val="155971562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0AAB6876-1BF1-4B88-890A-0B4E46201506}" type="slidenum">
              <a:rPr lang="en-US" smtClean="0"/>
              <a:t>34</a:t>
            </a:fld>
            <a:endParaRPr lang="en-US"/>
          </a:p>
        </p:txBody>
      </p:sp>
    </p:spTree>
    <p:extLst>
      <p:ext uri="{BB962C8B-B14F-4D97-AF65-F5344CB8AC3E}">
        <p14:creationId xmlns:p14="http://schemas.microsoft.com/office/powerpoint/2010/main" val="41901331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9/9/2025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E13444A-ACAB-8714-3389-F1B53796A6F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40760" y="3105150"/>
            <a:ext cx="5110480" cy="647700"/>
          </a:xfrm>
          <a:prstGeom prst="rect">
            <a:avLst/>
          </a:prstGeom>
        </p:spPr>
      </p:pic>
    </p:spTree>
    <p:extLst>
      <p:ext uri="{BB962C8B-B14F-4D97-AF65-F5344CB8AC3E}">
        <p14:creationId xmlns:p14="http://schemas.microsoft.com/office/powerpoint/2010/main" val="15968849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Here is where the title goes. Sometimes it could be two lines too"/>
          <p:cNvSpPr txBox="1"/>
          <p:nvPr/>
        </p:nvSpPr>
        <p:spPr>
          <a:xfrm>
            <a:off x="2228195" y="1789871"/>
            <a:ext cx="8458198" cy="74659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6789" tIns="26789" rIns="26789" bIns="26789">
            <a:spAutoFit/>
          </a:bodyPr>
          <a:lstStyle>
            <a:lvl1pPr>
              <a:defRPr sz="9600">
                <a:solidFill>
                  <a:srgbClr val="000000"/>
                </a:solidFill>
              </a:defRPr>
            </a:lvl1pPr>
          </a:lstStyle>
          <a:p>
            <a:r>
              <a:rPr lang="en-US" sz="4500" b="1" dirty="0">
                <a:solidFill>
                  <a:schemeClr val="bg1"/>
                </a:solidFill>
                <a:latin typeface="Nunito Sans" panose="00000500000000000000" pitchFamily="2" charset="0"/>
              </a:rPr>
              <a:t>Topic/Course</a:t>
            </a:r>
            <a:endParaRPr sz="4500" b="1" dirty="0">
              <a:solidFill>
                <a:schemeClr val="bg1"/>
              </a:solidFill>
              <a:latin typeface="Nunito Sans" panose="00000500000000000000" pitchFamily="2" charset="0"/>
            </a:endParaRPr>
          </a:p>
        </p:txBody>
      </p:sp>
      <p:sp>
        <p:nvSpPr>
          <p:cNvPr id="12" name="Here is where the title goes. Sometimes it could be two lines too">
            <a:extLst>
              <a:ext uri="{FF2B5EF4-FFF2-40B4-BE49-F238E27FC236}">
                <a16:creationId xmlns:a16="http://schemas.microsoft.com/office/drawing/2014/main" id="{B5763151-1884-4565-B779-CF2D697C82C8}"/>
              </a:ext>
            </a:extLst>
          </p:cNvPr>
          <p:cNvSpPr txBox="1"/>
          <p:nvPr/>
        </p:nvSpPr>
        <p:spPr>
          <a:xfrm>
            <a:off x="2228196" y="2514600"/>
            <a:ext cx="6745013" cy="2849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6789" tIns="26789" rIns="26789" bIns="26789">
            <a:spAutoFit/>
          </a:bodyPr>
          <a:lstStyle>
            <a:lvl1pPr>
              <a:defRPr sz="9600">
                <a:solidFill>
                  <a:srgbClr val="000000"/>
                </a:solidFill>
              </a:defRPr>
            </a:lvl1pPr>
          </a:lstStyle>
          <a:p>
            <a:r>
              <a:rPr lang="en-US" sz="1500" b="1" dirty="0">
                <a:solidFill>
                  <a:schemeClr val="bg1"/>
                </a:solidFill>
                <a:latin typeface="Nunito Sans" panose="00000500000000000000" pitchFamily="2" charset="0"/>
              </a:rPr>
              <a:t>Sub-Topic (Example: name of college)</a:t>
            </a:r>
            <a:endParaRPr sz="1500" b="1" dirty="0">
              <a:solidFill>
                <a:schemeClr val="bg1"/>
              </a:solidFill>
              <a:latin typeface="Nunito Sans" panose="00000500000000000000" pitchFamily="2" charset="0"/>
            </a:endParaRPr>
          </a:p>
        </p:txBody>
      </p:sp>
      <p:sp>
        <p:nvSpPr>
          <p:cNvPr id="13" name="TextBox 12">
            <a:extLst>
              <a:ext uri="{FF2B5EF4-FFF2-40B4-BE49-F238E27FC236}">
                <a16:creationId xmlns:a16="http://schemas.microsoft.com/office/drawing/2014/main" id="{FC4BA18A-B0F2-4D62-9B28-7B486D4C70CF}"/>
              </a:ext>
            </a:extLst>
          </p:cNvPr>
          <p:cNvSpPr txBox="1"/>
          <p:nvPr/>
        </p:nvSpPr>
        <p:spPr>
          <a:xfrm>
            <a:off x="1015554" y="1740939"/>
            <a:ext cx="10160892" cy="1015663"/>
          </a:xfrm>
          <a:prstGeom prst="rect">
            <a:avLst/>
          </a:prstGeom>
          <a:noFill/>
        </p:spPr>
        <p:txBody>
          <a:bodyPr wrap="square" rtlCol="0">
            <a:spAutoFit/>
          </a:bodyPr>
          <a:lstStyle/>
          <a:p>
            <a:r>
              <a:rPr lang="en-US" sz="6000" dirty="0">
                <a:latin typeface="Nunito Sans SemiBold" panose="00000700000000000000" pitchFamily="2" charset="0"/>
              </a:rPr>
              <a:t>VIT</a:t>
            </a:r>
          </a:p>
        </p:txBody>
      </p:sp>
      <p:sp>
        <p:nvSpPr>
          <p:cNvPr id="10" name="Rectangle 9">
            <a:extLst>
              <a:ext uri="{FF2B5EF4-FFF2-40B4-BE49-F238E27FC236}">
                <a16:creationId xmlns:a16="http://schemas.microsoft.com/office/drawing/2014/main" id="{82037F44-B579-465E-912D-7578628D7D24}"/>
              </a:ext>
            </a:extLst>
          </p:cNvPr>
          <p:cNvSpPr/>
          <p:nvPr/>
        </p:nvSpPr>
        <p:spPr>
          <a:xfrm>
            <a:off x="1110149" y="1640233"/>
            <a:ext cx="794852" cy="57773"/>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81029455-F8A7-6799-E06F-36C4F4B1FF8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53600" y="6324600"/>
            <a:ext cx="2356485" cy="298450"/>
          </a:xfrm>
          <a:prstGeom prst="rect">
            <a:avLst/>
          </a:prstGeom>
        </p:spPr>
      </p:pic>
    </p:spTree>
    <p:extLst>
      <p:ext uri="{BB962C8B-B14F-4D97-AF65-F5344CB8AC3E}">
        <p14:creationId xmlns:p14="http://schemas.microsoft.com/office/powerpoint/2010/main" val="37075444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5136"/>
        </a:solidFill>
        <a:effectLst/>
      </p:bgPr>
    </p:bg>
    <p:spTree>
      <p:nvGrpSpPr>
        <p:cNvPr id="1" name=""/>
        <p:cNvGrpSpPr/>
        <p:nvPr/>
      </p:nvGrpSpPr>
      <p:grpSpPr>
        <a:xfrm>
          <a:off x="0" y="0"/>
          <a:ext cx="0" cy="0"/>
          <a:chOff x="0" y="0"/>
          <a:chExt cx="0" cy="0"/>
        </a:xfrm>
      </p:grpSpPr>
      <p:sp>
        <p:nvSpPr>
          <p:cNvPr id="4" name="Here is where the title goes. Sometimes it could be two lines too">
            <a:extLst>
              <a:ext uri="{FF2B5EF4-FFF2-40B4-BE49-F238E27FC236}">
                <a16:creationId xmlns:a16="http://schemas.microsoft.com/office/drawing/2014/main" id="{456C9966-3D51-4F1F-BF70-A36692846596}"/>
              </a:ext>
            </a:extLst>
          </p:cNvPr>
          <p:cNvSpPr txBox="1"/>
          <p:nvPr/>
        </p:nvSpPr>
        <p:spPr>
          <a:xfrm>
            <a:off x="0" y="3055701"/>
            <a:ext cx="12192000" cy="88509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6789" tIns="26789" rIns="26789" bIns="26789">
            <a:spAutoFit/>
          </a:bodyPr>
          <a:lstStyle>
            <a:lvl1pPr>
              <a:defRPr sz="9600">
                <a:solidFill>
                  <a:srgbClr val="000000"/>
                </a:solidFill>
              </a:defRPr>
            </a:lvl1pPr>
          </a:lstStyle>
          <a:p>
            <a:pPr algn="ctr"/>
            <a:r>
              <a:rPr lang="en-US" sz="5400" b="1" dirty="0">
                <a:solidFill>
                  <a:schemeClr val="bg1"/>
                </a:solidFill>
                <a:latin typeface="Nunito Sans" panose="00000500000000000000" pitchFamily="2" charset="0"/>
              </a:rPr>
              <a:t>HCF and LCM</a:t>
            </a:r>
            <a:endParaRPr sz="5400" b="1" dirty="0">
              <a:solidFill>
                <a:schemeClr val="bg1"/>
              </a:solidFill>
              <a:latin typeface="Nunito Sans" panose="00000500000000000000" pitchFamily="2" charset="0"/>
            </a:endParaRPr>
          </a:p>
        </p:txBody>
      </p:sp>
      <p:pic>
        <p:nvPicPr>
          <p:cNvPr id="2" name="Picture 1">
            <a:extLst>
              <a:ext uri="{FF2B5EF4-FFF2-40B4-BE49-F238E27FC236}">
                <a16:creationId xmlns:a16="http://schemas.microsoft.com/office/drawing/2014/main" id="{11F9C03E-B994-5D53-F4C0-5912AC9FB06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53600" y="6324600"/>
            <a:ext cx="2356485" cy="298450"/>
          </a:xfrm>
          <a:prstGeom prst="rect">
            <a:avLst/>
          </a:prstGeom>
        </p:spPr>
      </p:pic>
    </p:spTree>
    <p:extLst>
      <p:ext uri="{BB962C8B-B14F-4D97-AF65-F5344CB8AC3E}">
        <p14:creationId xmlns:p14="http://schemas.microsoft.com/office/powerpoint/2010/main" val="40655814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477054"/>
          </a:xfrm>
          <a:prstGeom prst="rect">
            <a:avLst/>
          </a:prstGeom>
          <a:noFill/>
        </p:spPr>
        <p:txBody>
          <a:bodyPr wrap="square" rtlCol="0">
            <a:spAutoFit/>
          </a:bodyPr>
          <a:lstStyle/>
          <a:p>
            <a:pPr algn="just"/>
            <a:r>
              <a:rPr lang="en-US" sz="2500" dirty="0">
                <a:latin typeface="Nunito Sans" panose="00000500000000000000" pitchFamily="2" charset="0"/>
              </a:rPr>
              <a:t>Find the LCM of 48 and 32.</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330083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87559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45035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50145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30083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96</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87559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144</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45035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16</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50145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1536</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a:t>
            </a:r>
          </a:p>
        </p:txBody>
      </p:sp>
      <p:pic>
        <p:nvPicPr>
          <p:cNvPr id="2" name="Picture 1">
            <a:extLst>
              <a:ext uri="{FF2B5EF4-FFF2-40B4-BE49-F238E27FC236}">
                <a16:creationId xmlns:a16="http://schemas.microsoft.com/office/drawing/2014/main" id="{603D11AD-B5BA-35F4-36F1-4426DB57D93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53600" y="6324600"/>
            <a:ext cx="2356485" cy="298450"/>
          </a:xfrm>
          <a:prstGeom prst="rect">
            <a:avLst/>
          </a:prstGeom>
        </p:spPr>
      </p:pic>
    </p:spTree>
    <p:extLst>
      <p:ext uri="{BB962C8B-B14F-4D97-AF65-F5344CB8AC3E}">
        <p14:creationId xmlns:p14="http://schemas.microsoft.com/office/powerpoint/2010/main" val="19179915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861774"/>
          </a:xfrm>
          <a:prstGeom prst="rect">
            <a:avLst/>
          </a:prstGeom>
          <a:noFill/>
        </p:spPr>
        <p:txBody>
          <a:bodyPr wrap="square" rtlCol="0">
            <a:spAutoFit/>
          </a:bodyPr>
          <a:lstStyle/>
          <a:p>
            <a:pPr algn="just"/>
            <a:r>
              <a:rPr lang="en-US" sz="2500" dirty="0">
                <a:latin typeface="Nunito Sans" panose="00000500000000000000" pitchFamily="2" charset="0"/>
              </a:rPr>
              <a:t>Two bells chime at an interval of 10 minutes and 15 minutes respectively. At what time will they chime together?</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330083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87559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45035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50145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30083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30</a:t>
            </a:r>
            <a:r>
              <a:rPr lang="en-US" sz="2500" baseline="30000" dirty="0">
                <a:latin typeface="Nunito Sans" panose="00000500000000000000" pitchFamily="2" charset="0"/>
              </a:rPr>
              <a:t>th</a:t>
            </a:r>
            <a:r>
              <a:rPr lang="en-US" sz="2500" dirty="0">
                <a:latin typeface="Nunito Sans" panose="00000500000000000000" pitchFamily="2" charset="0"/>
              </a:rPr>
              <a:t> minute</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87559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20</a:t>
            </a:r>
            <a:r>
              <a:rPr lang="en-US" sz="2500" baseline="30000" dirty="0">
                <a:latin typeface="Nunito Sans" panose="00000500000000000000" pitchFamily="2" charset="0"/>
              </a:rPr>
              <a:t>th</a:t>
            </a:r>
            <a:r>
              <a:rPr lang="en-US" sz="2500" dirty="0">
                <a:latin typeface="Nunito Sans" panose="00000500000000000000" pitchFamily="2" charset="0"/>
              </a:rPr>
              <a:t> minute</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45035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15</a:t>
            </a:r>
            <a:r>
              <a:rPr lang="en-US" sz="2500" baseline="30000" dirty="0">
                <a:latin typeface="Nunito Sans" panose="00000500000000000000" pitchFamily="2" charset="0"/>
              </a:rPr>
              <a:t>th</a:t>
            </a:r>
            <a:r>
              <a:rPr lang="en-US" sz="2500" dirty="0">
                <a:latin typeface="Nunito Sans" panose="00000500000000000000" pitchFamily="2" charset="0"/>
              </a:rPr>
              <a:t> minute</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50145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60</a:t>
            </a:r>
            <a:r>
              <a:rPr lang="en-US" sz="2500" baseline="30000" dirty="0">
                <a:latin typeface="Nunito Sans" panose="00000500000000000000" pitchFamily="2" charset="0"/>
              </a:rPr>
              <a:t>th</a:t>
            </a:r>
            <a:r>
              <a:rPr lang="en-US" sz="2500" dirty="0">
                <a:latin typeface="Nunito Sans" panose="00000500000000000000" pitchFamily="2" charset="0"/>
              </a:rPr>
              <a:t> minute</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2</a:t>
            </a:r>
          </a:p>
        </p:txBody>
      </p:sp>
      <p:pic>
        <p:nvPicPr>
          <p:cNvPr id="2" name="Picture 1">
            <a:extLst>
              <a:ext uri="{FF2B5EF4-FFF2-40B4-BE49-F238E27FC236}">
                <a16:creationId xmlns:a16="http://schemas.microsoft.com/office/drawing/2014/main" id="{684A9C46-B31A-9CBD-A634-9F8F757D3B2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53600" y="6324600"/>
            <a:ext cx="2356485" cy="298450"/>
          </a:xfrm>
          <a:prstGeom prst="rect">
            <a:avLst/>
          </a:prstGeom>
        </p:spPr>
      </p:pic>
    </p:spTree>
    <p:extLst>
      <p:ext uri="{BB962C8B-B14F-4D97-AF65-F5344CB8AC3E}">
        <p14:creationId xmlns:p14="http://schemas.microsoft.com/office/powerpoint/2010/main" val="11572899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477054"/>
          </a:xfrm>
          <a:prstGeom prst="rect">
            <a:avLst/>
          </a:prstGeom>
          <a:noFill/>
        </p:spPr>
        <p:txBody>
          <a:bodyPr wrap="square" rtlCol="0">
            <a:spAutoFit/>
          </a:bodyPr>
          <a:lstStyle/>
          <a:p>
            <a:pPr algn="just"/>
            <a:r>
              <a:rPr lang="en-US" sz="2500" dirty="0">
                <a:latin typeface="Nunito Sans" panose="00000500000000000000" pitchFamily="2" charset="0"/>
              </a:rPr>
              <a:t>Find the greatest number that will divide 12, 36 and 54 exactly.</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330083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87559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45035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50145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30083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2</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87559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4</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45035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12</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50145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6</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3</a:t>
            </a:r>
          </a:p>
        </p:txBody>
      </p:sp>
      <p:pic>
        <p:nvPicPr>
          <p:cNvPr id="2" name="Picture 1">
            <a:extLst>
              <a:ext uri="{FF2B5EF4-FFF2-40B4-BE49-F238E27FC236}">
                <a16:creationId xmlns:a16="http://schemas.microsoft.com/office/drawing/2014/main" id="{93E1B024-BACE-9D3B-506C-EFC722E7A1A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53600" y="6324600"/>
            <a:ext cx="2356485" cy="298450"/>
          </a:xfrm>
          <a:prstGeom prst="rect">
            <a:avLst/>
          </a:prstGeom>
        </p:spPr>
      </p:pic>
    </p:spTree>
    <p:extLst>
      <p:ext uri="{BB962C8B-B14F-4D97-AF65-F5344CB8AC3E}">
        <p14:creationId xmlns:p14="http://schemas.microsoft.com/office/powerpoint/2010/main" val="5904123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477054"/>
          </a:xfrm>
          <a:prstGeom prst="rect">
            <a:avLst/>
          </a:prstGeom>
          <a:noFill/>
        </p:spPr>
        <p:txBody>
          <a:bodyPr wrap="square" rtlCol="0">
            <a:spAutoFit/>
          </a:bodyPr>
          <a:lstStyle/>
          <a:p>
            <a:pPr algn="just"/>
            <a:r>
              <a:rPr lang="en-US" sz="2500" dirty="0">
                <a:latin typeface="Nunito Sans" panose="00000500000000000000" pitchFamily="2" charset="0"/>
              </a:rPr>
              <a:t>Find the least number that is exactly divisible by 6, 8 and 12.</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330083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87559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45035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50145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30083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120</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87559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240</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45035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48</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50145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24</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4</a:t>
            </a:r>
          </a:p>
        </p:txBody>
      </p:sp>
      <p:pic>
        <p:nvPicPr>
          <p:cNvPr id="2" name="Picture 1">
            <a:extLst>
              <a:ext uri="{FF2B5EF4-FFF2-40B4-BE49-F238E27FC236}">
                <a16:creationId xmlns:a16="http://schemas.microsoft.com/office/drawing/2014/main" id="{101DDEB7-1A1D-E383-616E-7D8F5B8A87D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835515" y="6418325"/>
            <a:ext cx="2356485" cy="298450"/>
          </a:xfrm>
          <a:prstGeom prst="rect">
            <a:avLst/>
          </a:prstGeom>
        </p:spPr>
      </p:pic>
    </p:spTree>
    <p:extLst>
      <p:ext uri="{BB962C8B-B14F-4D97-AF65-F5344CB8AC3E}">
        <p14:creationId xmlns:p14="http://schemas.microsoft.com/office/powerpoint/2010/main" val="9419072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477054"/>
          </a:xfrm>
          <a:prstGeom prst="rect">
            <a:avLst/>
          </a:prstGeom>
          <a:noFill/>
        </p:spPr>
        <p:txBody>
          <a:bodyPr wrap="square" rtlCol="0">
            <a:spAutoFit/>
          </a:bodyPr>
          <a:lstStyle/>
          <a:p>
            <a:pPr algn="just"/>
            <a:r>
              <a:rPr lang="en-US" sz="2500" dirty="0">
                <a:latin typeface="Nunito Sans" panose="00000500000000000000" pitchFamily="2" charset="0"/>
              </a:rPr>
              <a:t>Find the HCF and LCM of 30 and 50.</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330083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87559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45035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50145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30083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10, 300</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87559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5, 150</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45035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5, 300</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50145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10, 150</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5</a:t>
            </a:r>
          </a:p>
        </p:txBody>
      </p:sp>
      <p:pic>
        <p:nvPicPr>
          <p:cNvPr id="2" name="Picture 1">
            <a:extLst>
              <a:ext uri="{FF2B5EF4-FFF2-40B4-BE49-F238E27FC236}">
                <a16:creationId xmlns:a16="http://schemas.microsoft.com/office/drawing/2014/main" id="{DBF86A22-CF51-1FEA-7E88-C8A5FCFEB85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53600" y="6324600"/>
            <a:ext cx="2356485" cy="298450"/>
          </a:xfrm>
          <a:prstGeom prst="rect">
            <a:avLst/>
          </a:prstGeom>
        </p:spPr>
      </p:pic>
    </p:spTree>
    <p:extLst>
      <p:ext uri="{BB962C8B-B14F-4D97-AF65-F5344CB8AC3E}">
        <p14:creationId xmlns:p14="http://schemas.microsoft.com/office/powerpoint/2010/main" val="393109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477054"/>
          </a:xfrm>
          <a:prstGeom prst="rect">
            <a:avLst/>
          </a:prstGeom>
          <a:noFill/>
        </p:spPr>
        <p:txBody>
          <a:bodyPr wrap="square" rtlCol="0">
            <a:spAutoFit/>
          </a:bodyPr>
          <a:lstStyle/>
          <a:p>
            <a:pPr algn="just"/>
            <a:r>
              <a:rPr lang="en-US" sz="2500" dirty="0">
                <a:latin typeface="Nunito Sans" panose="00000500000000000000" pitchFamily="2" charset="0"/>
              </a:rPr>
              <a:t>Find the greatest number that divides 9, 27, 18 .</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330083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87559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45035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50145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30083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3</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87559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9</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45035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18</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50145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7</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6</a:t>
            </a:r>
          </a:p>
        </p:txBody>
      </p:sp>
      <p:pic>
        <p:nvPicPr>
          <p:cNvPr id="2" name="Picture 1">
            <a:extLst>
              <a:ext uri="{FF2B5EF4-FFF2-40B4-BE49-F238E27FC236}">
                <a16:creationId xmlns:a16="http://schemas.microsoft.com/office/drawing/2014/main" id="{81C220A1-A6BE-6ACA-5A6F-FDD5924EFBD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53600" y="6324600"/>
            <a:ext cx="2356485" cy="298450"/>
          </a:xfrm>
          <a:prstGeom prst="rect">
            <a:avLst/>
          </a:prstGeom>
        </p:spPr>
      </p:pic>
    </p:spTree>
    <p:extLst>
      <p:ext uri="{BB962C8B-B14F-4D97-AF65-F5344CB8AC3E}">
        <p14:creationId xmlns:p14="http://schemas.microsoft.com/office/powerpoint/2010/main" val="42655509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1246495"/>
          </a:xfrm>
          <a:prstGeom prst="rect">
            <a:avLst/>
          </a:prstGeom>
          <a:noFill/>
        </p:spPr>
        <p:txBody>
          <a:bodyPr wrap="square" rtlCol="0">
            <a:spAutoFit/>
          </a:bodyPr>
          <a:lstStyle/>
          <a:p>
            <a:pPr algn="just"/>
            <a:r>
              <a:rPr lang="en-US" sz="2500" dirty="0">
                <a:latin typeface="Nunito Sans" panose="00000500000000000000" pitchFamily="2" charset="0"/>
              </a:rPr>
              <a:t>5 bells are heard at intervals of 3, 6, 8, 10 and 12 minutes respectively. If all the bells toll together exactly at 2:23 PM, they will again be heard together at ?</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330083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87559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45035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50145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30083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5:23:00 PM</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87559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4:23:00 PM</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45035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6:25:00 PM</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50145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4:55:00 PM</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7</a:t>
            </a:r>
          </a:p>
        </p:txBody>
      </p:sp>
      <p:pic>
        <p:nvPicPr>
          <p:cNvPr id="2" name="Picture 1">
            <a:extLst>
              <a:ext uri="{FF2B5EF4-FFF2-40B4-BE49-F238E27FC236}">
                <a16:creationId xmlns:a16="http://schemas.microsoft.com/office/drawing/2014/main" id="{BCFA40CD-9F5E-B9D5-6B19-536E8864671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53600" y="6324600"/>
            <a:ext cx="2356485" cy="298450"/>
          </a:xfrm>
          <a:prstGeom prst="rect">
            <a:avLst/>
          </a:prstGeom>
        </p:spPr>
      </p:pic>
    </p:spTree>
    <p:extLst>
      <p:ext uri="{BB962C8B-B14F-4D97-AF65-F5344CB8AC3E}">
        <p14:creationId xmlns:p14="http://schemas.microsoft.com/office/powerpoint/2010/main" val="14458577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477054"/>
          </a:xfrm>
          <a:prstGeom prst="rect">
            <a:avLst/>
          </a:prstGeom>
          <a:noFill/>
        </p:spPr>
        <p:txBody>
          <a:bodyPr wrap="square" rtlCol="0">
            <a:spAutoFit/>
          </a:bodyPr>
          <a:lstStyle/>
          <a:p>
            <a:pPr algn="just"/>
            <a:r>
              <a:rPr lang="en-US" sz="2500" dirty="0">
                <a:latin typeface="Nunito Sans" panose="00000500000000000000" pitchFamily="2" charset="0"/>
              </a:rPr>
              <a:t>Find the LCM and HCF of 6/1, 60/17, 12/17.</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330083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87559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45035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50145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30083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60, 6/17</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87559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10/17, 1/17</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45035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1/7, 10/7</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50145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1, 17</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8</a:t>
            </a:r>
          </a:p>
        </p:txBody>
      </p:sp>
      <p:pic>
        <p:nvPicPr>
          <p:cNvPr id="2" name="Picture 1">
            <a:extLst>
              <a:ext uri="{FF2B5EF4-FFF2-40B4-BE49-F238E27FC236}">
                <a16:creationId xmlns:a16="http://schemas.microsoft.com/office/drawing/2014/main" id="{917F5614-4F1C-AB0C-3A37-90870400449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53600" y="6324600"/>
            <a:ext cx="2356485" cy="298450"/>
          </a:xfrm>
          <a:prstGeom prst="rect">
            <a:avLst/>
          </a:prstGeom>
        </p:spPr>
      </p:pic>
    </p:spTree>
    <p:extLst>
      <p:ext uri="{BB962C8B-B14F-4D97-AF65-F5344CB8AC3E}">
        <p14:creationId xmlns:p14="http://schemas.microsoft.com/office/powerpoint/2010/main" val="4242893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1246495"/>
          </a:xfrm>
          <a:prstGeom prst="rect">
            <a:avLst/>
          </a:prstGeom>
          <a:noFill/>
        </p:spPr>
        <p:txBody>
          <a:bodyPr wrap="square" rtlCol="0">
            <a:spAutoFit/>
          </a:bodyPr>
          <a:lstStyle/>
          <a:p>
            <a:pPr algn="just"/>
            <a:r>
              <a:rPr lang="en-US" sz="2500" dirty="0">
                <a:latin typeface="Nunito Sans" panose="00000500000000000000" pitchFamily="2" charset="0"/>
              </a:rPr>
              <a:t>Two Choco sticks are 48 cm and 64 cm long. If we have to make them into a number of Choco sticks of equal size, then minimum number of similar Choco sticks is:</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330083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87559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45035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50145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30083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7</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87559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16</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45035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24</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50145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26</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9</a:t>
            </a:r>
          </a:p>
        </p:txBody>
      </p:sp>
      <p:pic>
        <p:nvPicPr>
          <p:cNvPr id="2" name="Picture 1">
            <a:extLst>
              <a:ext uri="{FF2B5EF4-FFF2-40B4-BE49-F238E27FC236}">
                <a16:creationId xmlns:a16="http://schemas.microsoft.com/office/drawing/2014/main" id="{7EA33856-507D-1F8C-77EF-99C2C44A348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53600" y="6324600"/>
            <a:ext cx="2356485" cy="298450"/>
          </a:xfrm>
          <a:prstGeom prst="rect">
            <a:avLst/>
          </a:prstGeom>
        </p:spPr>
      </p:pic>
    </p:spTree>
    <p:extLst>
      <p:ext uri="{BB962C8B-B14F-4D97-AF65-F5344CB8AC3E}">
        <p14:creationId xmlns:p14="http://schemas.microsoft.com/office/powerpoint/2010/main" val="22780774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1246495"/>
          </a:xfrm>
          <a:prstGeom prst="rect">
            <a:avLst/>
          </a:prstGeom>
          <a:noFill/>
        </p:spPr>
        <p:txBody>
          <a:bodyPr wrap="square" rtlCol="0">
            <a:spAutoFit/>
          </a:bodyPr>
          <a:lstStyle/>
          <a:p>
            <a:pPr algn="just"/>
            <a:r>
              <a:rPr lang="en-US" sz="2500" dirty="0">
                <a:latin typeface="Nunito Sans" panose="00000500000000000000" pitchFamily="2" charset="0"/>
              </a:rPr>
              <a:t>Two flash lamps can be seen from an apartment. The first flashes once every 4 seconds and the other flashes once every 6 seconds. If they flash at the same time, how long will it be before they flash at the same time again?</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330083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87559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45035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50145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30083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2</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87559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12</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45035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24</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50145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30</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10</a:t>
            </a:r>
          </a:p>
        </p:txBody>
      </p:sp>
      <p:pic>
        <p:nvPicPr>
          <p:cNvPr id="2" name="Picture 1">
            <a:extLst>
              <a:ext uri="{FF2B5EF4-FFF2-40B4-BE49-F238E27FC236}">
                <a16:creationId xmlns:a16="http://schemas.microsoft.com/office/drawing/2014/main" id="{3D4434AC-3FF0-EDB2-E049-6FC7C1FF23A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53600" y="6324600"/>
            <a:ext cx="2356485" cy="298450"/>
          </a:xfrm>
          <a:prstGeom prst="rect">
            <a:avLst/>
          </a:prstGeom>
        </p:spPr>
      </p:pic>
    </p:spTree>
    <p:extLst>
      <p:ext uri="{BB962C8B-B14F-4D97-AF65-F5344CB8AC3E}">
        <p14:creationId xmlns:p14="http://schemas.microsoft.com/office/powerpoint/2010/main" val="34478031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861774"/>
          </a:xfrm>
          <a:prstGeom prst="rect">
            <a:avLst/>
          </a:prstGeom>
          <a:noFill/>
        </p:spPr>
        <p:txBody>
          <a:bodyPr wrap="square" rtlCol="0">
            <a:spAutoFit/>
          </a:bodyPr>
          <a:lstStyle/>
          <a:p>
            <a:pPr algn="just"/>
            <a:r>
              <a:rPr lang="en-US" sz="2500" dirty="0">
                <a:latin typeface="Nunito Sans" panose="00000500000000000000" pitchFamily="2" charset="0"/>
              </a:rPr>
              <a:t>The ratio of two numbers is 13:7 and their HCF is 15. What is the sum of two numbers?</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330083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87559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45035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50145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30083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5</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87559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300</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45035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1365</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50145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35</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11</a:t>
            </a:r>
          </a:p>
        </p:txBody>
      </p:sp>
      <p:pic>
        <p:nvPicPr>
          <p:cNvPr id="2" name="Picture 1">
            <a:extLst>
              <a:ext uri="{FF2B5EF4-FFF2-40B4-BE49-F238E27FC236}">
                <a16:creationId xmlns:a16="http://schemas.microsoft.com/office/drawing/2014/main" id="{2A66591F-08C5-9B7B-12C3-BD9156B51F7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53600" y="6324600"/>
            <a:ext cx="2356485" cy="298450"/>
          </a:xfrm>
          <a:prstGeom prst="rect">
            <a:avLst/>
          </a:prstGeom>
        </p:spPr>
      </p:pic>
    </p:spTree>
    <p:extLst>
      <p:ext uri="{BB962C8B-B14F-4D97-AF65-F5344CB8AC3E}">
        <p14:creationId xmlns:p14="http://schemas.microsoft.com/office/powerpoint/2010/main" val="1054339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477054"/>
          </a:xfrm>
          <a:prstGeom prst="rect">
            <a:avLst/>
          </a:prstGeom>
          <a:noFill/>
        </p:spPr>
        <p:txBody>
          <a:bodyPr wrap="square" rtlCol="0">
            <a:spAutoFit/>
          </a:bodyPr>
          <a:lstStyle/>
          <a:p>
            <a:pPr algn="just"/>
            <a:r>
              <a:rPr lang="en-US" sz="2500" dirty="0">
                <a:latin typeface="Nunito Sans" panose="00000500000000000000" pitchFamily="2" charset="0"/>
              </a:rPr>
              <a:t>Find the LCM and HCF of 7/9, 63/8, 9/7.</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330083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87559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45035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50145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30083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63, 1/504</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87559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3969/504, 1/24</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45035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72, 79/24</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50145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63, 504</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12</a:t>
            </a:r>
          </a:p>
        </p:txBody>
      </p:sp>
      <p:pic>
        <p:nvPicPr>
          <p:cNvPr id="2" name="Picture 1">
            <a:extLst>
              <a:ext uri="{FF2B5EF4-FFF2-40B4-BE49-F238E27FC236}">
                <a16:creationId xmlns:a16="http://schemas.microsoft.com/office/drawing/2014/main" id="{F1D5C2B0-F429-BEC8-5E27-21BD8471732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53600" y="6324600"/>
            <a:ext cx="2356485" cy="298450"/>
          </a:xfrm>
          <a:prstGeom prst="rect">
            <a:avLst/>
          </a:prstGeom>
        </p:spPr>
      </p:pic>
    </p:spTree>
    <p:extLst>
      <p:ext uri="{BB962C8B-B14F-4D97-AF65-F5344CB8AC3E}">
        <p14:creationId xmlns:p14="http://schemas.microsoft.com/office/powerpoint/2010/main" val="40565098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861774"/>
          </a:xfrm>
          <a:prstGeom prst="rect">
            <a:avLst/>
          </a:prstGeom>
          <a:noFill/>
        </p:spPr>
        <p:txBody>
          <a:bodyPr wrap="square" rtlCol="0">
            <a:spAutoFit/>
          </a:bodyPr>
          <a:lstStyle/>
          <a:p>
            <a:pPr algn="just"/>
            <a:r>
              <a:rPr lang="en-US" sz="2500" dirty="0">
                <a:latin typeface="Nunito Sans" panose="00000500000000000000" pitchFamily="2" charset="0"/>
              </a:rPr>
              <a:t>Two sticks are 36 cm and 48 cm long. If we have to make them of equal size, then minimum number of similar sticks is:</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330083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87559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45035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50145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30083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7</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87559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12</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45035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144</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50145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84</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13</a:t>
            </a:r>
          </a:p>
        </p:txBody>
      </p:sp>
      <p:pic>
        <p:nvPicPr>
          <p:cNvPr id="2" name="Picture 1">
            <a:extLst>
              <a:ext uri="{FF2B5EF4-FFF2-40B4-BE49-F238E27FC236}">
                <a16:creationId xmlns:a16="http://schemas.microsoft.com/office/drawing/2014/main" id="{C1926196-E079-9118-A7E3-03AA12BED87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53600" y="6324600"/>
            <a:ext cx="2356485" cy="298450"/>
          </a:xfrm>
          <a:prstGeom prst="rect">
            <a:avLst/>
          </a:prstGeom>
        </p:spPr>
      </p:pic>
    </p:spTree>
    <p:extLst>
      <p:ext uri="{BB962C8B-B14F-4D97-AF65-F5344CB8AC3E}">
        <p14:creationId xmlns:p14="http://schemas.microsoft.com/office/powerpoint/2010/main" val="6025006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861774"/>
          </a:xfrm>
          <a:prstGeom prst="rect">
            <a:avLst/>
          </a:prstGeom>
          <a:noFill/>
        </p:spPr>
        <p:txBody>
          <a:bodyPr wrap="square" rtlCol="0">
            <a:spAutoFit/>
          </a:bodyPr>
          <a:lstStyle/>
          <a:p>
            <a:pPr algn="just"/>
            <a:r>
              <a:rPr lang="en-US" sz="2500" dirty="0">
                <a:latin typeface="Nunito Sans" panose="00000500000000000000" pitchFamily="2" charset="0"/>
              </a:rPr>
              <a:t>Which of the following can be the sum of the numbers whose LCM is 144 and HCF is 12?</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330083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87559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45035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50145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30083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144</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87559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185</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45035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176</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50145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156</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14</a:t>
            </a:r>
          </a:p>
        </p:txBody>
      </p:sp>
      <p:pic>
        <p:nvPicPr>
          <p:cNvPr id="2" name="Picture 1">
            <a:extLst>
              <a:ext uri="{FF2B5EF4-FFF2-40B4-BE49-F238E27FC236}">
                <a16:creationId xmlns:a16="http://schemas.microsoft.com/office/drawing/2014/main" id="{B1F4937C-D7EC-3044-E51A-D7A8B222ED1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53600" y="6324600"/>
            <a:ext cx="2356485" cy="298450"/>
          </a:xfrm>
          <a:prstGeom prst="rect">
            <a:avLst/>
          </a:prstGeom>
        </p:spPr>
      </p:pic>
    </p:spTree>
    <p:extLst>
      <p:ext uri="{BB962C8B-B14F-4D97-AF65-F5344CB8AC3E}">
        <p14:creationId xmlns:p14="http://schemas.microsoft.com/office/powerpoint/2010/main" val="27821456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477054"/>
          </a:xfrm>
          <a:prstGeom prst="rect">
            <a:avLst/>
          </a:prstGeom>
          <a:noFill/>
        </p:spPr>
        <p:txBody>
          <a:bodyPr wrap="square" rtlCol="0">
            <a:spAutoFit/>
          </a:bodyPr>
          <a:lstStyle/>
          <a:p>
            <a:pPr algn="just"/>
            <a:r>
              <a:rPr lang="en-US" sz="2500" dirty="0">
                <a:latin typeface="Nunito Sans" panose="00000500000000000000" pitchFamily="2" charset="0"/>
              </a:rPr>
              <a:t>Find the smallest number which is divisible by 14,22 and 26.</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330083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87559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45035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50145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30083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4004	</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87559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2002</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45035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510</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50145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1001</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15</a:t>
            </a:r>
          </a:p>
        </p:txBody>
      </p:sp>
      <p:pic>
        <p:nvPicPr>
          <p:cNvPr id="2" name="Picture 1">
            <a:extLst>
              <a:ext uri="{FF2B5EF4-FFF2-40B4-BE49-F238E27FC236}">
                <a16:creationId xmlns:a16="http://schemas.microsoft.com/office/drawing/2014/main" id="{C7FD666F-452E-13D3-3029-E2A38D4AF4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53600" y="6324600"/>
            <a:ext cx="2356485" cy="298450"/>
          </a:xfrm>
          <a:prstGeom prst="rect">
            <a:avLst/>
          </a:prstGeom>
        </p:spPr>
      </p:pic>
    </p:spTree>
    <p:extLst>
      <p:ext uri="{BB962C8B-B14F-4D97-AF65-F5344CB8AC3E}">
        <p14:creationId xmlns:p14="http://schemas.microsoft.com/office/powerpoint/2010/main" val="41277586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861774"/>
          </a:xfrm>
          <a:prstGeom prst="rect">
            <a:avLst/>
          </a:prstGeom>
          <a:noFill/>
        </p:spPr>
        <p:txBody>
          <a:bodyPr wrap="square" rtlCol="0">
            <a:spAutoFit/>
          </a:bodyPr>
          <a:lstStyle/>
          <a:p>
            <a:pPr algn="just"/>
            <a:r>
              <a:rPr lang="en-US" sz="2500" dirty="0">
                <a:latin typeface="Nunito Sans" panose="00000500000000000000" pitchFamily="2" charset="0"/>
              </a:rPr>
              <a:t>Greatest Common Divisor of two numbers is 8 while their Least Common Multiple is 144. Find the other number if one number is 16. </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330083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87559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45035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50145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30083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108</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87559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96</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45035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72</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50145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36</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16</a:t>
            </a:r>
          </a:p>
        </p:txBody>
      </p:sp>
      <p:pic>
        <p:nvPicPr>
          <p:cNvPr id="2" name="Picture 1">
            <a:extLst>
              <a:ext uri="{FF2B5EF4-FFF2-40B4-BE49-F238E27FC236}">
                <a16:creationId xmlns:a16="http://schemas.microsoft.com/office/drawing/2014/main" id="{4BAD2788-08C5-22F3-1876-D8B1EF031E9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53600" y="6324600"/>
            <a:ext cx="2356485" cy="298450"/>
          </a:xfrm>
          <a:prstGeom prst="rect">
            <a:avLst/>
          </a:prstGeom>
        </p:spPr>
      </p:pic>
    </p:spTree>
    <p:extLst>
      <p:ext uri="{BB962C8B-B14F-4D97-AF65-F5344CB8AC3E}">
        <p14:creationId xmlns:p14="http://schemas.microsoft.com/office/powerpoint/2010/main" val="31217021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861774"/>
          </a:xfrm>
          <a:prstGeom prst="rect">
            <a:avLst/>
          </a:prstGeom>
          <a:noFill/>
        </p:spPr>
        <p:txBody>
          <a:bodyPr wrap="square" rtlCol="0">
            <a:spAutoFit/>
          </a:bodyPr>
          <a:lstStyle/>
          <a:p>
            <a:pPr algn="just"/>
            <a:r>
              <a:rPr lang="en-US" sz="2500" dirty="0">
                <a:latin typeface="Nunito Sans" panose="00000500000000000000" pitchFamily="2" charset="0"/>
              </a:rPr>
              <a:t>LCM of two numbers is 138. But their GCD is 23. The numbers are in a ratio 1:6. Which is the largest number amongst the two? </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330083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87559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45035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50145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30083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46</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87559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138</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45035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69</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50145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23</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17</a:t>
            </a:r>
          </a:p>
        </p:txBody>
      </p:sp>
      <p:pic>
        <p:nvPicPr>
          <p:cNvPr id="2" name="Picture 1">
            <a:extLst>
              <a:ext uri="{FF2B5EF4-FFF2-40B4-BE49-F238E27FC236}">
                <a16:creationId xmlns:a16="http://schemas.microsoft.com/office/drawing/2014/main" id="{C1FC6821-0826-AB42-A400-4375E9FE118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53600" y="6324600"/>
            <a:ext cx="2356485" cy="298450"/>
          </a:xfrm>
          <a:prstGeom prst="rect">
            <a:avLst/>
          </a:prstGeom>
        </p:spPr>
      </p:pic>
    </p:spTree>
    <p:extLst>
      <p:ext uri="{BB962C8B-B14F-4D97-AF65-F5344CB8AC3E}">
        <p14:creationId xmlns:p14="http://schemas.microsoft.com/office/powerpoint/2010/main" val="36438645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1246495"/>
          </a:xfrm>
          <a:prstGeom prst="rect">
            <a:avLst/>
          </a:prstGeom>
          <a:noFill/>
        </p:spPr>
        <p:txBody>
          <a:bodyPr wrap="square" rtlCol="0">
            <a:spAutoFit/>
          </a:bodyPr>
          <a:lstStyle/>
          <a:p>
            <a:pPr algn="just"/>
            <a:r>
              <a:rPr lang="en-US" sz="2500" dirty="0">
                <a:latin typeface="Nunito Sans" panose="00000500000000000000" pitchFamily="2" charset="0"/>
              </a:rPr>
              <a:t>The least common multiple of two numbers is 168 and highest common factor of them is 12. If the difference between the numbers is 60, what is the sum of the numbers? </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330083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87559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45035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50145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30083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108</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87559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96</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45035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122</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50145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144</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18</a:t>
            </a:r>
          </a:p>
        </p:txBody>
      </p:sp>
      <p:pic>
        <p:nvPicPr>
          <p:cNvPr id="2" name="Picture 1">
            <a:extLst>
              <a:ext uri="{FF2B5EF4-FFF2-40B4-BE49-F238E27FC236}">
                <a16:creationId xmlns:a16="http://schemas.microsoft.com/office/drawing/2014/main" id="{175B4134-D76C-3FAE-0F1D-C228380A530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53600" y="6324600"/>
            <a:ext cx="2356485" cy="298450"/>
          </a:xfrm>
          <a:prstGeom prst="rect">
            <a:avLst/>
          </a:prstGeom>
        </p:spPr>
      </p:pic>
    </p:spTree>
    <p:extLst>
      <p:ext uri="{BB962C8B-B14F-4D97-AF65-F5344CB8AC3E}">
        <p14:creationId xmlns:p14="http://schemas.microsoft.com/office/powerpoint/2010/main" val="38691042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861774"/>
          </a:xfrm>
          <a:prstGeom prst="rect">
            <a:avLst/>
          </a:prstGeom>
          <a:noFill/>
        </p:spPr>
        <p:txBody>
          <a:bodyPr wrap="square" rtlCol="0">
            <a:spAutoFit/>
          </a:bodyPr>
          <a:lstStyle/>
          <a:p>
            <a:pPr algn="just"/>
            <a:r>
              <a:rPr lang="en-US" sz="2500" dirty="0">
                <a:latin typeface="Nunito Sans" panose="00000500000000000000" pitchFamily="2" charset="0"/>
              </a:rPr>
              <a:t>If least common multiple of two numbers is 225 and the highest common factor is 5 then find the numbers when one of the numbers is 25? </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330083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87559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45035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50145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30083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75</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87559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65</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45035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15</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50145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45</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19</a:t>
            </a:r>
          </a:p>
        </p:txBody>
      </p:sp>
      <p:pic>
        <p:nvPicPr>
          <p:cNvPr id="2" name="Picture 1">
            <a:extLst>
              <a:ext uri="{FF2B5EF4-FFF2-40B4-BE49-F238E27FC236}">
                <a16:creationId xmlns:a16="http://schemas.microsoft.com/office/drawing/2014/main" id="{68D76275-676D-4C3E-DF40-70B772357C9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53600" y="6324600"/>
            <a:ext cx="2356485" cy="298450"/>
          </a:xfrm>
          <a:prstGeom prst="rect">
            <a:avLst/>
          </a:prstGeom>
        </p:spPr>
      </p:pic>
    </p:spTree>
    <p:extLst>
      <p:ext uri="{BB962C8B-B14F-4D97-AF65-F5344CB8AC3E}">
        <p14:creationId xmlns:p14="http://schemas.microsoft.com/office/powerpoint/2010/main" val="22418199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477054"/>
          </a:xfrm>
          <a:prstGeom prst="rect">
            <a:avLst/>
          </a:prstGeom>
          <a:noFill/>
        </p:spPr>
        <p:txBody>
          <a:bodyPr wrap="square" rtlCol="0">
            <a:spAutoFit/>
          </a:bodyPr>
          <a:lstStyle/>
          <a:p>
            <a:pPr algn="just"/>
            <a:r>
              <a:rPr lang="en-US" sz="2500" dirty="0">
                <a:latin typeface="Nunito Sans" panose="00000500000000000000" pitchFamily="2" charset="0"/>
              </a:rPr>
              <a:t>The greatest number of four digits which is divisible by 15, 25, 40, 75 is </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330083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87559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45035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50145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30083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600</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87559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9000</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45035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9600</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50145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9400</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20</a:t>
            </a:r>
          </a:p>
        </p:txBody>
      </p:sp>
      <p:pic>
        <p:nvPicPr>
          <p:cNvPr id="2" name="Picture 1">
            <a:extLst>
              <a:ext uri="{FF2B5EF4-FFF2-40B4-BE49-F238E27FC236}">
                <a16:creationId xmlns:a16="http://schemas.microsoft.com/office/drawing/2014/main" id="{C021C676-B3A5-BEAC-89EC-42E54AE0FD4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53600" y="6324600"/>
            <a:ext cx="2356485" cy="298450"/>
          </a:xfrm>
          <a:prstGeom prst="rect">
            <a:avLst/>
          </a:prstGeom>
        </p:spPr>
      </p:pic>
    </p:spTree>
    <p:extLst>
      <p:ext uri="{BB962C8B-B14F-4D97-AF65-F5344CB8AC3E}">
        <p14:creationId xmlns:p14="http://schemas.microsoft.com/office/powerpoint/2010/main" val="2951360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1246495"/>
          </a:xfrm>
          <a:prstGeom prst="rect">
            <a:avLst/>
          </a:prstGeom>
          <a:noFill/>
        </p:spPr>
        <p:txBody>
          <a:bodyPr wrap="square" rtlCol="0">
            <a:spAutoFit/>
          </a:bodyPr>
          <a:lstStyle/>
          <a:p>
            <a:pPr algn="just"/>
            <a:r>
              <a:rPr lang="en-US" sz="2500" dirty="0">
                <a:latin typeface="Nunito Sans" panose="00000500000000000000" pitchFamily="2" charset="0"/>
              </a:rPr>
              <a:t>What is the least number which when divided by the numbers 3, 5, 6, 8, 10 and 12 leaves in each case a remainder 2 but which when divided by 13 leaves no remainder? </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330083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87559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45035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50145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30083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312</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87559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962</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45035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1586</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50145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1562</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21</a:t>
            </a:r>
          </a:p>
        </p:txBody>
      </p:sp>
      <p:pic>
        <p:nvPicPr>
          <p:cNvPr id="2" name="Picture 1">
            <a:extLst>
              <a:ext uri="{FF2B5EF4-FFF2-40B4-BE49-F238E27FC236}">
                <a16:creationId xmlns:a16="http://schemas.microsoft.com/office/drawing/2014/main" id="{399E24CD-095E-798D-6984-7E62E732701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53600" y="6324600"/>
            <a:ext cx="2356485" cy="298450"/>
          </a:xfrm>
          <a:prstGeom prst="rect">
            <a:avLst/>
          </a:prstGeom>
        </p:spPr>
      </p:pic>
    </p:spTree>
    <p:extLst>
      <p:ext uri="{BB962C8B-B14F-4D97-AF65-F5344CB8AC3E}">
        <p14:creationId xmlns:p14="http://schemas.microsoft.com/office/powerpoint/2010/main" val="31239322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861774"/>
          </a:xfrm>
          <a:prstGeom prst="rect">
            <a:avLst/>
          </a:prstGeom>
          <a:noFill/>
        </p:spPr>
        <p:txBody>
          <a:bodyPr wrap="square" rtlCol="0">
            <a:spAutoFit/>
          </a:bodyPr>
          <a:lstStyle/>
          <a:p>
            <a:pPr algn="just"/>
            <a:r>
              <a:rPr lang="en-US" sz="2500" dirty="0">
                <a:latin typeface="Nunito Sans" panose="00000500000000000000" pitchFamily="2" charset="0"/>
              </a:rPr>
              <a:t>When a number is divided by 893 the remainder is 193. What will be the remainder when it is divided by 47? </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330083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87559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45035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50145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30083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19</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87559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5</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45035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33</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50145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23</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22</a:t>
            </a:r>
          </a:p>
        </p:txBody>
      </p:sp>
      <p:pic>
        <p:nvPicPr>
          <p:cNvPr id="2" name="Picture 1">
            <a:extLst>
              <a:ext uri="{FF2B5EF4-FFF2-40B4-BE49-F238E27FC236}">
                <a16:creationId xmlns:a16="http://schemas.microsoft.com/office/drawing/2014/main" id="{4D9ED1DF-03A7-6277-8B81-9634DA538BF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53600" y="6324600"/>
            <a:ext cx="2356485" cy="298450"/>
          </a:xfrm>
          <a:prstGeom prst="rect">
            <a:avLst/>
          </a:prstGeom>
        </p:spPr>
      </p:pic>
    </p:spTree>
    <p:extLst>
      <p:ext uri="{BB962C8B-B14F-4D97-AF65-F5344CB8AC3E}">
        <p14:creationId xmlns:p14="http://schemas.microsoft.com/office/powerpoint/2010/main" val="38894033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861774"/>
          </a:xfrm>
          <a:prstGeom prst="rect">
            <a:avLst/>
          </a:prstGeom>
          <a:noFill/>
        </p:spPr>
        <p:txBody>
          <a:bodyPr wrap="square" rtlCol="0">
            <a:spAutoFit/>
          </a:bodyPr>
          <a:lstStyle/>
          <a:p>
            <a:pPr algn="just"/>
            <a:r>
              <a:rPr lang="en-US" sz="2500" dirty="0">
                <a:latin typeface="Nunito Sans" panose="00000500000000000000" pitchFamily="2" charset="0"/>
              </a:rPr>
              <a:t>The sum of two numbers is 156 and their HCF is 13. The numbers of such number pairs is </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330083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87559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45035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50145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30083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2</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87559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5</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45035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4</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50145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3</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23</a:t>
            </a:r>
          </a:p>
        </p:txBody>
      </p:sp>
      <p:pic>
        <p:nvPicPr>
          <p:cNvPr id="2" name="Picture 1">
            <a:extLst>
              <a:ext uri="{FF2B5EF4-FFF2-40B4-BE49-F238E27FC236}">
                <a16:creationId xmlns:a16="http://schemas.microsoft.com/office/drawing/2014/main" id="{7FD6ECCB-D000-DC9E-203F-6FD856F227C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53600" y="6324600"/>
            <a:ext cx="2356485" cy="298450"/>
          </a:xfrm>
          <a:prstGeom prst="rect">
            <a:avLst/>
          </a:prstGeom>
        </p:spPr>
      </p:pic>
    </p:spTree>
    <p:extLst>
      <p:ext uri="{BB962C8B-B14F-4D97-AF65-F5344CB8AC3E}">
        <p14:creationId xmlns:p14="http://schemas.microsoft.com/office/powerpoint/2010/main" val="23179245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861774"/>
          </a:xfrm>
          <a:prstGeom prst="rect">
            <a:avLst/>
          </a:prstGeom>
          <a:noFill/>
        </p:spPr>
        <p:txBody>
          <a:bodyPr wrap="square" rtlCol="0">
            <a:spAutoFit/>
          </a:bodyPr>
          <a:lstStyle/>
          <a:p>
            <a:pPr algn="just"/>
            <a:r>
              <a:rPr lang="en-US" sz="2500" dirty="0">
                <a:latin typeface="Nunito Sans" panose="00000500000000000000" pitchFamily="2" charset="0"/>
              </a:rPr>
              <a:t>The L.C.M. of two numbers is 14560 and their H.C.F. is 13. If one of them is 416, the other is </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330083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87559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45035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50145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30083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460</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87559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455</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45035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450</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50145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445</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24</a:t>
            </a:r>
          </a:p>
        </p:txBody>
      </p:sp>
      <p:pic>
        <p:nvPicPr>
          <p:cNvPr id="2" name="Picture 1">
            <a:extLst>
              <a:ext uri="{FF2B5EF4-FFF2-40B4-BE49-F238E27FC236}">
                <a16:creationId xmlns:a16="http://schemas.microsoft.com/office/drawing/2014/main" id="{3FBC1663-F2B7-C4A9-D24E-2A02806F5FF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53600" y="6324600"/>
            <a:ext cx="2356485" cy="298450"/>
          </a:xfrm>
          <a:prstGeom prst="rect">
            <a:avLst/>
          </a:prstGeom>
        </p:spPr>
      </p:pic>
    </p:spTree>
    <p:extLst>
      <p:ext uri="{BB962C8B-B14F-4D97-AF65-F5344CB8AC3E}">
        <p14:creationId xmlns:p14="http://schemas.microsoft.com/office/powerpoint/2010/main" val="20814810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861774"/>
          </a:xfrm>
          <a:prstGeom prst="rect">
            <a:avLst/>
          </a:prstGeom>
          <a:noFill/>
        </p:spPr>
        <p:txBody>
          <a:bodyPr wrap="square" rtlCol="0">
            <a:spAutoFit/>
          </a:bodyPr>
          <a:lstStyle/>
          <a:p>
            <a:pPr algn="just"/>
            <a:r>
              <a:rPr lang="en-US" sz="2500" dirty="0">
                <a:latin typeface="Nunito Sans" panose="00000500000000000000" pitchFamily="2" charset="0"/>
              </a:rPr>
              <a:t>The greatest length of the scale that can measure exactly 30 cm, 90 cm, 1 m 20 cm and 1 m 35 cm lengths is </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330083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87559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45035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50145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30083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5 cm</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87559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10 cm</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45035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15cm</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50145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30 cm</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25</a:t>
            </a:r>
          </a:p>
        </p:txBody>
      </p:sp>
      <p:pic>
        <p:nvPicPr>
          <p:cNvPr id="2" name="Picture 1">
            <a:extLst>
              <a:ext uri="{FF2B5EF4-FFF2-40B4-BE49-F238E27FC236}">
                <a16:creationId xmlns:a16="http://schemas.microsoft.com/office/drawing/2014/main" id="{C2299541-D47C-3DE2-2401-65F564AEB3E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53600" y="6324600"/>
            <a:ext cx="2356485" cy="298450"/>
          </a:xfrm>
          <a:prstGeom prst="rect">
            <a:avLst/>
          </a:prstGeom>
        </p:spPr>
      </p:pic>
    </p:spTree>
    <p:extLst>
      <p:ext uri="{BB962C8B-B14F-4D97-AF65-F5344CB8AC3E}">
        <p14:creationId xmlns:p14="http://schemas.microsoft.com/office/powerpoint/2010/main" val="15118012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1246495"/>
          </a:xfrm>
          <a:prstGeom prst="rect">
            <a:avLst/>
          </a:prstGeom>
          <a:noFill/>
        </p:spPr>
        <p:txBody>
          <a:bodyPr wrap="square" rtlCol="0">
            <a:spAutoFit/>
          </a:bodyPr>
          <a:lstStyle/>
          <a:p>
            <a:pPr algn="just"/>
            <a:r>
              <a:rPr lang="en-US" sz="2500" dirty="0">
                <a:latin typeface="Nunito Sans" panose="00000500000000000000" pitchFamily="2" charset="0"/>
              </a:rPr>
              <a:t>What will be least number of marbles with </a:t>
            </a:r>
            <a:r>
              <a:rPr lang="en-US" sz="2500" dirty="0" err="1">
                <a:latin typeface="Nunito Sans" panose="00000500000000000000" pitchFamily="2" charset="0"/>
              </a:rPr>
              <a:t>Rohit</a:t>
            </a:r>
            <a:r>
              <a:rPr lang="en-US" sz="2500" dirty="0">
                <a:latin typeface="Nunito Sans" panose="00000500000000000000" pitchFamily="2" charset="0"/>
              </a:rPr>
              <a:t> if he can arrange them in rows of 18, 10 and 15 marbles each as well as make a perfect solid square out of all the marbles? </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330083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87559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45035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50145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30083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133</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87559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43</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45035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90</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50145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900</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26</a:t>
            </a:r>
          </a:p>
        </p:txBody>
      </p:sp>
      <p:pic>
        <p:nvPicPr>
          <p:cNvPr id="2" name="Picture 1">
            <a:extLst>
              <a:ext uri="{FF2B5EF4-FFF2-40B4-BE49-F238E27FC236}">
                <a16:creationId xmlns:a16="http://schemas.microsoft.com/office/drawing/2014/main" id="{1B0B5909-39C3-C87D-C0EA-81A09C54767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53600" y="6324600"/>
            <a:ext cx="2356485" cy="298450"/>
          </a:xfrm>
          <a:prstGeom prst="rect">
            <a:avLst/>
          </a:prstGeom>
        </p:spPr>
      </p:pic>
    </p:spTree>
    <p:extLst>
      <p:ext uri="{BB962C8B-B14F-4D97-AF65-F5344CB8AC3E}">
        <p14:creationId xmlns:p14="http://schemas.microsoft.com/office/powerpoint/2010/main" val="18652587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1246495"/>
          </a:xfrm>
          <a:prstGeom prst="rect">
            <a:avLst/>
          </a:prstGeom>
          <a:noFill/>
        </p:spPr>
        <p:txBody>
          <a:bodyPr wrap="square" rtlCol="0">
            <a:spAutoFit/>
          </a:bodyPr>
          <a:lstStyle/>
          <a:p>
            <a:pPr algn="just"/>
            <a:r>
              <a:rPr lang="en-US" sz="2500" dirty="0">
                <a:latin typeface="Nunito Sans" panose="00000500000000000000" pitchFamily="2" charset="0"/>
              </a:rPr>
              <a:t> 3 birds fly along the circumference of a jungle. They complete one round in 27 minutes, 45 minutes and 63 minutes respectively. Since they start together, when will they meet again at the starting position? </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330083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87559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45035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50145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30083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945 minutes</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87559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126 minutes</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45035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135 minutes</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50145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9 hours</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27</a:t>
            </a:r>
          </a:p>
        </p:txBody>
      </p:sp>
      <p:pic>
        <p:nvPicPr>
          <p:cNvPr id="2" name="Picture 1">
            <a:extLst>
              <a:ext uri="{FF2B5EF4-FFF2-40B4-BE49-F238E27FC236}">
                <a16:creationId xmlns:a16="http://schemas.microsoft.com/office/drawing/2014/main" id="{0BC1DD91-666F-2636-BE83-8C19E4AA06C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53600" y="6324600"/>
            <a:ext cx="2356485" cy="298450"/>
          </a:xfrm>
          <a:prstGeom prst="rect">
            <a:avLst/>
          </a:prstGeom>
        </p:spPr>
      </p:pic>
    </p:spTree>
    <p:extLst>
      <p:ext uri="{BB962C8B-B14F-4D97-AF65-F5344CB8AC3E}">
        <p14:creationId xmlns:p14="http://schemas.microsoft.com/office/powerpoint/2010/main" val="6259420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861774"/>
          </a:xfrm>
          <a:prstGeom prst="rect">
            <a:avLst/>
          </a:prstGeom>
          <a:noFill/>
        </p:spPr>
        <p:txBody>
          <a:bodyPr wrap="square" rtlCol="0">
            <a:spAutoFit/>
          </a:bodyPr>
          <a:lstStyle/>
          <a:p>
            <a:pPr algn="just"/>
            <a:r>
              <a:rPr lang="en-US" sz="2500" dirty="0">
                <a:latin typeface="Nunito Sans" panose="00000500000000000000" pitchFamily="2" charset="0"/>
              </a:rPr>
              <a:t>What least possible 4-digit number, when divided by 12, 16, 18 and 20 leaves 21 as remainder? </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330083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87559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45035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50145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30083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36</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87559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133</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45035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144</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50145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1461</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28</a:t>
            </a:r>
          </a:p>
        </p:txBody>
      </p:sp>
      <p:pic>
        <p:nvPicPr>
          <p:cNvPr id="2" name="Picture 1">
            <a:extLst>
              <a:ext uri="{FF2B5EF4-FFF2-40B4-BE49-F238E27FC236}">
                <a16:creationId xmlns:a16="http://schemas.microsoft.com/office/drawing/2014/main" id="{8BCCC729-DB15-67C0-F187-B7903DE0B54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53600" y="6324600"/>
            <a:ext cx="2356485" cy="298450"/>
          </a:xfrm>
          <a:prstGeom prst="rect">
            <a:avLst/>
          </a:prstGeom>
        </p:spPr>
      </p:pic>
    </p:spTree>
    <p:extLst>
      <p:ext uri="{BB962C8B-B14F-4D97-AF65-F5344CB8AC3E}">
        <p14:creationId xmlns:p14="http://schemas.microsoft.com/office/powerpoint/2010/main" val="30168545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1246495"/>
          </a:xfrm>
          <a:prstGeom prst="rect">
            <a:avLst/>
          </a:prstGeom>
          <a:noFill/>
        </p:spPr>
        <p:txBody>
          <a:bodyPr wrap="square" rtlCol="0">
            <a:spAutoFit/>
          </a:bodyPr>
          <a:lstStyle/>
          <a:p>
            <a:pPr algn="just"/>
            <a:r>
              <a:rPr lang="en-US" sz="2500" dirty="0">
                <a:latin typeface="Nunito Sans" panose="00000500000000000000" pitchFamily="2" charset="0"/>
              </a:rPr>
              <a:t>5 clocks ring automatically at intervals of 12 minutes, 8 minutes, 3 minutes, 4 minutes and 10 minutes, respectively. In 8 hours from the moment they start, how many times will they ring together? </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330083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87559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45035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50145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30083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12 times</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87559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5 times</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45035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3 times</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50145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4 times</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29</a:t>
            </a:r>
          </a:p>
        </p:txBody>
      </p:sp>
      <p:pic>
        <p:nvPicPr>
          <p:cNvPr id="2" name="Picture 1">
            <a:extLst>
              <a:ext uri="{FF2B5EF4-FFF2-40B4-BE49-F238E27FC236}">
                <a16:creationId xmlns:a16="http://schemas.microsoft.com/office/drawing/2014/main" id="{89EF8477-6365-A7E5-1DA0-D0D69739543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53600" y="6324600"/>
            <a:ext cx="2356485" cy="298450"/>
          </a:xfrm>
          <a:prstGeom prst="rect">
            <a:avLst/>
          </a:prstGeom>
        </p:spPr>
      </p:pic>
    </p:spTree>
    <p:extLst>
      <p:ext uri="{BB962C8B-B14F-4D97-AF65-F5344CB8AC3E}">
        <p14:creationId xmlns:p14="http://schemas.microsoft.com/office/powerpoint/2010/main" val="12624406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861774"/>
          </a:xfrm>
          <a:prstGeom prst="rect">
            <a:avLst/>
          </a:prstGeom>
          <a:noFill/>
        </p:spPr>
        <p:txBody>
          <a:bodyPr wrap="square" rtlCol="0">
            <a:spAutoFit/>
          </a:bodyPr>
          <a:lstStyle/>
          <a:p>
            <a:pPr algn="just"/>
            <a:r>
              <a:rPr lang="en-US" sz="2500" dirty="0">
                <a:latin typeface="Nunito Sans" panose="00000500000000000000" pitchFamily="2" charset="0"/>
              </a:rPr>
              <a:t>What least number when divided by 36, 24 and 16 leaves 11 as remainder in each case? </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330083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87559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4450351"/>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50145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30083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36</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87559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133</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4450351"/>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144</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50145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155</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30</a:t>
            </a:r>
          </a:p>
        </p:txBody>
      </p:sp>
      <p:pic>
        <p:nvPicPr>
          <p:cNvPr id="2" name="Picture 1">
            <a:extLst>
              <a:ext uri="{FF2B5EF4-FFF2-40B4-BE49-F238E27FC236}">
                <a16:creationId xmlns:a16="http://schemas.microsoft.com/office/drawing/2014/main" id="{8277BD76-E50D-9F22-A2A5-1309C7FF8D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53600" y="6324600"/>
            <a:ext cx="2356485" cy="298450"/>
          </a:xfrm>
          <a:prstGeom prst="rect">
            <a:avLst/>
          </a:prstGeom>
        </p:spPr>
      </p:pic>
    </p:spTree>
    <p:extLst>
      <p:ext uri="{BB962C8B-B14F-4D97-AF65-F5344CB8AC3E}">
        <p14:creationId xmlns:p14="http://schemas.microsoft.com/office/powerpoint/2010/main" val="26451905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D71EE1CC-5860-4236-A6FD-56296450190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rot="355158">
            <a:off x="-214550" y="3101269"/>
            <a:ext cx="4219796" cy="3942674"/>
          </a:xfrm>
          <a:custGeom>
            <a:avLst/>
            <a:gdLst>
              <a:gd name="connsiteX0" fmla="*/ 0 w 4219796"/>
              <a:gd name="connsiteY0" fmla="*/ 0 h 3942674"/>
              <a:gd name="connsiteX1" fmla="*/ 4219796 w 4219796"/>
              <a:gd name="connsiteY1" fmla="*/ 0 h 3942674"/>
              <a:gd name="connsiteX2" fmla="*/ 4219796 w 4219796"/>
              <a:gd name="connsiteY2" fmla="*/ 3547546 h 3942674"/>
              <a:gd name="connsiteX3" fmla="*/ 408778 w 4219796"/>
              <a:gd name="connsiteY3" fmla="*/ 3942674 h 3942674"/>
            </a:gdLst>
            <a:ahLst/>
            <a:cxnLst>
              <a:cxn ang="0">
                <a:pos x="connsiteX0" y="connsiteY0"/>
              </a:cxn>
              <a:cxn ang="0">
                <a:pos x="connsiteX1" y="connsiteY1"/>
              </a:cxn>
              <a:cxn ang="0">
                <a:pos x="connsiteX2" y="connsiteY2"/>
              </a:cxn>
              <a:cxn ang="0">
                <a:pos x="connsiteX3" y="connsiteY3"/>
              </a:cxn>
            </a:cxnLst>
            <a:rect l="l" t="t" r="r" b="b"/>
            <a:pathLst>
              <a:path w="4219796" h="3942674">
                <a:moveTo>
                  <a:pt x="0" y="0"/>
                </a:moveTo>
                <a:lnTo>
                  <a:pt x="4219796" y="0"/>
                </a:lnTo>
                <a:lnTo>
                  <a:pt x="4219796" y="3547546"/>
                </a:lnTo>
                <a:lnTo>
                  <a:pt x="408778" y="3942674"/>
                </a:lnTo>
                <a:close/>
              </a:path>
            </a:pathLst>
          </a:custGeom>
        </p:spPr>
      </p:pic>
      <p:sp>
        <p:nvSpPr>
          <p:cNvPr id="6" name="Rectangle 5">
            <a:extLst>
              <a:ext uri="{FF2B5EF4-FFF2-40B4-BE49-F238E27FC236}">
                <a16:creationId xmlns:a16="http://schemas.microsoft.com/office/drawing/2014/main" id="{BA29A662-E105-4DCD-B841-5AE7DE607E52}"/>
              </a:ext>
            </a:extLst>
          </p:cNvPr>
          <p:cNvSpPr/>
          <p:nvPr/>
        </p:nvSpPr>
        <p:spPr>
          <a:xfrm>
            <a:off x="0" y="2438400"/>
            <a:ext cx="12192000" cy="1323439"/>
          </a:xfrm>
          <a:prstGeom prst="rect">
            <a:avLst/>
          </a:prstGeom>
        </p:spPr>
        <p:txBody>
          <a:bodyPr wrap="square">
            <a:spAutoFit/>
          </a:bodyPr>
          <a:lstStyle/>
          <a:p>
            <a:pPr algn="ctr"/>
            <a:r>
              <a:rPr lang="en-US" sz="8000" b="1" dirty="0">
                <a:solidFill>
                  <a:srgbClr val="F05136"/>
                </a:solidFill>
                <a:latin typeface="Nunito Sans" panose="00000500000000000000" pitchFamily="2" charset="0"/>
              </a:rPr>
              <a:t>THANK YOU</a:t>
            </a:r>
            <a:endParaRPr lang="en-US" sz="8000" b="1" dirty="0">
              <a:solidFill>
                <a:srgbClr val="F05136"/>
              </a:solidFill>
            </a:endParaRPr>
          </a:p>
        </p:txBody>
      </p:sp>
      <p:pic>
        <p:nvPicPr>
          <p:cNvPr id="2" name="Picture 1">
            <a:extLst>
              <a:ext uri="{FF2B5EF4-FFF2-40B4-BE49-F238E27FC236}">
                <a16:creationId xmlns:a16="http://schemas.microsoft.com/office/drawing/2014/main" id="{57853D55-50CA-EBF7-CB80-E2579CD1CAC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753600" y="6324600"/>
            <a:ext cx="2356485" cy="298450"/>
          </a:xfrm>
          <a:prstGeom prst="rect">
            <a:avLst/>
          </a:prstGeom>
        </p:spPr>
      </p:pic>
    </p:spTree>
    <p:extLst>
      <p:ext uri="{BB962C8B-B14F-4D97-AF65-F5344CB8AC3E}">
        <p14:creationId xmlns:p14="http://schemas.microsoft.com/office/powerpoint/2010/main" val="31241366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2496</Words>
  <Application>Microsoft Office PowerPoint</Application>
  <PresentationFormat>Widescreen</PresentationFormat>
  <Paragraphs>504</Paragraphs>
  <Slides>34</Slides>
  <Notes>34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Nunito Sans</vt:lpstr>
      <vt:lpstr>Calibri</vt:lpstr>
      <vt:lpstr>Nunito Sans SemiBold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BHUVANA PERI</cp:lastModifiedBy>
  <cp:revision>1</cp:revision>
  <dcterms:created xsi:type="dcterms:W3CDTF">2019-07-10T08:30:58Z</dcterms:created>
  <dcterms:modified xsi:type="dcterms:W3CDTF">2025-09-09T10:35:35Z</dcterms:modified>
</cp:coreProperties>
</file>