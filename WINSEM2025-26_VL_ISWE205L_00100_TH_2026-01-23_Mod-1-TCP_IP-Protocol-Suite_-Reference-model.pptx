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Dr.C.NAVANEETHAN, </a:t>
            </a:r>
            <a:r>
              <a:rPr spc="-5" dirty="0"/>
              <a:t>Associate </a:t>
            </a:r>
            <a:r>
              <a:rPr spc="-20" dirty="0"/>
              <a:t>Professor, </a:t>
            </a:r>
            <a:r>
              <a:rPr spc="-5" dirty="0"/>
              <a:t>SITE,</a:t>
            </a:r>
            <a:r>
              <a:rPr spc="130" dirty="0"/>
              <a:t> </a:t>
            </a:r>
            <a:r>
              <a:rPr spc="-40" dirty="0"/>
              <a:t>VIT.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Dr.C.NAVANEETHAN, </a:t>
            </a:r>
            <a:r>
              <a:rPr spc="-5" dirty="0"/>
              <a:t>Associate </a:t>
            </a:r>
            <a:r>
              <a:rPr spc="-20" dirty="0"/>
              <a:t>Professor, </a:t>
            </a:r>
            <a:r>
              <a:rPr spc="-5" dirty="0"/>
              <a:t>SITE,</a:t>
            </a:r>
            <a:r>
              <a:rPr spc="130" dirty="0"/>
              <a:t> </a:t>
            </a:r>
            <a:r>
              <a:rPr spc="-40" dirty="0"/>
              <a:t>VIT.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Dr.C.NAVANEETHAN, </a:t>
            </a:r>
            <a:r>
              <a:rPr spc="-5" dirty="0"/>
              <a:t>Associate </a:t>
            </a:r>
            <a:r>
              <a:rPr spc="-20" dirty="0"/>
              <a:t>Professor, </a:t>
            </a:r>
            <a:r>
              <a:rPr spc="-5" dirty="0"/>
              <a:t>SITE,</a:t>
            </a:r>
            <a:r>
              <a:rPr spc="130" dirty="0"/>
              <a:t> </a:t>
            </a:r>
            <a:r>
              <a:rPr spc="-40" dirty="0"/>
              <a:t>VIT.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Dr.C.NAVANEETHAN, </a:t>
            </a:r>
            <a:r>
              <a:rPr spc="-5" dirty="0"/>
              <a:t>Associate </a:t>
            </a:r>
            <a:r>
              <a:rPr spc="-20" dirty="0"/>
              <a:t>Professor, </a:t>
            </a:r>
            <a:r>
              <a:rPr spc="-5" dirty="0"/>
              <a:t>SITE,</a:t>
            </a:r>
            <a:r>
              <a:rPr spc="130" dirty="0"/>
              <a:t> </a:t>
            </a:r>
            <a:r>
              <a:rPr spc="-40" dirty="0"/>
              <a:t>VIT.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Dr.C.NAVANEETHAN, </a:t>
            </a:r>
            <a:r>
              <a:rPr spc="-5" dirty="0"/>
              <a:t>Associate </a:t>
            </a:r>
            <a:r>
              <a:rPr spc="-20" dirty="0"/>
              <a:t>Professor, </a:t>
            </a:r>
            <a:r>
              <a:rPr spc="-5" dirty="0"/>
              <a:t>SITE,</a:t>
            </a:r>
            <a:r>
              <a:rPr spc="130" dirty="0"/>
              <a:t> </a:t>
            </a:r>
            <a:r>
              <a:rPr spc="-40" dirty="0"/>
              <a:t>VIT.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244" y="326593"/>
            <a:ext cx="10357510" cy="1287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819744"/>
            <a:ext cx="10357510" cy="2526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18405" y="6466509"/>
            <a:ext cx="3153409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Dr.C.NAVANEETHAN, </a:t>
            </a:r>
            <a:r>
              <a:rPr spc="-5" dirty="0"/>
              <a:t>Associate </a:t>
            </a:r>
            <a:r>
              <a:rPr spc="-20" dirty="0"/>
              <a:t>Professor, </a:t>
            </a:r>
            <a:r>
              <a:rPr spc="-5" dirty="0"/>
              <a:t>SITE,</a:t>
            </a:r>
            <a:r>
              <a:rPr spc="130" dirty="0"/>
              <a:t> </a:t>
            </a:r>
            <a:r>
              <a:rPr spc="-40" dirty="0"/>
              <a:t>VIT.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2145" y="2510434"/>
            <a:ext cx="681482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b="0" dirty="0">
                <a:latin typeface="Times New Roman"/>
                <a:cs typeface="Times New Roman"/>
              </a:rPr>
              <a:t>TCP/IP </a:t>
            </a:r>
            <a:r>
              <a:rPr sz="6000" b="0" spc="-5" dirty="0">
                <a:latin typeface="Times New Roman"/>
                <a:cs typeface="Times New Roman"/>
              </a:rPr>
              <a:t>Protocol</a:t>
            </a:r>
            <a:r>
              <a:rPr sz="6000" b="0" spc="-265" dirty="0">
                <a:latin typeface="Times New Roman"/>
                <a:cs typeface="Times New Roman"/>
              </a:rPr>
              <a:t> </a:t>
            </a:r>
            <a:r>
              <a:rPr sz="6000" b="0" spc="-5" dirty="0">
                <a:latin typeface="Times New Roman"/>
                <a:cs typeface="Times New Roman"/>
              </a:rPr>
              <a:t>Suite</a:t>
            </a:r>
            <a:endParaRPr sz="6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532257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TCP/IP </a:t>
            </a:r>
            <a:r>
              <a:rPr spc="-10" dirty="0"/>
              <a:t>Protocol</a:t>
            </a:r>
            <a:r>
              <a:rPr spc="-300" dirty="0"/>
              <a:t> </a:t>
            </a:r>
            <a:r>
              <a:rPr spc="-5" dirty="0"/>
              <a:t>Suite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19744"/>
            <a:ext cx="9392920" cy="29406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is a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suite -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protocols </a:t>
            </a:r>
            <a:r>
              <a:rPr sz="2400" spc="-10" dirty="0">
                <a:latin typeface="Times New Roman"/>
                <a:cs typeface="Times New Roman"/>
              </a:rPr>
              <a:t>organized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layers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5" dirty="0">
                <a:latin typeface="Times New Roman"/>
                <a:cs typeface="Times New Roman"/>
              </a:rPr>
              <a:t>Internet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today.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Five-layer</a:t>
            </a:r>
            <a:r>
              <a:rPr sz="24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hierarchical protocol </a:t>
            </a:r>
            <a:r>
              <a:rPr sz="2400" dirty="0">
                <a:latin typeface="Times New Roman"/>
                <a:cs typeface="Times New Roman"/>
              </a:rPr>
              <a:t>made up of </a:t>
            </a:r>
            <a:r>
              <a:rPr sz="2400" spc="-5" dirty="0">
                <a:latin typeface="Times New Roman"/>
                <a:cs typeface="Times New Roman"/>
              </a:rPr>
              <a:t>interactive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modules.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Each </a:t>
            </a:r>
            <a:r>
              <a:rPr sz="2400" dirty="0">
                <a:latin typeface="Times New Roman"/>
                <a:cs typeface="Times New Roman"/>
              </a:rPr>
              <a:t>module </a:t>
            </a:r>
            <a:r>
              <a:rPr sz="2400" spc="-5" dirty="0">
                <a:latin typeface="Times New Roman"/>
                <a:cs typeface="Times New Roman"/>
              </a:rPr>
              <a:t>provides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specific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functionality.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Hierarchical </a:t>
            </a:r>
            <a:r>
              <a:rPr sz="2400" spc="-5" dirty="0">
                <a:latin typeface="Times New Roman"/>
                <a:cs typeface="Times New Roman"/>
              </a:rPr>
              <a:t>means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each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upper level protocol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supported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by the</a:t>
            </a:r>
            <a:r>
              <a:rPr sz="24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services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380"/>
              </a:spcBef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provided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by one or more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lower level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protocols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845947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Layers in </a:t>
            </a:r>
            <a:r>
              <a:rPr dirty="0"/>
              <a:t>the </a:t>
            </a:r>
            <a:r>
              <a:rPr spc="-5" dirty="0"/>
              <a:t>TCP/IP </a:t>
            </a:r>
            <a:r>
              <a:rPr spc="-15" dirty="0"/>
              <a:t>protocol</a:t>
            </a:r>
            <a:r>
              <a:rPr spc="-325" dirty="0"/>
              <a:t> </a:t>
            </a:r>
            <a:r>
              <a:rPr spc="-10" dirty="0"/>
              <a:t>suite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13636"/>
            <a:ext cx="10135235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Original TCP/IP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suite </a:t>
            </a:r>
            <a:r>
              <a:rPr sz="2400" spc="-10" dirty="0">
                <a:latin typeface="Times New Roman"/>
                <a:cs typeface="Times New Roman"/>
              </a:rPr>
              <a:t>was </a:t>
            </a:r>
            <a:r>
              <a:rPr sz="2400" spc="-5" dirty="0">
                <a:latin typeface="Times New Roman"/>
                <a:cs typeface="Times New Roman"/>
              </a:rPr>
              <a:t>defined as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four software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layers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built upon</a:t>
            </a:r>
            <a:r>
              <a:rPr sz="2400" spc="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hardware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2447" y="2722211"/>
            <a:ext cx="7760070" cy="3536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2509" y="3157551"/>
            <a:ext cx="7310882" cy="2769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86893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Communication </a:t>
            </a:r>
            <a:r>
              <a:rPr spc="-15" dirty="0"/>
              <a:t>through </a:t>
            </a:r>
            <a:r>
              <a:rPr spc="-5" dirty="0"/>
              <a:t>an</a:t>
            </a:r>
            <a:r>
              <a:rPr spc="5" dirty="0"/>
              <a:t> </a:t>
            </a:r>
            <a:r>
              <a:rPr spc="-5" dirty="0"/>
              <a:t>internet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244" y="1820963"/>
            <a:ext cx="8900160" cy="30841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Small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internet </a:t>
            </a:r>
            <a:r>
              <a:rPr sz="2200" spc="-5" dirty="0">
                <a:latin typeface="Times New Roman"/>
                <a:cs typeface="Times New Roman"/>
              </a:rPr>
              <a:t>made </a:t>
            </a:r>
            <a:r>
              <a:rPr sz="2200" spc="5" dirty="0">
                <a:latin typeface="Times New Roman"/>
                <a:cs typeface="Times New Roman"/>
              </a:rPr>
              <a:t>up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three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LANs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(links),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each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with 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link-layer</a:t>
            </a:r>
            <a:r>
              <a:rPr sz="2200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switch</a:t>
            </a:r>
            <a:r>
              <a:rPr sz="2200" spc="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imes New Roman"/>
                <a:cs typeface="Times New Roman"/>
              </a:rPr>
              <a:t>Links </a:t>
            </a:r>
            <a:r>
              <a:rPr sz="2200" spc="5" dirty="0">
                <a:latin typeface="Times New Roman"/>
                <a:cs typeface="Times New Roman"/>
              </a:rPr>
              <a:t>are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connected by one</a:t>
            </a:r>
            <a:r>
              <a:rPr sz="22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imes New Roman"/>
                <a:cs typeface="Times New Roman"/>
              </a:rPr>
              <a:t>Five </a:t>
            </a:r>
            <a:r>
              <a:rPr sz="2200" dirty="0">
                <a:latin typeface="Times New Roman"/>
                <a:cs typeface="Times New Roman"/>
              </a:rPr>
              <a:t>communicating devices </a:t>
            </a:r>
            <a:r>
              <a:rPr sz="2200" spc="5" dirty="0">
                <a:latin typeface="Times New Roman"/>
                <a:cs typeface="Times New Roman"/>
              </a:rPr>
              <a:t>in this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communication:</a:t>
            </a:r>
            <a:endParaRPr sz="2200">
              <a:latin typeface="Times New Roman"/>
              <a:cs typeface="Times New Roman"/>
            </a:endParaRPr>
          </a:p>
          <a:p>
            <a:pPr marL="814069" lvl="1" indent="-34544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200" dirty="0">
                <a:latin typeface="Times New Roman"/>
                <a:cs typeface="Times New Roman"/>
              </a:rPr>
              <a:t>Source host (computer</a:t>
            </a:r>
            <a:r>
              <a:rPr sz="2200" spc="-19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A)</a:t>
            </a:r>
            <a:endParaRPr sz="2200">
              <a:latin typeface="Times New Roman"/>
              <a:cs typeface="Times New Roman"/>
            </a:endParaRPr>
          </a:p>
          <a:p>
            <a:pPr marL="814069" lvl="1" indent="-345440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200" spc="-5" dirty="0">
                <a:latin typeface="Times New Roman"/>
                <a:cs typeface="Times New Roman"/>
              </a:rPr>
              <a:t>Link-layer </a:t>
            </a:r>
            <a:r>
              <a:rPr sz="2200" dirty="0">
                <a:latin typeface="Times New Roman"/>
                <a:cs typeface="Times New Roman"/>
              </a:rPr>
              <a:t>switch </a:t>
            </a:r>
            <a:r>
              <a:rPr sz="2200" spc="5" dirty="0">
                <a:latin typeface="Times New Roman"/>
                <a:cs typeface="Times New Roman"/>
              </a:rPr>
              <a:t>in link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814069" lvl="1" indent="-34544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200" dirty="0">
                <a:latin typeface="Times New Roman"/>
                <a:cs typeface="Times New Roman"/>
              </a:rPr>
              <a:t>Router</a:t>
            </a:r>
            <a:endParaRPr sz="2200">
              <a:latin typeface="Times New Roman"/>
              <a:cs typeface="Times New Roman"/>
            </a:endParaRPr>
          </a:p>
          <a:p>
            <a:pPr marL="814069" lvl="1" indent="-345440">
              <a:lnSpc>
                <a:spcPct val="100000"/>
              </a:lnSpc>
              <a:spcBef>
                <a:spcPts val="3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200" spc="-5" dirty="0">
                <a:latin typeface="Times New Roman"/>
                <a:cs typeface="Times New Roman"/>
              </a:rPr>
              <a:t>Link-layer </a:t>
            </a:r>
            <a:r>
              <a:rPr sz="2200" spc="5" dirty="0">
                <a:latin typeface="Times New Roman"/>
                <a:cs typeface="Times New Roman"/>
              </a:rPr>
              <a:t>switch in link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 marL="814069" lvl="1" indent="-345440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200" dirty="0">
                <a:latin typeface="Times New Roman"/>
                <a:cs typeface="Times New Roman"/>
              </a:rPr>
              <a:t>Destination host (computer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B).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701" y="3694051"/>
            <a:ext cx="10164572" cy="2721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244" y="358597"/>
            <a:ext cx="838708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Logical connections </a:t>
            </a:r>
            <a:r>
              <a:rPr spc="-10" dirty="0"/>
              <a:t>between</a:t>
            </a:r>
            <a:r>
              <a:rPr spc="35" dirty="0"/>
              <a:t> </a:t>
            </a:r>
            <a:r>
              <a:rPr spc="-5" dirty="0"/>
              <a:t>layers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244" y="1388440"/>
            <a:ext cx="10332720" cy="2090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Each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device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involved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with a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set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layers </a:t>
            </a:r>
            <a:r>
              <a:rPr sz="2400" spc="-5" dirty="0">
                <a:latin typeface="Times New Roman"/>
                <a:cs typeface="Times New Roman"/>
              </a:rPr>
              <a:t>depending </a:t>
            </a:r>
            <a:r>
              <a:rPr sz="2400" dirty="0">
                <a:latin typeface="Times New Roman"/>
                <a:cs typeface="Times New Roman"/>
              </a:rPr>
              <a:t>on the </a:t>
            </a:r>
            <a:r>
              <a:rPr sz="2400" spc="-5" dirty="0">
                <a:latin typeface="Times New Roman"/>
                <a:cs typeface="Times New Roman"/>
              </a:rPr>
              <a:t>role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device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35687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internet.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Two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hosts </a:t>
            </a:r>
            <a:r>
              <a:rPr sz="2400" spc="-10" dirty="0">
                <a:latin typeface="Times New Roman"/>
                <a:cs typeface="Times New Roman"/>
              </a:rPr>
              <a:t>are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involved in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all five</a:t>
            </a:r>
            <a:r>
              <a:rPr sz="24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layers</a:t>
            </a:r>
            <a:r>
              <a:rPr sz="2400" spc="-1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Router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involved in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only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three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layers</a:t>
            </a:r>
            <a:r>
              <a:rPr sz="2400" spc="-1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link-layer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switch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involved only in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two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layers</a:t>
            </a:r>
            <a:r>
              <a:rPr sz="2400" spc="-15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data-link and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physical.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16153"/>
            <a:ext cx="983361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Logical connections </a:t>
            </a:r>
            <a:r>
              <a:rPr spc="-10" dirty="0"/>
              <a:t>between </a:t>
            </a:r>
            <a:r>
              <a:rPr spc="-5" dirty="0"/>
              <a:t>layers</a:t>
            </a:r>
            <a:r>
              <a:rPr spc="95" dirty="0"/>
              <a:t> </a:t>
            </a:r>
            <a:r>
              <a:rPr spc="-5" dirty="0"/>
              <a:t>cont..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19744"/>
            <a:ext cx="10074275" cy="37763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75" dirty="0">
                <a:latin typeface="Times New Roman"/>
                <a:cs typeface="Times New Roman"/>
              </a:rPr>
              <a:t>Top </a:t>
            </a:r>
            <a:r>
              <a:rPr sz="2400" b="1" spc="-15" dirty="0">
                <a:latin typeface="Times New Roman"/>
                <a:cs typeface="Times New Roman"/>
              </a:rPr>
              <a:t>three </a:t>
            </a:r>
            <a:r>
              <a:rPr sz="2400" b="1" spc="-5" dirty="0">
                <a:latin typeface="Times New Roman"/>
                <a:cs typeface="Times New Roman"/>
              </a:rPr>
              <a:t>layers </a:t>
            </a:r>
            <a:r>
              <a:rPr sz="2400" b="1" dirty="0">
                <a:latin typeface="Times New Roman"/>
                <a:cs typeface="Times New Roman"/>
              </a:rPr>
              <a:t>-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application,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transport</a:t>
            </a:r>
            <a:r>
              <a:rPr sz="2400" b="1" spc="-5" dirty="0">
                <a:latin typeface="Times New Roman"/>
                <a:cs typeface="Times New Roman"/>
              </a:rPr>
              <a:t>,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Duty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end-to-end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Domain </a:t>
            </a:r>
            <a:r>
              <a:rPr sz="2400" dirty="0">
                <a:latin typeface="Times New Roman"/>
                <a:cs typeface="Times New Roman"/>
              </a:rPr>
              <a:t>of duty is 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internet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unit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(packets) </a:t>
            </a:r>
            <a:r>
              <a:rPr sz="2400" dirty="0">
                <a:latin typeface="Times New Roman"/>
                <a:cs typeface="Times New Roman"/>
              </a:rPr>
              <a:t>should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not be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changed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by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any router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link-layer</a:t>
            </a:r>
            <a:r>
              <a:rPr sz="2400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switch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Bottom </a:t>
            </a:r>
            <a:r>
              <a:rPr sz="2400" b="1" dirty="0">
                <a:latin typeface="Times New Roman"/>
                <a:cs typeface="Times New Roman"/>
              </a:rPr>
              <a:t>two </a:t>
            </a:r>
            <a:r>
              <a:rPr sz="2400" b="1" spc="-5" dirty="0">
                <a:latin typeface="Times New Roman"/>
                <a:cs typeface="Times New Roman"/>
              </a:rPr>
              <a:t>layers </a:t>
            </a:r>
            <a:r>
              <a:rPr sz="2400" b="1" dirty="0">
                <a:latin typeface="Times New Roman"/>
                <a:cs typeface="Times New Roman"/>
              </a:rPr>
              <a:t>-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data-link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physical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Duty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hop-to-hop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a hop is a host 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router.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Domain </a:t>
            </a:r>
            <a:r>
              <a:rPr sz="2400" dirty="0">
                <a:latin typeface="Times New Roman"/>
                <a:cs typeface="Times New Roman"/>
              </a:rPr>
              <a:t>of duty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link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41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Packet </a:t>
            </a:r>
            <a:r>
              <a:rPr sz="2400" spc="-5" dirty="0">
                <a:latin typeface="Times New Roman"/>
                <a:cs typeface="Times New Roman"/>
              </a:rPr>
              <a:t>created </a:t>
            </a:r>
            <a:r>
              <a:rPr sz="2400" dirty="0">
                <a:latin typeface="Times New Roman"/>
                <a:cs typeface="Times New Roman"/>
              </a:rPr>
              <a:t>by the host is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changed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only by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routers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not by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link-layer</a:t>
            </a:r>
            <a:endParaRPr sz="24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409"/>
              </a:spcBef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switches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45109"/>
            <a:ext cx="1025652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Identical </a:t>
            </a:r>
            <a:r>
              <a:rPr sz="4200" spc="-5" dirty="0"/>
              <a:t>objects </a:t>
            </a:r>
            <a:r>
              <a:rPr sz="4200" dirty="0"/>
              <a:t>in the TCP/IP </a:t>
            </a:r>
            <a:r>
              <a:rPr sz="4200" spc="-10" dirty="0"/>
              <a:t>protocol</a:t>
            </a:r>
            <a:r>
              <a:rPr sz="4200" spc="-425" dirty="0"/>
              <a:t> </a:t>
            </a:r>
            <a:r>
              <a:rPr sz="4200" dirty="0"/>
              <a:t>suite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1481074" y="1825650"/>
            <a:ext cx="8900603" cy="40854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357886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Physical</a:t>
            </a:r>
            <a:r>
              <a:rPr spc="-55" dirty="0"/>
              <a:t> </a:t>
            </a:r>
            <a:r>
              <a:rPr spc="-5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25216"/>
            <a:ext cx="10206990" cy="30899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Responsible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carrying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individual bits in a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frame across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link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60" dirty="0">
                <a:latin typeface="Times New Roman"/>
                <a:cs typeface="Times New Roman"/>
              </a:rPr>
              <a:t>Two </a:t>
            </a:r>
            <a:r>
              <a:rPr sz="2400" spc="-5" dirty="0">
                <a:latin typeface="Times New Roman"/>
                <a:cs typeface="Times New Roman"/>
              </a:rPr>
              <a:t>devices are connected </a:t>
            </a:r>
            <a:r>
              <a:rPr sz="2400" dirty="0">
                <a:latin typeface="Times New Roman"/>
                <a:cs typeface="Times New Roman"/>
              </a:rPr>
              <a:t>by a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transmission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medium </a:t>
            </a:r>
            <a:r>
              <a:rPr sz="2400" spc="-5" dirty="0">
                <a:latin typeface="Times New Roman"/>
                <a:cs typeface="Times New Roman"/>
              </a:rPr>
              <a:t>(cable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air).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Medium does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not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carry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bits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Medium </a:t>
            </a:r>
            <a:r>
              <a:rPr sz="2400" spc="-10" dirty="0">
                <a:latin typeface="Times New Roman"/>
                <a:cs typeface="Times New Roman"/>
              </a:rPr>
              <a:t>carries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electrical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optical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signals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59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Bits received </a:t>
            </a: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10" dirty="0">
                <a:latin typeface="Times New Roman"/>
                <a:cs typeface="Times New Roman"/>
              </a:rPr>
              <a:t>frame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spc="-25" dirty="0">
                <a:latin typeface="Times New Roman"/>
                <a:cs typeface="Times New Roman"/>
              </a:rPr>
              <a:t>DLL </a:t>
            </a:r>
            <a:r>
              <a:rPr sz="2400" spc="-5" dirty="0">
                <a:latin typeface="Times New Roman"/>
                <a:cs typeface="Times New Roman"/>
              </a:rPr>
              <a:t>are transformed and sent through transmission  media.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Several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protocols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transform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 bit to a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386080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Data-link</a:t>
            </a:r>
            <a:r>
              <a:rPr spc="-50" dirty="0"/>
              <a:t> </a:t>
            </a:r>
            <a:r>
              <a:rPr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25216"/>
            <a:ext cx="9857740" cy="37490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takes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datagram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encapsulates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it in a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packet </a:t>
            </a:r>
            <a:r>
              <a:rPr sz="2400" spc="-5" dirty="0">
                <a:latin typeface="Times New Roman"/>
                <a:cs typeface="Times New Roman"/>
              </a:rPr>
              <a:t>called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frame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600"/>
              </a:lnSpc>
              <a:spcBef>
                <a:spcPts val="10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When next link to </a:t>
            </a:r>
            <a:r>
              <a:rPr sz="2400" spc="-5" dirty="0">
                <a:latin typeface="Times New Roman"/>
                <a:cs typeface="Times New Roman"/>
              </a:rPr>
              <a:t>travel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determined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20" dirty="0">
                <a:latin typeface="Times New Roman"/>
                <a:cs typeface="Times New Roman"/>
              </a:rPr>
              <a:t>router, </a:t>
            </a:r>
            <a:r>
              <a:rPr sz="2400" spc="-25" dirty="0">
                <a:latin typeface="Times New Roman"/>
                <a:cs typeface="Times New Roman"/>
              </a:rPr>
              <a:t>DLL </a:t>
            </a:r>
            <a:r>
              <a:rPr sz="2400" spc="-5" dirty="0">
                <a:latin typeface="Times New Roman"/>
                <a:cs typeface="Times New Roman"/>
              </a:rPr>
              <a:t>is responsible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taking 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datagram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moving it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across</a:t>
            </a:r>
            <a:r>
              <a:rPr sz="24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link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Link </a:t>
            </a:r>
            <a:r>
              <a:rPr sz="2400" spc="-10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Wired LAN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with a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link-layer</a:t>
            </a:r>
            <a:r>
              <a:rPr sz="2400" spc="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switch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Wireless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LAN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Wired</a:t>
            </a: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WAN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Wireless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WAN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90" dirty="0">
                <a:latin typeface="Times New Roman"/>
                <a:cs typeface="Times New Roman"/>
              </a:rPr>
              <a:t>We </a:t>
            </a:r>
            <a:r>
              <a:rPr sz="2400" spc="-1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also </a:t>
            </a:r>
            <a:r>
              <a:rPr sz="2400" dirty="0">
                <a:latin typeface="Times New Roman"/>
                <a:cs typeface="Times New Roman"/>
              </a:rPr>
              <a:t>have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different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used with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any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link</a:t>
            </a:r>
            <a:r>
              <a:rPr sz="2400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type</a:t>
            </a:r>
            <a:r>
              <a:rPr sz="2400" spc="-1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16153"/>
            <a:ext cx="529082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Data-link Layer</a:t>
            </a:r>
            <a:r>
              <a:rPr spc="-105" dirty="0"/>
              <a:t> </a:t>
            </a:r>
            <a:r>
              <a:rPr spc="-5" dirty="0"/>
              <a:t>cont..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19744"/>
            <a:ext cx="9375140" cy="25260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TCP/IP </a:t>
            </a:r>
            <a:r>
              <a:rPr sz="2400" spc="-5" dirty="0">
                <a:latin typeface="Times New Roman"/>
                <a:cs typeface="Times New Roman"/>
              </a:rPr>
              <a:t>does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define any specific protocol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DLL.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supports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all standard and proprietary</a:t>
            </a:r>
            <a:r>
              <a:rPr sz="240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protocols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Any protocol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1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take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datagram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carry </a:t>
            </a: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through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Each link-layer </a:t>
            </a:r>
            <a:r>
              <a:rPr sz="2400" spc="-5" dirty="0">
                <a:latin typeface="Times New Roman"/>
                <a:cs typeface="Times New Roman"/>
              </a:rPr>
              <a:t>protocol </a:t>
            </a:r>
            <a:r>
              <a:rPr sz="2400" dirty="0">
                <a:latin typeface="Times New Roman"/>
                <a:cs typeface="Times New Roman"/>
              </a:rPr>
              <a:t>may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provide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400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service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Some </a:t>
            </a:r>
            <a:r>
              <a:rPr sz="2400" spc="-10" dirty="0">
                <a:latin typeface="Times New Roman"/>
                <a:cs typeface="Times New Roman"/>
              </a:rPr>
              <a:t>link-layer </a:t>
            </a:r>
            <a:r>
              <a:rPr sz="2400" spc="-5" dirty="0">
                <a:latin typeface="Times New Roman"/>
                <a:cs typeface="Times New Roman"/>
              </a:rPr>
              <a:t>protocols </a:t>
            </a:r>
            <a:r>
              <a:rPr sz="2400" dirty="0">
                <a:latin typeface="Times New Roman"/>
                <a:cs typeface="Times New Roman"/>
              </a:rPr>
              <a:t>provide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complete error detection and</a:t>
            </a:r>
            <a:r>
              <a:rPr sz="24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correction.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Some </a:t>
            </a:r>
            <a:r>
              <a:rPr sz="2400" spc="-5" dirty="0">
                <a:latin typeface="Times New Roman"/>
                <a:cs typeface="Times New Roman"/>
              </a:rPr>
              <a:t>protocols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provide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only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error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correction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367157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</a:t>
            </a:r>
            <a:r>
              <a:rPr spc="-20" dirty="0"/>
              <a:t> </a:t>
            </a:r>
            <a:r>
              <a:rPr spc="-5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25216"/>
            <a:ext cx="8823960" cy="26333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Responsible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creating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connection between source and</a:t>
            </a:r>
            <a:r>
              <a:rPr sz="24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destination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Responsible for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host-to-host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communication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Routers </a:t>
            </a:r>
            <a:r>
              <a:rPr sz="2400" spc="-1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responsible for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choosing best route for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240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packet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Why </a:t>
            </a:r>
            <a:r>
              <a:rPr sz="2400" spc="-5" dirty="0">
                <a:latin typeface="Times New Roman"/>
                <a:cs typeface="Times New Roman"/>
              </a:rPr>
              <a:t>we need network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layer?</a:t>
            </a:r>
            <a:endParaRPr sz="2400">
              <a:latin typeface="Times New Roman"/>
              <a:cs typeface="Times New Roman"/>
            </a:endParaRPr>
          </a:p>
          <a:p>
            <a:pPr marL="926465" lvl="1" indent="-457834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Times New Roman"/>
                <a:cs typeface="Times New Roman"/>
              </a:rPr>
              <a:t>Separation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5" dirty="0">
                <a:latin typeface="Times New Roman"/>
                <a:cs typeface="Times New Roman"/>
              </a:rPr>
              <a:t>different </a:t>
            </a:r>
            <a:r>
              <a:rPr sz="2400" spc="-5" dirty="0">
                <a:latin typeface="Times New Roman"/>
                <a:cs typeface="Times New Roman"/>
              </a:rPr>
              <a:t>tasks between </a:t>
            </a:r>
            <a:r>
              <a:rPr sz="2400" spc="-15" dirty="0">
                <a:latin typeface="Times New Roman"/>
                <a:cs typeface="Times New Roman"/>
              </a:rPr>
              <a:t>different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layers.</a:t>
            </a:r>
            <a:endParaRPr sz="2400">
              <a:latin typeface="Times New Roman"/>
              <a:cs typeface="Times New Roman"/>
            </a:endParaRPr>
          </a:p>
          <a:p>
            <a:pPr marL="926465" lvl="1" indent="-457834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Times New Roman"/>
                <a:cs typeface="Times New Roman"/>
              </a:rPr>
              <a:t>Routers </a:t>
            </a:r>
            <a:r>
              <a:rPr sz="2400" dirty="0">
                <a:latin typeface="Times New Roman"/>
                <a:cs typeface="Times New Roman"/>
              </a:rPr>
              <a:t>do not </a:t>
            </a:r>
            <a:r>
              <a:rPr sz="2400" spc="-10" dirty="0">
                <a:latin typeface="Times New Roman"/>
                <a:cs typeface="Times New Roman"/>
              </a:rPr>
              <a:t>need </a:t>
            </a:r>
            <a:r>
              <a:rPr sz="2400" spc="-5" dirty="0">
                <a:latin typeface="Times New Roman"/>
                <a:cs typeface="Times New Roman"/>
              </a:rPr>
              <a:t>application and transport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layers.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16153"/>
            <a:ext cx="91687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 </a:t>
            </a:r>
            <a:r>
              <a:rPr spc="-5" dirty="0"/>
              <a:t>Layer: Internet </a:t>
            </a:r>
            <a:r>
              <a:rPr spc="-10" dirty="0"/>
              <a:t>Protocol</a:t>
            </a:r>
            <a:r>
              <a:rPr spc="30" dirty="0"/>
              <a:t> </a:t>
            </a:r>
            <a:r>
              <a:rPr spc="-5" dirty="0"/>
              <a:t>(IP)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25216"/>
            <a:ext cx="8705215" cy="32188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Internet, </a:t>
            </a:r>
            <a:r>
              <a:rPr sz="2400" spc="-5" dirty="0">
                <a:latin typeface="Times New Roman"/>
                <a:cs typeface="Times New Roman"/>
              </a:rPr>
              <a:t>network </a:t>
            </a:r>
            <a:r>
              <a:rPr sz="2400" spc="-20" dirty="0">
                <a:latin typeface="Times New Roman"/>
                <a:cs typeface="Times New Roman"/>
              </a:rPr>
              <a:t>layer </a:t>
            </a:r>
            <a:r>
              <a:rPr sz="2400" spc="-5" dirty="0">
                <a:latin typeface="Times New Roman"/>
                <a:cs typeface="Times New Roman"/>
              </a:rPr>
              <a:t>includes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main protocol,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IP.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Defines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format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 the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packet</a:t>
            </a:r>
            <a:r>
              <a:rPr sz="2400" spc="-5" dirty="0">
                <a:latin typeface="Times New Roman"/>
                <a:cs typeface="Times New Roman"/>
              </a:rPr>
              <a:t>, called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datagram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Defines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format and structure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addresses </a:t>
            </a: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in this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layer.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Responsible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routing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packet from source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Each </a:t>
            </a:r>
            <a:r>
              <a:rPr sz="2400" spc="-5" dirty="0">
                <a:latin typeface="Times New Roman"/>
                <a:cs typeface="Times New Roman"/>
              </a:rPr>
              <a:t>router forwarding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datagram </a:t>
            </a:r>
            <a:r>
              <a:rPr sz="2400" dirty="0">
                <a:latin typeface="Times New Roman"/>
                <a:cs typeface="Times New Roman"/>
              </a:rPr>
              <a:t>to next </a:t>
            </a:r>
            <a:r>
              <a:rPr sz="2400" spc="-5" dirty="0">
                <a:latin typeface="Times New Roman"/>
                <a:cs typeface="Times New Roman"/>
              </a:rPr>
              <a:t>router </a:t>
            </a:r>
            <a:r>
              <a:rPr sz="2400" dirty="0">
                <a:latin typeface="Times New Roman"/>
                <a:cs typeface="Times New Roman"/>
              </a:rPr>
              <a:t>in its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path.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Connectionless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No flow control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error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congestion control</a:t>
            </a:r>
            <a:r>
              <a:rPr sz="24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services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16153"/>
            <a:ext cx="803719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 </a:t>
            </a:r>
            <a:r>
              <a:rPr spc="-5" dirty="0"/>
              <a:t>Layer: Routing</a:t>
            </a:r>
            <a:r>
              <a:rPr spc="45" dirty="0"/>
              <a:t> </a:t>
            </a:r>
            <a:r>
              <a:rPr spc="-15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89288"/>
            <a:ext cx="9306560" cy="211455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5" dirty="0">
                <a:latin typeface="Times New Roman"/>
                <a:cs typeface="Times New Roman"/>
              </a:rPr>
              <a:t>Layer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includes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Unicast </a:t>
            </a:r>
            <a:r>
              <a:rPr sz="2400" spc="-5" dirty="0">
                <a:latin typeface="Times New Roman"/>
                <a:cs typeface="Times New Roman"/>
              </a:rPr>
              <a:t>(one-to-one)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protocol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Multicast </a:t>
            </a:r>
            <a:r>
              <a:rPr sz="2400" spc="-10" dirty="0">
                <a:latin typeface="Times New Roman"/>
                <a:cs typeface="Times New Roman"/>
              </a:rPr>
              <a:t>(one-to-many) </a:t>
            </a:r>
            <a:r>
              <a:rPr sz="2400" spc="-5" dirty="0">
                <a:latin typeface="Times New Roman"/>
                <a:cs typeface="Times New Roman"/>
              </a:rPr>
              <a:t>routing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protocol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does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take part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 routing </a:t>
            </a:r>
            <a:r>
              <a:rPr sz="2400" dirty="0">
                <a:latin typeface="Times New Roman"/>
                <a:cs typeface="Times New Roman"/>
              </a:rPr>
              <a:t>(it is the </a:t>
            </a:r>
            <a:r>
              <a:rPr sz="2400" spc="-5" dirty="0">
                <a:latin typeface="Times New Roman"/>
                <a:cs typeface="Times New Roman"/>
              </a:rPr>
              <a:t>responsibility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IP).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creates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forwarding tables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routers </a:t>
            </a:r>
            <a:r>
              <a:rPr sz="2400" dirty="0">
                <a:latin typeface="Times New Roman"/>
                <a:cs typeface="Times New Roman"/>
              </a:rPr>
              <a:t>to help them in the </a:t>
            </a:r>
            <a:r>
              <a:rPr sz="2400" spc="-5" dirty="0">
                <a:latin typeface="Times New Roman"/>
                <a:cs typeface="Times New Roman"/>
              </a:rPr>
              <a:t>routing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16153"/>
            <a:ext cx="99155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 </a:t>
            </a:r>
            <a:r>
              <a:rPr spc="-5" dirty="0"/>
              <a:t>Layer: Some </a:t>
            </a:r>
            <a:r>
              <a:rPr dirty="0"/>
              <a:t>auxiliary </a:t>
            </a:r>
            <a:r>
              <a:rPr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25216"/>
            <a:ext cx="10145395" cy="42062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Help 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IP </a:t>
            </a:r>
            <a:r>
              <a:rPr sz="2400" dirty="0">
                <a:latin typeface="Times New Roman"/>
                <a:cs typeface="Times New Roman"/>
              </a:rPr>
              <a:t>in its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delivery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tasks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Internet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Control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Message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24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(ICMP)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Report </a:t>
            </a:r>
            <a:r>
              <a:rPr sz="2400" dirty="0">
                <a:latin typeface="Times New Roman"/>
                <a:cs typeface="Times New Roman"/>
              </a:rPr>
              <a:t>some </a:t>
            </a:r>
            <a:r>
              <a:rPr sz="2400" spc="-5" dirty="0">
                <a:latin typeface="Times New Roman"/>
                <a:cs typeface="Times New Roman"/>
              </a:rPr>
              <a:t>problems when routing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packet.</a:t>
            </a:r>
            <a:endParaRPr sz="240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Internet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Group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Management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2400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(IGMP)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Multitasking.</a:t>
            </a:r>
            <a:endParaRPr sz="240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Dynamic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Host Configuration Protocol</a:t>
            </a:r>
            <a:r>
              <a:rPr sz="24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(DHCP)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Times New Roman"/>
                <a:cs typeface="Times New Roman"/>
              </a:rPr>
              <a:t>Get network-layer </a:t>
            </a:r>
            <a:r>
              <a:rPr sz="2400" spc="-5" dirty="0">
                <a:latin typeface="Times New Roman"/>
                <a:cs typeface="Times New Roman"/>
              </a:rPr>
              <a:t>address </a:t>
            </a:r>
            <a:r>
              <a:rPr sz="2400" dirty="0">
                <a:latin typeface="Times New Roman"/>
                <a:cs typeface="Times New Roman"/>
              </a:rPr>
              <a:t>for a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host.</a:t>
            </a:r>
            <a:endParaRPr sz="240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Address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Resolution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(ARP)</a:t>
            </a:r>
            <a:endParaRPr sz="24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ts val="2590"/>
              </a:lnSpc>
              <a:spcBef>
                <a:spcPts val="55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Find </a:t>
            </a:r>
            <a:r>
              <a:rPr sz="2400" spc="-10" dirty="0">
                <a:latin typeface="Times New Roman"/>
                <a:cs typeface="Times New Roman"/>
              </a:rPr>
              <a:t>link-layer </a:t>
            </a:r>
            <a:r>
              <a:rPr sz="2400" spc="-5" dirty="0">
                <a:latin typeface="Times New Roman"/>
                <a:cs typeface="Times New Roman"/>
              </a:rPr>
              <a:t>address </a:t>
            </a:r>
            <a:r>
              <a:rPr sz="2400" dirty="0">
                <a:latin typeface="Times New Roman"/>
                <a:cs typeface="Times New Roman"/>
              </a:rPr>
              <a:t>of a host or a </a:t>
            </a:r>
            <a:r>
              <a:rPr sz="2400" spc="-5" dirty="0">
                <a:latin typeface="Times New Roman"/>
                <a:cs typeface="Times New Roman"/>
              </a:rPr>
              <a:t>router when </a:t>
            </a:r>
            <a:r>
              <a:rPr sz="2400" dirty="0">
                <a:latin typeface="Times New Roman"/>
                <a:cs typeface="Times New Roman"/>
              </a:rPr>
              <a:t>its </a:t>
            </a:r>
            <a:r>
              <a:rPr sz="2400" spc="-10" dirty="0">
                <a:latin typeface="Times New Roman"/>
                <a:cs typeface="Times New Roman"/>
              </a:rPr>
              <a:t>network-layer </a:t>
            </a:r>
            <a:r>
              <a:rPr sz="2400" spc="-5" dirty="0">
                <a:latin typeface="Times New Roman"/>
                <a:cs typeface="Times New Roman"/>
              </a:rPr>
              <a:t>address is  given.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400367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Transport</a:t>
            </a:r>
            <a:r>
              <a:rPr spc="-55" dirty="0"/>
              <a:t> </a:t>
            </a:r>
            <a:r>
              <a:rPr spc="-5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07509"/>
            <a:ext cx="10338435" cy="45694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Times New Roman"/>
                <a:cs typeface="Times New Roman"/>
              </a:rPr>
              <a:t>Logical </a:t>
            </a:r>
            <a:r>
              <a:rPr sz="2400" spc="-5" dirty="0">
                <a:latin typeface="Times New Roman"/>
                <a:cs typeface="Times New Roman"/>
              </a:rPr>
              <a:t>connection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end-to-end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600"/>
              </a:lnSpc>
              <a:spcBef>
                <a:spcPts val="2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At source, </a:t>
            </a: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gets message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from application 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layer</a:t>
            </a:r>
            <a:r>
              <a:rPr sz="2400" spc="-35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encapsulates </a:t>
            </a:r>
            <a:r>
              <a:rPr sz="2400" dirty="0">
                <a:latin typeface="Times New Roman"/>
                <a:cs typeface="Times New Roman"/>
              </a:rPr>
              <a:t>it in a </a:t>
            </a:r>
            <a:r>
              <a:rPr sz="2400" spc="-5" dirty="0">
                <a:latin typeface="Times New Roman"/>
                <a:cs typeface="Times New Roman"/>
              </a:rPr>
              <a:t>transport  </a:t>
            </a:r>
            <a:r>
              <a:rPr sz="2400" spc="-20" dirty="0">
                <a:latin typeface="Times New Roman"/>
                <a:cs typeface="Times New Roman"/>
              </a:rPr>
              <a:t>layer </a:t>
            </a:r>
            <a:r>
              <a:rPr sz="2400" spc="-5" dirty="0">
                <a:latin typeface="Times New Roman"/>
                <a:cs typeface="Times New Roman"/>
              </a:rPr>
              <a:t>packet (called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segment </a:t>
            </a:r>
            <a:r>
              <a:rPr sz="2400" dirty="0">
                <a:latin typeface="Times New Roman"/>
                <a:cs typeface="Times New Roman"/>
              </a:rPr>
              <a:t>or a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user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datagram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5" dirty="0">
                <a:latin typeface="Times New Roman"/>
                <a:cs typeface="Times New Roman"/>
              </a:rPr>
              <a:t>different </a:t>
            </a:r>
            <a:r>
              <a:rPr sz="2400" spc="-5" dirty="0">
                <a:latin typeface="Times New Roman"/>
                <a:cs typeface="Times New Roman"/>
              </a:rPr>
              <a:t>protocols) and sends  </a:t>
            </a:r>
            <a:r>
              <a:rPr sz="2400" dirty="0">
                <a:latin typeface="Times New Roman"/>
                <a:cs typeface="Times New Roman"/>
              </a:rPr>
              <a:t>it, </a:t>
            </a:r>
            <a:r>
              <a:rPr sz="2400" spc="-5" dirty="0">
                <a:latin typeface="Times New Roman"/>
                <a:cs typeface="Times New Roman"/>
              </a:rPr>
              <a:t>through </a:t>
            </a:r>
            <a:r>
              <a:rPr sz="2400" spc="-10" dirty="0">
                <a:latin typeface="Times New Roman"/>
                <a:cs typeface="Times New Roman"/>
              </a:rPr>
              <a:t>logical </a:t>
            </a:r>
            <a:r>
              <a:rPr sz="2400" spc="-15" dirty="0">
                <a:latin typeface="Times New Roman"/>
                <a:cs typeface="Times New Roman"/>
              </a:rPr>
              <a:t>(imaginary) </a:t>
            </a:r>
            <a:r>
              <a:rPr sz="2400" spc="-5" dirty="0">
                <a:latin typeface="Times New Roman"/>
                <a:cs typeface="Times New Roman"/>
              </a:rPr>
              <a:t>connection,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transport </a:t>
            </a:r>
            <a:r>
              <a:rPr sz="2400" spc="-20" dirty="0">
                <a:latin typeface="Times New Roman"/>
                <a:cs typeface="Times New Roman"/>
              </a:rPr>
              <a:t>layer </a:t>
            </a:r>
            <a:r>
              <a:rPr sz="2400" spc="-5" dirty="0">
                <a:latin typeface="Times New Roman"/>
                <a:cs typeface="Times New Roman"/>
              </a:rPr>
              <a:t>at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is responsible for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giving services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application</a:t>
            </a:r>
            <a:r>
              <a:rPr sz="24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697865" marR="38100" lvl="1" indent="-228600">
              <a:lnSpc>
                <a:spcPct val="125099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Times New Roman"/>
                <a:cs typeface="Times New Roman"/>
              </a:rPr>
              <a:t>Get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message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5" dirty="0">
                <a:latin typeface="Times New Roman"/>
                <a:cs typeface="Times New Roman"/>
              </a:rPr>
              <a:t>application </a:t>
            </a:r>
            <a:r>
              <a:rPr sz="2400" spc="-10" dirty="0">
                <a:latin typeface="Times New Roman"/>
                <a:cs typeface="Times New Roman"/>
              </a:rPr>
              <a:t>program </a:t>
            </a:r>
            <a:r>
              <a:rPr sz="2400" dirty="0">
                <a:latin typeface="Times New Roman"/>
                <a:cs typeface="Times New Roman"/>
              </a:rPr>
              <a:t>running on </a:t>
            </a:r>
            <a:r>
              <a:rPr sz="2400" spc="-5" dirty="0">
                <a:latin typeface="Times New Roman"/>
                <a:cs typeface="Times New Roman"/>
              </a:rPr>
              <a:t>source and deliver </a:t>
            </a:r>
            <a:r>
              <a:rPr sz="2400" dirty="0">
                <a:latin typeface="Times New Roman"/>
                <a:cs typeface="Times New Roman"/>
              </a:rPr>
              <a:t>it to  </a:t>
            </a:r>
            <a:r>
              <a:rPr sz="2400" spc="-5" dirty="0">
                <a:latin typeface="Times New Roman"/>
                <a:cs typeface="Times New Roman"/>
              </a:rPr>
              <a:t>corresponding application </a:t>
            </a:r>
            <a:r>
              <a:rPr sz="2400" spc="-10" dirty="0">
                <a:latin typeface="Times New Roman"/>
                <a:cs typeface="Times New Roman"/>
              </a:rPr>
              <a:t>program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should be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independent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application</a:t>
            </a:r>
            <a:r>
              <a:rPr sz="24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layer</a:t>
            </a:r>
            <a:r>
              <a:rPr sz="2400" spc="-4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There are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few transport-layer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 the</a:t>
            </a:r>
            <a:r>
              <a:rPr sz="240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Internet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Each designed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some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4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task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>
              <a:lnSpc>
                <a:spcPts val="4660"/>
              </a:lnSpc>
              <a:spcBef>
                <a:spcPts val="765"/>
              </a:spcBef>
            </a:pPr>
            <a:r>
              <a:rPr spc="-40" dirty="0"/>
              <a:t>Transport </a:t>
            </a:r>
            <a:r>
              <a:rPr spc="-5" dirty="0"/>
              <a:t>Layer: </a:t>
            </a:r>
            <a:r>
              <a:rPr spc="-35" dirty="0"/>
              <a:t>Transmission </a:t>
            </a:r>
            <a:r>
              <a:rPr spc="-15" dirty="0"/>
              <a:t>Control  </a:t>
            </a:r>
            <a:r>
              <a:rPr spc="-10" dirty="0"/>
              <a:t>Protocol (TCP)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53588"/>
            <a:ext cx="10064115" cy="46120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Connection-oriented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2200" spc="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latin typeface="Times New Roman"/>
                <a:cs typeface="Times New Roman"/>
              </a:rPr>
              <a:t>It </a:t>
            </a:r>
            <a:r>
              <a:rPr sz="2200" spc="5" dirty="0">
                <a:latin typeface="Times New Roman"/>
                <a:cs typeface="Times New Roman"/>
              </a:rPr>
              <a:t>first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establishes a logical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connection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between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transport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layers </a:t>
            </a:r>
            <a:r>
              <a:rPr sz="2200" dirty="0">
                <a:latin typeface="Times New Roman"/>
                <a:cs typeface="Times New Roman"/>
              </a:rPr>
              <a:t>at two </a:t>
            </a:r>
            <a:r>
              <a:rPr sz="2200" spc="5" dirty="0">
                <a:latin typeface="Times New Roman"/>
                <a:cs typeface="Times New Roman"/>
              </a:rPr>
              <a:t>hosts</a:t>
            </a:r>
            <a:r>
              <a:rPr sz="2200" spc="-3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before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385"/>
              </a:spcBef>
            </a:pPr>
            <a:r>
              <a:rPr sz="2200" dirty="0">
                <a:latin typeface="Times New Roman"/>
                <a:cs typeface="Times New Roman"/>
              </a:rPr>
              <a:t>transferring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latin typeface="Times New Roman"/>
                <a:cs typeface="Times New Roman"/>
              </a:rPr>
              <a:t>It </a:t>
            </a:r>
            <a:r>
              <a:rPr sz="2200" spc="5" dirty="0">
                <a:latin typeface="Times New Roman"/>
                <a:cs typeface="Times New Roman"/>
              </a:rPr>
              <a:t>creates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logical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pipe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between two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TCPs </a:t>
            </a:r>
            <a:r>
              <a:rPr sz="2200" spc="5" dirty="0">
                <a:latin typeface="Times New Roman"/>
                <a:cs typeface="Times New Roman"/>
              </a:rPr>
              <a:t>for </a:t>
            </a:r>
            <a:r>
              <a:rPr sz="2200" dirty="0">
                <a:latin typeface="Times New Roman"/>
                <a:cs typeface="Times New Roman"/>
              </a:rPr>
              <a:t>transferring a </a:t>
            </a:r>
            <a:r>
              <a:rPr sz="2200" spc="5" dirty="0">
                <a:latin typeface="Times New Roman"/>
                <a:cs typeface="Times New Roman"/>
              </a:rPr>
              <a:t>stream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bytes.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Flow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Match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sending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data rate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source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with receiving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data rate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destination</a:t>
            </a:r>
            <a:r>
              <a:rPr sz="2200" spc="-4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prevent</a:t>
            </a:r>
            <a:endParaRPr sz="22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60"/>
              </a:spcBef>
            </a:pPr>
            <a:r>
              <a:rPr sz="2200" spc="-5" dirty="0">
                <a:latin typeface="Times New Roman"/>
                <a:cs typeface="Times New Roman"/>
              </a:rPr>
              <a:t>overwhelming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Error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Guarantee </a:t>
            </a:r>
            <a:r>
              <a:rPr sz="2200" spc="5" dirty="0">
                <a:latin typeface="Times New Roman"/>
                <a:cs typeface="Times New Roman"/>
              </a:rPr>
              <a:t>that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segments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arrive at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destination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without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error </a:t>
            </a:r>
            <a:r>
              <a:rPr sz="2200" spc="5" dirty="0">
                <a:latin typeface="Times New Roman"/>
                <a:cs typeface="Times New Roman"/>
              </a:rPr>
              <a:t>and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resending</a:t>
            </a:r>
            <a:r>
              <a:rPr sz="2200" spc="-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corrupted</a:t>
            </a:r>
            <a:endParaRPr sz="22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85"/>
              </a:spcBef>
            </a:pP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ones</a:t>
            </a:r>
            <a:r>
              <a:rPr sz="2200" spc="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Congestion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Reduce loss of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segments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due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congestion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spc="-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>
              <a:lnSpc>
                <a:spcPts val="4660"/>
              </a:lnSpc>
              <a:spcBef>
                <a:spcPts val="765"/>
              </a:spcBef>
            </a:pPr>
            <a:r>
              <a:rPr spc="-40" dirty="0"/>
              <a:t>Transport </a:t>
            </a:r>
            <a:r>
              <a:rPr spc="-5" dirty="0"/>
              <a:t>Layer: User Datagram</a:t>
            </a:r>
            <a:r>
              <a:rPr spc="-75" dirty="0"/>
              <a:t> </a:t>
            </a:r>
            <a:r>
              <a:rPr spc="-10" dirty="0"/>
              <a:t>Protocol  </a:t>
            </a:r>
            <a:r>
              <a:rPr spc="-5" dirty="0"/>
              <a:t>(UDP)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25216"/>
            <a:ext cx="10189845" cy="38773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Connectionless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transmits user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datagrams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without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first creating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logical</a:t>
            </a:r>
            <a:r>
              <a:rPr sz="24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connection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Each </a:t>
            </a:r>
            <a:r>
              <a:rPr sz="2400" spc="-5" dirty="0">
                <a:latin typeface="Times New Roman"/>
                <a:cs typeface="Times New Roman"/>
              </a:rPr>
              <a:t>user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datagram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an independent</a:t>
            </a:r>
            <a:r>
              <a:rPr sz="24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entity</a:t>
            </a:r>
            <a:r>
              <a:rPr sz="2400" spc="-3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Simple </a:t>
            </a:r>
            <a:r>
              <a:rPr sz="2400" spc="-5" dirty="0">
                <a:latin typeface="Times New Roman"/>
                <a:cs typeface="Times New Roman"/>
              </a:rPr>
              <a:t>protocol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latin typeface="Times New Roman"/>
                <a:cs typeface="Times New Roman"/>
              </a:rPr>
              <a:t>does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not provide 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flow,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error,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congestion</a:t>
            </a:r>
            <a:r>
              <a:rPr sz="24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marR="376555" indent="-228600">
              <a:lnSpc>
                <a:spcPts val="259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is attractive </a:t>
            </a:r>
            <a:r>
              <a:rPr sz="2400" dirty="0">
                <a:latin typeface="Times New Roman"/>
                <a:cs typeface="Times New Roman"/>
              </a:rPr>
              <a:t>to an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application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program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needs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send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short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messages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cannot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afford</a:t>
            </a:r>
            <a:r>
              <a:rPr sz="24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retransmission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5" dirty="0">
                <a:latin typeface="Times New Roman"/>
                <a:cs typeface="Times New Roman"/>
              </a:rPr>
              <a:t>Stream </a:t>
            </a:r>
            <a:r>
              <a:rPr sz="2400" b="1" spc="-10" dirty="0">
                <a:latin typeface="Times New Roman"/>
                <a:cs typeface="Times New Roman"/>
              </a:rPr>
              <a:t>Control </a:t>
            </a:r>
            <a:r>
              <a:rPr sz="2400" b="1" spc="-20" dirty="0">
                <a:latin typeface="Times New Roman"/>
                <a:cs typeface="Times New Roman"/>
              </a:rPr>
              <a:t>Transmission </a:t>
            </a:r>
            <a:r>
              <a:rPr sz="2400" b="1" spc="-15" dirty="0">
                <a:latin typeface="Times New Roman"/>
                <a:cs typeface="Times New Roman"/>
              </a:rPr>
              <a:t>Protocol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(SCTP)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A new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protocol.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is designed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respond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new applications that are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emerging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400" spc="2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multimedia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188417"/>
            <a:ext cx="438658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</a:t>
            </a:r>
            <a:r>
              <a:rPr spc="-55" dirty="0"/>
              <a:t> </a:t>
            </a:r>
            <a:r>
              <a:rPr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838200"/>
            <a:ext cx="8467090" cy="53282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100" b="1" dirty="0">
                <a:latin typeface="Times New Roman"/>
                <a:cs typeface="Times New Roman"/>
              </a:rPr>
              <a:t>Hypertext </a:t>
            </a:r>
            <a:r>
              <a:rPr sz="2100" b="1" spc="-15" dirty="0">
                <a:latin typeface="Times New Roman"/>
                <a:cs typeface="Times New Roman"/>
              </a:rPr>
              <a:t>Transfer </a:t>
            </a:r>
            <a:r>
              <a:rPr sz="2100" b="1" spc="-5" dirty="0">
                <a:latin typeface="Times New Roman"/>
                <a:cs typeface="Times New Roman"/>
              </a:rPr>
              <a:t>Protocol</a:t>
            </a:r>
            <a:r>
              <a:rPr sz="2100" b="1" spc="-15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(HTTP)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100" spc="-35" dirty="0">
                <a:latin typeface="Times New Roman"/>
                <a:cs typeface="Times New Roman"/>
              </a:rPr>
              <a:t>Vehicle </a:t>
            </a:r>
            <a:r>
              <a:rPr sz="2100" dirty="0">
                <a:latin typeface="Times New Roman"/>
                <a:cs typeface="Times New Roman"/>
              </a:rPr>
              <a:t>for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access </a:t>
            </a:r>
            <a:r>
              <a:rPr sz="2100" spc="-35" dirty="0">
                <a:solidFill>
                  <a:srgbClr val="FF0000"/>
                </a:solidFill>
                <a:latin typeface="Times New Roman"/>
                <a:cs typeface="Times New Roman"/>
              </a:rPr>
              <a:t>World </a:t>
            </a:r>
            <a:r>
              <a:rPr sz="2100" spc="-25" dirty="0">
                <a:solidFill>
                  <a:srgbClr val="FF0000"/>
                </a:solidFill>
                <a:latin typeface="Times New Roman"/>
                <a:cs typeface="Times New Roman"/>
              </a:rPr>
              <a:t>Wide </a:t>
            </a:r>
            <a:r>
              <a:rPr sz="2100" spc="-50" dirty="0">
                <a:solidFill>
                  <a:srgbClr val="FF0000"/>
                </a:solidFill>
                <a:latin typeface="Times New Roman"/>
                <a:cs typeface="Times New Roman"/>
              </a:rPr>
              <a:t>Web</a:t>
            </a:r>
            <a:r>
              <a:rPr sz="21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(WWW</a:t>
            </a:r>
            <a:r>
              <a:rPr sz="2100" dirty="0">
                <a:latin typeface="Times New Roman"/>
                <a:cs typeface="Times New Roman"/>
              </a:rPr>
              <a:t>).</a:t>
            </a:r>
          </a:p>
          <a:p>
            <a:pPr marL="469265" indent="-457200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Simple </a:t>
            </a:r>
            <a:r>
              <a:rPr sz="2100" b="1" dirty="0">
                <a:latin typeface="Times New Roman"/>
                <a:cs typeface="Times New Roman"/>
              </a:rPr>
              <a:t>Mail </a:t>
            </a:r>
            <a:r>
              <a:rPr sz="2100" b="1" spc="-15" dirty="0">
                <a:latin typeface="Times New Roman"/>
                <a:cs typeface="Times New Roman"/>
              </a:rPr>
              <a:t>Transfer </a:t>
            </a:r>
            <a:r>
              <a:rPr sz="2100" b="1" spc="-5" dirty="0">
                <a:latin typeface="Times New Roman"/>
                <a:cs typeface="Times New Roman"/>
              </a:rPr>
              <a:t>Protocol</a:t>
            </a:r>
            <a:r>
              <a:rPr sz="2100" b="1" spc="-105" dirty="0">
                <a:latin typeface="Times New Roman"/>
                <a:cs typeface="Times New Roman"/>
              </a:rPr>
              <a:t> </a:t>
            </a:r>
            <a:r>
              <a:rPr sz="2100" b="1" spc="5" dirty="0">
                <a:latin typeface="Times New Roman"/>
                <a:cs typeface="Times New Roman"/>
              </a:rPr>
              <a:t>(SMTP)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100" dirty="0">
                <a:latin typeface="Times New Roman"/>
                <a:cs typeface="Times New Roman"/>
              </a:rPr>
              <a:t>Main protocol used </a:t>
            </a:r>
            <a:r>
              <a:rPr sz="2100" spc="-5" dirty="0">
                <a:latin typeface="Times New Roman"/>
                <a:cs typeface="Times New Roman"/>
              </a:rPr>
              <a:t>in </a:t>
            </a:r>
            <a:r>
              <a:rPr sz="2100" spc="-5" dirty="0">
                <a:solidFill>
                  <a:srgbClr val="FF0000"/>
                </a:solidFill>
                <a:latin typeface="Times New Roman"/>
                <a:cs typeface="Times New Roman"/>
              </a:rPr>
              <a:t>electronic </a:t>
            </a: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mail (e-mail)</a:t>
            </a:r>
            <a:r>
              <a:rPr sz="2100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Times New Roman"/>
                <a:cs typeface="Times New Roman"/>
              </a:rPr>
              <a:t>service</a:t>
            </a:r>
            <a:r>
              <a:rPr sz="2100" spc="-5" dirty="0">
                <a:latin typeface="Times New Roman"/>
                <a:cs typeface="Times New Roman"/>
              </a:rPr>
              <a:t>.</a:t>
            </a:r>
            <a:endParaRPr sz="2100" dirty="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File </a:t>
            </a:r>
            <a:r>
              <a:rPr sz="2100" b="1" spc="-15" dirty="0">
                <a:latin typeface="Times New Roman"/>
                <a:cs typeface="Times New Roman"/>
              </a:rPr>
              <a:t>Transfer </a:t>
            </a:r>
            <a:r>
              <a:rPr sz="2100" b="1" spc="-5" dirty="0">
                <a:latin typeface="Times New Roman"/>
                <a:cs typeface="Times New Roman"/>
              </a:rPr>
              <a:t>Protocol</a:t>
            </a:r>
            <a:r>
              <a:rPr sz="2100" b="1" spc="-120" dirty="0">
                <a:latin typeface="Times New Roman"/>
                <a:cs typeface="Times New Roman"/>
              </a:rPr>
              <a:t> </a:t>
            </a:r>
            <a:r>
              <a:rPr sz="2100" b="1" spc="5" dirty="0">
                <a:latin typeface="Times New Roman"/>
                <a:cs typeface="Times New Roman"/>
              </a:rPr>
              <a:t>(FTP)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100" spc="5" dirty="0">
                <a:latin typeface="Times New Roman"/>
                <a:cs typeface="Times New Roman"/>
              </a:rPr>
              <a:t>Used </a:t>
            </a:r>
            <a:r>
              <a:rPr sz="2100" dirty="0">
                <a:latin typeface="Times New Roman"/>
                <a:cs typeface="Times New Roman"/>
              </a:rPr>
              <a:t>for </a:t>
            </a:r>
            <a:r>
              <a:rPr sz="2100" spc="-5" dirty="0">
                <a:solidFill>
                  <a:srgbClr val="FF0000"/>
                </a:solidFill>
                <a:latin typeface="Times New Roman"/>
                <a:cs typeface="Times New Roman"/>
              </a:rPr>
              <a:t>transferring files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from </a:t>
            </a:r>
            <a:r>
              <a:rPr sz="2100" spc="5" dirty="0">
                <a:solidFill>
                  <a:srgbClr val="FF0000"/>
                </a:solidFill>
                <a:latin typeface="Times New Roman"/>
                <a:cs typeface="Times New Roman"/>
              </a:rPr>
              <a:t>one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host </a:t>
            </a:r>
            <a:r>
              <a:rPr sz="2100" spc="-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1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15" dirty="0">
                <a:solidFill>
                  <a:srgbClr val="FF0000"/>
                </a:solidFill>
                <a:latin typeface="Times New Roman"/>
                <a:cs typeface="Times New Roman"/>
              </a:rPr>
              <a:t>another</a:t>
            </a:r>
            <a:r>
              <a:rPr sz="2100" spc="-15" dirty="0">
                <a:latin typeface="Times New Roman"/>
                <a:cs typeface="Times New Roman"/>
              </a:rPr>
              <a:t>.</a:t>
            </a:r>
            <a:endParaRPr sz="2100" dirty="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100" b="1" spc="-25" dirty="0">
                <a:latin typeface="Times New Roman"/>
                <a:cs typeface="Times New Roman"/>
              </a:rPr>
              <a:t>Terminal </a:t>
            </a:r>
            <a:r>
              <a:rPr sz="2100" b="1" spc="5" dirty="0">
                <a:latin typeface="Times New Roman"/>
                <a:cs typeface="Times New Roman"/>
              </a:rPr>
              <a:t>Network </a:t>
            </a:r>
            <a:r>
              <a:rPr sz="2100" b="1" dirty="0">
                <a:latin typeface="Times New Roman"/>
                <a:cs typeface="Times New Roman"/>
              </a:rPr>
              <a:t>(TELNET) </a:t>
            </a:r>
            <a:r>
              <a:rPr sz="2100" spc="5" dirty="0">
                <a:latin typeface="Times New Roman"/>
                <a:cs typeface="Times New Roman"/>
              </a:rPr>
              <a:t>and </a:t>
            </a:r>
            <a:r>
              <a:rPr sz="2100" b="1" spc="-5" dirty="0">
                <a:latin typeface="Times New Roman"/>
                <a:cs typeface="Times New Roman"/>
              </a:rPr>
              <a:t>Secure </a:t>
            </a:r>
            <a:r>
              <a:rPr sz="2100" b="1" dirty="0">
                <a:latin typeface="Times New Roman"/>
                <a:cs typeface="Times New Roman"/>
              </a:rPr>
              <a:t>Shell</a:t>
            </a:r>
            <a:r>
              <a:rPr sz="2100" b="1" spc="-17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(SSH)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100" spc="5" dirty="0">
                <a:latin typeface="Times New Roman"/>
                <a:cs typeface="Times New Roman"/>
              </a:rPr>
              <a:t>Used </a:t>
            </a:r>
            <a:r>
              <a:rPr sz="2100" dirty="0">
                <a:latin typeface="Times New Roman"/>
                <a:cs typeface="Times New Roman"/>
              </a:rPr>
              <a:t>for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accessing </a:t>
            </a:r>
            <a:r>
              <a:rPr sz="2100" spc="5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site</a:t>
            </a:r>
            <a:r>
              <a:rPr sz="21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25" dirty="0">
                <a:solidFill>
                  <a:srgbClr val="FF0000"/>
                </a:solidFill>
                <a:latin typeface="Times New Roman"/>
                <a:cs typeface="Times New Roman"/>
              </a:rPr>
              <a:t>remotely</a:t>
            </a:r>
            <a:r>
              <a:rPr sz="2100" spc="-25" dirty="0">
                <a:latin typeface="Times New Roman"/>
                <a:cs typeface="Times New Roman"/>
              </a:rPr>
              <a:t>.</a:t>
            </a:r>
            <a:endParaRPr sz="2100" dirty="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Simple </a:t>
            </a:r>
            <a:r>
              <a:rPr sz="2100" b="1" spc="5" dirty="0">
                <a:latin typeface="Times New Roman"/>
                <a:cs typeface="Times New Roman"/>
              </a:rPr>
              <a:t>Network </a:t>
            </a:r>
            <a:r>
              <a:rPr sz="2100" b="1" dirty="0">
                <a:latin typeface="Times New Roman"/>
                <a:cs typeface="Times New Roman"/>
              </a:rPr>
              <a:t>Management </a:t>
            </a:r>
            <a:r>
              <a:rPr sz="2100" b="1" spc="-5" dirty="0">
                <a:latin typeface="Times New Roman"/>
                <a:cs typeface="Times New Roman"/>
              </a:rPr>
              <a:t>Protocol</a:t>
            </a:r>
            <a:r>
              <a:rPr sz="2100" b="1" spc="-105" dirty="0">
                <a:latin typeface="Times New Roman"/>
                <a:cs typeface="Times New Roman"/>
              </a:rPr>
              <a:t> </a:t>
            </a:r>
            <a:r>
              <a:rPr sz="2100" b="1" spc="5" dirty="0">
                <a:latin typeface="Times New Roman"/>
                <a:cs typeface="Times New Roman"/>
              </a:rPr>
              <a:t>(SNMP)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100" dirty="0">
                <a:latin typeface="Times New Roman"/>
                <a:cs typeface="Times New Roman"/>
              </a:rPr>
              <a:t>Used </a:t>
            </a:r>
            <a:r>
              <a:rPr sz="2100" spc="5" dirty="0">
                <a:latin typeface="Times New Roman"/>
                <a:cs typeface="Times New Roman"/>
              </a:rPr>
              <a:t>by an </a:t>
            </a:r>
            <a:r>
              <a:rPr sz="2100" spc="-5" dirty="0">
                <a:latin typeface="Times New Roman"/>
                <a:cs typeface="Times New Roman"/>
              </a:rPr>
              <a:t>administrator </a:t>
            </a:r>
            <a:r>
              <a:rPr sz="2100" spc="-5" dirty="0">
                <a:solidFill>
                  <a:srgbClr val="FF0000"/>
                </a:solidFill>
                <a:latin typeface="Times New Roman"/>
                <a:cs typeface="Times New Roman"/>
              </a:rPr>
              <a:t>to manage Internet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at global </a:t>
            </a:r>
            <a:r>
              <a:rPr sz="2100" spc="5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local</a:t>
            </a:r>
            <a:r>
              <a:rPr sz="21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Times New Roman"/>
                <a:cs typeface="Times New Roman"/>
              </a:rPr>
              <a:t>levels</a:t>
            </a:r>
            <a:r>
              <a:rPr sz="2100" spc="-5" dirty="0">
                <a:latin typeface="Times New Roman"/>
                <a:cs typeface="Times New Roman"/>
              </a:rPr>
              <a:t>.</a:t>
            </a:r>
            <a:endParaRPr sz="2100" dirty="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Domain Name </a:t>
            </a:r>
            <a:r>
              <a:rPr sz="2100" b="1" dirty="0">
                <a:latin typeface="Times New Roman"/>
                <a:cs typeface="Times New Roman"/>
              </a:rPr>
              <a:t>System</a:t>
            </a:r>
            <a:r>
              <a:rPr sz="2100" b="1" spc="-45" dirty="0">
                <a:latin typeface="Times New Roman"/>
                <a:cs typeface="Times New Roman"/>
              </a:rPr>
              <a:t> </a:t>
            </a:r>
            <a:r>
              <a:rPr sz="2100" b="1" spc="5" dirty="0">
                <a:latin typeface="Times New Roman"/>
                <a:cs typeface="Times New Roman"/>
              </a:rPr>
              <a:t>(DNS)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100" dirty="0">
                <a:latin typeface="Times New Roman"/>
                <a:cs typeface="Times New Roman"/>
              </a:rPr>
              <a:t>Used </a:t>
            </a:r>
            <a:r>
              <a:rPr sz="2100" spc="5" dirty="0">
                <a:latin typeface="Times New Roman"/>
                <a:cs typeface="Times New Roman"/>
              </a:rPr>
              <a:t>by </a:t>
            </a:r>
            <a:r>
              <a:rPr sz="2100" dirty="0">
                <a:latin typeface="Times New Roman"/>
                <a:cs typeface="Times New Roman"/>
              </a:rPr>
              <a:t>other protocols </a:t>
            </a:r>
            <a:r>
              <a:rPr sz="2100" spc="-10" dirty="0">
                <a:latin typeface="Times New Roman"/>
                <a:cs typeface="Times New Roman"/>
              </a:rPr>
              <a:t>to </a:t>
            </a:r>
            <a:r>
              <a:rPr sz="2100" spc="-5" dirty="0">
                <a:solidFill>
                  <a:srgbClr val="FF0000"/>
                </a:solidFill>
                <a:latin typeface="Times New Roman"/>
                <a:cs typeface="Times New Roman"/>
              </a:rPr>
              <a:t>find the </a:t>
            </a: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network-layer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address </a:t>
            </a:r>
            <a:r>
              <a:rPr sz="2100" spc="5" dirty="0">
                <a:latin typeface="Times New Roman"/>
                <a:cs typeface="Times New Roman"/>
              </a:rPr>
              <a:t>of a</a:t>
            </a:r>
            <a:r>
              <a:rPr sz="2100" spc="10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computer.</a:t>
            </a:r>
            <a:endParaRPr sz="2100" dirty="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100" b="1" dirty="0">
                <a:latin typeface="Times New Roman"/>
                <a:cs typeface="Times New Roman"/>
              </a:rPr>
              <a:t>Internet </a:t>
            </a:r>
            <a:r>
              <a:rPr sz="2100" b="1" spc="-10" dirty="0">
                <a:latin typeface="Times New Roman"/>
                <a:cs typeface="Times New Roman"/>
              </a:rPr>
              <a:t>Group </a:t>
            </a:r>
            <a:r>
              <a:rPr sz="2100" b="1" dirty="0">
                <a:latin typeface="Times New Roman"/>
                <a:cs typeface="Times New Roman"/>
              </a:rPr>
              <a:t>Management </a:t>
            </a:r>
            <a:r>
              <a:rPr sz="2100" b="1" spc="-5" dirty="0">
                <a:latin typeface="Times New Roman"/>
                <a:cs typeface="Times New Roman"/>
              </a:rPr>
              <a:t>Protocol</a:t>
            </a:r>
            <a:r>
              <a:rPr sz="2100" b="1" spc="-8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(IGMP)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100" dirty="0">
                <a:latin typeface="Times New Roman"/>
                <a:cs typeface="Times New Roman"/>
              </a:rPr>
              <a:t>Used </a:t>
            </a:r>
            <a:r>
              <a:rPr sz="2100" spc="-5" dirty="0">
                <a:latin typeface="Times New Roman"/>
                <a:cs typeface="Times New Roman"/>
              </a:rPr>
              <a:t>to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collect </a:t>
            </a: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membership </a:t>
            </a:r>
            <a:r>
              <a:rPr sz="2100" spc="-5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100" spc="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group</a:t>
            </a:r>
            <a:r>
              <a:rPr sz="2100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345770"/>
            <a:ext cx="800671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Encapsulation </a:t>
            </a:r>
            <a:r>
              <a:rPr dirty="0"/>
              <a:t>and</a:t>
            </a:r>
            <a:r>
              <a:rPr spc="15" dirty="0"/>
              <a:t> </a:t>
            </a:r>
            <a:r>
              <a:rPr spc="-5" dirty="0"/>
              <a:t>Decapsulation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306195"/>
            <a:ext cx="9569450" cy="11747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Encapsulation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source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decapsulation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destination</a:t>
            </a:r>
            <a:r>
              <a:rPr sz="2400" spc="-5" dirty="0">
                <a:latin typeface="Times New Roman"/>
                <a:cs typeface="Times New Roman"/>
              </a:rPr>
              <a:t>, and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encapsulation and  decapsulation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No encapsulation/ decapsulation </a:t>
            </a:r>
            <a:r>
              <a:rPr sz="2400" spc="-10" dirty="0">
                <a:latin typeface="Times New Roman"/>
                <a:cs typeface="Times New Roman"/>
              </a:rPr>
              <a:t>occurs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link-layer</a:t>
            </a:r>
            <a:r>
              <a:rPr sz="2400" spc="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switches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8293" y="2511026"/>
            <a:ext cx="9366638" cy="4097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396620"/>
            <a:ext cx="795782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Encapsulation </a:t>
            </a:r>
            <a:r>
              <a:rPr dirty="0"/>
              <a:t>at </a:t>
            </a:r>
            <a:r>
              <a:rPr spc="-5" dirty="0"/>
              <a:t>the </a:t>
            </a:r>
            <a:r>
              <a:rPr spc="-15" dirty="0"/>
              <a:t>Source</a:t>
            </a:r>
            <a:r>
              <a:rPr spc="-45" dirty="0"/>
              <a:t> </a:t>
            </a:r>
            <a:r>
              <a:rPr spc="-10" dirty="0"/>
              <a:t>Host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54353"/>
            <a:ext cx="10400030" cy="49955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200" b="1" dirty="0">
                <a:latin typeface="Times New Roman"/>
                <a:cs typeface="Times New Roman"/>
              </a:rPr>
              <a:t>Application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layer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Data </a:t>
            </a:r>
            <a:r>
              <a:rPr sz="2200" spc="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be exchanged </a:t>
            </a:r>
            <a:r>
              <a:rPr sz="2200" spc="5" dirty="0">
                <a:latin typeface="Times New Roman"/>
                <a:cs typeface="Times New Roman"/>
              </a:rPr>
              <a:t>is referred to </a:t>
            </a:r>
            <a:r>
              <a:rPr sz="2200" dirty="0">
                <a:latin typeface="Times New Roman"/>
                <a:cs typeface="Times New Roman"/>
              </a:rPr>
              <a:t>as a</a:t>
            </a:r>
            <a:r>
              <a:rPr sz="2200" spc="-210" dirty="0"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message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Message does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not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contain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any header or</a:t>
            </a:r>
            <a:r>
              <a:rPr sz="2200" spc="-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trailer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Message </a:t>
            </a:r>
            <a:r>
              <a:rPr sz="2200" spc="5" dirty="0">
                <a:latin typeface="Times New Roman"/>
                <a:cs typeface="Times New Roman"/>
              </a:rPr>
              <a:t>is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passed to transport</a:t>
            </a:r>
            <a:r>
              <a:rPr sz="2200" spc="-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layer.</a:t>
            </a:r>
            <a:endParaRPr sz="220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200" b="1" spc="-20" dirty="0">
                <a:latin typeface="Times New Roman"/>
                <a:cs typeface="Times New Roman"/>
              </a:rPr>
              <a:t>Transport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layer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30" dirty="0">
                <a:latin typeface="Times New Roman"/>
                <a:cs typeface="Times New Roman"/>
              </a:rPr>
              <a:t>Takes </a:t>
            </a:r>
            <a:r>
              <a:rPr sz="2200" spc="5" dirty="0"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message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payload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20" dirty="0">
                <a:latin typeface="Times New Roman"/>
                <a:cs typeface="Times New Roman"/>
              </a:rPr>
              <a:t>It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adds header </a:t>
            </a:r>
            <a:r>
              <a:rPr sz="2200" spc="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payload, which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contains identifiers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source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destination</a:t>
            </a:r>
            <a:endParaRPr sz="22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9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application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programs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20" dirty="0">
                <a:latin typeface="Times New Roman"/>
                <a:cs typeface="Times New Roman"/>
              </a:rPr>
              <a:t>It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adds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some more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information </a:t>
            </a:r>
            <a:r>
              <a:rPr sz="2200" dirty="0">
                <a:latin typeface="Times New Roman"/>
                <a:cs typeface="Times New Roman"/>
              </a:rPr>
              <a:t>that </a:t>
            </a:r>
            <a:r>
              <a:rPr sz="2200" spc="5" dirty="0">
                <a:latin typeface="Times New Roman"/>
                <a:cs typeface="Times New Roman"/>
              </a:rPr>
              <a:t>is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needed for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end-to-end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delivery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message,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endParaRPr sz="22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85"/>
              </a:spcBef>
            </a:pPr>
            <a:r>
              <a:rPr sz="2200" dirty="0">
                <a:latin typeface="Times New Roman"/>
                <a:cs typeface="Times New Roman"/>
              </a:rPr>
              <a:t>as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information needed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flow,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error control,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or congestion</a:t>
            </a:r>
            <a:r>
              <a:rPr sz="2200" spc="-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2200" spc="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Resulting transport-layer packet, which </a:t>
            </a:r>
            <a:r>
              <a:rPr sz="2200" spc="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called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segment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(in TCP</a:t>
            </a:r>
            <a:r>
              <a:rPr sz="2200" spc="5" dirty="0">
                <a:latin typeface="Times New Roman"/>
                <a:cs typeface="Times New Roman"/>
              </a:rPr>
              <a:t>)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2200" i="1" spc="-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datagram</a:t>
            </a:r>
            <a:endParaRPr sz="22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60"/>
              </a:spcBef>
            </a:pP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(in</a:t>
            </a:r>
            <a:r>
              <a:rPr sz="220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UDP</a:t>
            </a:r>
            <a:r>
              <a:rPr sz="2200" spc="-5" dirty="0">
                <a:latin typeface="Times New Roman"/>
                <a:cs typeface="Times New Roman"/>
              </a:rPr>
              <a:t>).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20" dirty="0">
                <a:latin typeface="Times New Roman"/>
                <a:cs typeface="Times New Roman"/>
              </a:rPr>
              <a:t>It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passes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packet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layer.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250901"/>
            <a:ext cx="79597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Encapsulation </a:t>
            </a:r>
            <a:r>
              <a:rPr spc="5" dirty="0"/>
              <a:t>at </a:t>
            </a:r>
            <a:r>
              <a:rPr spc="-5" dirty="0"/>
              <a:t>the </a:t>
            </a:r>
            <a:r>
              <a:rPr spc="-15" dirty="0"/>
              <a:t>Source</a:t>
            </a:r>
            <a:r>
              <a:rPr spc="-55" dirty="0"/>
              <a:t> </a:t>
            </a:r>
            <a:r>
              <a:rPr spc="-5" dirty="0"/>
              <a:t>Host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21813"/>
            <a:ext cx="10340975" cy="461137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455"/>
              </a:spcBef>
              <a:buAutoNum type="arabicPeriod" startAt="3"/>
              <a:tabLst>
                <a:tab pos="527685" algn="l"/>
                <a:tab pos="528320" algn="l"/>
              </a:tabLst>
            </a:pPr>
            <a:r>
              <a:rPr sz="2200" b="1" spc="5" dirty="0">
                <a:latin typeface="Times New Roman"/>
                <a:cs typeface="Times New Roman"/>
              </a:rPr>
              <a:t>Network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layer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30" dirty="0">
                <a:latin typeface="Times New Roman"/>
                <a:cs typeface="Times New Roman"/>
              </a:rPr>
              <a:t>Takes </a:t>
            </a:r>
            <a:r>
              <a:rPr sz="2200" dirty="0">
                <a:latin typeface="Times New Roman"/>
                <a:cs typeface="Times New Roman"/>
              </a:rPr>
              <a:t>transport-layer packet as </a:t>
            </a:r>
            <a:r>
              <a:rPr sz="2200" spc="5" dirty="0">
                <a:latin typeface="Times New Roman"/>
                <a:cs typeface="Times New Roman"/>
              </a:rPr>
              <a:t>data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payload.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Adds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its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own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header </a:t>
            </a:r>
            <a:r>
              <a:rPr sz="2200" spc="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payload.</a:t>
            </a:r>
            <a:endParaRPr sz="22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ts val="3020"/>
              </a:lnSpc>
              <a:spcBef>
                <a:spcPts val="15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Header </a:t>
            </a:r>
            <a:r>
              <a:rPr sz="2200" spc="5" dirty="0">
                <a:latin typeface="Times New Roman"/>
                <a:cs typeface="Times New Roman"/>
              </a:rPr>
              <a:t>contains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addresses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source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 destination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hosts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5" dirty="0">
                <a:latin typeface="Times New Roman"/>
                <a:cs typeface="Times New Roman"/>
              </a:rPr>
              <a:t>some more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information  used for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error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checking of the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header,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fragmentation information, and so</a:t>
            </a:r>
            <a:r>
              <a:rPr sz="2200" spc="-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200" spc="2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Resulting </a:t>
            </a:r>
            <a:r>
              <a:rPr sz="2200" spc="-5" dirty="0">
                <a:latin typeface="Times New Roman"/>
                <a:cs typeface="Times New Roman"/>
              </a:rPr>
              <a:t>network-layer </a:t>
            </a:r>
            <a:r>
              <a:rPr sz="2200" dirty="0">
                <a:latin typeface="Times New Roman"/>
                <a:cs typeface="Times New Roman"/>
              </a:rPr>
              <a:t>packet, called a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datagram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20" dirty="0">
                <a:latin typeface="Times New Roman"/>
                <a:cs typeface="Times New Roman"/>
              </a:rPr>
              <a:t>It </a:t>
            </a:r>
            <a:r>
              <a:rPr sz="2200" spc="5" dirty="0">
                <a:latin typeface="Times New Roman"/>
                <a:cs typeface="Times New Roman"/>
              </a:rPr>
              <a:t>then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passes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packet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data-link</a:t>
            </a:r>
            <a:r>
              <a:rPr sz="220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layer.</a:t>
            </a:r>
            <a:endParaRPr sz="22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380"/>
              </a:spcBef>
              <a:buAutoNum type="arabicPeriod" startAt="3"/>
              <a:tabLst>
                <a:tab pos="527685" algn="l"/>
                <a:tab pos="528320" algn="l"/>
              </a:tabLst>
            </a:pPr>
            <a:r>
              <a:rPr sz="2200" b="1" dirty="0">
                <a:latin typeface="Times New Roman"/>
                <a:cs typeface="Times New Roman"/>
              </a:rPr>
              <a:t>Data-link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layer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30" dirty="0">
                <a:latin typeface="Times New Roman"/>
                <a:cs typeface="Times New Roman"/>
              </a:rPr>
              <a:t>Takes </a:t>
            </a:r>
            <a:r>
              <a:rPr sz="2200" spc="-5" dirty="0">
                <a:latin typeface="Times New Roman"/>
                <a:cs typeface="Times New Roman"/>
              </a:rPr>
              <a:t>network-layer </a:t>
            </a:r>
            <a:r>
              <a:rPr sz="2200" dirty="0">
                <a:latin typeface="Times New Roman"/>
                <a:cs typeface="Times New Roman"/>
              </a:rPr>
              <a:t>packet as </a:t>
            </a:r>
            <a:r>
              <a:rPr sz="2200" spc="5" dirty="0">
                <a:latin typeface="Times New Roman"/>
                <a:cs typeface="Times New Roman"/>
              </a:rPr>
              <a:t>data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payload.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Adds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its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own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header</a:t>
            </a:r>
            <a:r>
              <a:rPr sz="2200" spc="-10" dirty="0">
                <a:latin typeface="Times New Roman"/>
                <a:cs typeface="Times New Roman"/>
              </a:rPr>
              <a:t>, </a:t>
            </a:r>
            <a:r>
              <a:rPr sz="2200" dirty="0">
                <a:latin typeface="Times New Roman"/>
                <a:cs typeface="Times New Roman"/>
              </a:rPr>
              <a:t>which </a:t>
            </a:r>
            <a:r>
              <a:rPr sz="2200" spc="5" dirty="0">
                <a:latin typeface="Times New Roman"/>
                <a:cs typeface="Times New Roman"/>
              </a:rPr>
              <a:t>contains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link-layer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addresses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host or next hop</a:t>
            </a:r>
            <a:r>
              <a:rPr sz="2200" spc="-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(router).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Resulting </a:t>
            </a:r>
            <a:r>
              <a:rPr sz="2200" spc="-5" dirty="0">
                <a:latin typeface="Times New Roman"/>
                <a:cs typeface="Times New Roman"/>
              </a:rPr>
              <a:t>link-layer </a:t>
            </a:r>
            <a:r>
              <a:rPr sz="2200" dirty="0">
                <a:latin typeface="Times New Roman"/>
                <a:cs typeface="Times New Roman"/>
              </a:rPr>
              <a:t>packet, which </a:t>
            </a:r>
            <a:r>
              <a:rPr sz="2200" spc="5" dirty="0">
                <a:latin typeface="Times New Roman"/>
                <a:cs typeface="Times New Roman"/>
              </a:rPr>
              <a:t>is called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200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frame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Times New Roman"/>
                <a:cs typeface="Times New Roman"/>
              </a:rPr>
              <a:t>Frame </a:t>
            </a:r>
            <a:r>
              <a:rPr sz="2200" spc="5" dirty="0">
                <a:latin typeface="Times New Roman"/>
                <a:cs typeface="Times New Roman"/>
              </a:rPr>
              <a:t>is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passed to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physical</a:t>
            </a:r>
            <a:r>
              <a:rPr sz="22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layer.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62177"/>
            <a:ext cx="102958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5" dirty="0"/>
              <a:t>Decapsulation and </a:t>
            </a:r>
            <a:r>
              <a:rPr sz="4000" dirty="0"/>
              <a:t>Encapsulation at </a:t>
            </a:r>
            <a:r>
              <a:rPr sz="4000" spc="5" dirty="0"/>
              <a:t>the</a:t>
            </a:r>
            <a:r>
              <a:rPr sz="4000" spc="-190" dirty="0"/>
              <a:t> </a:t>
            </a:r>
            <a:r>
              <a:rPr sz="4000" spc="5" dirty="0"/>
              <a:t>Router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7244" y="1820963"/>
            <a:ext cx="10178415" cy="46120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Both decapsulation </a:t>
            </a:r>
            <a:r>
              <a:rPr sz="2200" spc="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encapsulation </a:t>
            </a:r>
            <a:r>
              <a:rPr sz="2200" spc="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performed at router </a:t>
            </a:r>
            <a:r>
              <a:rPr sz="2200" spc="5" dirty="0">
                <a:latin typeface="Times New Roman"/>
                <a:cs typeface="Times New Roman"/>
              </a:rPr>
              <a:t>because it is connected</a:t>
            </a:r>
            <a:r>
              <a:rPr sz="2200" spc="-38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360"/>
              </a:spcBef>
            </a:pPr>
            <a:r>
              <a:rPr sz="2200" dirty="0">
                <a:latin typeface="Times New Roman"/>
                <a:cs typeface="Times New Roman"/>
              </a:rPr>
              <a:t>two or </a:t>
            </a:r>
            <a:r>
              <a:rPr sz="2200" spc="-5" dirty="0">
                <a:latin typeface="Times New Roman"/>
                <a:cs typeface="Times New Roman"/>
              </a:rPr>
              <a:t>more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links.</a:t>
            </a:r>
            <a:endParaRPr sz="22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200" dirty="0">
                <a:latin typeface="Times New Roman"/>
                <a:cs typeface="Times New Roman"/>
              </a:rPr>
              <a:t>Set of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bits </a:t>
            </a:r>
            <a:r>
              <a:rPr sz="2200" spc="5" dirty="0">
                <a:latin typeface="Times New Roman"/>
                <a:cs typeface="Times New Roman"/>
              </a:rPr>
              <a:t>are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delivered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DLL</a:t>
            </a:r>
            <a:r>
              <a:rPr sz="2200" spc="-5" dirty="0">
                <a:latin typeface="Times New Roman"/>
                <a:cs typeface="Times New Roman"/>
              </a:rPr>
              <a:t>. </a:t>
            </a:r>
            <a:r>
              <a:rPr sz="2200" dirty="0">
                <a:latin typeface="Times New Roman"/>
                <a:cs typeface="Times New Roman"/>
              </a:rPr>
              <a:t>DLL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decapsulates datagram </a:t>
            </a:r>
            <a:r>
              <a:rPr sz="2200" spc="5" dirty="0">
                <a:latin typeface="Times New Roman"/>
                <a:cs typeface="Times New Roman"/>
              </a:rPr>
              <a:t>from </a:t>
            </a:r>
            <a:r>
              <a:rPr sz="2200" spc="-5" dirty="0">
                <a:latin typeface="Times New Roman"/>
                <a:cs typeface="Times New Roman"/>
              </a:rPr>
              <a:t>frame </a:t>
            </a:r>
            <a:r>
              <a:rPr sz="2200" spc="5" dirty="0">
                <a:latin typeface="Times New Roman"/>
                <a:cs typeface="Times New Roman"/>
              </a:rPr>
              <a:t>and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passes</a:t>
            </a:r>
            <a:r>
              <a:rPr sz="2200" spc="-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endParaRPr sz="22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  <a:spcBef>
                <a:spcPts val="360"/>
              </a:spcBef>
            </a:pP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layer.</a:t>
            </a:r>
            <a:endParaRPr sz="22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385"/>
              </a:spcBef>
              <a:buAutoNum type="arabicPeriod" startAt="2"/>
              <a:tabLst>
                <a:tab pos="527685" algn="l"/>
                <a:tab pos="528320" algn="l"/>
              </a:tabLst>
            </a:pPr>
            <a:r>
              <a:rPr sz="2200" dirty="0">
                <a:latin typeface="Times New Roman"/>
                <a:cs typeface="Times New Roman"/>
              </a:rPr>
              <a:t>Network layer only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inspects source and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destination addresses </a:t>
            </a:r>
            <a:r>
              <a:rPr sz="2200" spc="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datagram header</a:t>
            </a:r>
            <a:r>
              <a:rPr sz="2200" spc="-3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  <a:spcBef>
                <a:spcPts val="360"/>
              </a:spcBef>
            </a:pP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consults its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forwarding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table to find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next</a:t>
            </a:r>
            <a:r>
              <a:rPr sz="2200" spc="-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hop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Contents of datagram </a:t>
            </a:r>
            <a:r>
              <a:rPr sz="2200" spc="5" dirty="0">
                <a:latin typeface="Times New Roman"/>
                <a:cs typeface="Times New Roman"/>
              </a:rPr>
              <a:t>should </a:t>
            </a:r>
            <a:r>
              <a:rPr sz="2200" dirty="0">
                <a:latin typeface="Times New Roman"/>
                <a:cs typeface="Times New Roman"/>
              </a:rPr>
              <a:t>not be changed by network layer </a:t>
            </a:r>
            <a:r>
              <a:rPr sz="2200" spc="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the router</a:t>
            </a:r>
            <a:r>
              <a:rPr sz="2200" spc="-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unless</a:t>
            </a:r>
            <a:endParaRPr sz="22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85"/>
              </a:spcBef>
            </a:pPr>
            <a:r>
              <a:rPr sz="2200" spc="5" dirty="0">
                <a:latin typeface="Times New Roman"/>
                <a:cs typeface="Times New Roman"/>
              </a:rPr>
              <a:t>there is </a:t>
            </a:r>
            <a:r>
              <a:rPr sz="2200" dirty="0">
                <a:latin typeface="Times New Roman"/>
                <a:cs typeface="Times New Roman"/>
              </a:rPr>
              <a:t>a need </a:t>
            </a:r>
            <a:r>
              <a:rPr sz="2200" spc="5" dirty="0">
                <a:latin typeface="Times New Roman"/>
                <a:cs typeface="Times New Roman"/>
              </a:rPr>
              <a:t>to </a:t>
            </a:r>
            <a:r>
              <a:rPr sz="2200" spc="-5" dirty="0">
                <a:latin typeface="Times New Roman"/>
                <a:cs typeface="Times New Roman"/>
              </a:rPr>
              <a:t>fragment </a:t>
            </a:r>
            <a:r>
              <a:rPr sz="2200" spc="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datagram </a:t>
            </a:r>
            <a:r>
              <a:rPr sz="2200" spc="5" dirty="0">
                <a:latin typeface="Times New Roman"/>
                <a:cs typeface="Times New Roman"/>
              </a:rPr>
              <a:t>if it is too big to </a:t>
            </a:r>
            <a:r>
              <a:rPr sz="2200" dirty="0">
                <a:latin typeface="Times New Roman"/>
                <a:cs typeface="Times New Roman"/>
              </a:rPr>
              <a:t>be </a:t>
            </a:r>
            <a:r>
              <a:rPr sz="2200" spc="5" dirty="0">
                <a:latin typeface="Times New Roman"/>
                <a:cs typeface="Times New Roman"/>
              </a:rPr>
              <a:t>passed </a:t>
            </a:r>
            <a:r>
              <a:rPr sz="2200" dirty="0">
                <a:latin typeface="Times New Roman"/>
                <a:cs typeface="Times New Roman"/>
              </a:rPr>
              <a:t>through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endParaRPr sz="22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60"/>
              </a:spcBef>
            </a:pPr>
            <a:r>
              <a:rPr sz="2200" spc="-5" dirty="0">
                <a:latin typeface="Times New Roman"/>
                <a:cs typeface="Times New Roman"/>
              </a:rPr>
              <a:t>link.</a:t>
            </a:r>
            <a:endParaRPr sz="22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Datagram </a:t>
            </a:r>
            <a:r>
              <a:rPr sz="2200" spc="5" dirty="0">
                <a:latin typeface="Times New Roman"/>
                <a:cs typeface="Times New Roman"/>
              </a:rPr>
              <a:t>is then passed to </a:t>
            </a:r>
            <a:r>
              <a:rPr sz="2200" dirty="0">
                <a:latin typeface="Times New Roman"/>
                <a:cs typeface="Times New Roman"/>
              </a:rPr>
              <a:t>DLL of next</a:t>
            </a:r>
            <a:r>
              <a:rPr sz="2200" spc="-2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link.</a:t>
            </a:r>
            <a:endParaRPr sz="22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360"/>
              </a:spcBef>
              <a:buAutoNum type="arabicPeriod" startAt="3"/>
              <a:tabLst>
                <a:tab pos="527685" algn="l"/>
                <a:tab pos="528320" algn="l"/>
              </a:tabLst>
            </a:pPr>
            <a:r>
              <a:rPr sz="2200" dirty="0">
                <a:latin typeface="Times New Roman"/>
                <a:cs typeface="Times New Roman"/>
              </a:rPr>
              <a:t>DLL of next </a:t>
            </a:r>
            <a:r>
              <a:rPr sz="2200" spc="5" dirty="0">
                <a:latin typeface="Times New Roman"/>
                <a:cs typeface="Times New Roman"/>
              </a:rPr>
              <a:t>link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encapsulates the datagram </a:t>
            </a:r>
            <a:r>
              <a:rPr sz="2200" spc="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frame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passes it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physical</a:t>
            </a:r>
            <a:r>
              <a:rPr sz="2200" spc="-3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layer</a:t>
            </a:r>
            <a:endParaRPr sz="22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  <a:spcBef>
                <a:spcPts val="365"/>
              </a:spcBef>
            </a:pPr>
            <a:r>
              <a:rPr sz="2200" spc="5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transmission.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90290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Decapsulation at the Destination</a:t>
            </a:r>
            <a:r>
              <a:rPr spc="55" dirty="0"/>
              <a:t> </a:t>
            </a:r>
            <a:r>
              <a:rPr spc="-5" dirty="0"/>
              <a:t>Host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19744"/>
            <a:ext cx="9431655" cy="25260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At the </a:t>
            </a:r>
            <a:r>
              <a:rPr sz="2400" spc="-5" dirty="0">
                <a:latin typeface="Times New Roman"/>
                <a:cs typeface="Times New Roman"/>
              </a:rPr>
              <a:t>destination </a:t>
            </a:r>
            <a:r>
              <a:rPr sz="2400" dirty="0">
                <a:latin typeface="Times New Roman"/>
                <a:cs typeface="Times New Roman"/>
              </a:rPr>
              <a:t>host, </a:t>
            </a:r>
            <a:r>
              <a:rPr sz="2400" spc="-10" dirty="0">
                <a:latin typeface="Times New Roman"/>
                <a:cs typeface="Times New Roman"/>
              </a:rPr>
              <a:t>each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Only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decapsulates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packet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received</a:t>
            </a:r>
            <a:endParaRPr sz="2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Removes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payload</a:t>
            </a:r>
            <a:endParaRPr sz="24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ct val="114199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Delivers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5" dirty="0">
                <a:latin typeface="Times New Roman"/>
                <a:cs typeface="Times New Roman"/>
              </a:rPr>
              <a:t>payload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to the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next-higher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layer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protocol </a:t>
            </a:r>
            <a:r>
              <a:rPr sz="2400" dirty="0">
                <a:latin typeface="Times New Roman"/>
                <a:cs typeface="Times New Roman"/>
              </a:rPr>
              <a:t>until the </a:t>
            </a:r>
            <a:r>
              <a:rPr sz="2400" spc="-10" dirty="0">
                <a:latin typeface="Times New Roman"/>
                <a:cs typeface="Times New Roman"/>
              </a:rPr>
              <a:t>message  reaches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application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layer.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Decapsulation </a:t>
            </a:r>
            <a:r>
              <a:rPr sz="2400" dirty="0">
                <a:latin typeface="Times New Roman"/>
                <a:cs typeface="Times New Roman"/>
              </a:rPr>
              <a:t>involves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error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checking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35858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OSI vs</a:t>
            </a:r>
            <a:r>
              <a:rPr spc="-130" dirty="0"/>
              <a:t> </a:t>
            </a:r>
            <a:r>
              <a:rPr spc="-5" dirty="0"/>
              <a:t>TCP/IP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98263" y="1922867"/>
            <a:ext cx="8088630" cy="4516755"/>
            <a:chOff x="1898263" y="1922867"/>
            <a:chExt cx="8088630" cy="4516755"/>
          </a:xfrm>
        </p:grpSpPr>
        <p:sp>
          <p:nvSpPr>
            <p:cNvPr id="4" name="object 4"/>
            <p:cNvSpPr/>
            <p:nvPr/>
          </p:nvSpPr>
          <p:spPr>
            <a:xfrm>
              <a:off x="1898263" y="5808217"/>
              <a:ext cx="8088630" cy="631190"/>
            </a:xfrm>
            <a:custGeom>
              <a:avLst/>
              <a:gdLst/>
              <a:ahLst/>
              <a:cxnLst/>
              <a:rect l="l" t="t" r="r" b="b"/>
              <a:pathLst>
                <a:path w="8088630" h="631189">
                  <a:moveTo>
                    <a:pt x="0" y="631016"/>
                  </a:moveTo>
                  <a:lnTo>
                    <a:pt x="8088268" y="631016"/>
                  </a:lnTo>
                  <a:lnTo>
                    <a:pt x="8088268" y="0"/>
                  </a:lnTo>
                  <a:lnTo>
                    <a:pt x="0" y="0"/>
                  </a:lnTo>
                  <a:lnTo>
                    <a:pt x="0" y="631016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98263" y="5160774"/>
              <a:ext cx="8088630" cy="647700"/>
            </a:xfrm>
            <a:custGeom>
              <a:avLst/>
              <a:gdLst/>
              <a:ahLst/>
              <a:cxnLst/>
              <a:rect l="l" t="t" r="r" b="b"/>
              <a:pathLst>
                <a:path w="8088630" h="647700">
                  <a:moveTo>
                    <a:pt x="8088268" y="0"/>
                  </a:moveTo>
                  <a:lnTo>
                    <a:pt x="0" y="0"/>
                  </a:lnTo>
                  <a:lnTo>
                    <a:pt x="0" y="647442"/>
                  </a:lnTo>
                  <a:lnTo>
                    <a:pt x="8088268" y="647442"/>
                  </a:lnTo>
                  <a:lnTo>
                    <a:pt x="80882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98263" y="4512734"/>
              <a:ext cx="8088630" cy="648335"/>
            </a:xfrm>
            <a:custGeom>
              <a:avLst/>
              <a:gdLst/>
              <a:ahLst/>
              <a:cxnLst/>
              <a:rect l="l" t="t" r="r" b="b"/>
              <a:pathLst>
                <a:path w="8088630" h="648335">
                  <a:moveTo>
                    <a:pt x="8088268" y="0"/>
                  </a:moveTo>
                  <a:lnTo>
                    <a:pt x="0" y="0"/>
                  </a:lnTo>
                  <a:lnTo>
                    <a:pt x="0" y="648039"/>
                  </a:lnTo>
                  <a:lnTo>
                    <a:pt x="8088268" y="648039"/>
                  </a:lnTo>
                  <a:lnTo>
                    <a:pt x="808826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8263" y="3865291"/>
              <a:ext cx="8088630" cy="647700"/>
            </a:xfrm>
            <a:custGeom>
              <a:avLst/>
              <a:gdLst/>
              <a:ahLst/>
              <a:cxnLst/>
              <a:rect l="l" t="t" r="r" b="b"/>
              <a:pathLst>
                <a:path w="8088630" h="647700">
                  <a:moveTo>
                    <a:pt x="8088268" y="0"/>
                  </a:moveTo>
                  <a:lnTo>
                    <a:pt x="0" y="0"/>
                  </a:lnTo>
                  <a:lnTo>
                    <a:pt x="0" y="647442"/>
                  </a:lnTo>
                  <a:lnTo>
                    <a:pt x="8088268" y="647442"/>
                  </a:lnTo>
                  <a:lnTo>
                    <a:pt x="80882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8263" y="3217848"/>
              <a:ext cx="8088630" cy="647700"/>
            </a:xfrm>
            <a:custGeom>
              <a:avLst/>
              <a:gdLst/>
              <a:ahLst/>
              <a:cxnLst/>
              <a:rect l="l" t="t" r="r" b="b"/>
              <a:pathLst>
                <a:path w="8088630" h="647700">
                  <a:moveTo>
                    <a:pt x="8088268" y="0"/>
                  </a:moveTo>
                  <a:lnTo>
                    <a:pt x="0" y="0"/>
                  </a:lnTo>
                  <a:lnTo>
                    <a:pt x="0" y="647442"/>
                  </a:lnTo>
                  <a:lnTo>
                    <a:pt x="8088268" y="647442"/>
                  </a:lnTo>
                  <a:lnTo>
                    <a:pt x="808826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98263" y="2570477"/>
              <a:ext cx="8088630" cy="647700"/>
            </a:xfrm>
            <a:custGeom>
              <a:avLst/>
              <a:gdLst/>
              <a:ahLst/>
              <a:cxnLst/>
              <a:rect l="l" t="t" r="r" b="b"/>
              <a:pathLst>
                <a:path w="8088630" h="647700">
                  <a:moveTo>
                    <a:pt x="8088268" y="0"/>
                  </a:moveTo>
                  <a:lnTo>
                    <a:pt x="0" y="0"/>
                  </a:lnTo>
                  <a:lnTo>
                    <a:pt x="0" y="647442"/>
                  </a:lnTo>
                  <a:lnTo>
                    <a:pt x="8088268" y="647442"/>
                  </a:lnTo>
                  <a:lnTo>
                    <a:pt x="80882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98263" y="1922867"/>
              <a:ext cx="8088630" cy="647700"/>
            </a:xfrm>
            <a:custGeom>
              <a:avLst/>
              <a:gdLst/>
              <a:ahLst/>
              <a:cxnLst/>
              <a:rect l="l" t="t" r="r" b="b"/>
              <a:pathLst>
                <a:path w="8088630" h="647700">
                  <a:moveTo>
                    <a:pt x="8088268" y="0"/>
                  </a:moveTo>
                  <a:lnTo>
                    <a:pt x="0" y="0"/>
                  </a:lnTo>
                  <a:lnTo>
                    <a:pt x="0" y="647442"/>
                  </a:lnTo>
                  <a:lnTo>
                    <a:pt x="8088268" y="647442"/>
                  </a:lnTo>
                  <a:lnTo>
                    <a:pt x="808826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95312" y="1903596"/>
            <a:ext cx="2268855" cy="647700"/>
          </a:xfrm>
          <a:prstGeom prst="rect">
            <a:avLst/>
          </a:prstGeom>
          <a:solidFill>
            <a:srgbClr val="DDDDDD"/>
          </a:solidFill>
          <a:ln w="30065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311785">
              <a:lnSpc>
                <a:spcPct val="100000"/>
              </a:lnSpc>
              <a:spcBef>
                <a:spcPts val="690"/>
              </a:spcBef>
            </a:pPr>
            <a:r>
              <a:rPr sz="2650" spc="-10" dirty="0">
                <a:latin typeface="Arial"/>
                <a:cs typeface="Arial"/>
              </a:rPr>
              <a:t>Application</a:t>
            </a:r>
            <a:endParaRPr sz="2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95312" y="2550968"/>
            <a:ext cx="2268855" cy="648335"/>
          </a:xfrm>
          <a:prstGeom prst="rect">
            <a:avLst/>
          </a:prstGeom>
          <a:solidFill>
            <a:srgbClr val="FFFFCC"/>
          </a:solidFill>
          <a:ln w="30065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690"/>
              </a:spcBef>
            </a:pPr>
            <a:r>
              <a:rPr sz="2650" spc="-5" dirty="0">
                <a:latin typeface="Arial"/>
                <a:cs typeface="Arial"/>
              </a:rPr>
              <a:t>Presentation</a:t>
            </a:r>
            <a:endParaRPr sz="2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5312" y="3199055"/>
            <a:ext cx="2268855" cy="647700"/>
          </a:xfrm>
          <a:prstGeom prst="rect">
            <a:avLst/>
          </a:prstGeom>
          <a:solidFill>
            <a:srgbClr val="DDDDDD"/>
          </a:solidFill>
          <a:ln w="30065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537210">
              <a:lnSpc>
                <a:spcPct val="100000"/>
              </a:lnSpc>
              <a:spcBef>
                <a:spcPts val="690"/>
              </a:spcBef>
            </a:pPr>
            <a:r>
              <a:rPr sz="2650" spc="-5" dirty="0">
                <a:latin typeface="Arial"/>
                <a:cs typeface="Arial"/>
              </a:rPr>
              <a:t>Session</a:t>
            </a:r>
            <a:endParaRPr sz="2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95312" y="3846427"/>
            <a:ext cx="2268855" cy="647700"/>
          </a:xfrm>
          <a:prstGeom prst="rect">
            <a:avLst/>
          </a:prstGeom>
          <a:solidFill>
            <a:srgbClr val="FFFFCC"/>
          </a:solidFill>
          <a:ln w="3004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695"/>
              </a:spcBef>
            </a:pPr>
            <a:r>
              <a:rPr sz="2650" spc="-5" dirty="0">
                <a:latin typeface="Arial"/>
                <a:cs typeface="Arial"/>
              </a:rPr>
              <a:t>Transport</a:t>
            </a:r>
            <a:endParaRPr sz="2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95312" y="4493965"/>
            <a:ext cx="2268855" cy="647700"/>
          </a:xfrm>
          <a:prstGeom prst="rect">
            <a:avLst/>
          </a:prstGeom>
          <a:solidFill>
            <a:srgbClr val="DDDDDD"/>
          </a:solidFill>
          <a:ln w="3004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518795">
              <a:lnSpc>
                <a:spcPct val="100000"/>
              </a:lnSpc>
              <a:spcBef>
                <a:spcPts val="690"/>
              </a:spcBef>
            </a:pPr>
            <a:r>
              <a:rPr sz="2650" spc="-5" dirty="0">
                <a:latin typeface="Arial"/>
                <a:cs typeface="Arial"/>
              </a:rPr>
              <a:t>Network</a:t>
            </a:r>
            <a:endParaRPr sz="2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5312" y="5141408"/>
            <a:ext cx="2268855" cy="650875"/>
          </a:xfrm>
          <a:prstGeom prst="rect">
            <a:avLst/>
          </a:prstGeom>
          <a:solidFill>
            <a:srgbClr val="FFFFCC"/>
          </a:solidFill>
          <a:ln w="3004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690"/>
              </a:spcBef>
            </a:pPr>
            <a:r>
              <a:rPr sz="2650" spc="-10" dirty="0">
                <a:latin typeface="Arial"/>
                <a:cs typeface="Arial"/>
              </a:rPr>
              <a:t>Data</a:t>
            </a:r>
            <a:r>
              <a:rPr sz="2650" spc="-25" dirty="0">
                <a:latin typeface="Arial"/>
                <a:cs typeface="Arial"/>
              </a:rPr>
              <a:t> </a:t>
            </a:r>
            <a:r>
              <a:rPr sz="2650" spc="-5" dirty="0">
                <a:latin typeface="Arial"/>
                <a:cs typeface="Arial"/>
              </a:rPr>
              <a:t>Link</a:t>
            </a:r>
            <a:endParaRPr sz="2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95312" y="5791788"/>
            <a:ext cx="2268855" cy="647700"/>
          </a:xfrm>
          <a:prstGeom prst="rect">
            <a:avLst/>
          </a:prstGeom>
          <a:solidFill>
            <a:srgbClr val="DDDDDD"/>
          </a:solidFill>
          <a:ln w="3004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690"/>
              </a:spcBef>
            </a:pPr>
            <a:r>
              <a:rPr sz="2650" spc="-5" dirty="0">
                <a:latin typeface="Arial"/>
                <a:cs typeface="Arial"/>
              </a:rPr>
              <a:t>Physical</a:t>
            </a:r>
            <a:endParaRPr sz="26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163849" y="1903596"/>
            <a:ext cx="2264410" cy="1943100"/>
          </a:xfrm>
          <a:custGeom>
            <a:avLst/>
            <a:gdLst/>
            <a:ahLst/>
            <a:cxnLst/>
            <a:rect l="l" t="t" r="r" b="b"/>
            <a:pathLst>
              <a:path w="2264410" h="1943100">
                <a:moveTo>
                  <a:pt x="0" y="1942830"/>
                </a:moveTo>
                <a:lnTo>
                  <a:pt x="2263839" y="1942830"/>
                </a:lnTo>
                <a:lnTo>
                  <a:pt x="2263839" y="0"/>
                </a:lnTo>
                <a:lnTo>
                  <a:pt x="0" y="0"/>
                </a:lnTo>
                <a:lnTo>
                  <a:pt x="0" y="1942830"/>
                </a:lnTo>
              </a:path>
            </a:pathLst>
          </a:custGeom>
          <a:ln w="300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78882" y="2550968"/>
            <a:ext cx="2233930" cy="648335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8763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690"/>
              </a:spcBef>
            </a:pPr>
            <a:r>
              <a:rPr sz="2650" spc="-10" dirty="0">
                <a:latin typeface="Arial"/>
                <a:cs typeface="Arial"/>
              </a:rPr>
              <a:t>Application</a:t>
            </a:r>
            <a:endParaRPr sz="2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3849" y="3846427"/>
            <a:ext cx="2264410" cy="647700"/>
          </a:xfrm>
          <a:prstGeom prst="rect">
            <a:avLst/>
          </a:prstGeom>
          <a:solidFill>
            <a:srgbClr val="FFFFCC"/>
          </a:solidFill>
          <a:ln w="3004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695"/>
              </a:spcBef>
            </a:pPr>
            <a:r>
              <a:rPr sz="2650" spc="-5" dirty="0">
                <a:latin typeface="Arial"/>
                <a:cs typeface="Arial"/>
              </a:rPr>
              <a:t>Transport</a:t>
            </a:r>
            <a:endParaRPr sz="2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63849" y="4493965"/>
            <a:ext cx="2264410" cy="647700"/>
          </a:xfrm>
          <a:prstGeom prst="rect">
            <a:avLst/>
          </a:prstGeom>
          <a:solidFill>
            <a:srgbClr val="DDDDDD"/>
          </a:solidFill>
          <a:ln w="3004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690"/>
              </a:spcBef>
            </a:pPr>
            <a:r>
              <a:rPr sz="2650" spc="-5" dirty="0">
                <a:latin typeface="Arial"/>
                <a:cs typeface="Arial"/>
              </a:rPr>
              <a:t>Network</a:t>
            </a:r>
            <a:endParaRPr sz="2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63849" y="5141408"/>
            <a:ext cx="2264410" cy="650875"/>
          </a:xfrm>
          <a:prstGeom prst="rect">
            <a:avLst/>
          </a:prstGeom>
          <a:solidFill>
            <a:srgbClr val="FFFFCC"/>
          </a:solidFill>
          <a:ln w="3004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423545">
              <a:lnSpc>
                <a:spcPct val="100000"/>
              </a:lnSpc>
              <a:spcBef>
                <a:spcPts val="690"/>
              </a:spcBef>
            </a:pPr>
            <a:r>
              <a:rPr sz="2650" spc="-10" dirty="0">
                <a:latin typeface="Arial"/>
                <a:cs typeface="Arial"/>
              </a:rPr>
              <a:t>Data</a:t>
            </a:r>
            <a:r>
              <a:rPr sz="2650" spc="-25" dirty="0">
                <a:latin typeface="Arial"/>
                <a:cs typeface="Arial"/>
              </a:rPr>
              <a:t> </a:t>
            </a:r>
            <a:r>
              <a:rPr sz="2650" spc="-5" dirty="0">
                <a:latin typeface="Arial"/>
                <a:cs typeface="Arial"/>
              </a:rPr>
              <a:t>Link</a:t>
            </a:r>
            <a:endParaRPr sz="2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63849" y="5791788"/>
            <a:ext cx="2264410" cy="647700"/>
          </a:xfrm>
          <a:prstGeom prst="rect">
            <a:avLst/>
          </a:prstGeom>
          <a:solidFill>
            <a:srgbClr val="DDDDDD"/>
          </a:solidFill>
          <a:ln w="3004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690"/>
              </a:spcBef>
            </a:pPr>
            <a:r>
              <a:rPr sz="2650" spc="-5" dirty="0">
                <a:latin typeface="Arial"/>
                <a:cs typeface="Arial"/>
              </a:rPr>
              <a:t>Physical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35070" y="1903596"/>
            <a:ext cx="2635885" cy="4535805"/>
            <a:chOff x="6835070" y="1903596"/>
            <a:chExt cx="2635885" cy="4535805"/>
          </a:xfrm>
        </p:grpSpPr>
        <p:sp>
          <p:nvSpPr>
            <p:cNvPr id="25" name="object 25"/>
            <p:cNvSpPr/>
            <p:nvPr/>
          </p:nvSpPr>
          <p:spPr>
            <a:xfrm>
              <a:off x="6914057" y="4708617"/>
              <a:ext cx="0" cy="1516380"/>
            </a:xfrm>
            <a:custGeom>
              <a:avLst/>
              <a:gdLst/>
              <a:ahLst/>
              <a:cxnLst/>
              <a:rect l="l" t="t" r="r" b="b"/>
              <a:pathLst>
                <a:path h="1516379">
                  <a:moveTo>
                    <a:pt x="0" y="0"/>
                  </a:moveTo>
                  <a:lnTo>
                    <a:pt x="0" y="1515985"/>
                  </a:lnTo>
                </a:path>
              </a:pathLst>
            </a:custGeom>
            <a:ln w="16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35064" y="4493971"/>
              <a:ext cx="154940" cy="1945639"/>
            </a:xfrm>
            <a:custGeom>
              <a:avLst/>
              <a:gdLst/>
              <a:ahLst/>
              <a:cxnLst/>
              <a:rect l="l" t="t" r="r" b="b"/>
              <a:pathLst>
                <a:path w="154940" h="1945639">
                  <a:moveTo>
                    <a:pt x="154622" y="1711274"/>
                  </a:moveTo>
                  <a:lnTo>
                    <a:pt x="0" y="1711274"/>
                  </a:lnTo>
                  <a:lnTo>
                    <a:pt x="78981" y="1945271"/>
                  </a:lnTo>
                  <a:lnTo>
                    <a:pt x="154622" y="1711274"/>
                  </a:lnTo>
                  <a:close/>
                </a:path>
                <a:path w="154940" h="1945639">
                  <a:moveTo>
                    <a:pt x="154622" y="233997"/>
                  </a:moveTo>
                  <a:lnTo>
                    <a:pt x="78981" y="0"/>
                  </a:lnTo>
                  <a:lnTo>
                    <a:pt x="0" y="233997"/>
                  </a:lnTo>
                  <a:lnTo>
                    <a:pt x="154622" y="233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23315" y="4077579"/>
              <a:ext cx="0" cy="1518920"/>
            </a:xfrm>
            <a:custGeom>
              <a:avLst/>
              <a:gdLst/>
              <a:ahLst/>
              <a:cxnLst/>
              <a:rect l="l" t="t" r="r" b="b"/>
              <a:pathLst>
                <a:path h="1518920">
                  <a:moveTo>
                    <a:pt x="0" y="0"/>
                  </a:moveTo>
                  <a:lnTo>
                    <a:pt x="0" y="1518325"/>
                  </a:lnTo>
                </a:path>
              </a:pathLst>
            </a:custGeom>
            <a:ln w="16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44803" y="3865295"/>
              <a:ext cx="154940" cy="1943100"/>
            </a:xfrm>
            <a:custGeom>
              <a:avLst/>
              <a:gdLst/>
              <a:ahLst/>
              <a:cxnLst/>
              <a:rect l="l" t="t" r="r" b="b"/>
              <a:pathLst>
                <a:path w="154940" h="1943100">
                  <a:moveTo>
                    <a:pt x="154622" y="1711274"/>
                  </a:moveTo>
                  <a:lnTo>
                    <a:pt x="0" y="1711274"/>
                  </a:lnTo>
                  <a:lnTo>
                    <a:pt x="78511" y="1942922"/>
                  </a:lnTo>
                  <a:lnTo>
                    <a:pt x="154622" y="1711274"/>
                  </a:lnTo>
                  <a:close/>
                </a:path>
                <a:path w="154940" h="1943100">
                  <a:moveTo>
                    <a:pt x="154622" y="233997"/>
                  </a:moveTo>
                  <a:lnTo>
                    <a:pt x="78511" y="0"/>
                  </a:lnTo>
                  <a:lnTo>
                    <a:pt x="0" y="233997"/>
                  </a:lnTo>
                  <a:lnTo>
                    <a:pt x="154622" y="233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530418" y="2115885"/>
              <a:ext cx="0" cy="3480435"/>
            </a:xfrm>
            <a:custGeom>
              <a:avLst/>
              <a:gdLst/>
              <a:ahLst/>
              <a:cxnLst/>
              <a:rect l="l" t="t" r="r" b="b"/>
              <a:pathLst>
                <a:path h="3480435">
                  <a:moveTo>
                    <a:pt x="0" y="0"/>
                  </a:moveTo>
                  <a:lnTo>
                    <a:pt x="0" y="3480020"/>
                  </a:lnTo>
                </a:path>
              </a:pathLst>
            </a:custGeom>
            <a:ln w="16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54060" y="1903602"/>
              <a:ext cx="155575" cy="3904615"/>
            </a:xfrm>
            <a:custGeom>
              <a:avLst/>
              <a:gdLst/>
              <a:ahLst/>
              <a:cxnLst/>
              <a:rect l="l" t="t" r="r" b="b"/>
              <a:pathLst>
                <a:path w="155575" h="3904615">
                  <a:moveTo>
                    <a:pt x="155333" y="3672967"/>
                  </a:moveTo>
                  <a:lnTo>
                    <a:pt x="0" y="3672967"/>
                  </a:lnTo>
                  <a:lnTo>
                    <a:pt x="76352" y="3904615"/>
                  </a:lnTo>
                  <a:lnTo>
                    <a:pt x="155333" y="3672967"/>
                  </a:lnTo>
                  <a:close/>
                </a:path>
                <a:path w="155575" h="3904615">
                  <a:moveTo>
                    <a:pt x="155333" y="234022"/>
                  </a:moveTo>
                  <a:lnTo>
                    <a:pt x="76352" y="0"/>
                  </a:lnTo>
                  <a:lnTo>
                    <a:pt x="0" y="234022"/>
                  </a:lnTo>
                  <a:lnTo>
                    <a:pt x="155333" y="234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394488" y="4077579"/>
              <a:ext cx="0" cy="2147570"/>
            </a:xfrm>
            <a:custGeom>
              <a:avLst/>
              <a:gdLst/>
              <a:ahLst/>
              <a:cxnLst/>
              <a:rect l="l" t="t" r="r" b="b"/>
              <a:pathLst>
                <a:path h="2147570">
                  <a:moveTo>
                    <a:pt x="0" y="0"/>
                  </a:moveTo>
                  <a:lnTo>
                    <a:pt x="0" y="2147023"/>
                  </a:lnTo>
                </a:path>
              </a:pathLst>
            </a:custGeom>
            <a:ln w="16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315501" y="3865295"/>
              <a:ext cx="155575" cy="2574290"/>
            </a:xfrm>
            <a:custGeom>
              <a:avLst/>
              <a:gdLst/>
              <a:ahLst/>
              <a:cxnLst/>
              <a:rect l="l" t="t" r="r" b="b"/>
              <a:pathLst>
                <a:path w="155575" h="2574290">
                  <a:moveTo>
                    <a:pt x="155092" y="2339949"/>
                  </a:moveTo>
                  <a:lnTo>
                    <a:pt x="0" y="2339949"/>
                  </a:lnTo>
                  <a:lnTo>
                    <a:pt x="78981" y="2573947"/>
                  </a:lnTo>
                  <a:lnTo>
                    <a:pt x="155092" y="2339949"/>
                  </a:lnTo>
                  <a:close/>
                </a:path>
                <a:path w="155575" h="2574290">
                  <a:moveTo>
                    <a:pt x="155092" y="233997"/>
                  </a:moveTo>
                  <a:lnTo>
                    <a:pt x="78981" y="0"/>
                  </a:lnTo>
                  <a:lnTo>
                    <a:pt x="0" y="233997"/>
                  </a:lnTo>
                  <a:lnTo>
                    <a:pt x="155092" y="233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967386" y="4829618"/>
            <a:ext cx="349885" cy="12750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620"/>
              </a:lnSpc>
            </a:pPr>
            <a:r>
              <a:rPr sz="2250" spc="5" dirty="0">
                <a:latin typeface="Arial"/>
                <a:cs typeface="Arial"/>
              </a:rPr>
              <a:t>Hardware</a:t>
            </a:r>
            <a:endParaRPr sz="22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77122" y="4222627"/>
            <a:ext cx="349885" cy="122872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620"/>
              </a:lnSpc>
            </a:pPr>
            <a:r>
              <a:rPr sz="2250" dirty="0">
                <a:latin typeface="Arial"/>
                <a:cs typeface="Arial"/>
              </a:rPr>
              <a:t>F</a:t>
            </a:r>
            <a:r>
              <a:rPr sz="2250" spc="5" dirty="0">
                <a:latin typeface="Arial"/>
                <a:cs typeface="Arial"/>
              </a:rPr>
              <a:t>i</a:t>
            </a:r>
            <a:r>
              <a:rPr sz="2250" spc="-10" dirty="0">
                <a:latin typeface="Arial"/>
                <a:cs typeface="Arial"/>
              </a:rPr>
              <a:t>r</a:t>
            </a:r>
            <a:r>
              <a:rPr sz="2250" spc="-20" dirty="0">
                <a:latin typeface="Arial"/>
                <a:cs typeface="Arial"/>
              </a:rPr>
              <a:t>m</a:t>
            </a:r>
            <a:r>
              <a:rPr sz="2250" spc="-25" dirty="0">
                <a:latin typeface="Arial"/>
                <a:cs typeface="Arial"/>
              </a:rPr>
              <a:t>w</a:t>
            </a:r>
            <a:r>
              <a:rPr sz="2250" spc="-5" dirty="0">
                <a:latin typeface="Arial"/>
                <a:cs typeface="Arial"/>
              </a:rPr>
              <a:t>a</a:t>
            </a:r>
            <a:r>
              <a:rPr sz="2250" spc="10" dirty="0">
                <a:latin typeface="Arial"/>
                <a:cs typeface="Arial"/>
              </a:rPr>
              <a:t>r</a:t>
            </a:r>
            <a:r>
              <a:rPr sz="2250" dirty="0">
                <a:latin typeface="Arial"/>
                <a:cs typeface="Arial"/>
              </a:rPr>
              <a:t>e</a:t>
            </a:r>
            <a:endParaRPr sz="22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6620" y="3276142"/>
            <a:ext cx="349885" cy="11607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620"/>
              </a:lnSpc>
            </a:pPr>
            <a:r>
              <a:rPr sz="2250" spc="-30" dirty="0">
                <a:latin typeface="Arial"/>
                <a:cs typeface="Arial"/>
              </a:rPr>
              <a:t>S</a:t>
            </a:r>
            <a:r>
              <a:rPr sz="2250" spc="-5" dirty="0">
                <a:latin typeface="Arial"/>
                <a:cs typeface="Arial"/>
              </a:rPr>
              <a:t>o</a:t>
            </a:r>
            <a:r>
              <a:rPr sz="2250" spc="-10" dirty="0">
                <a:latin typeface="Arial"/>
                <a:cs typeface="Arial"/>
              </a:rPr>
              <a:t>f</a:t>
            </a:r>
            <a:r>
              <a:rPr sz="2250" spc="5" dirty="0">
                <a:latin typeface="Arial"/>
                <a:cs typeface="Arial"/>
              </a:rPr>
              <a:t>t</a:t>
            </a:r>
            <a:r>
              <a:rPr sz="2250" spc="-20" dirty="0">
                <a:latin typeface="Arial"/>
                <a:cs typeface="Arial"/>
              </a:rPr>
              <a:t>w</a:t>
            </a:r>
            <a:r>
              <a:rPr sz="2250" spc="-10" dirty="0">
                <a:latin typeface="Arial"/>
                <a:cs typeface="Arial"/>
              </a:rPr>
              <a:t>ar</a:t>
            </a:r>
            <a:r>
              <a:rPr sz="2250" dirty="0">
                <a:latin typeface="Arial"/>
                <a:cs typeface="Arial"/>
              </a:rPr>
              <a:t>e</a:t>
            </a:r>
            <a:endParaRPr sz="22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461210" y="4081309"/>
            <a:ext cx="322580" cy="213995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415"/>
              </a:lnSpc>
            </a:pPr>
            <a:r>
              <a:rPr sz="2100" spc="-15" dirty="0">
                <a:latin typeface="Arial"/>
                <a:cs typeface="Arial"/>
              </a:rPr>
              <a:t>Operating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spc="-15" dirty="0">
                <a:latin typeface="Arial"/>
                <a:cs typeface="Arial"/>
              </a:rPr>
              <a:t>System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315501" y="1939416"/>
            <a:ext cx="155575" cy="1942464"/>
            <a:chOff x="9315501" y="1939416"/>
            <a:chExt cx="155575" cy="1942464"/>
          </a:xfrm>
        </p:grpSpPr>
        <p:sp>
          <p:nvSpPr>
            <p:cNvPr id="38" name="object 38"/>
            <p:cNvSpPr/>
            <p:nvPr/>
          </p:nvSpPr>
          <p:spPr>
            <a:xfrm>
              <a:off x="9394488" y="2154092"/>
              <a:ext cx="0" cy="1515745"/>
            </a:xfrm>
            <a:custGeom>
              <a:avLst/>
              <a:gdLst/>
              <a:ahLst/>
              <a:cxnLst/>
              <a:rect l="l" t="t" r="r" b="b"/>
              <a:pathLst>
                <a:path h="1515745">
                  <a:moveTo>
                    <a:pt x="0" y="0"/>
                  </a:moveTo>
                  <a:lnTo>
                    <a:pt x="0" y="1515388"/>
                  </a:lnTo>
                </a:path>
              </a:pathLst>
            </a:custGeom>
            <a:ln w="16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315501" y="1939416"/>
              <a:ext cx="155575" cy="1942464"/>
            </a:xfrm>
            <a:custGeom>
              <a:avLst/>
              <a:gdLst/>
              <a:ahLst/>
              <a:cxnLst/>
              <a:rect l="l" t="t" r="r" b="b"/>
              <a:pathLst>
                <a:path w="155575" h="1942464">
                  <a:moveTo>
                    <a:pt x="155092" y="1711210"/>
                  </a:moveTo>
                  <a:lnTo>
                    <a:pt x="0" y="1711210"/>
                  </a:lnTo>
                  <a:lnTo>
                    <a:pt x="78981" y="1942363"/>
                  </a:lnTo>
                  <a:lnTo>
                    <a:pt x="155092" y="1711210"/>
                  </a:lnTo>
                  <a:close/>
                </a:path>
                <a:path w="155575" h="1942464">
                  <a:moveTo>
                    <a:pt x="155092" y="234022"/>
                  </a:moveTo>
                  <a:lnTo>
                    <a:pt x="78981" y="0"/>
                  </a:lnTo>
                  <a:lnTo>
                    <a:pt x="0" y="234022"/>
                  </a:lnTo>
                  <a:lnTo>
                    <a:pt x="155092" y="234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9461210" y="2230939"/>
            <a:ext cx="322580" cy="136271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415"/>
              </a:lnSpc>
            </a:pPr>
            <a:r>
              <a:rPr sz="2100" spc="-15" dirty="0">
                <a:latin typeface="Arial"/>
                <a:cs typeface="Arial"/>
              </a:rPr>
              <a:t>User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spc="-15" dirty="0">
                <a:latin typeface="Arial"/>
                <a:cs typeface="Arial"/>
              </a:rPr>
              <a:t>space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16360" y="1361680"/>
            <a:ext cx="60261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spc="-15" dirty="0">
                <a:latin typeface="Arial"/>
                <a:cs typeface="Arial"/>
              </a:rPr>
              <a:t>O</a:t>
            </a:r>
            <a:r>
              <a:rPr sz="2650" spc="-20" dirty="0">
                <a:latin typeface="Arial"/>
                <a:cs typeface="Arial"/>
              </a:rPr>
              <a:t>S</a:t>
            </a:r>
            <a:r>
              <a:rPr sz="2650" dirty="0">
                <a:latin typeface="Arial"/>
                <a:cs typeface="Arial"/>
              </a:rPr>
              <a:t>I</a:t>
            </a:r>
            <a:endParaRPr sz="26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94747" y="1356427"/>
            <a:ext cx="110236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spc="-20" dirty="0">
                <a:latin typeface="Arial"/>
                <a:cs typeface="Arial"/>
              </a:rPr>
              <a:t>T</a:t>
            </a:r>
            <a:r>
              <a:rPr sz="2650" spc="-15" dirty="0">
                <a:latin typeface="Arial"/>
                <a:cs typeface="Arial"/>
              </a:rPr>
              <a:t>C</a:t>
            </a:r>
            <a:r>
              <a:rPr sz="2650" spc="-20" dirty="0">
                <a:latin typeface="Arial"/>
                <a:cs typeface="Arial"/>
              </a:rPr>
              <a:t>P</a:t>
            </a:r>
            <a:r>
              <a:rPr sz="2650" spc="-15" dirty="0">
                <a:latin typeface="Arial"/>
                <a:cs typeface="Arial"/>
              </a:rPr>
              <a:t>/I</a:t>
            </a:r>
            <a:r>
              <a:rPr sz="2650" dirty="0">
                <a:latin typeface="Arial"/>
                <a:cs typeface="Arial"/>
              </a:rPr>
              <a:t>P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326593"/>
            <a:ext cx="556577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TCP/IP and OSI</a:t>
            </a:r>
            <a:r>
              <a:rPr spc="-280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1442467" y="1081799"/>
            <a:ext cx="7320534" cy="49380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337515"/>
            <a:ext cx="320357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0" spc="5" dirty="0">
                <a:latin typeface="Times New Roman"/>
                <a:cs typeface="Times New Roman"/>
              </a:rPr>
              <a:t>Protocol</a:t>
            </a:r>
            <a:r>
              <a:rPr sz="4000" b="0" spc="-120" dirty="0">
                <a:latin typeface="Times New Roman"/>
                <a:cs typeface="Times New Roman"/>
              </a:rPr>
              <a:t> </a:t>
            </a:r>
            <a:r>
              <a:rPr sz="4000" b="0" dirty="0">
                <a:latin typeface="Times New Roman"/>
                <a:cs typeface="Times New Roman"/>
              </a:rPr>
              <a:t>Stacks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75514" y="1080215"/>
            <a:ext cx="8176389" cy="54939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28345"/>
            <a:ext cx="427609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5" dirty="0">
                <a:latin typeface="Times New Roman"/>
                <a:cs typeface="Times New Roman"/>
              </a:rPr>
              <a:t>Summary </a:t>
            </a:r>
            <a:r>
              <a:rPr b="0" spc="-5" dirty="0">
                <a:latin typeface="Times New Roman"/>
                <a:cs typeface="Times New Roman"/>
              </a:rPr>
              <a:t>of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duties</a:t>
            </a:r>
          </a:p>
        </p:txBody>
      </p:sp>
      <p:sp>
        <p:nvSpPr>
          <p:cNvPr id="3" name="object 3"/>
          <p:cNvSpPr/>
          <p:nvPr/>
        </p:nvSpPr>
        <p:spPr>
          <a:xfrm>
            <a:off x="1048816" y="2434132"/>
            <a:ext cx="10027031" cy="33484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1606</Words>
  <Application>Microsoft Office PowerPoint</Application>
  <PresentationFormat>Widescreen</PresentationFormat>
  <Paragraphs>208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Carlito</vt:lpstr>
      <vt:lpstr>Times New Roman</vt:lpstr>
      <vt:lpstr>Office Theme</vt:lpstr>
      <vt:lpstr>TCP/IP Protocol Suite</vt:lpstr>
      <vt:lpstr>TCP/IP Protocol Suite</vt:lpstr>
      <vt:lpstr>Layers in the TCP/IP protocol suite</vt:lpstr>
      <vt:lpstr>Communication through an internet</vt:lpstr>
      <vt:lpstr>Logical connections between layers</vt:lpstr>
      <vt:lpstr>Logical connections between layers cont..</vt:lpstr>
      <vt:lpstr>Identical objects in the TCP/IP protocol suite</vt:lpstr>
      <vt:lpstr>Physical Layer</vt:lpstr>
      <vt:lpstr>Data-link Layer</vt:lpstr>
      <vt:lpstr>Data-link Layer cont..</vt:lpstr>
      <vt:lpstr>Network Layer</vt:lpstr>
      <vt:lpstr>Network Layer: Internet Protocol (IP)</vt:lpstr>
      <vt:lpstr>Network Layer: Routing protocol</vt:lpstr>
      <vt:lpstr>Network Layer: Some auxiliary protocols</vt:lpstr>
      <vt:lpstr>Transport Layer</vt:lpstr>
      <vt:lpstr>Transport Layer: Transmission Control  Protocol (TCP)</vt:lpstr>
      <vt:lpstr>Transport Layer: User Datagram Protocol  (UDP)</vt:lpstr>
      <vt:lpstr>Application Layer</vt:lpstr>
      <vt:lpstr>Encapsulation and Decapsulation</vt:lpstr>
      <vt:lpstr>Encapsulation at the Source Host</vt:lpstr>
      <vt:lpstr>Encapsulation at the Source Host</vt:lpstr>
      <vt:lpstr>Decapsulation and Encapsulation at the Router</vt:lpstr>
      <vt:lpstr>Decapsulation at the Destination Host</vt:lpstr>
      <vt:lpstr>OSI vs TCP/IP</vt:lpstr>
      <vt:lpstr>TCP/IP and OSI model</vt:lpstr>
      <vt:lpstr>Protocol Stacks</vt:lpstr>
      <vt:lpstr>Summary of duties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TCP/IP Protocol Suite</dc:title>
  <dc:creator>Admin</dc:creator>
  <cp:lastModifiedBy>admin</cp:lastModifiedBy>
  <cp:revision>3</cp:revision>
  <dcterms:created xsi:type="dcterms:W3CDTF">2022-01-11T03:32:24Z</dcterms:created>
  <dcterms:modified xsi:type="dcterms:W3CDTF">2026-01-19T05:34:18Z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2022-01-11T00:00:00Z</vt:filetime>
  </property>
</Properties>
</file>