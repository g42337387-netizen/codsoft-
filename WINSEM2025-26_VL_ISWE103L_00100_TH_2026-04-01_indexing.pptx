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5"/>
  </p:notesMasterIdLst>
  <p:handoutMasterIdLst>
    <p:handoutMasterId r:id="rId26"/>
  </p:handoutMasterIdLst>
  <p:sldIdLst>
    <p:sldId id="324" r:id="rId2"/>
    <p:sldId id="327" r:id="rId3"/>
    <p:sldId id="328" r:id="rId4"/>
    <p:sldId id="329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</p:sldIdLst>
  <p:sldSz cx="9144000" cy="6858000" type="letter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228"/>
    <a:srgbClr val="6E792B"/>
    <a:srgbClr val="76822E"/>
    <a:srgbClr val="4F571F"/>
    <a:srgbClr val="6F6A07"/>
    <a:srgbClr val="827C08"/>
    <a:srgbClr val="A29B0A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90" d="100"/>
          <a:sy n="90" d="100"/>
        </p:scale>
        <p:origin x="-816" y="96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fld id="{3F1F5E7B-120A-4320-9842-E7083EC9CD6F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9383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smtClean="0"/>
              <a:t>Click to edit Master text styles</a:t>
            </a:r>
          </a:p>
          <a:p>
            <a:pPr lvl="1"/>
            <a:r>
              <a:rPr lang="en-CA" altLang="en-US" smtClean="0"/>
              <a:t>Second level</a:t>
            </a:r>
          </a:p>
          <a:p>
            <a:pPr lvl="2"/>
            <a:r>
              <a:rPr lang="en-CA" altLang="en-US" smtClean="0"/>
              <a:t>Third level</a:t>
            </a:r>
          </a:p>
          <a:p>
            <a:pPr lvl="3"/>
            <a:r>
              <a:rPr lang="en-CA" altLang="en-US" smtClean="0"/>
              <a:t>Fourth level</a:t>
            </a:r>
          </a:p>
          <a:p>
            <a:pPr lvl="4"/>
            <a:r>
              <a:rPr lang="en-CA" altLang="en-US" smtClean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fld id="{3C3DC186-8A73-4687-8314-A54EA641AD0C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657756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477D87-0E86-4979-87C2-FCFEBC625E20}" type="slidenum">
              <a:rPr lang="en-CA" altLang="en-US"/>
              <a:pPr/>
              <a:t>1</a:t>
            </a:fld>
            <a:endParaRPr lang="en-CA" alt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FF0A2D-0CCD-4B37-970E-3B9DF33CD0D4}" type="slidenum">
              <a:rPr lang="en-CA" altLang="en-US"/>
              <a:pPr/>
              <a:t>2</a:t>
            </a:fld>
            <a:endParaRPr lang="en-CA" altLang="en-US"/>
          </a:p>
        </p:txBody>
      </p:sp>
      <p:sp>
        <p:nvSpPr>
          <p:cNvPr id="67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26F046-4118-49DE-BF8F-EFC980EF0DDD}" type="slidenum">
              <a:rPr lang="en-CA" altLang="en-US"/>
              <a:pPr/>
              <a:t>3</a:t>
            </a:fld>
            <a:endParaRPr lang="en-CA" altLang="en-US"/>
          </a:p>
        </p:txBody>
      </p:sp>
      <p:sp>
        <p:nvSpPr>
          <p:cNvPr id="67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C21BB2-9E71-4093-9B3A-61CB117E027D}" type="slidenum">
              <a:rPr lang="en-CA" altLang="en-US"/>
              <a:pPr/>
              <a:t>4</a:t>
            </a:fld>
            <a:endParaRPr lang="en-CA" altLang="en-US"/>
          </a:p>
        </p:txBody>
      </p:sp>
      <p:sp>
        <p:nvSpPr>
          <p:cNvPr id="67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3B6879-4B9F-4EB2-B709-0DFFC96A4B76}" type="slidenum">
              <a:rPr lang="en-CA" altLang="en-US"/>
              <a:pPr/>
              <a:t>5</a:t>
            </a:fld>
            <a:endParaRPr lang="en-CA" altLang="en-US"/>
          </a:p>
        </p:txBody>
      </p:sp>
      <p:sp>
        <p:nvSpPr>
          <p:cNvPr id="67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19BC5F-8DBB-459B-A21E-B5C114C1A007}" type="slidenum">
              <a:rPr lang="en-CA" altLang="en-US"/>
              <a:pPr/>
              <a:t>6</a:t>
            </a:fld>
            <a:endParaRPr lang="en-CA" altLang="en-US"/>
          </a:p>
        </p:txBody>
      </p:sp>
      <p:sp>
        <p:nvSpPr>
          <p:cNvPr id="68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80B63-4F33-4714-BB10-B96399F4E226}" type="slidenum">
              <a:rPr lang="en-CA" altLang="en-US"/>
              <a:pPr/>
              <a:t>7</a:t>
            </a:fld>
            <a:endParaRPr lang="en-CA" altLang="en-US"/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B4EDBC-9C38-456D-9C71-6D5BFBDED2F5}" type="slidenum">
              <a:rPr lang="en-CA" altLang="en-US"/>
              <a:pPr/>
              <a:t>8</a:t>
            </a:fld>
            <a:endParaRPr lang="en-CA" altLang="en-US"/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FD28BD-D698-44C0-BFBA-EE9DB349355C}" type="slidenum">
              <a:rPr lang="en-CA" altLang="en-US"/>
              <a:pPr/>
              <a:t>9</a:t>
            </a:fld>
            <a:endParaRPr lang="en-CA" altLang="en-US"/>
          </a:p>
        </p:txBody>
      </p:sp>
      <p:sp>
        <p:nvSpPr>
          <p:cNvPr id="68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A1756-DDF2-4E05-A89A-2EDDFB76615F}" type="slidenum">
              <a:rPr lang="en-CA" altLang="en-US"/>
              <a:pPr/>
              <a:t>10</a:t>
            </a:fld>
            <a:endParaRPr lang="en-CA" altLang="en-US"/>
          </a:p>
        </p:txBody>
      </p:sp>
      <p:sp>
        <p:nvSpPr>
          <p:cNvPr id="68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8F3051-1EFB-4ECA-9432-C03A1657BC3E}" type="slidenum">
              <a:rPr lang="en-CA" altLang="en-US"/>
              <a:pPr/>
              <a:t>11</a:t>
            </a:fld>
            <a:endParaRPr lang="en-CA" altLang="en-US"/>
          </a:p>
        </p:txBody>
      </p:sp>
      <p:sp>
        <p:nvSpPr>
          <p:cNvPr id="69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486BA3-6EE3-4859-AE81-B2CF32861BCE}" type="slidenum">
              <a:rPr lang="en-CA" altLang="en-US"/>
              <a:pPr/>
              <a:t>12</a:t>
            </a:fld>
            <a:endParaRPr lang="en-CA" altLang="en-US"/>
          </a:p>
        </p:txBody>
      </p:sp>
      <p:sp>
        <p:nvSpPr>
          <p:cNvPr id="69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60616E-CAA6-4F96-A977-E470F5A7584C}" type="slidenum">
              <a:rPr lang="en-CA" altLang="en-US"/>
              <a:pPr/>
              <a:t>13</a:t>
            </a:fld>
            <a:endParaRPr lang="en-CA" altLang="en-US"/>
          </a:p>
        </p:txBody>
      </p:sp>
      <p:sp>
        <p:nvSpPr>
          <p:cNvPr id="69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2A1450-8820-4070-987C-C9D56B753596}" type="slidenum">
              <a:rPr lang="en-CA" altLang="en-US"/>
              <a:pPr/>
              <a:t>14</a:t>
            </a:fld>
            <a:endParaRPr lang="en-CA" altLang="en-US"/>
          </a:p>
        </p:txBody>
      </p:sp>
      <p:sp>
        <p:nvSpPr>
          <p:cNvPr id="69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4B56F3-41CE-449A-BD6B-26821672E6F2}" type="slidenum">
              <a:rPr lang="en-CA" altLang="en-US"/>
              <a:pPr/>
              <a:t>15</a:t>
            </a:fld>
            <a:endParaRPr lang="en-CA" altLang="en-US"/>
          </a:p>
        </p:txBody>
      </p:sp>
      <p:sp>
        <p:nvSpPr>
          <p:cNvPr id="69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786280-8429-4607-9744-77FBBA8900BF}" type="slidenum">
              <a:rPr lang="en-CA" altLang="en-US"/>
              <a:pPr/>
              <a:t>16</a:t>
            </a:fld>
            <a:endParaRPr lang="en-CA" altLang="en-US"/>
          </a:p>
        </p:txBody>
      </p:sp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4FE906-8602-446C-B743-26A4BCBE9B55}" type="slidenum">
              <a:rPr lang="en-CA" altLang="en-US"/>
              <a:pPr/>
              <a:t>17</a:t>
            </a:fld>
            <a:endParaRPr lang="en-CA" altLang="en-US"/>
          </a:p>
        </p:txBody>
      </p:sp>
      <p:sp>
        <p:nvSpPr>
          <p:cNvPr id="70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920FE-1FBF-4C39-A7B6-EFD3864E65B7}" type="slidenum">
              <a:rPr lang="en-CA" altLang="en-US"/>
              <a:pPr/>
              <a:t>18</a:t>
            </a:fld>
            <a:endParaRPr lang="en-CA" altLang="en-US"/>
          </a:p>
        </p:txBody>
      </p:sp>
      <p:sp>
        <p:nvSpPr>
          <p:cNvPr id="70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0FC8BC-E08F-4A46-A606-24EF914297F8}" type="slidenum">
              <a:rPr lang="en-CA" altLang="en-US"/>
              <a:pPr/>
              <a:t>19</a:t>
            </a:fld>
            <a:endParaRPr lang="en-CA" altLang="en-US"/>
          </a:p>
        </p:txBody>
      </p:sp>
      <p:sp>
        <p:nvSpPr>
          <p:cNvPr id="70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8B3628-7E58-4A49-8311-6FED21FF26E1}" type="slidenum">
              <a:rPr lang="en-CA" altLang="en-US"/>
              <a:pPr/>
              <a:t>20</a:t>
            </a:fld>
            <a:endParaRPr lang="en-CA" altLang="en-US"/>
          </a:p>
        </p:txBody>
      </p:sp>
      <p:sp>
        <p:nvSpPr>
          <p:cNvPr id="70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C9538D-10CC-4168-AB18-F6AA6A5270C7}" type="slidenum">
              <a:rPr lang="en-CA" altLang="en-US"/>
              <a:pPr/>
              <a:t>21</a:t>
            </a:fld>
            <a:endParaRPr lang="en-CA" altLang="en-US"/>
          </a:p>
        </p:txBody>
      </p:sp>
      <p:sp>
        <p:nvSpPr>
          <p:cNvPr id="71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284A9A-105C-4104-A388-D42595423595}" type="slidenum">
              <a:rPr lang="en-CA" altLang="en-US"/>
              <a:pPr/>
              <a:t>22</a:t>
            </a:fld>
            <a:endParaRPr lang="en-CA" alt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F4EFF8-6DE9-4A0F-99A7-710A4AA0B668}" type="slidenum">
              <a:rPr lang="en-CA" altLang="en-US"/>
              <a:pPr/>
              <a:t>23</a:t>
            </a:fld>
            <a:endParaRPr lang="en-CA" alt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0" name="Rectangle 44"/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4000"/>
                </a:srgbClr>
              </a:gs>
              <a:gs pos="100000">
                <a:srgbClr val="677228">
                  <a:gamma/>
                  <a:shade val="87843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43" name="Rectangle 47"/>
          <p:cNvSpPr>
            <a:spLocks noChangeArrowheads="1"/>
          </p:cNvSpPr>
          <p:nvPr userDrawn="1"/>
        </p:nvSpPr>
        <p:spPr bwMode="auto"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4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44" name="Rectangle 48"/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r>
              <a:rPr lang="en-US" altLang="en-US"/>
              <a:t>Copyright © 2007 </a:t>
            </a:r>
            <a:r>
              <a:rPr lang="en-US" altLang="en-US">
                <a:solidFill>
                  <a:srgbClr val="000000"/>
                </a:solidFill>
              </a:rPr>
              <a:t>Ramez Elmasri and Shamkant B. Navathe</a:t>
            </a:r>
          </a:p>
        </p:txBody>
      </p:sp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</a:extLst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pic>
        <p:nvPicPr>
          <p:cNvPr id="4131" name="Picture 35" descr="awtri_4c UPDATE_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pic>
        <p:nvPicPr>
          <p:cNvPr id="4142" name="Picture 46" descr="elmasri_thumb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3FAAFD10-1792-472C-BAFC-C943D8F87CCA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3461932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980616C8-5790-406D-A8BA-4130F506AEE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420124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E3461CCA-42E6-4514-A7A5-5D8D7F9D374B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50463968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A1598377-A85E-4B60-87DF-B80E115435B1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97629179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57C3E8AD-EC3F-4644-A135-DC209DC3D1F3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1142142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241CD5D5-6AD3-4EA9-BF1C-5047FFC99BE1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0664976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06DDC793-F781-40ED-8961-3A07AA4F6617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0600134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FD50D022-F79E-4FF9-9882-30711A352DC2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97816563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0FF57B5F-D350-448A-BE62-3025380A0793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64462142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14- </a:t>
            </a:r>
            <a:fld id="{72DDD114-F02B-4E5A-86A2-61E70C9CC9FE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380336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7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3110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3200">
                <a:latin typeface="Tahoma" pitchFamily="34" charset="0"/>
              </a:endParaRPr>
            </a:p>
          </p:txBody>
        </p:sp>
        <p:grpSp>
          <p:nvGrpSpPr>
            <p:cNvPr id="3116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3115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pPr algn="ctr"/>
                <a:endParaRPr kumimoji="1" lang="en-US" altLang="en-US" sz="3200">
                  <a:latin typeface="Tahoma" pitchFamily="34" charset="0"/>
                </a:endParaRPr>
              </a:p>
            </p:txBody>
          </p:sp>
          <p:sp>
            <p:nvSpPr>
              <p:cNvPr id="3104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pPr algn="ctr"/>
                <a:endParaRPr kumimoji="1" lang="en-US" altLang="en-US" sz="3200">
                  <a:latin typeface="Tahoma" pitchFamily="34" charset="0"/>
                </a:endParaRPr>
              </a:p>
            </p:txBody>
          </p:sp>
        </p:grpSp>
      </p:grpSp>
      <p:sp>
        <p:nvSpPr>
          <p:cNvPr id="3109" name="Rectangle 37"/>
          <p:cNvSpPr>
            <a:spLocks noChangeArrowheads="1"/>
          </p:cNvSpPr>
          <p:nvPr userDrawn="1"/>
        </p:nvSpPr>
        <p:spPr bwMode="gray">
          <a:xfrm rot="162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kumimoji="1" lang="en-US" altLang="en-US" sz="3200">
              <a:latin typeface="Tahoma" pitchFamily="34" charset="0"/>
            </a:endParaRPr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990033"/>
                </a:solidFill>
              </a:defRPr>
            </a:lvl1pPr>
          </a:lstStyle>
          <a:p>
            <a:r>
              <a:rPr lang="en-US" altLang="en-US"/>
              <a:t>Slide 14- </a:t>
            </a:r>
            <a:fld id="{46EC956C-2868-44C8-A07F-1A3CD55F82CC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102" name="Rectangle 30"/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en-US" sz="900"/>
              <a:t>Copyright © 2007 </a:t>
            </a:r>
            <a:r>
              <a:rPr lang="en-US" altLang="en-US" sz="900">
                <a:solidFill>
                  <a:srgbClr val="000000"/>
                </a:solidFill>
              </a:rPr>
              <a:t>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itchFamily="2" charset="2"/>
        <a:buChar char="n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2600">
          <a:solidFill>
            <a:srgbClr val="800000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400"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2000">
          <a:solidFill>
            <a:srgbClr val="800000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/>
              <a:t>Copyright © 2007 </a:t>
            </a:r>
            <a:r>
              <a:rPr lang="en-US" altLang="en-US">
                <a:solidFill>
                  <a:srgbClr val="000000"/>
                </a:solidFill>
              </a:rPr>
              <a:t>Ramez Elmasri and Shamkant B. Navathe</a:t>
            </a:r>
          </a:p>
        </p:txBody>
      </p:sp>
      <p:sp>
        <p:nvSpPr>
          <p:cNvPr id="573442" name="Rectangle 2" descr="Pink tissue paper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Chapter 14</a:t>
            </a:r>
          </a:p>
        </p:txBody>
      </p:sp>
      <p:sp>
        <p:nvSpPr>
          <p:cNvPr id="573443" name="Rectangle 3" descr="Pink tissue paper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Indexing Structures for Files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BBF4A752-345D-49DA-8347-B9A4C2D6200C}" type="slidenum">
              <a:rPr lang="en-US" altLang="en-US"/>
              <a:pPr/>
              <a:t>2</a:t>
            </a:fld>
            <a:endParaRPr lang="en-CA" altLang="en-US"/>
          </a:p>
        </p:txBody>
      </p:sp>
      <p:sp>
        <p:nvSpPr>
          <p:cNvPr id="66970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Outline</a:t>
            </a:r>
          </a:p>
        </p:txBody>
      </p:sp>
      <p:sp>
        <p:nvSpPr>
          <p:cNvPr id="66970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Types of Single-level Ordered Indexes</a:t>
            </a:r>
          </a:p>
          <a:p>
            <a:pPr lvl="1"/>
            <a:r>
              <a:rPr lang="en-US" altLang="en-US"/>
              <a:t>Primary Indexes</a:t>
            </a:r>
          </a:p>
          <a:p>
            <a:pPr lvl="1"/>
            <a:r>
              <a:rPr lang="en-US" altLang="en-US"/>
              <a:t>Clustering Indexes</a:t>
            </a:r>
          </a:p>
          <a:p>
            <a:pPr lvl="1"/>
            <a:r>
              <a:rPr lang="en-US" altLang="en-US"/>
              <a:t>Secondary Indexes</a:t>
            </a:r>
          </a:p>
          <a:p>
            <a:r>
              <a:rPr lang="en-US" altLang="en-US"/>
              <a:t>Multilevel Indexes</a:t>
            </a:r>
          </a:p>
          <a:p>
            <a:r>
              <a:rPr lang="en-US" altLang="en-US"/>
              <a:t>Dynamic Multilevel Indexes Using B-Trees      and B+-Trees</a:t>
            </a:r>
          </a:p>
          <a:p>
            <a:r>
              <a:rPr lang="en-US" altLang="en-US"/>
              <a:t>Indexes on Multiple Keys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437B0FF6-4A8D-49B5-B449-130655B43B35}" type="slidenum">
              <a:rPr lang="en-US" altLang="en-US"/>
              <a:pPr/>
              <a:t>3</a:t>
            </a:fld>
            <a:endParaRPr lang="en-CA" altLang="en-US"/>
          </a:p>
        </p:txBody>
      </p:sp>
      <p:sp>
        <p:nvSpPr>
          <p:cNvPr id="6717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Indexes as Access Paths</a:t>
            </a:r>
          </a:p>
        </p:txBody>
      </p:sp>
      <p:sp>
        <p:nvSpPr>
          <p:cNvPr id="6717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 single-level index is an auxiliary file that makes it more efficient to search for a record in the data file.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index is usually specified on one field of the file (although it could be specified on several fields)</a:t>
            </a:r>
          </a:p>
          <a:p>
            <a:pPr>
              <a:lnSpc>
                <a:spcPct val="90000"/>
              </a:lnSpc>
            </a:pPr>
            <a:r>
              <a:rPr lang="en-US" altLang="en-US"/>
              <a:t>One form of an index is a file of entries &lt;</a:t>
            </a:r>
            <a:r>
              <a:rPr lang="en-US" altLang="en-US" b="1"/>
              <a:t>field value, pointer to record&gt;</a:t>
            </a:r>
            <a:r>
              <a:rPr lang="en-US" altLang="en-US"/>
              <a:t>, which is ordered by field value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index is called an access path on the field.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ABE47ADA-2B3C-4C25-B50E-A326B0500D3F}" type="slidenum">
              <a:rPr lang="en-US" altLang="en-US"/>
              <a:pPr/>
              <a:t>4</a:t>
            </a:fld>
            <a:endParaRPr lang="en-CA" altLang="en-US"/>
          </a:p>
        </p:txBody>
      </p:sp>
      <p:sp>
        <p:nvSpPr>
          <p:cNvPr id="6737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Indexes as Access Paths (contd.)</a:t>
            </a:r>
          </a:p>
        </p:txBody>
      </p:sp>
      <p:sp>
        <p:nvSpPr>
          <p:cNvPr id="67379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The index file usually occupies considerably less disk blocks than the data file because its entries are much smaller</a:t>
            </a:r>
          </a:p>
          <a:p>
            <a:r>
              <a:rPr lang="en-US" altLang="en-US" sz="2400"/>
              <a:t>A binary search on the index yields a pointer to the file record</a:t>
            </a:r>
          </a:p>
          <a:p>
            <a:r>
              <a:rPr lang="en-US" altLang="en-US" sz="2400"/>
              <a:t>Indexes can also be characterized as dense or sparse </a:t>
            </a:r>
          </a:p>
          <a:p>
            <a:pPr lvl="1"/>
            <a:r>
              <a:rPr lang="en-US" altLang="en-US" sz="2200"/>
              <a:t>A </a:t>
            </a:r>
            <a:r>
              <a:rPr lang="en-US" altLang="en-US" sz="2200" b="1"/>
              <a:t>dense index</a:t>
            </a:r>
            <a:r>
              <a:rPr lang="en-US" altLang="en-US" sz="2200"/>
              <a:t> has an index entry for every search key value (and hence every record) in the data file. </a:t>
            </a:r>
          </a:p>
          <a:p>
            <a:pPr lvl="1"/>
            <a:r>
              <a:rPr lang="en-US" altLang="en-US" sz="2200"/>
              <a:t>A </a:t>
            </a:r>
            <a:r>
              <a:rPr lang="en-US" altLang="en-US" sz="2200" b="1"/>
              <a:t>sparse (or nondense) index</a:t>
            </a:r>
            <a:r>
              <a:rPr lang="en-US" altLang="en-US" sz="2200"/>
              <a:t>, on the other hand, has index entries for only some of the search values </a:t>
            </a:r>
          </a:p>
          <a:p>
            <a:pPr>
              <a:buFont typeface="Wingdings" pitchFamily="2" charset="2"/>
              <a:buNone/>
            </a:pPr>
            <a:endParaRPr lang="en-US" altLang="en-US" sz="2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994ACDEA-881E-40E1-93B2-B36668F5AECB}" type="slidenum">
              <a:rPr lang="en-US" altLang="en-US"/>
              <a:pPr/>
              <a:t>5</a:t>
            </a:fld>
            <a:endParaRPr lang="en-CA" altLang="en-US"/>
          </a:p>
        </p:txBody>
      </p:sp>
      <p:sp>
        <p:nvSpPr>
          <p:cNvPr id="6778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Single-Level Indexes</a:t>
            </a:r>
          </a:p>
        </p:txBody>
      </p:sp>
      <p:sp>
        <p:nvSpPr>
          <p:cNvPr id="6778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Primary Index</a:t>
            </a:r>
          </a:p>
          <a:p>
            <a:pPr lvl="1"/>
            <a:r>
              <a:rPr lang="en-US" altLang="en-US" sz="2200"/>
              <a:t>Defined on an ordered data file</a:t>
            </a:r>
          </a:p>
          <a:p>
            <a:pPr lvl="1"/>
            <a:r>
              <a:rPr lang="en-US" altLang="en-US" sz="2200"/>
              <a:t>The data file is ordered on a </a:t>
            </a:r>
            <a:r>
              <a:rPr lang="en-US" altLang="en-US" sz="2200" b="1"/>
              <a:t>key field</a:t>
            </a:r>
          </a:p>
          <a:p>
            <a:pPr lvl="1"/>
            <a:r>
              <a:rPr lang="en-US" altLang="en-US" sz="2200"/>
              <a:t>Includes one index entry </a:t>
            </a:r>
            <a:r>
              <a:rPr lang="en-US" altLang="en-US" sz="2200" i="1"/>
              <a:t>for each block</a:t>
            </a:r>
            <a:r>
              <a:rPr lang="en-US" altLang="en-US" sz="2200"/>
              <a:t> in the data file; the index entry has the key field value for the </a:t>
            </a:r>
            <a:r>
              <a:rPr lang="en-US" altLang="en-US" sz="2200" i="1"/>
              <a:t>first record</a:t>
            </a:r>
            <a:r>
              <a:rPr lang="en-US" altLang="en-US" sz="2200"/>
              <a:t> in the block, which is called the </a:t>
            </a:r>
            <a:r>
              <a:rPr lang="en-US" altLang="en-US" sz="2200" i="1"/>
              <a:t>block anchor</a:t>
            </a:r>
          </a:p>
          <a:p>
            <a:pPr lvl="1"/>
            <a:r>
              <a:rPr lang="en-US" altLang="en-US" sz="2200"/>
              <a:t>A similar scheme can use the </a:t>
            </a:r>
            <a:r>
              <a:rPr lang="en-US" altLang="en-US" sz="2200" i="1"/>
              <a:t>last record</a:t>
            </a:r>
            <a:r>
              <a:rPr lang="en-US" altLang="en-US" sz="2200"/>
              <a:t> in a block.</a:t>
            </a:r>
          </a:p>
          <a:p>
            <a:pPr lvl="1"/>
            <a:r>
              <a:rPr lang="en-US" altLang="en-US" sz="2200"/>
              <a:t>A primary index is a nondense (sparse) index, since it includes an entry for each disk block of the data file and the keys of its anchor record rather than for every search value.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B7EC804F-967D-44A6-938C-267460E78938}" type="slidenum">
              <a:rPr lang="en-US" altLang="en-US"/>
              <a:pPr/>
              <a:t>6</a:t>
            </a:fld>
            <a:endParaRPr lang="en-CA" altLang="en-US"/>
          </a:p>
        </p:txBody>
      </p:sp>
      <p:sp>
        <p:nvSpPr>
          <p:cNvPr id="679943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475663" cy="992187"/>
          </a:xfrm>
        </p:spPr>
        <p:txBody>
          <a:bodyPr/>
          <a:lstStyle/>
          <a:p>
            <a:r>
              <a:rPr lang="en-US" altLang="en-US" sz="3200"/>
              <a:t>Primary index on the ordering key field</a:t>
            </a:r>
          </a:p>
        </p:txBody>
      </p:sp>
      <p:pic>
        <p:nvPicPr>
          <p:cNvPr id="679946" name="Picture 10" descr="fig14_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3836988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43BA87EC-E55E-417A-A3BF-E0910D6B9FDB}" type="slidenum">
              <a:rPr lang="en-US" altLang="en-US"/>
              <a:pPr/>
              <a:t>7</a:t>
            </a:fld>
            <a:endParaRPr lang="en-CA" altLang="en-US"/>
          </a:p>
        </p:txBody>
      </p:sp>
      <p:sp>
        <p:nvSpPr>
          <p:cNvPr id="6819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Single-Level Indexes</a:t>
            </a:r>
          </a:p>
        </p:txBody>
      </p:sp>
      <p:sp>
        <p:nvSpPr>
          <p:cNvPr id="68199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Clustering Index</a:t>
            </a:r>
          </a:p>
          <a:p>
            <a:pPr lvl="1"/>
            <a:r>
              <a:rPr lang="en-US" altLang="en-US" sz="2200"/>
              <a:t>Defined on an ordered data file</a:t>
            </a:r>
          </a:p>
          <a:p>
            <a:pPr lvl="1"/>
            <a:r>
              <a:rPr lang="en-US" altLang="en-US" sz="2200"/>
              <a:t>The data file is ordered on a </a:t>
            </a:r>
            <a:r>
              <a:rPr lang="en-US" altLang="en-US" sz="2200" i="1"/>
              <a:t>non-key field</a:t>
            </a:r>
            <a:r>
              <a:rPr lang="en-US" altLang="en-US" sz="2200"/>
              <a:t> unlike primary index, which requires that the ordering field of the data file have a distinct value for each record.</a:t>
            </a:r>
          </a:p>
          <a:p>
            <a:pPr lvl="1"/>
            <a:r>
              <a:rPr lang="en-US" altLang="en-US" sz="2200"/>
              <a:t>Includes one index entry </a:t>
            </a:r>
            <a:r>
              <a:rPr lang="en-US" altLang="en-US" sz="2200" i="1"/>
              <a:t>for each distinct value</a:t>
            </a:r>
            <a:r>
              <a:rPr lang="en-US" altLang="en-US" sz="2200"/>
              <a:t> of the field; the index entry points to the first data block that contains records with that field value.</a:t>
            </a:r>
          </a:p>
          <a:p>
            <a:pPr lvl="1"/>
            <a:r>
              <a:rPr lang="en-US" altLang="en-US" sz="2200"/>
              <a:t>It is another example of </a:t>
            </a:r>
            <a:r>
              <a:rPr lang="en-US" altLang="en-US" sz="2200" i="1"/>
              <a:t>nondense</a:t>
            </a:r>
            <a:r>
              <a:rPr lang="en-US" altLang="en-US" sz="2200"/>
              <a:t> index where Insertion and Deletion is relatively straightforward with a clustering index.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92D40733-FE78-4438-A6D0-2E72CAE2A716}" type="slidenum">
              <a:rPr lang="en-US" altLang="en-US"/>
              <a:pPr/>
              <a:t>8</a:t>
            </a:fld>
            <a:endParaRPr lang="en-CA" altLang="en-US"/>
          </a:p>
        </p:txBody>
      </p:sp>
      <p:sp>
        <p:nvSpPr>
          <p:cNvPr id="684039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597900" cy="992187"/>
          </a:xfrm>
        </p:spPr>
        <p:txBody>
          <a:bodyPr/>
          <a:lstStyle/>
          <a:p>
            <a:r>
              <a:rPr lang="en-US" altLang="en-US" sz="2800"/>
              <a:t>A Clustering Index Example</a:t>
            </a:r>
          </a:p>
        </p:txBody>
      </p:sp>
      <p:sp>
        <p:nvSpPr>
          <p:cNvPr id="68404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39713" y="1676400"/>
            <a:ext cx="2503487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FIGURE 14.2</a:t>
            </a:r>
            <a:br>
              <a:rPr lang="en-US" altLang="en-US" sz="2000"/>
            </a:br>
            <a:r>
              <a:rPr lang="en-US" altLang="en-US" sz="2000"/>
              <a:t>A clustering index on the DEPTNUMBER ordering non-key field of an EMPLOYEE file.</a:t>
            </a:r>
          </a:p>
        </p:txBody>
      </p:sp>
      <p:pic>
        <p:nvPicPr>
          <p:cNvPr id="68403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3800" y="1574800"/>
            <a:ext cx="4787900" cy="4673600"/>
          </a:xfr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8E6E525B-F551-4A0D-A492-F1C08CA60172}" type="slidenum">
              <a:rPr lang="en-US" altLang="en-US"/>
              <a:pPr/>
              <a:t>9</a:t>
            </a:fld>
            <a:endParaRPr lang="en-CA" altLang="en-US"/>
          </a:p>
        </p:txBody>
      </p:sp>
      <p:sp>
        <p:nvSpPr>
          <p:cNvPr id="686087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305800" cy="992187"/>
          </a:xfrm>
        </p:spPr>
        <p:txBody>
          <a:bodyPr/>
          <a:lstStyle/>
          <a:p>
            <a:r>
              <a:rPr lang="en-US" altLang="en-US" sz="3200"/>
              <a:t>Another Clustering Index Example</a:t>
            </a:r>
          </a:p>
        </p:txBody>
      </p:sp>
      <p:pic>
        <p:nvPicPr>
          <p:cNvPr id="686089" name="Picture 9" descr="fig14_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24000"/>
            <a:ext cx="400685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C20B5877-1750-4C87-88F1-F127BF9AC478}" type="slidenum">
              <a:rPr lang="en-US" altLang="en-US"/>
              <a:pPr/>
              <a:t>10</a:t>
            </a:fld>
            <a:endParaRPr lang="en-CA" altLang="en-US"/>
          </a:p>
        </p:txBody>
      </p:sp>
      <p:sp>
        <p:nvSpPr>
          <p:cNvPr id="6881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Single-Level Indexes</a:t>
            </a:r>
          </a:p>
        </p:txBody>
      </p:sp>
      <p:sp>
        <p:nvSpPr>
          <p:cNvPr id="6881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Secondary Index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A secondary index provides a secondary means of accessing a file for which some primary access already exists.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The secondary index may be on a field which is a candidate key and has a unique value in every record, or a non-key with duplicate values.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The index is an ordered file with two fields.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The first field is of the same data type as some </a:t>
            </a:r>
            <a:r>
              <a:rPr lang="en-US" altLang="en-US" sz="2000" b="1"/>
              <a:t>non-ordering</a:t>
            </a:r>
            <a:r>
              <a:rPr lang="en-US" altLang="en-US" sz="2000"/>
              <a:t> </a:t>
            </a:r>
            <a:r>
              <a:rPr lang="en-US" altLang="en-US" sz="2000" b="1"/>
              <a:t>field</a:t>
            </a:r>
            <a:r>
              <a:rPr lang="en-US" altLang="en-US" sz="2000"/>
              <a:t> of the data file that is an indexing field. 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The second field is either a </a:t>
            </a:r>
            <a:r>
              <a:rPr lang="en-US" altLang="en-US" sz="2000" b="1"/>
              <a:t>block</a:t>
            </a:r>
            <a:r>
              <a:rPr lang="en-US" altLang="en-US" sz="2000"/>
              <a:t> pointer or a record pointer.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There can be </a:t>
            </a:r>
            <a:r>
              <a:rPr lang="en-US" altLang="en-US" sz="2000" i="1"/>
              <a:t>many</a:t>
            </a:r>
            <a:r>
              <a:rPr lang="en-US" altLang="en-US" sz="2000"/>
              <a:t> secondary indexes (and hence, indexing fields) for the same file.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Includes one entry </a:t>
            </a:r>
            <a:r>
              <a:rPr lang="en-US" altLang="en-US" sz="2200" i="1"/>
              <a:t>for each record</a:t>
            </a:r>
            <a:r>
              <a:rPr lang="en-US" altLang="en-US" sz="2200"/>
              <a:t> in the data file; hence, it is a </a:t>
            </a:r>
            <a:r>
              <a:rPr lang="en-US" altLang="en-US" sz="2200" i="1"/>
              <a:t>dense index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B09F2385-9DD1-406B-90C9-CA77EE071E7C}" type="slidenum">
              <a:rPr lang="en-US" altLang="en-US"/>
              <a:pPr/>
              <a:t>11</a:t>
            </a:fld>
            <a:endParaRPr lang="en-CA" altLang="en-US"/>
          </a:p>
        </p:txBody>
      </p:sp>
      <p:sp>
        <p:nvSpPr>
          <p:cNvPr id="690183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altLang="en-US"/>
              <a:t>Example of a Dense Secondary Index</a:t>
            </a:r>
            <a:endParaRPr lang="en-US" altLang="en-US" sz="2400"/>
          </a:p>
        </p:txBody>
      </p:sp>
      <p:pic>
        <p:nvPicPr>
          <p:cNvPr id="690186" name="Picture 10" descr="fig14_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00200"/>
            <a:ext cx="4129088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5B09F775-60BB-4BD8-B990-4C5FA2B9A375}" type="slidenum">
              <a:rPr lang="en-US" altLang="en-US"/>
              <a:pPr/>
              <a:t>12</a:t>
            </a:fld>
            <a:endParaRPr lang="en-CA" altLang="en-US"/>
          </a:p>
        </p:txBody>
      </p:sp>
      <p:sp>
        <p:nvSpPr>
          <p:cNvPr id="6922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Example of a Secondary Index</a:t>
            </a:r>
          </a:p>
        </p:txBody>
      </p:sp>
      <p:pic>
        <p:nvPicPr>
          <p:cNvPr id="692233" name="Picture 9" descr="fig14_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524000"/>
            <a:ext cx="437991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8B02D2DB-698C-415F-9E34-62D0751DA87F}" type="slidenum">
              <a:rPr lang="en-US" altLang="en-US"/>
              <a:pPr/>
              <a:t>13</a:t>
            </a:fld>
            <a:endParaRPr lang="en-CA" altLang="en-US"/>
          </a:p>
        </p:txBody>
      </p:sp>
      <p:pic>
        <p:nvPicPr>
          <p:cNvPr id="6942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1793875"/>
            <a:ext cx="7851775" cy="354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428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 of Index Types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5F83D3D8-F4F1-455B-986A-5DEEB8D3D075}" type="slidenum">
              <a:rPr lang="en-US" altLang="en-US"/>
              <a:pPr/>
              <a:t>14</a:t>
            </a:fld>
            <a:endParaRPr lang="en-CA" altLang="en-US"/>
          </a:p>
        </p:txBody>
      </p:sp>
      <p:sp>
        <p:nvSpPr>
          <p:cNvPr id="6963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Indexes </a:t>
            </a:r>
          </a:p>
        </p:txBody>
      </p:sp>
      <p:sp>
        <p:nvSpPr>
          <p:cNvPr id="69632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Because a single-level index is an ordered file, we can create a primary index </a:t>
            </a:r>
            <a:r>
              <a:rPr lang="en-US" altLang="en-US" sz="2400" i="1"/>
              <a:t>to the index itself</a:t>
            </a:r>
            <a:r>
              <a:rPr lang="en-US" altLang="en-US" sz="2400"/>
              <a:t>;</a:t>
            </a:r>
          </a:p>
          <a:p>
            <a:pPr lvl="1"/>
            <a:r>
              <a:rPr lang="en-US" altLang="en-US" sz="2200"/>
              <a:t>In this case, the original index file is called the </a:t>
            </a:r>
            <a:r>
              <a:rPr lang="en-US" altLang="en-US" sz="2200" i="1"/>
              <a:t>first-level index</a:t>
            </a:r>
            <a:r>
              <a:rPr lang="en-US" altLang="en-US" sz="2200"/>
              <a:t> and the index to the index is called the </a:t>
            </a:r>
            <a:r>
              <a:rPr lang="en-US" altLang="en-US" sz="2200" i="1"/>
              <a:t>second-level index</a:t>
            </a:r>
            <a:r>
              <a:rPr lang="en-US" altLang="en-US" sz="2200"/>
              <a:t>.</a:t>
            </a:r>
          </a:p>
          <a:p>
            <a:r>
              <a:rPr lang="en-US" altLang="en-US" sz="2400"/>
              <a:t>We can repeat the process, creating a third, fourth, ..., top level until all entries of the </a:t>
            </a:r>
            <a:r>
              <a:rPr lang="en-US" altLang="en-US" sz="2400" i="1"/>
              <a:t>top level</a:t>
            </a:r>
            <a:r>
              <a:rPr lang="en-US" altLang="en-US" sz="2400"/>
              <a:t> fit in one disk block</a:t>
            </a:r>
          </a:p>
          <a:p>
            <a:r>
              <a:rPr lang="en-US" altLang="en-US" sz="2400"/>
              <a:t>A multi-level index can be created for any type of first-level index (primary, secondary, clustering) as long as the first-level index consists of </a:t>
            </a:r>
            <a:r>
              <a:rPr lang="en-US" altLang="en-US" sz="2400" i="1"/>
              <a:t>more than one</a:t>
            </a:r>
            <a:r>
              <a:rPr lang="en-US" altLang="en-US" sz="2400"/>
              <a:t> disk block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33CB0D45-7BFF-4DBE-96B4-EE16B590BC10}" type="slidenum">
              <a:rPr lang="en-US" altLang="en-US"/>
              <a:pPr/>
              <a:t>15</a:t>
            </a:fld>
            <a:endParaRPr lang="en-CA" altLang="en-US"/>
          </a:p>
        </p:txBody>
      </p:sp>
      <p:sp>
        <p:nvSpPr>
          <p:cNvPr id="698375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altLang="en-US"/>
              <a:t>A Two-level Primary Index</a:t>
            </a:r>
            <a:endParaRPr lang="en-US" altLang="en-US" sz="3200"/>
          </a:p>
        </p:txBody>
      </p:sp>
      <p:pic>
        <p:nvPicPr>
          <p:cNvPr id="698379" name="Picture 11" descr="fig14_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98613"/>
            <a:ext cx="4008438" cy="495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AEE403F1-9E47-4DED-A9FB-01D5F098ED42}" type="slidenum">
              <a:rPr lang="en-US" altLang="en-US"/>
              <a:pPr/>
              <a:t>16</a:t>
            </a:fld>
            <a:endParaRPr lang="en-CA" altLang="en-US"/>
          </a:p>
        </p:txBody>
      </p:sp>
      <p:sp>
        <p:nvSpPr>
          <p:cNvPr id="7004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Indexes </a:t>
            </a:r>
          </a:p>
        </p:txBody>
      </p:sp>
      <p:sp>
        <p:nvSpPr>
          <p:cNvPr id="70042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Such a multi-level index is a form of </a:t>
            </a:r>
            <a:r>
              <a:rPr lang="en-US" altLang="en-US" i="1"/>
              <a:t>search tree</a:t>
            </a:r>
            <a:endParaRPr lang="en-US" altLang="en-US"/>
          </a:p>
          <a:p>
            <a:pPr lvl="1"/>
            <a:r>
              <a:rPr lang="en-US" altLang="en-US"/>
              <a:t>However, insertion and deletion of new index entries is a severe problem because every level of the index is an </a:t>
            </a:r>
            <a:r>
              <a:rPr lang="en-US" altLang="en-US" i="1"/>
              <a:t>ordered file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2CF2EF30-AF18-4A01-B5B6-9F8EAECCAC4A}" type="slidenum">
              <a:rPr lang="en-US" altLang="en-US"/>
              <a:pPr/>
              <a:t>17</a:t>
            </a:fld>
            <a:endParaRPr lang="en-CA" altLang="en-US"/>
          </a:p>
        </p:txBody>
      </p:sp>
      <p:sp>
        <p:nvSpPr>
          <p:cNvPr id="7024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A Node in a Search Tree with Pointers to Subtrees below It</a:t>
            </a:r>
          </a:p>
        </p:txBody>
      </p:sp>
      <p:sp>
        <p:nvSpPr>
          <p:cNvPr id="70247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FIGURE 14.8</a:t>
            </a:r>
          </a:p>
        </p:txBody>
      </p:sp>
      <p:pic>
        <p:nvPicPr>
          <p:cNvPr id="702467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713" y="3228975"/>
            <a:ext cx="8294687" cy="2409825"/>
          </a:xfr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E3B47360-94D6-4185-B74C-96277BC741A9}" type="slidenum">
              <a:rPr lang="en-US" altLang="en-US"/>
              <a:pPr/>
              <a:t>18</a:t>
            </a:fld>
            <a:endParaRPr lang="en-CA" altLang="en-US"/>
          </a:p>
        </p:txBody>
      </p:sp>
      <p:sp>
        <p:nvSpPr>
          <p:cNvPr id="70451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FIGURE 14.9</a:t>
            </a:r>
            <a:br>
              <a:rPr lang="en-US" altLang="en-US" sz="3200"/>
            </a:br>
            <a:r>
              <a:rPr lang="en-US" altLang="en-US" sz="3200"/>
              <a:t>A search tree of order p = 3.</a:t>
            </a:r>
          </a:p>
        </p:txBody>
      </p:sp>
      <p:pic>
        <p:nvPicPr>
          <p:cNvPr id="704515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2387600"/>
            <a:ext cx="8048625" cy="3190875"/>
          </a:xfr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D2E952E4-0D13-42E4-9C09-DDB394734911}" type="slidenum">
              <a:rPr lang="en-US" altLang="en-US"/>
              <a:pPr/>
              <a:t>19</a:t>
            </a:fld>
            <a:endParaRPr lang="en-CA" altLang="en-US"/>
          </a:p>
        </p:txBody>
      </p:sp>
      <p:sp>
        <p:nvSpPr>
          <p:cNvPr id="7065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Dynamic Multilevel Indexes Using B-Trees and B+-Trees</a:t>
            </a:r>
          </a:p>
        </p:txBody>
      </p:sp>
      <p:sp>
        <p:nvSpPr>
          <p:cNvPr id="70656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Most multi-level indexes use B-tree or B+-tree data structures because of the insertion and deletion problem</a:t>
            </a:r>
          </a:p>
          <a:p>
            <a:pPr lvl="1"/>
            <a:r>
              <a:rPr lang="en-US" altLang="en-US" sz="2200"/>
              <a:t>This leaves space in each tree node (disk block) to allow for new index entries</a:t>
            </a:r>
          </a:p>
          <a:p>
            <a:r>
              <a:rPr lang="en-US" altLang="en-US" sz="2400"/>
              <a:t>These data structures are variations of search trees that allow efficient insertion and deletion of new search values.</a:t>
            </a:r>
          </a:p>
          <a:p>
            <a:r>
              <a:rPr lang="en-US" altLang="en-US" sz="2400"/>
              <a:t>In B-Tree and B+-Tree data structures, each node corresponds to a disk block</a:t>
            </a:r>
          </a:p>
          <a:p>
            <a:r>
              <a:rPr lang="en-US" altLang="en-US" sz="2400"/>
              <a:t>Each node is kept between half-full and completely full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0634E6BE-7161-42B9-B7DE-F8CBC3BE7C39}" type="slidenum">
              <a:rPr lang="en-US" altLang="en-US"/>
              <a:pPr/>
              <a:t>20</a:t>
            </a:fld>
            <a:endParaRPr lang="en-CA" altLang="en-US"/>
          </a:p>
        </p:txBody>
      </p:sp>
      <p:sp>
        <p:nvSpPr>
          <p:cNvPr id="7086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Dynamic Multilevel Indexes Using B-Trees and B+-Trees (contd.)</a:t>
            </a:r>
          </a:p>
        </p:txBody>
      </p:sp>
      <p:sp>
        <p:nvSpPr>
          <p:cNvPr id="70861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An insertion into a node that is not full is quite efficient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a node is full the insertion causes a split into two nodes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Splitting may propagate to other tree levels</a:t>
            </a:r>
          </a:p>
          <a:p>
            <a:pPr>
              <a:lnSpc>
                <a:spcPct val="90000"/>
              </a:lnSpc>
            </a:pPr>
            <a:r>
              <a:rPr lang="en-US" altLang="en-US"/>
              <a:t>A deletion is quite efficient if a node does not become less than half full</a:t>
            </a:r>
          </a:p>
          <a:p>
            <a:pPr>
              <a:lnSpc>
                <a:spcPct val="90000"/>
              </a:lnSpc>
            </a:pPr>
            <a:r>
              <a:rPr lang="en-US" altLang="en-US"/>
              <a:t>If a deletion causes a node to become less than half full, it must be merged with neighboring nodes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DD7544AE-8E61-4B32-ACCB-08B15BEA5C20}" type="slidenum">
              <a:rPr lang="en-US" altLang="en-US"/>
              <a:pPr/>
              <a:t>21</a:t>
            </a:fld>
            <a:endParaRPr lang="en-CA" altLang="en-US"/>
          </a:p>
        </p:txBody>
      </p:sp>
      <p:sp>
        <p:nvSpPr>
          <p:cNvPr id="7106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Difference between B-tree and B+-tree</a:t>
            </a:r>
          </a:p>
        </p:txBody>
      </p:sp>
      <p:sp>
        <p:nvSpPr>
          <p:cNvPr id="71066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 a B-tree, pointers to data records exist at all levels of the tree</a:t>
            </a:r>
          </a:p>
          <a:p>
            <a:r>
              <a:rPr lang="en-US" altLang="en-US"/>
              <a:t>In a B+-tree, all pointers to data records exists at the leaf-level nodes</a:t>
            </a:r>
          </a:p>
          <a:p>
            <a:r>
              <a:rPr lang="en-US" altLang="en-US"/>
              <a:t>A B+-tree can have less levels (or higher capacity of search values) than the corresponding B-tree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70276CFB-9394-4D0E-8531-0CAD8915D0F9}" type="slidenum">
              <a:rPr lang="en-US" altLang="en-US"/>
              <a:pPr/>
              <a:t>22</a:t>
            </a:fld>
            <a:endParaRPr lang="en-CA" altLang="en-US"/>
          </a:p>
        </p:txBody>
      </p:sp>
      <p:sp>
        <p:nvSpPr>
          <p:cNvPr id="71271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B-tree Structures</a:t>
            </a:r>
          </a:p>
        </p:txBody>
      </p:sp>
      <p:pic>
        <p:nvPicPr>
          <p:cNvPr id="712714" name="Picture 10" descr="fig14_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600200"/>
            <a:ext cx="6729412" cy="471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14- </a:t>
            </a:r>
            <a:fld id="{D377B0A7-7259-4EBB-9496-8E33CFA3EB95}" type="slidenum">
              <a:rPr lang="en-US" altLang="en-US"/>
              <a:pPr/>
              <a:t>23</a:t>
            </a:fld>
            <a:endParaRPr lang="en-CA" altLang="en-US"/>
          </a:p>
        </p:txBody>
      </p:sp>
      <p:sp>
        <p:nvSpPr>
          <p:cNvPr id="71475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Nodes of a B+-tree</a:t>
            </a:r>
          </a:p>
        </p:txBody>
      </p:sp>
      <p:sp>
        <p:nvSpPr>
          <p:cNvPr id="7147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294687" cy="68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400"/>
              <a:t>FIGURE 14.11 The nodes of a B+-tree</a:t>
            </a:r>
          </a:p>
          <a:p>
            <a:pPr lvl="1">
              <a:lnSpc>
                <a:spcPct val="80000"/>
              </a:lnSpc>
            </a:pPr>
            <a:r>
              <a:rPr lang="en-US" altLang="en-US" sz="1300"/>
              <a:t>(a) Internal node of a B+-tree with q –1 search values.</a:t>
            </a:r>
          </a:p>
          <a:p>
            <a:pPr lvl="1">
              <a:lnSpc>
                <a:spcPct val="80000"/>
              </a:lnSpc>
            </a:pPr>
            <a:r>
              <a:rPr lang="en-US" altLang="en-US" sz="1300"/>
              <a:t>(b) Leaf node of a B+-tree with q – 1 search values and q – 1 data pointers.</a:t>
            </a:r>
          </a:p>
        </p:txBody>
      </p:sp>
      <p:pic>
        <p:nvPicPr>
          <p:cNvPr id="714755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286000"/>
            <a:ext cx="8294688" cy="4337050"/>
          </a:xfrm>
        </p:spPr>
      </p:pic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1111</TotalTime>
  <Words>1119</Words>
  <Application>Microsoft Office PowerPoint</Application>
  <PresentationFormat>Letter Paper (8.5x11 in)</PresentationFormat>
  <Paragraphs>129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Blends</vt:lpstr>
      <vt:lpstr>Chapter 14</vt:lpstr>
      <vt:lpstr>Chapter Outline</vt:lpstr>
      <vt:lpstr>Indexes as Access Paths</vt:lpstr>
      <vt:lpstr>Indexes as Access Paths (contd.)</vt:lpstr>
      <vt:lpstr>Types of Single-Level Indexes</vt:lpstr>
      <vt:lpstr>Primary index on the ordering key field</vt:lpstr>
      <vt:lpstr>Types of Single-Level Indexes</vt:lpstr>
      <vt:lpstr>A Clustering Index Example</vt:lpstr>
      <vt:lpstr>Another Clustering Index Example</vt:lpstr>
      <vt:lpstr>Types of Single-Level Indexes</vt:lpstr>
      <vt:lpstr>Example of a Dense Secondary Index</vt:lpstr>
      <vt:lpstr>An Example of a Secondary Index</vt:lpstr>
      <vt:lpstr>Properties of Index Types</vt:lpstr>
      <vt:lpstr>Multi-Level Indexes </vt:lpstr>
      <vt:lpstr>A Two-level Primary Index</vt:lpstr>
      <vt:lpstr>Multi-Level Indexes </vt:lpstr>
      <vt:lpstr>A Node in a Search Tree with Pointers to Subtrees below It</vt:lpstr>
      <vt:lpstr>FIGURE 14.9 A search tree of order p = 3.</vt:lpstr>
      <vt:lpstr>Dynamic Multilevel Indexes Using B-Trees and B+-Trees</vt:lpstr>
      <vt:lpstr>Dynamic Multilevel Indexes Using B-Trees and B+-Trees (contd.)</vt:lpstr>
      <vt:lpstr>Difference between B-tree and B+-tree</vt:lpstr>
      <vt:lpstr>B-tree Structures</vt:lpstr>
      <vt:lpstr>The Nodes of a B+-tree</vt:lpstr>
    </vt:vector>
  </TitlesOfParts>
  <Company>Copyright © 2007 Ramez Elmasri and Shamkant B. Navathe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</dc:title>
  <dc:subject>Indexing Structure for Files</dc:subject>
  <dc:creator>Elmasri/Navathe</dc:creator>
  <cp:lastModifiedBy>Admin</cp:lastModifiedBy>
  <cp:revision>72</cp:revision>
  <cp:lastPrinted>2001-11-04T00:51:13Z</cp:lastPrinted>
  <dcterms:created xsi:type="dcterms:W3CDTF">2005-02-25T19:46:41Z</dcterms:created>
  <dcterms:modified xsi:type="dcterms:W3CDTF">2025-03-24T07:50:34Z</dcterms:modified>
</cp:coreProperties>
</file>