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Lst>
  <p:notesMasterIdLst>
    <p:notesMasterId r:id="rId42"/>
  </p:notesMasterIdLst>
  <p:sldIdLst>
    <p:sldId id="272" r:id="rId2"/>
    <p:sldId id="271" r:id="rId3"/>
    <p:sldId id="258" r:id="rId4"/>
    <p:sldId id="364" r:id="rId5"/>
    <p:sldId id="365" r:id="rId6"/>
    <p:sldId id="374" r:id="rId7"/>
    <p:sldId id="373" r:id="rId8"/>
    <p:sldId id="375" r:id="rId9"/>
    <p:sldId id="376" r:id="rId10"/>
    <p:sldId id="377" r:id="rId11"/>
    <p:sldId id="378" r:id="rId12"/>
    <p:sldId id="379" r:id="rId13"/>
    <p:sldId id="380" r:id="rId14"/>
    <p:sldId id="381" r:id="rId15"/>
    <p:sldId id="383" r:id="rId16"/>
    <p:sldId id="382" r:id="rId17"/>
    <p:sldId id="384" r:id="rId18"/>
    <p:sldId id="385" r:id="rId19"/>
    <p:sldId id="386" r:id="rId20"/>
    <p:sldId id="387" r:id="rId21"/>
    <p:sldId id="388" r:id="rId22"/>
    <p:sldId id="389" r:id="rId23"/>
    <p:sldId id="390" r:id="rId24"/>
    <p:sldId id="391" r:id="rId25"/>
    <p:sldId id="392" r:id="rId26"/>
    <p:sldId id="393" r:id="rId27"/>
    <p:sldId id="394" r:id="rId28"/>
    <p:sldId id="395" r:id="rId29"/>
    <p:sldId id="396" r:id="rId30"/>
    <p:sldId id="397" r:id="rId31"/>
    <p:sldId id="398" r:id="rId32"/>
    <p:sldId id="399" r:id="rId33"/>
    <p:sldId id="400" r:id="rId34"/>
    <p:sldId id="401" r:id="rId35"/>
    <p:sldId id="402" r:id="rId36"/>
    <p:sldId id="403" r:id="rId37"/>
    <p:sldId id="404" r:id="rId38"/>
    <p:sldId id="405" r:id="rId39"/>
    <p:sldId id="406" r:id="rId40"/>
    <p:sldId id="289" r:id="rId41"/>
  </p:sldIdLst>
  <p:sldSz cx="12192000" cy="6858000"/>
  <p:notesSz cx="6858000" cy="9144000"/>
  <p:embeddedFontLst>
    <p:embeddedFont>
      <p:font typeface="Nunito Sans" pitchFamily="2" charset="0"/>
      <p:regular r:id="rId43"/>
      <p:bold r:id="rId44"/>
      <p:italic r:id="rId45"/>
      <p:boldItalic r:id="rId46"/>
    </p:embeddedFont>
    <p:embeddedFont>
      <p:font typeface="Nunito Sans SemiBold" pitchFamily="2" charset="0"/>
      <p:bold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303030"/>
    <a:srgbClr val="4A4A4A"/>
    <a:srgbClr val="3D3D3D"/>
    <a:srgbClr val="212121"/>
    <a:srgbClr val="000000"/>
    <a:srgbClr val="131313"/>
    <a:srgbClr val="F69180"/>
    <a:srgbClr val="FBD0C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94" autoAdjust="0"/>
    <p:restoredTop sz="65476" autoAdjust="0"/>
  </p:normalViewPr>
  <p:slideViewPr>
    <p:cSldViewPr>
      <p:cViewPr varScale="1">
        <p:scale>
          <a:sx n="51" d="100"/>
          <a:sy n="51" d="100"/>
        </p:scale>
        <p:origin x="1661" y="43"/>
      </p:cViewPr>
      <p:guideLst>
        <p:guide orient="horz" pos="2160"/>
        <p:guide pos="3840"/>
      </p:guideLst>
    </p:cSldViewPr>
  </p:slideViewPr>
  <p:outlineViewPr>
    <p:cViewPr>
      <p:scale>
        <a:sx n="33" d="100"/>
        <a:sy n="33" d="100"/>
      </p:scale>
      <p:origin x="0" y="-566"/>
    </p:cViewPr>
  </p:outlineViewPr>
  <p:notesTextViewPr>
    <p:cViewPr>
      <p:scale>
        <a:sx n="100" d="100"/>
        <a:sy n="100" d="100"/>
      </p:scale>
      <p:origin x="0" y="0"/>
    </p:cViewPr>
  </p:notesTextViewPr>
  <p:notesViewPr>
    <p:cSldViewPr>
      <p:cViewPr>
        <p:scale>
          <a:sx n="66" d="100"/>
          <a:sy n="66" d="100"/>
        </p:scale>
        <p:origin x="1733" y="-74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6/6/2025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a:t>
            </a:fld>
            <a:endParaRPr lang="en-US"/>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a:p>
        </p:txBody>
      </p:sp>
    </p:spTree>
    <p:extLst>
      <p:ext uri="{BB962C8B-B14F-4D97-AF65-F5344CB8AC3E}">
        <p14:creationId xmlns:p14="http://schemas.microsoft.com/office/powerpoint/2010/main" val="327744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336828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3864461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676936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a:p>
        </p:txBody>
      </p:sp>
    </p:spTree>
    <p:extLst>
      <p:ext uri="{BB962C8B-B14F-4D97-AF65-F5344CB8AC3E}">
        <p14:creationId xmlns:p14="http://schemas.microsoft.com/office/powerpoint/2010/main" val="4208292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a:p>
        </p:txBody>
      </p:sp>
    </p:spTree>
    <p:extLst>
      <p:ext uri="{BB962C8B-B14F-4D97-AF65-F5344CB8AC3E}">
        <p14:creationId xmlns:p14="http://schemas.microsoft.com/office/powerpoint/2010/main" val="2901743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’Moral’ means ’concerned with principles of right or wrong </a:t>
            </a:r>
            <a:r>
              <a:rPr lang="en-US" sz="1200" b="0" i="0" kern="1200" dirty="0" err="1">
                <a:solidFill>
                  <a:schemeClr val="tx1"/>
                </a:solidFill>
                <a:effectLst/>
                <a:latin typeface="+mn-lt"/>
                <a:ea typeface="+mn-ea"/>
                <a:cs typeface="+mn-cs"/>
              </a:rPr>
              <a:t>behaviour</a:t>
            </a:r>
            <a:r>
              <a:rPr lang="en-US" sz="1200" b="0" i="0" kern="1200" dirty="0">
                <a:solidFill>
                  <a:schemeClr val="tx1"/>
                </a:solidFill>
                <a:effectLst/>
                <a:latin typeface="+mn-lt"/>
                <a:ea typeface="+mn-ea"/>
                <a:cs typeface="+mn-cs"/>
              </a:rPr>
              <a:t>.’ Moral is what lesson or value the story teaches the reader.</a:t>
            </a:r>
          </a:p>
          <a:p>
            <a:r>
              <a:rPr lang="en-US" sz="1200" b="0"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Guests should always be welcomed.</a:t>
            </a:r>
            <a:r>
              <a:rPr lang="en-US" sz="1200" b="0" i="0" kern="1200" dirty="0">
                <a:solidFill>
                  <a:schemeClr val="tx1"/>
                </a:solidFill>
                <a:effectLst/>
                <a:latin typeface="+mn-lt"/>
                <a:ea typeface="+mn-ea"/>
                <a:cs typeface="+mn-cs"/>
              </a:rPr>
              <a:t>...’ is not the right option since the given passage is all about how </a:t>
            </a:r>
            <a:r>
              <a:rPr lang="en-US" sz="1200" b="0" i="0" kern="1200" dirty="0" err="1">
                <a:solidFill>
                  <a:schemeClr val="tx1"/>
                </a:solidFill>
                <a:effectLst/>
                <a:latin typeface="+mn-lt"/>
                <a:ea typeface="+mn-ea"/>
                <a:cs typeface="+mn-cs"/>
              </a:rPr>
              <a:t>Nasreddin</a:t>
            </a:r>
            <a:r>
              <a:rPr lang="en-US" sz="1200" b="0" i="0" kern="1200" dirty="0">
                <a:solidFill>
                  <a:schemeClr val="tx1"/>
                </a:solidFill>
                <a:effectLst/>
                <a:latin typeface="+mn-lt"/>
                <a:ea typeface="+mn-ea"/>
                <a:cs typeface="+mn-cs"/>
              </a:rPr>
              <a:t> tackled an undesirable situation. </a:t>
            </a:r>
          </a:p>
          <a:p>
            <a:r>
              <a:rPr lang="en-US" sz="1200" b="0"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If soup is offered, guests will not.</a:t>
            </a:r>
            <a:r>
              <a:rPr lang="en-US" sz="1200" b="0" i="0" kern="1200" dirty="0">
                <a:solidFill>
                  <a:schemeClr val="tx1"/>
                </a:solidFill>
                <a:effectLst/>
                <a:latin typeface="+mn-lt"/>
                <a:ea typeface="+mn-ea"/>
                <a:cs typeface="+mn-cs"/>
              </a:rPr>
              <a:t>..’ is too shallow in meaning and context that it can’t be the moral. </a:t>
            </a:r>
          </a:p>
          <a:p>
            <a:r>
              <a:rPr lang="en-US" sz="1200" b="0" i="0"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Nasreddin</a:t>
            </a:r>
            <a:r>
              <a:rPr lang="en-US" sz="1200" b="0" i="1" kern="1200" dirty="0">
                <a:solidFill>
                  <a:schemeClr val="tx1"/>
                </a:solidFill>
                <a:effectLst/>
                <a:latin typeface="+mn-lt"/>
                <a:ea typeface="+mn-ea"/>
                <a:cs typeface="+mn-cs"/>
              </a:rPr>
              <a:t> Shah is a clever man</a:t>
            </a:r>
            <a:r>
              <a:rPr lang="en-US" sz="1200" b="0" i="0" kern="1200" dirty="0">
                <a:solidFill>
                  <a:schemeClr val="tx1"/>
                </a:solidFill>
                <a:effectLst/>
                <a:latin typeface="+mn-lt"/>
                <a:ea typeface="+mn-ea"/>
                <a:cs typeface="+mn-cs"/>
              </a:rPr>
              <a:t>’ is also not the right option because it does not teach the reader anything of value.  </a:t>
            </a:r>
          </a:p>
          <a:p>
            <a:r>
              <a:rPr lang="en-US" sz="1200" b="0"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Use wit and don’t allow others take you for a ride</a:t>
            </a:r>
            <a:r>
              <a:rPr lang="en-US" sz="1200" b="0" i="0" kern="1200" dirty="0">
                <a:solidFill>
                  <a:schemeClr val="tx1"/>
                </a:solidFill>
                <a:effectLst/>
                <a:latin typeface="+mn-lt"/>
                <a:ea typeface="+mn-ea"/>
                <a:cs typeface="+mn-cs"/>
              </a:rPr>
              <a:t>.’ is the correct answer because ’take you for a ride’ means ’to cheat you.’ Here, </a:t>
            </a:r>
            <a:r>
              <a:rPr lang="en-US" sz="1200" b="0" i="0" kern="1200" dirty="0" err="1">
                <a:solidFill>
                  <a:schemeClr val="tx1"/>
                </a:solidFill>
                <a:effectLst/>
                <a:latin typeface="+mn-lt"/>
                <a:ea typeface="+mn-ea"/>
                <a:cs typeface="+mn-cs"/>
              </a:rPr>
              <a:t>Nasreddin</a:t>
            </a:r>
            <a:r>
              <a:rPr lang="en-US" sz="1200" b="0" i="0" kern="1200" dirty="0">
                <a:solidFill>
                  <a:schemeClr val="tx1"/>
                </a:solidFill>
                <a:effectLst/>
                <a:latin typeface="+mn-lt"/>
                <a:ea typeface="+mn-ea"/>
                <a:cs typeface="+mn-cs"/>
              </a:rPr>
              <a:t> was being cheated. He used his wit (being clever) to prevent that. It is a lesson for the reader. </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421350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The answer is there in the very first line of the passage - ’I am your cousin from Konya.’ Therefore, the answer is ’Konya’</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309242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The answer for this question is there in the line that is second from the last, ’...asked the visitor curiously ’It tastes like warm water.’ Thus, the answer is clearly, ’The soup tasted like warm water.’</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4209952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39733046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2002869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Clearly the answer is there in the 6th line from the top - "Could any of these </a:t>
            </a:r>
            <a:r>
              <a:rPr lang="en-US" sz="1200" b="1" i="0" kern="1200" dirty="0">
                <a:solidFill>
                  <a:schemeClr val="tx1"/>
                </a:solidFill>
                <a:effectLst/>
                <a:latin typeface="+mn-lt"/>
                <a:ea typeface="+mn-ea"/>
                <a:cs typeface="+mn-cs"/>
              </a:rPr>
              <a:t>mammals</a:t>
            </a:r>
            <a:r>
              <a:rPr lang="en-US" sz="1200" b="0" i="0" kern="1200" dirty="0">
                <a:solidFill>
                  <a:schemeClr val="tx1"/>
                </a:solidFill>
                <a:effectLst/>
                <a:latin typeface="+mn-lt"/>
                <a:ea typeface="+mn-ea"/>
                <a:cs typeface="+mn-cs"/>
              </a:rPr>
              <a:t> be more intelligent than man?"</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2294007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Clearly the author quotes many examples of Dolphins having a complex society, looking after other dolphins when they are ill, care for pregnant mothers and even having a language of their own. Man’s evil intention to destroy these dolphins makes him inferior as Dolphins don’t do the same to any other creature. </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188393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724474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3081369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All the other three answer options - ’members competing for status and power’, ’members competing for the resources of an </a:t>
            </a:r>
            <a:r>
              <a:rPr lang="en-US" sz="1200" b="0" i="0" kern="1200" dirty="0" err="1">
                <a:solidFill>
                  <a:schemeClr val="tx1"/>
                </a:solidFill>
                <a:effectLst/>
                <a:latin typeface="+mn-lt"/>
                <a:ea typeface="+mn-ea"/>
                <a:cs typeface="+mn-cs"/>
              </a:rPr>
              <a:t>organisation</a:t>
            </a:r>
            <a:r>
              <a:rPr lang="en-US" sz="1200" b="0" i="0" kern="1200" dirty="0">
                <a:solidFill>
                  <a:schemeClr val="tx1"/>
                </a:solidFill>
                <a:effectLst/>
                <a:latin typeface="+mn-lt"/>
                <a:ea typeface="+mn-ea"/>
                <a:cs typeface="+mn-cs"/>
              </a:rPr>
              <a:t>’, ’members preferring to expand their own departments for career advancements’ are the causes for the crisis. The actual crisis here is the effect - ’members inclination towards sectional interests and individual ambitions at the expense of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goals.’ This is the correct answer.</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3704690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All the other three options are the adverse impacts that give rise to sectional or specific problems; but the "big picture" emerging here or the holistic (meaning "whole") impact to the </a:t>
            </a:r>
            <a:r>
              <a:rPr lang="en-US" sz="1200" b="0" i="0" kern="1200" dirty="0" err="1">
                <a:solidFill>
                  <a:schemeClr val="tx1"/>
                </a:solidFill>
                <a:effectLst/>
                <a:latin typeface="+mn-lt"/>
                <a:ea typeface="+mn-ea"/>
                <a:cs typeface="+mn-cs"/>
              </a:rPr>
              <a:t>organisation</a:t>
            </a:r>
            <a:r>
              <a:rPr lang="en-US" sz="1200" b="0" i="0" kern="1200" dirty="0">
                <a:solidFill>
                  <a:schemeClr val="tx1"/>
                </a:solidFill>
                <a:effectLst/>
                <a:latin typeface="+mn-lt"/>
                <a:ea typeface="+mn-ea"/>
                <a:cs typeface="+mn-cs"/>
              </a:rPr>
              <a:t> is that "the policy decisions may not serve the </a:t>
            </a:r>
            <a:r>
              <a:rPr lang="en-US" sz="1200" b="0" i="0" kern="1200" dirty="0" err="1">
                <a:solidFill>
                  <a:schemeClr val="tx1"/>
                </a:solidFill>
                <a:effectLst/>
                <a:latin typeface="+mn-lt"/>
                <a:ea typeface="+mn-ea"/>
                <a:cs typeface="+mn-cs"/>
              </a:rPr>
              <a:t>organisation</a:t>
            </a:r>
            <a:r>
              <a:rPr lang="en-US" sz="1200" b="0" i="0" kern="1200" dirty="0">
                <a:solidFill>
                  <a:schemeClr val="tx1"/>
                </a:solidFill>
                <a:effectLst/>
                <a:latin typeface="+mn-lt"/>
                <a:ea typeface="+mn-ea"/>
                <a:cs typeface="+mn-cs"/>
              </a:rPr>
              <a:t> as a whole." Because all the above  outcomes may satisfy only the sectional interests (respective departments of the </a:t>
            </a:r>
            <a:r>
              <a:rPr lang="en-US" sz="1200" b="0" i="0" kern="1200" dirty="0" err="1">
                <a:solidFill>
                  <a:schemeClr val="tx1"/>
                </a:solidFill>
                <a:effectLst/>
                <a:latin typeface="+mn-lt"/>
                <a:ea typeface="+mn-ea"/>
                <a:cs typeface="+mn-cs"/>
              </a:rPr>
              <a:t>organisation</a:t>
            </a:r>
            <a:r>
              <a:rPr lang="en-US" sz="1200" b="0" i="0" kern="1200" dirty="0">
                <a:solidFill>
                  <a:schemeClr val="tx1"/>
                </a:solidFill>
                <a:effectLst/>
                <a:latin typeface="+mn-lt"/>
                <a:ea typeface="+mn-ea"/>
                <a:cs typeface="+mn-cs"/>
              </a:rPr>
              <a:t>) and so the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overall objective is ignored and, therefore, sacrificed.</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a:p>
        </p:txBody>
      </p:sp>
    </p:spTree>
    <p:extLst>
      <p:ext uri="{BB962C8B-B14F-4D97-AF65-F5344CB8AC3E}">
        <p14:creationId xmlns:p14="http://schemas.microsoft.com/office/powerpoint/2010/main" val="27087699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The meaning of ’</a:t>
            </a:r>
            <a:r>
              <a:rPr lang="en-US" sz="1200" b="0" i="0" kern="1200" dirty="0" err="1">
                <a:solidFill>
                  <a:schemeClr val="tx1"/>
                </a:solidFill>
                <a:effectLst/>
                <a:latin typeface="+mn-lt"/>
                <a:ea typeface="+mn-ea"/>
                <a:cs typeface="+mn-cs"/>
              </a:rPr>
              <a:t>organisation</a:t>
            </a:r>
            <a:r>
              <a:rPr lang="en-US" sz="1200" b="0" i="0" kern="1200" dirty="0">
                <a:solidFill>
                  <a:schemeClr val="tx1"/>
                </a:solidFill>
                <a:effectLst/>
                <a:latin typeface="+mn-lt"/>
                <a:ea typeface="+mn-ea"/>
                <a:cs typeface="+mn-cs"/>
              </a:rPr>
              <a:t>’ itself is ’a group of persons organized for some work.’ The main theme of this passage is all about the problems arising in an </a:t>
            </a:r>
            <a:r>
              <a:rPr lang="en-US" sz="1200" b="0" i="0" kern="1200" dirty="0" err="1">
                <a:solidFill>
                  <a:schemeClr val="tx1"/>
                </a:solidFill>
                <a:effectLst/>
                <a:latin typeface="+mn-lt"/>
                <a:ea typeface="+mn-ea"/>
                <a:cs typeface="+mn-cs"/>
              </a:rPr>
              <a:t>organisation</a:t>
            </a:r>
            <a:r>
              <a:rPr lang="en-US" sz="1200" b="0" i="0" kern="1200" dirty="0">
                <a:solidFill>
                  <a:schemeClr val="tx1"/>
                </a:solidFill>
                <a:effectLst/>
                <a:latin typeface="+mn-lt"/>
                <a:ea typeface="+mn-ea"/>
                <a:cs typeface="+mn-cs"/>
              </a:rPr>
              <a:t> which will lead to the total ignorance of its overall objective. Line 6 says that - ’These preoccupations sometimes prevent the emergence of organic systems.’ The word "prevent" in this sentence makes the reader to comprehend the fact that it is criticizing the points mentioned in the previous sentence, which is, ’sectional interests and individual </a:t>
            </a:r>
            <a:r>
              <a:rPr lang="en-US" sz="1200" b="0" i="0" kern="1200" dirty="0" err="1">
                <a:solidFill>
                  <a:schemeClr val="tx1"/>
                </a:solidFill>
                <a:effectLst/>
                <a:latin typeface="+mn-lt"/>
                <a:ea typeface="+mn-ea"/>
                <a:cs typeface="+mn-cs"/>
              </a:rPr>
              <a:t>ambitions.’This</a:t>
            </a:r>
            <a:r>
              <a:rPr lang="en-US" sz="1200" b="0" i="0" kern="1200" dirty="0">
                <a:solidFill>
                  <a:schemeClr val="tx1"/>
                </a:solidFill>
                <a:effectLst/>
                <a:latin typeface="+mn-lt"/>
                <a:ea typeface="+mn-ea"/>
                <a:cs typeface="+mn-cs"/>
              </a:rPr>
              <a:t> means, the meaning of ’organic systems’ should be opposite to them. Therefore, the opposite meaning to ’sectional interests and individual ambitions’ is virtually ’overall interest (of an </a:t>
            </a:r>
            <a:r>
              <a:rPr lang="en-US" sz="1200" b="0" i="0" kern="1200" dirty="0" err="1">
                <a:solidFill>
                  <a:schemeClr val="tx1"/>
                </a:solidFill>
                <a:effectLst/>
                <a:latin typeface="+mn-lt"/>
                <a:ea typeface="+mn-ea"/>
                <a:cs typeface="+mn-cs"/>
              </a:rPr>
              <a:t>organisation</a:t>
            </a:r>
            <a:r>
              <a:rPr lang="en-US" sz="1200" b="0" i="0" kern="1200" dirty="0">
                <a:solidFill>
                  <a:schemeClr val="tx1"/>
                </a:solidFill>
                <a:effectLst/>
                <a:latin typeface="+mn-lt"/>
                <a:ea typeface="+mn-ea"/>
                <a:cs typeface="+mn-cs"/>
              </a:rPr>
              <a:t>) and its all-round ambition.’ Hence, an ’organic system" means "individual things that that act harmoniously for a common aim.’ The answer option that starts with ’An </a:t>
            </a:r>
            <a:r>
              <a:rPr lang="en-US" sz="1200" b="0" i="0" kern="1200" dirty="0" err="1">
                <a:solidFill>
                  <a:schemeClr val="tx1"/>
                </a:solidFill>
                <a:effectLst/>
                <a:latin typeface="+mn-lt"/>
                <a:ea typeface="+mn-ea"/>
                <a:cs typeface="+mn-cs"/>
              </a:rPr>
              <a:t>organisational</a:t>
            </a:r>
            <a:r>
              <a:rPr lang="en-US" sz="1200" b="0" i="0" kern="1200" dirty="0">
                <a:solidFill>
                  <a:schemeClr val="tx1"/>
                </a:solidFill>
                <a:effectLst/>
                <a:latin typeface="+mn-lt"/>
                <a:ea typeface="+mn-ea"/>
                <a:cs typeface="+mn-cs"/>
              </a:rPr>
              <a:t> system that is interconnected with departments of equal significance and one that harmoniously helps...’ is the answer. </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19</a:t>
            </a:fld>
            <a:endParaRPr lang="en-US"/>
          </a:p>
        </p:txBody>
      </p:sp>
    </p:spTree>
    <p:extLst>
      <p:ext uri="{BB962C8B-B14F-4D97-AF65-F5344CB8AC3E}">
        <p14:creationId xmlns:p14="http://schemas.microsoft.com/office/powerpoint/2010/main" val="1828680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There is no harmony in the </a:t>
            </a:r>
            <a:r>
              <a:rPr lang="en-US" sz="1200" b="0" i="0" kern="1200" dirty="0" err="1">
                <a:solidFill>
                  <a:schemeClr val="tx1"/>
                </a:solidFill>
                <a:effectLst/>
                <a:latin typeface="+mn-lt"/>
                <a:ea typeface="+mn-ea"/>
                <a:cs typeface="+mn-cs"/>
              </a:rPr>
              <a:t>organisation</a:t>
            </a:r>
            <a:r>
              <a:rPr lang="en-US" sz="1200" b="0" i="0" kern="1200" dirty="0">
                <a:solidFill>
                  <a:schemeClr val="tx1"/>
                </a:solidFill>
                <a:effectLst/>
                <a:latin typeface="+mn-lt"/>
                <a:ea typeface="+mn-ea"/>
                <a:cs typeface="+mn-cs"/>
              </a:rPr>
              <a:t> since the individual departments are concerned only with their own personal preferences. The example quoted by the author is the intention of the senior managers not to cooperate with the research and development department, which had high-paid experts, because of the assumption that their ignorance and incompetency would be revealed. Therefore, the option - ’All the entities within the </a:t>
            </a:r>
            <a:r>
              <a:rPr lang="en-US" sz="1200" b="0" i="0" kern="1200" dirty="0" err="1">
                <a:solidFill>
                  <a:schemeClr val="tx1"/>
                </a:solidFill>
                <a:effectLst/>
                <a:latin typeface="+mn-lt"/>
                <a:ea typeface="+mn-ea"/>
                <a:cs typeface="+mn-cs"/>
              </a:rPr>
              <a:t>organisation</a:t>
            </a:r>
            <a:r>
              <a:rPr lang="en-US" sz="1200" b="0" i="0" kern="1200" dirty="0">
                <a:solidFill>
                  <a:schemeClr val="tx1"/>
                </a:solidFill>
                <a:effectLst/>
                <a:latin typeface="+mn-lt"/>
                <a:ea typeface="+mn-ea"/>
                <a:cs typeface="+mn-cs"/>
              </a:rPr>
              <a:t> were not willing to work as a cohesive unit. ...’ is the answer. </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20</a:t>
            </a:fld>
            <a:endParaRPr lang="en-US"/>
          </a:p>
        </p:txBody>
      </p:sp>
    </p:spTree>
    <p:extLst>
      <p:ext uri="{BB962C8B-B14F-4D97-AF65-F5344CB8AC3E}">
        <p14:creationId xmlns:p14="http://schemas.microsoft.com/office/powerpoint/2010/main" val="1346987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In this passage, the author has quoted a sequence of causes and its effects, </a:t>
            </a:r>
            <a:r>
              <a:rPr lang="en-US" sz="1200" b="0" i="0" kern="1200" dirty="0" err="1">
                <a:solidFill>
                  <a:schemeClr val="tx1"/>
                </a:solidFill>
                <a:effectLst/>
                <a:latin typeface="+mn-lt"/>
                <a:ea typeface="+mn-ea"/>
                <a:cs typeface="+mn-cs"/>
              </a:rPr>
              <a:t>analysed</a:t>
            </a:r>
            <a:r>
              <a:rPr lang="en-US" sz="1200" b="0" i="0" kern="1200" dirty="0">
                <a:solidFill>
                  <a:schemeClr val="tx1"/>
                </a:solidFill>
                <a:effectLst/>
                <a:latin typeface="+mn-lt"/>
                <a:ea typeface="+mn-ea"/>
                <a:cs typeface="+mn-cs"/>
              </a:rPr>
              <a:t> them, and postulated the eventual outcome in a systematic fashion. Therefore, the tone is analytical. </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21</a:t>
            </a:fld>
            <a:endParaRPr lang="en-US"/>
          </a:p>
        </p:txBody>
      </p:sp>
    </p:spTree>
    <p:extLst>
      <p:ext uri="{BB962C8B-B14F-4D97-AF65-F5344CB8AC3E}">
        <p14:creationId xmlns:p14="http://schemas.microsoft.com/office/powerpoint/2010/main" val="26047296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22</a:t>
            </a:fld>
            <a:endParaRPr lang="en-US"/>
          </a:p>
        </p:txBody>
      </p:sp>
    </p:spTree>
    <p:extLst>
      <p:ext uri="{BB962C8B-B14F-4D97-AF65-F5344CB8AC3E}">
        <p14:creationId xmlns:p14="http://schemas.microsoft.com/office/powerpoint/2010/main" val="3571333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23</a:t>
            </a:fld>
            <a:endParaRPr lang="en-US"/>
          </a:p>
        </p:txBody>
      </p:sp>
    </p:spTree>
    <p:extLst>
      <p:ext uri="{BB962C8B-B14F-4D97-AF65-F5344CB8AC3E}">
        <p14:creationId xmlns:p14="http://schemas.microsoft.com/office/powerpoint/2010/main" val="398032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24</a:t>
            </a:fld>
            <a:endParaRPr lang="en-US"/>
          </a:p>
        </p:txBody>
      </p:sp>
    </p:spTree>
    <p:extLst>
      <p:ext uri="{BB962C8B-B14F-4D97-AF65-F5344CB8AC3E}">
        <p14:creationId xmlns:p14="http://schemas.microsoft.com/office/powerpoint/2010/main" val="8838329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First paragraph refer line no. 2 to 4 "Parents do their best……why grass grows."</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25</a:t>
            </a:fld>
            <a:endParaRPr lang="en-US"/>
          </a:p>
        </p:txBody>
      </p:sp>
    </p:spTree>
    <p:extLst>
      <p:ext uri="{BB962C8B-B14F-4D97-AF65-F5344CB8AC3E}">
        <p14:creationId xmlns:p14="http://schemas.microsoft.com/office/powerpoint/2010/main" val="4416157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Intricate - complex , </a:t>
            </a:r>
            <a:r>
              <a:rPr lang="en-US" sz="1200" b="0" i="0" kern="1200" dirty="0" err="1">
                <a:solidFill>
                  <a:schemeClr val="tx1"/>
                </a:solidFill>
                <a:effectLst/>
                <a:latin typeface="+mn-lt"/>
                <a:ea typeface="+mn-ea"/>
                <a:cs typeface="+mn-cs"/>
              </a:rPr>
              <a:t>complicated,difficult</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26</a:t>
            </a:fld>
            <a:endParaRPr lang="en-US"/>
          </a:p>
        </p:txBody>
      </p:sp>
    </p:spTree>
    <p:extLst>
      <p:ext uri="{BB962C8B-B14F-4D97-AF65-F5344CB8AC3E}">
        <p14:creationId xmlns:p14="http://schemas.microsoft.com/office/powerpoint/2010/main" val="17953705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enormous- huge ,</a:t>
            </a:r>
            <a:r>
              <a:rPr lang="en-US" sz="1200" b="0" i="0" kern="1200" dirty="0" err="1">
                <a:solidFill>
                  <a:schemeClr val="tx1"/>
                </a:solidFill>
                <a:effectLst/>
                <a:latin typeface="+mn-lt"/>
                <a:ea typeface="+mn-ea"/>
                <a:cs typeface="+mn-cs"/>
              </a:rPr>
              <a:t>tremendous,jumbo</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27</a:t>
            </a:fld>
            <a:endParaRPr lang="en-US"/>
          </a:p>
        </p:txBody>
      </p:sp>
    </p:spTree>
    <p:extLst>
      <p:ext uri="{BB962C8B-B14F-4D97-AF65-F5344CB8AC3E}">
        <p14:creationId xmlns:p14="http://schemas.microsoft.com/office/powerpoint/2010/main" val="3081404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Refer line no. 6 and 7 "When with the university ………to find the answer."</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28</a:t>
            </a:fld>
            <a:endParaRPr lang="en-US"/>
          </a:p>
        </p:txBody>
      </p:sp>
    </p:spTree>
    <p:extLst>
      <p:ext uri="{BB962C8B-B14F-4D97-AF65-F5344CB8AC3E}">
        <p14:creationId xmlns:p14="http://schemas.microsoft.com/office/powerpoint/2010/main" val="40703286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To put out or finish -Extinguish</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29</a:t>
            </a:fld>
            <a:endParaRPr lang="en-US"/>
          </a:p>
        </p:txBody>
      </p:sp>
    </p:spTree>
    <p:extLst>
      <p:ext uri="{BB962C8B-B14F-4D97-AF65-F5344CB8AC3E}">
        <p14:creationId xmlns:p14="http://schemas.microsoft.com/office/powerpoint/2010/main" val="764134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30</a:t>
            </a:fld>
            <a:endParaRPr lang="en-US"/>
          </a:p>
        </p:txBody>
      </p:sp>
    </p:spTree>
    <p:extLst>
      <p:ext uri="{BB962C8B-B14F-4D97-AF65-F5344CB8AC3E}">
        <p14:creationId xmlns:p14="http://schemas.microsoft.com/office/powerpoint/2010/main" val="21312093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31</a:t>
            </a:fld>
            <a:endParaRPr lang="en-US"/>
          </a:p>
        </p:txBody>
      </p:sp>
    </p:spTree>
    <p:extLst>
      <p:ext uri="{BB962C8B-B14F-4D97-AF65-F5344CB8AC3E}">
        <p14:creationId xmlns:p14="http://schemas.microsoft.com/office/powerpoint/2010/main" val="40630455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32</a:t>
            </a:fld>
            <a:endParaRPr lang="en-US"/>
          </a:p>
        </p:txBody>
      </p:sp>
    </p:spTree>
    <p:extLst>
      <p:ext uri="{BB962C8B-B14F-4D97-AF65-F5344CB8AC3E}">
        <p14:creationId xmlns:p14="http://schemas.microsoft.com/office/powerpoint/2010/main" val="2022956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33</a:t>
            </a:fld>
            <a:endParaRPr lang="en-US"/>
          </a:p>
        </p:txBody>
      </p:sp>
    </p:spTree>
    <p:extLst>
      <p:ext uri="{BB962C8B-B14F-4D97-AF65-F5344CB8AC3E}">
        <p14:creationId xmlns:p14="http://schemas.microsoft.com/office/powerpoint/2010/main" val="9208734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34</a:t>
            </a:fld>
            <a:endParaRPr lang="en-US"/>
          </a:p>
        </p:txBody>
      </p:sp>
    </p:spTree>
    <p:extLst>
      <p:ext uri="{BB962C8B-B14F-4D97-AF65-F5344CB8AC3E}">
        <p14:creationId xmlns:p14="http://schemas.microsoft.com/office/powerpoint/2010/main" val="38192427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’adverse outcome’ means ’negative outcome.’ Therefore, the option ’</a:t>
            </a:r>
            <a:r>
              <a:rPr lang="en-US" sz="1200" b="0" i="1" kern="1200" dirty="0">
                <a:solidFill>
                  <a:schemeClr val="tx1"/>
                </a:solidFill>
                <a:effectLst/>
                <a:latin typeface="+mn-lt"/>
                <a:ea typeface="+mn-ea"/>
                <a:cs typeface="+mn-cs"/>
              </a:rPr>
              <a:t>tremendous economic wealth and vast</a:t>
            </a:r>
            <a:r>
              <a:rPr lang="en-US" sz="1200" b="0" i="0" kern="1200" dirty="0">
                <a:solidFill>
                  <a:schemeClr val="tx1"/>
                </a:solidFill>
                <a:effectLst/>
                <a:latin typeface="+mn-lt"/>
                <a:ea typeface="+mn-ea"/>
                <a:cs typeface="+mn-cs"/>
              </a:rPr>
              <a:t>...’ is ruled out.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option - ’</a:t>
            </a:r>
            <a:r>
              <a:rPr lang="en-US" sz="1200" b="0" i="1" kern="1200" dirty="0">
                <a:solidFill>
                  <a:schemeClr val="tx1"/>
                </a:solidFill>
                <a:effectLst/>
                <a:latin typeface="+mn-lt"/>
                <a:ea typeface="+mn-ea"/>
                <a:cs typeface="+mn-cs"/>
              </a:rPr>
              <a:t>many Asian countries were exploited to the maximum</a:t>
            </a:r>
            <a:r>
              <a:rPr lang="en-US" sz="1200" b="0" i="0" kern="1200" dirty="0">
                <a:solidFill>
                  <a:schemeClr val="tx1"/>
                </a:solidFill>
                <a:effectLst/>
                <a:latin typeface="+mn-lt"/>
                <a:ea typeface="+mn-ea"/>
                <a:cs typeface="+mn-cs"/>
              </a:rPr>
              <a:t>...’ is also ruled out because nowhere in the passage it is mentioned that only Asian countries were exploited. </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The economies of Europe began to decline.</a:t>
            </a:r>
            <a:r>
              <a:rPr lang="en-US" sz="1200" b="0" i="0" kern="1200" dirty="0">
                <a:solidFill>
                  <a:schemeClr val="tx1"/>
                </a:solidFill>
                <a:effectLst/>
                <a:latin typeface="+mn-lt"/>
                <a:ea typeface="+mn-ea"/>
                <a:cs typeface="+mn-cs"/>
              </a:rPr>
              <a:t>..’ is also irrelevant because the passage does not give a clear picture about economies of any region. </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only relevant answer option is - ’</a:t>
            </a:r>
            <a:r>
              <a:rPr lang="en-US" sz="1200" b="0" i="1" kern="1200" dirty="0">
                <a:solidFill>
                  <a:schemeClr val="tx1"/>
                </a:solidFill>
                <a:effectLst/>
                <a:latin typeface="+mn-lt"/>
                <a:ea typeface="+mn-ea"/>
                <a:cs typeface="+mn-cs"/>
              </a:rPr>
              <a:t>Undesirable consequences to most</a:t>
            </a:r>
            <a:r>
              <a:rPr lang="en-US" sz="1200" b="0" i="0" kern="1200" dirty="0">
                <a:solidFill>
                  <a:schemeClr val="tx1"/>
                </a:solidFill>
                <a:effectLst/>
                <a:latin typeface="+mn-lt"/>
                <a:ea typeface="+mn-ea"/>
                <a:cs typeface="+mn-cs"/>
              </a:rPr>
              <a:t>...’ because it is there in the </a:t>
            </a:r>
            <a:r>
              <a:rPr lang="en-US" sz="1200" b="0" i="0" kern="1200" dirty="0" err="1">
                <a:solidFill>
                  <a:schemeClr val="tx1"/>
                </a:solidFill>
                <a:effectLst/>
                <a:latin typeface="+mn-lt"/>
                <a:ea typeface="+mn-ea"/>
                <a:cs typeface="+mn-cs"/>
              </a:rPr>
              <a:t>the</a:t>
            </a:r>
            <a:r>
              <a:rPr lang="en-US" sz="1200" b="0" i="0" kern="1200" dirty="0">
                <a:solidFill>
                  <a:schemeClr val="tx1"/>
                </a:solidFill>
                <a:effectLst/>
                <a:latin typeface="+mn-lt"/>
                <a:ea typeface="+mn-ea"/>
                <a:cs typeface="+mn-cs"/>
              </a:rPr>
              <a:t> lines 3 and 4 - ’</a:t>
            </a:r>
            <a:r>
              <a:rPr lang="en-US" sz="1200" b="1" i="0" kern="1200" dirty="0">
                <a:solidFill>
                  <a:schemeClr val="tx1"/>
                </a:solidFill>
                <a:effectLst/>
                <a:latin typeface="+mn-lt"/>
                <a:ea typeface="+mn-ea"/>
                <a:cs typeface="+mn-cs"/>
              </a:rPr>
              <a:t>engendered a litany of unintended consequences for most of the nations</a:t>
            </a:r>
            <a:r>
              <a:rPr lang="en-US" sz="1200" b="0" i="0" kern="1200" dirty="0">
                <a:solidFill>
                  <a:schemeClr val="tx1"/>
                </a:solidFill>
                <a:effectLst/>
                <a:latin typeface="+mn-lt"/>
                <a:ea typeface="+mn-ea"/>
                <a:cs typeface="+mn-cs"/>
              </a:rPr>
              <a:t>...’ "They frequently acted </a:t>
            </a:r>
            <a:r>
              <a:rPr lang="en-US" sz="1200" b="1" i="0" kern="1200" dirty="0">
                <a:solidFill>
                  <a:schemeClr val="tx1"/>
                </a:solidFill>
                <a:effectLst/>
                <a:latin typeface="+mn-lt"/>
                <a:ea typeface="+mn-ea"/>
                <a:cs typeface="+mn-cs"/>
              </a:rPr>
              <a:t>without regard to the long-term welfare of others</a:t>
            </a:r>
            <a:r>
              <a:rPr lang="en-US" sz="1200" b="0" i="0" kern="1200" dirty="0">
                <a:solidFill>
                  <a:schemeClr val="tx1"/>
                </a:solidFill>
                <a:effectLst/>
                <a:latin typeface="+mn-lt"/>
                <a:ea typeface="+mn-ea"/>
                <a:cs typeface="+mn-cs"/>
              </a:rPr>
              <a:t> as their principal concern was short-term economic </a:t>
            </a:r>
            <a:r>
              <a:rPr lang="en-US" sz="1200" b="0" i="0" kern="1200" dirty="0" err="1">
                <a:solidFill>
                  <a:schemeClr val="tx1"/>
                </a:solidFill>
                <a:effectLst/>
                <a:latin typeface="+mn-lt"/>
                <a:ea typeface="+mn-ea"/>
                <a:cs typeface="+mn-cs"/>
              </a:rPr>
              <a:t>gain.Many</a:t>
            </a:r>
            <a:r>
              <a:rPr lang="en-US" sz="1200" b="0" i="0" kern="1200" dirty="0">
                <a:solidFill>
                  <a:schemeClr val="tx1"/>
                </a:solidFill>
                <a:effectLst/>
                <a:latin typeface="+mn-lt"/>
                <a:ea typeface="+mn-ea"/>
                <a:cs typeface="+mn-cs"/>
              </a:rPr>
              <a:t> nations that traded with Europe placed high value on their historical customs, s</a:t>
            </a:r>
            <a:r>
              <a:rPr lang="en-US" sz="1200" b="1" i="0" kern="1200" dirty="0">
                <a:solidFill>
                  <a:schemeClr val="tx1"/>
                </a:solidFill>
                <a:effectLst/>
                <a:latin typeface="+mn-lt"/>
                <a:ea typeface="+mn-ea"/>
                <a:cs typeface="+mn-cs"/>
              </a:rPr>
              <a:t>ome natives became deeply disconcerted by the changes</a:t>
            </a:r>
            <a:r>
              <a:rPr lang="en-US" sz="1200" b="0" i="0" kern="1200" dirty="0">
                <a:solidFill>
                  <a:schemeClr val="tx1"/>
                </a:solidFill>
                <a:effectLst/>
                <a:latin typeface="+mn-lt"/>
                <a:ea typeface="+mn-ea"/>
                <a:cs typeface="+mn-cs"/>
              </a:rPr>
              <a:t> that occurred as a result of European power. "</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last </a:t>
            </a:r>
            <a:r>
              <a:rPr lang="en-US" sz="1200" b="0" i="0" kern="1200" dirty="0" err="1">
                <a:solidFill>
                  <a:schemeClr val="tx1"/>
                </a:solidFill>
                <a:effectLst/>
                <a:latin typeface="+mn-lt"/>
                <a:ea typeface="+mn-ea"/>
                <a:cs typeface="+mn-cs"/>
              </a:rPr>
              <a:t>paragraph,"As</a:t>
            </a:r>
            <a:r>
              <a:rPr lang="en-US" sz="1200" b="0" i="0" kern="1200" dirty="0">
                <a:solidFill>
                  <a:schemeClr val="tx1"/>
                </a:solidFill>
                <a:effectLst/>
                <a:latin typeface="+mn-lt"/>
                <a:ea typeface="+mn-ea"/>
                <a:cs typeface="+mn-cs"/>
              </a:rPr>
              <a:t> history unfolded during the next 400 years, in general, countries that embraced European hegemony, whether by choice or by force,</a:t>
            </a:r>
            <a:r>
              <a:rPr lang="en-US" sz="1200" b="1" i="0" kern="1200" dirty="0">
                <a:solidFill>
                  <a:schemeClr val="tx1"/>
                </a:solidFill>
                <a:effectLst/>
                <a:latin typeface="+mn-lt"/>
                <a:ea typeface="+mn-ea"/>
                <a:cs typeface="+mn-cs"/>
              </a:rPr>
              <a:t> tended to suffer from pernicious wealth inequality, perennial political instability, and protracted underdevelopment</a:t>
            </a:r>
            <a:r>
              <a:rPr lang="en-US" sz="1200" b="0" i="0" kern="1200" dirty="0">
                <a:solidFill>
                  <a:schemeClr val="tx1"/>
                </a:solidFill>
                <a:effectLst/>
                <a:latin typeface="+mn-lt"/>
                <a:ea typeface="+mn-ea"/>
                <a:cs typeface="+mn-cs"/>
              </a:rPr>
              <a:t>"</a:t>
            </a:r>
          </a:p>
          <a:p>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can infer from these lines that the consequences were undesirable.</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35</a:t>
            </a:fld>
            <a:endParaRPr lang="en-US"/>
          </a:p>
        </p:txBody>
      </p:sp>
    </p:spTree>
    <p:extLst>
      <p:ext uri="{BB962C8B-B14F-4D97-AF65-F5344CB8AC3E}">
        <p14:creationId xmlns:p14="http://schemas.microsoft.com/office/powerpoint/2010/main" val="13557724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In the last few lines of the first paragraph ’These factors, coupled with perennial domestic political instability...’ Here, ’these factors’ are mentioned in the lines 4 and 5-’Europeans often imposed their traditions, values and customs on the people whom they traded. They frequently acted...’</a:t>
            </a:r>
            <a:br>
              <a:rPr lang="en-US" dirty="0"/>
            </a:b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From the above lines we can conclude that "The act of Europeans’ hegemonic implementation of their own traditions and customs upon those whom they traded and the prolonged political uncertainty in these countries." is the answer</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36</a:t>
            </a:fld>
            <a:endParaRPr lang="en-US"/>
          </a:p>
        </p:txBody>
      </p:sp>
    </p:spTree>
    <p:extLst>
      <p:ext uri="{BB962C8B-B14F-4D97-AF65-F5344CB8AC3E}">
        <p14:creationId xmlns:p14="http://schemas.microsoft.com/office/powerpoint/2010/main" val="19952635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The second paragraph starts like ’One potent example of this ideological shift can be seen in the actions of the Tokugawa government of </a:t>
            </a:r>
            <a:r>
              <a:rPr lang="en-US" sz="1200" b="0" i="0" kern="1200" dirty="0" err="1">
                <a:solidFill>
                  <a:schemeClr val="tx1"/>
                </a:solidFill>
                <a:effectLst/>
                <a:latin typeface="+mn-lt"/>
                <a:ea typeface="+mn-ea"/>
                <a:cs typeface="+mn-cs"/>
              </a:rPr>
              <a:t>Japan.’Here</a:t>
            </a:r>
            <a:r>
              <a:rPr lang="en-US" sz="1200" b="0" i="0" kern="1200" dirty="0">
                <a:solidFill>
                  <a:schemeClr val="tx1"/>
                </a:solidFill>
                <a:effectLst/>
                <a:latin typeface="+mn-lt"/>
                <a:ea typeface="+mn-ea"/>
                <a:cs typeface="+mn-cs"/>
              </a:rPr>
              <a:t>, "this ideological shift" is  the resistance of countries (whom Europe traded with) against European influence. This is mentioned in the previous line (first paragraph last sentence) ’caused numerous countries to resist European influence’.</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37</a:t>
            </a:fld>
            <a:endParaRPr lang="en-US"/>
          </a:p>
        </p:txBody>
      </p:sp>
    </p:spTree>
    <p:extLst>
      <p:ext uri="{BB962C8B-B14F-4D97-AF65-F5344CB8AC3E}">
        <p14:creationId xmlns:p14="http://schemas.microsoft.com/office/powerpoint/2010/main" val="466501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The last paragraph clearly says ’With the example of Japan </a:t>
            </a:r>
            <a:r>
              <a:rPr lang="en-US" sz="1200" b="1" i="0" kern="1200" dirty="0">
                <a:solidFill>
                  <a:schemeClr val="tx1"/>
                </a:solidFill>
                <a:effectLst/>
                <a:latin typeface="+mn-lt"/>
                <a:ea typeface="+mn-ea"/>
                <a:cs typeface="+mn-cs"/>
              </a:rPr>
              <a:t>and the examples of other countries that chose a different response</a:t>
            </a:r>
            <a:r>
              <a:rPr lang="en-US" sz="1200" b="0" i="0" kern="1200" dirty="0">
                <a:solidFill>
                  <a:schemeClr val="tx1"/>
                </a:solidFill>
                <a:effectLst/>
                <a:latin typeface="+mn-lt"/>
                <a:ea typeface="+mn-ea"/>
                <a:cs typeface="+mn-cs"/>
              </a:rPr>
              <a:t>...’ Here, it is obvious that not all countries showed the same kind of response as that of Japan. </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38</a:t>
            </a:fld>
            <a:endParaRPr lang="en-US"/>
          </a:p>
        </p:txBody>
      </p:sp>
    </p:spTree>
    <p:extLst>
      <p:ext uri="{BB962C8B-B14F-4D97-AF65-F5344CB8AC3E}">
        <p14:creationId xmlns:p14="http://schemas.microsoft.com/office/powerpoint/2010/main" val="40554546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The last three lines of the last paragraph says that - ’countries that embraced European hegemony, whether by choice or by force, tended to suffer from wealth inequality, perennial instability...’. Here, pernicious means ’having a harmful effect, especially in a gradual or subtle way’ </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39</a:t>
            </a:fld>
            <a:endParaRPr lang="en-US"/>
          </a:p>
        </p:txBody>
      </p:sp>
    </p:spTree>
    <p:extLst>
      <p:ext uri="{BB962C8B-B14F-4D97-AF65-F5344CB8AC3E}">
        <p14:creationId xmlns:p14="http://schemas.microsoft.com/office/powerpoint/2010/main" val="3529481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40</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6/6/2025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EBB7F1-DA88-05C8-EF28-DE7DFEA61E2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578" y="3162000"/>
            <a:ext cx="5110844" cy="648000"/>
          </a:xfrm>
          <a:prstGeom prst="rect">
            <a:avLst/>
          </a:prstGeom>
        </p:spPr>
      </p:pic>
    </p:spTree>
    <p:extLst>
      <p:ext uri="{BB962C8B-B14F-4D97-AF65-F5344CB8AC3E}">
        <p14:creationId xmlns:p14="http://schemas.microsoft.com/office/powerpoint/2010/main" val="159688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anose="00000500000000000000" pitchFamily="2" charset="0"/>
              </a:rPr>
              <a:t>Topic/Course</a:t>
            </a:r>
            <a:endParaRPr sz="4500" b="1" dirty="0">
              <a:solidFill>
                <a:schemeClr val="bg1"/>
              </a:solidFill>
              <a:latin typeface="Nunito Sans" panose="00000500000000000000" pitchFamily="2" charset="0"/>
            </a:endParaRPr>
          </a:p>
        </p:txBody>
      </p:sp>
      <p:sp>
        <p:nvSpPr>
          <p:cNvPr id="12" name="Here is where the title goes. Sometimes it could be two lines too">
            <a:extLst>
              <a:ext uri="{FF2B5EF4-FFF2-40B4-BE49-F238E27FC236}">
                <a16:creationId xmlns:a16="http://schemas.microsoft.com/office/drawing/2014/main" id="{B5763151-1884-4565-B779-CF2D697C82C8}"/>
              </a:ext>
            </a:extLst>
          </p:cNvPr>
          <p:cNvSpPr txBox="1"/>
          <p:nvPr/>
        </p:nvSpPr>
        <p:spPr>
          <a:xfrm>
            <a:off x="2228196" y="2514600"/>
            <a:ext cx="6745013" cy="284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anose="00000500000000000000" pitchFamily="2" charset="0"/>
              </a:rPr>
              <a:t>Sub-Topic (Example: name of college)</a:t>
            </a:r>
            <a:endParaRPr sz="1500" b="1" dirty="0">
              <a:solidFill>
                <a:schemeClr val="bg1"/>
              </a:solidFill>
              <a:latin typeface="Nunito Sans" panose="00000500000000000000" pitchFamily="2" charset="0"/>
            </a:endParaRPr>
          </a:p>
        </p:txBody>
      </p:sp>
      <p:sp>
        <p:nvSpPr>
          <p:cNvPr id="13" name="TextBox 12">
            <a:extLst>
              <a:ext uri="{FF2B5EF4-FFF2-40B4-BE49-F238E27FC236}">
                <a16:creationId xmlns:a16="http://schemas.microsoft.com/office/drawing/2014/main" id="{FC4BA18A-B0F2-4D62-9B28-7B486D4C70CF}"/>
              </a:ext>
            </a:extLst>
          </p:cNvPr>
          <p:cNvSpPr txBox="1"/>
          <p:nvPr/>
        </p:nvSpPr>
        <p:spPr>
          <a:xfrm>
            <a:off x="1015554" y="1740939"/>
            <a:ext cx="10160892" cy="1015663"/>
          </a:xfrm>
          <a:prstGeom prst="rect">
            <a:avLst/>
          </a:prstGeom>
          <a:noFill/>
        </p:spPr>
        <p:txBody>
          <a:bodyPr wrap="square" rtlCol="0">
            <a:spAutoFit/>
          </a:bodyPr>
          <a:lstStyle/>
          <a:p>
            <a:r>
              <a:rPr lang="en-US" sz="6000" dirty="0">
                <a:latin typeface="Nunito Sans SemiBold" panose="00000700000000000000" pitchFamily="2" charset="0"/>
              </a:rPr>
              <a:t>VIT</a:t>
            </a:r>
          </a:p>
        </p:txBody>
      </p:sp>
      <p:sp>
        <p:nvSpPr>
          <p:cNvPr id="10" name="Rectangle 9">
            <a:extLst>
              <a:ext uri="{FF2B5EF4-FFF2-40B4-BE49-F238E27FC236}">
                <a16:creationId xmlns:a16="http://schemas.microsoft.com/office/drawing/2014/main" id="{82037F44-B579-465E-912D-7578628D7D24}"/>
              </a:ext>
            </a:extLst>
          </p:cNvPr>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B3A8921-3DAF-8566-2905-B85BE984C89E}"/>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70754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a:extLst>
              <a:ext uri="{FF2B5EF4-FFF2-40B4-BE49-F238E27FC236}">
                <a16:creationId xmlns:a16="http://schemas.microsoft.com/office/drawing/2014/main" id="{456C9966-3D51-4F1F-BF70-A36692846596}"/>
              </a:ext>
            </a:extLst>
          </p:cNvPr>
          <p:cNvSpPr txBox="1"/>
          <p:nvPr/>
        </p:nvSpPr>
        <p:spPr>
          <a:xfrm>
            <a:off x="0" y="2971800"/>
            <a:ext cx="12192000" cy="885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Reading Comprehension</a:t>
            </a:r>
          </a:p>
        </p:txBody>
      </p:sp>
      <p:pic>
        <p:nvPicPr>
          <p:cNvPr id="2" name="Picture 1">
            <a:extLst>
              <a:ext uri="{FF2B5EF4-FFF2-40B4-BE49-F238E27FC236}">
                <a16:creationId xmlns:a16="http://schemas.microsoft.com/office/drawing/2014/main" id="{BB39C2F3-ABA8-2330-D6D2-B1385FFDD172}"/>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4065581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09600" y="1066800"/>
            <a:ext cx="10907041" cy="5093702"/>
          </a:xfrm>
          <a:prstGeom prst="rect">
            <a:avLst/>
          </a:prstGeom>
          <a:noFill/>
        </p:spPr>
        <p:txBody>
          <a:bodyPr wrap="square" rtlCol="0">
            <a:spAutoFit/>
          </a:bodyPr>
          <a:lstStyle/>
          <a:p>
            <a:pPr algn="just"/>
            <a:r>
              <a:rPr lang="en-US" sz="2500" b="1" dirty="0">
                <a:latin typeface="Nunito Sans" panose="00000500000000000000" pitchFamily="2" charset="0"/>
              </a:rPr>
              <a:t>Reading comprehension</a:t>
            </a:r>
          </a:p>
          <a:p>
            <a:pPr algn="just"/>
            <a:endParaRPr lang="en-US" sz="2500" b="1" dirty="0">
              <a:latin typeface="Nunito Sans" panose="00000500000000000000" pitchFamily="2" charset="0"/>
            </a:endParaRPr>
          </a:p>
          <a:p>
            <a:pPr algn="just"/>
            <a:r>
              <a:rPr lang="en-US" sz="2500" b="1" dirty="0">
                <a:latin typeface="Nunito Sans" panose="00000500000000000000" pitchFamily="2" charset="0"/>
              </a:rPr>
              <a:t>Reading comprehension </a:t>
            </a:r>
            <a:r>
              <a:rPr lang="en-US" sz="2500" dirty="0">
                <a:latin typeface="Nunito Sans" panose="00000500000000000000" pitchFamily="2" charset="0"/>
              </a:rPr>
              <a:t>is defined as the </a:t>
            </a:r>
            <a:r>
              <a:rPr lang="en-US" sz="2500" b="1" dirty="0">
                <a:latin typeface="Nunito Sans" panose="00000500000000000000" pitchFamily="2" charset="0"/>
              </a:rPr>
              <a:t>level of understanding of a text/message</a:t>
            </a:r>
            <a:r>
              <a:rPr lang="en-US" sz="2500" dirty="0">
                <a:latin typeface="Nunito Sans" panose="00000500000000000000" pitchFamily="2" charset="0"/>
              </a:rPr>
              <a:t>. This understanding comes from the interaction between the words that are written and how they trigger knowledge outside the text/message. Proficient reading depends on the ability to recognize words quickly and effortlessly.</a:t>
            </a:r>
          </a:p>
          <a:p>
            <a:pPr algn="just"/>
            <a:endParaRPr lang="en-US" sz="2500" dirty="0">
              <a:latin typeface="Nunito Sans" panose="00000500000000000000" pitchFamily="2" charset="0"/>
            </a:endParaRPr>
          </a:p>
          <a:p>
            <a:pPr algn="just"/>
            <a:r>
              <a:rPr lang="en-US" sz="2500" b="1" dirty="0">
                <a:latin typeface="Nunito Sans" panose="00000500000000000000" pitchFamily="2" charset="0"/>
              </a:rPr>
              <a:t>TYPES OF QUESTIONS</a:t>
            </a:r>
          </a:p>
          <a:p>
            <a:pPr algn="just"/>
            <a:r>
              <a:rPr lang="en-US" sz="2500" dirty="0">
                <a:latin typeface="Nunito Sans" panose="00000500000000000000" pitchFamily="2" charset="0"/>
              </a:rPr>
              <a:t>There are two types of questions in reading comprehension:</a:t>
            </a:r>
          </a:p>
          <a:p>
            <a:pPr marL="1257300" lvl="2" indent="-342900" algn="just">
              <a:buFont typeface="Wingdings" panose="05000000000000000000" pitchFamily="2" charset="2"/>
              <a:buChar char="Ø"/>
            </a:pPr>
            <a:r>
              <a:rPr lang="en-US" sz="2500" dirty="0">
                <a:latin typeface="Nunito Sans" panose="00000500000000000000" pitchFamily="2" charset="0"/>
              </a:rPr>
              <a:t>Referential Questions</a:t>
            </a:r>
          </a:p>
          <a:p>
            <a:pPr marL="1257300" lvl="2" indent="-342900" algn="just">
              <a:buFont typeface="Wingdings" panose="05000000000000000000" pitchFamily="2" charset="2"/>
              <a:buChar char="Ø"/>
            </a:pPr>
            <a:r>
              <a:rPr lang="en-US" sz="2500" dirty="0">
                <a:latin typeface="Nunito Sans" panose="00000500000000000000" pitchFamily="2" charset="0"/>
              </a:rPr>
              <a:t>Inferential questions</a:t>
            </a:r>
          </a:p>
          <a:p>
            <a:pPr algn="just"/>
            <a:r>
              <a:rPr lang="en-US" sz="2500" dirty="0">
                <a:latin typeface="Nunito Sans" panose="00000500000000000000" pitchFamily="2" charset="0"/>
              </a:rPr>
              <a:t> </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84830"/>
          </a:xfrm>
          <a:prstGeom prst="rect">
            <a:avLst/>
          </a:prstGeom>
          <a:noFill/>
        </p:spPr>
        <p:txBody>
          <a:bodyPr wrap="square" rtlCol="0">
            <a:spAutoFit/>
          </a:bodyPr>
          <a:lstStyle/>
          <a:p>
            <a:pPr algn="r"/>
            <a:r>
              <a:rPr lang="en-US" sz="4500" b="1" dirty="0">
                <a:solidFill>
                  <a:schemeClr val="bg1"/>
                </a:solidFill>
                <a:latin typeface="Nunito Sans" panose="00000500000000000000" pitchFamily="2" charset="0"/>
              </a:rPr>
              <a:t>Reading Comprehension</a:t>
            </a:r>
          </a:p>
        </p:txBody>
      </p:sp>
      <p:pic>
        <p:nvPicPr>
          <p:cNvPr id="2" name="Picture 1">
            <a:extLst>
              <a:ext uri="{FF2B5EF4-FFF2-40B4-BE49-F238E27FC236}">
                <a16:creationId xmlns:a16="http://schemas.microsoft.com/office/drawing/2014/main" id="{3C752249-2B41-5DCB-4E3F-DD154EA2194B}"/>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452197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09600" y="1066800"/>
            <a:ext cx="10907041" cy="3939540"/>
          </a:xfrm>
          <a:prstGeom prst="rect">
            <a:avLst/>
          </a:prstGeom>
          <a:noFill/>
        </p:spPr>
        <p:txBody>
          <a:bodyPr wrap="square" rtlCol="0">
            <a:spAutoFit/>
          </a:bodyPr>
          <a:lstStyle/>
          <a:p>
            <a:pPr algn="just"/>
            <a:r>
              <a:rPr lang="en-US" sz="2500" b="1" dirty="0">
                <a:latin typeface="Nunito Sans" panose="00000500000000000000" pitchFamily="2" charset="0"/>
              </a:rPr>
              <a:t>Referential Questions (Direct Questions):</a:t>
            </a:r>
          </a:p>
          <a:p>
            <a:pPr marL="342900" indent="-342900" algn="just">
              <a:buFont typeface="Wingdings" panose="05000000000000000000" pitchFamily="2" charset="2"/>
              <a:buChar char="Ø"/>
            </a:pPr>
            <a:endParaRPr lang="en-US" sz="2500" dirty="0">
              <a:latin typeface="Nunito Sans" panose="00000500000000000000" pitchFamily="2" charset="0"/>
            </a:endParaRPr>
          </a:p>
          <a:p>
            <a:pPr marL="342900" indent="-342900" algn="just">
              <a:buFont typeface="Wingdings" panose="05000000000000000000" pitchFamily="2" charset="2"/>
              <a:buChar char="Ø"/>
            </a:pPr>
            <a:r>
              <a:rPr lang="en-US" sz="2500" dirty="0">
                <a:latin typeface="Nunito Sans" panose="00000500000000000000" pitchFamily="2" charset="0"/>
              </a:rPr>
              <a:t>Referential questions are those for which you can </a:t>
            </a:r>
            <a:r>
              <a:rPr lang="en-US" sz="2500" b="1" dirty="0">
                <a:latin typeface="Nunito Sans" panose="00000500000000000000" pitchFamily="2" charset="0"/>
              </a:rPr>
              <a:t>answer directly from the information </a:t>
            </a:r>
            <a:r>
              <a:rPr lang="en-US" sz="2500" dirty="0">
                <a:latin typeface="Nunito Sans" panose="00000500000000000000" pitchFamily="2" charset="0"/>
              </a:rPr>
              <a:t>given in the passage.</a:t>
            </a:r>
          </a:p>
          <a:p>
            <a:pPr algn="just"/>
            <a:endParaRPr lang="en-US" sz="2500" dirty="0">
              <a:latin typeface="Nunito Sans" panose="00000500000000000000" pitchFamily="2" charset="0"/>
            </a:endParaRPr>
          </a:p>
          <a:p>
            <a:pPr algn="just"/>
            <a:r>
              <a:rPr lang="en-US" sz="2500" b="1" dirty="0">
                <a:latin typeface="Nunito Sans" panose="00000500000000000000" pitchFamily="2" charset="0"/>
              </a:rPr>
              <a:t>Inferential questions:</a:t>
            </a:r>
          </a:p>
          <a:p>
            <a:pPr algn="just"/>
            <a:endParaRPr lang="en-US" sz="2500" dirty="0">
              <a:latin typeface="Nunito Sans" panose="00000500000000000000" pitchFamily="2" charset="0"/>
            </a:endParaRPr>
          </a:p>
          <a:p>
            <a:pPr marL="342900" indent="-342900" algn="just">
              <a:buFont typeface="Wingdings" panose="05000000000000000000" pitchFamily="2" charset="2"/>
              <a:buChar char="Ø"/>
            </a:pPr>
            <a:r>
              <a:rPr lang="en-US" sz="2500" dirty="0">
                <a:latin typeface="Nunito Sans" panose="00000500000000000000" pitchFamily="2" charset="0"/>
              </a:rPr>
              <a:t>In order to answer inferential questions we have to read the passage or the concerned paragraph</a:t>
            </a:r>
            <a:r>
              <a:rPr lang="en-US" sz="2500" b="1" dirty="0">
                <a:latin typeface="Nunito Sans" panose="00000500000000000000" pitchFamily="2" charset="0"/>
              </a:rPr>
              <a:t>, understand the information </a:t>
            </a:r>
            <a:r>
              <a:rPr lang="en-US" sz="2500" dirty="0">
                <a:latin typeface="Nunito Sans" panose="00000500000000000000" pitchFamily="2" charset="0"/>
              </a:rPr>
              <a:t>presented in it and then based on our understanding </a:t>
            </a:r>
            <a:r>
              <a:rPr lang="en-US" sz="2500" b="1" dirty="0">
                <a:latin typeface="Nunito Sans" panose="00000500000000000000" pitchFamily="2" charset="0"/>
              </a:rPr>
              <a:t>answer the question</a:t>
            </a:r>
            <a:r>
              <a:rPr lang="en-US" sz="2500" dirty="0">
                <a:latin typeface="Nunito Sans" panose="00000500000000000000" pitchFamily="2" charset="0"/>
              </a:rPr>
              <a:t>.</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784830"/>
          </a:xfrm>
          <a:prstGeom prst="rect">
            <a:avLst/>
          </a:prstGeom>
          <a:noFill/>
        </p:spPr>
        <p:txBody>
          <a:bodyPr wrap="square" rtlCol="0">
            <a:spAutoFit/>
          </a:bodyPr>
          <a:lstStyle/>
          <a:p>
            <a:pPr algn="r"/>
            <a:r>
              <a:rPr lang="en-US" sz="4500" b="1" dirty="0">
                <a:solidFill>
                  <a:schemeClr val="bg1"/>
                </a:solidFill>
                <a:latin typeface="Nunito Sans" panose="00000500000000000000" pitchFamily="2" charset="0"/>
              </a:rPr>
              <a:t>Reading Comprehension</a:t>
            </a:r>
          </a:p>
        </p:txBody>
      </p:sp>
      <p:pic>
        <p:nvPicPr>
          <p:cNvPr id="2" name="Picture 1">
            <a:extLst>
              <a:ext uri="{FF2B5EF4-FFF2-40B4-BE49-F238E27FC236}">
                <a16:creationId xmlns:a16="http://schemas.microsoft.com/office/drawing/2014/main" id="{5AD09733-4C95-7E8B-11ED-589405B8BB4F}"/>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18542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5447645"/>
          </a:xfrm>
          <a:prstGeom prst="rect">
            <a:avLst/>
          </a:prstGeom>
          <a:noFill/>
        </p:spPr>
        <p:txBody>
          <a:bodyPr wrap="square" rtlCol="0">
            <a:spAutoFit/>
          </a:bodyPr>
          <a:lstStyle/>
          <a:p>
            <a:pPr algn="just"/>
            <a:r>
              <a:rPr lang="en-US" sz="2500" b="1" dirty="0">
                <a:latin typeface="Nunito Sans" panose="00000500000000000000" pitchFamily="2" charset="0"/>
              </a:rPr>
              <a:t>Directions: Read the given passages and answer the questions that follow.</a:t>
            </a:r>
          </a:p>
          <a:p>
            <a:pPr algn="just"/>
            <a:r>
              <a:rPr lang="en-US" sz="2500" i="1" dirty="0">
                <a:latin typeface="Nunito Sans" panose="00000500000000000000" pitchFamily="2" charset="0"/>
              </a:rPr>
              <a:t>One day a visitor knocked at </a:t>
            </a:r>
            <a:r>
              <a:rPr lang="en-US" sz="2500" i="1" dirty="0" err="1">
                <a:latin typeface="Nunito Sans" panose="00000500000000000000" pitchFamily="2" charset="0"/>
              </a:rPr>
              <a:t>Nasreddin</a:t>
            </a:r>
            <a:r>
              <a:rPr lang="en-US" sz="2500" i="1" dirty="0">
                <a:latin typeface="Nunito Sans" panose="00000500000000000000" pitchFamily="2" charset="0"/>
              </a:rPr>
              <a:t> Shah’s door. “I am your cousin from Konya,” he introduced himself, “and I have brought you a duck to celebrate the visit.” </a:t>
            </a:r>
            <a:r>
              <a:rPr lang="en-US" sz="2500" i="1" dirty="0" err="1">
                <a:latin typeface="Nunito Sans" panose="00000500000000000000" pitchFamily="2" charset="0"/>
              </a:rPr>
              <a:t>Nasreddin</a:t>
            </a:r>
            <a:r>
              <a:rPr lang="en-US" sz="2500" i="1" dirty="0">
                <a:latin typeface="Nunito Sans" panose="00000500000000000000" pitchFamily="2" charset="0"/>
              </a:rPr>
              <a:t> was delighted. He asked his wife to cook the duck, and served the visitor a fine dinner.</a:t>
            </a:r>
          </a:p>
          <a:p>
            <a:pPr algn="just"/>
            <a:r>
              <a:rPr lang="en-US" sz="2500" i="1" dirty="0">
                <a:latin typeface="Nunito Sans" panose="00000500000000000000" pitchFamily="2" charset="0"/>
              </a:rPr>
              <a:t>The next day another visitor arrived. “I am a friend of the man who brought you the duck,” he said. </a:t>
            </a:r>
            <a:r>
              <a:rPr lang="en-US" sz="2500" i="1" dirty="0" err="1">
                <a:latin typeface="Nunito Sans" panose="00000500000000000000" pitchFamily="2" charset="0"/>
              </a:rPr>
              <a:t>Nasreddin</a:t>
            </a:r>
            <a:r>
              <a:rPr lang="en-US" sz="2500" i="1" dirty="0">
                <a:latin typeface="Nunito Sans" panose="00000500000000000000" pitchFamily="2" charset="0"/>
              </a:rPr>
              <a:t> invited him in and gave him a good meal. The next day, a yet another visitor arrived, claiming that he was the friend of the friend of the man who had brought the duck. </a:t>
            </a:r>
            <a:r>
              <a:rPr lang="en-US" sz="2500" i="1" dirty="0" err="1">
                <a:latin typeface="Nunito Sans" panose="00000500000000000000" pitchFamily="2" charset="0"/>
              </a:rPr>
              <a:t>Nasreddin</a:t>
            </a:r>
            <a:r>
              <a:rPr lang="en-US" sz="2500" i="1" dirty="0">
                <a:latin typeface="Nunito Sans" panose="00000500000000000000" pitchFamily="2" charset="0"/>
              </a:rPr>
              <a:t> treated this man too with a fine meal, but began to get second thoughts that visitors are using his house as a restaurant.</a:t>
            </a:r>
          </a:p>
          <a:p>
            <a:pPr algn="just"/>
            <a:endParaRPr lang="en-US" sz="2400" b="1" dirty="0">
              <a:latin typeface="Nunito Sans" panose="00000500000000000000" pitchFamily="2" charset="0"/>
            </a:endParaRPr>
          </a:p>
          <a:p>
            <a:pPr algn="just"/>
            <a:r>
              <a:rPr lang="en-US" sz="2400" b="1" dirty="0">
                <a:latin typeface="Nunito Sans" panose="00000500000000000000" pitchFamily="2" charset="0"/>
              </a:rPr>
              <a:t>							(Contd..)</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pic>
        <p:nvPicPr>
          <p:cNvPr id="2" name="Picture 1">
            <a:extLst>
              <a:ext uri="{FF2B5EF4-FFF2-40B4-BE49-F238E27FC236}">
                <a16:creationId xmlns:a16="http://schemas.microsoft.com/office/drawing/2014/main" id="{2382A4F9-6F37-F3EE-D463-671E863F9496}"/>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561176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2400657"/>
          </a:xfrm>
          <a:prstGeom prst="rect">
            <a:avLst/>
          </a:prstGeom>
          <a:noFill/>
        </p:spPr>
        <p:txBody>
          <a:bodyPr wrap="square" rtlCol="0">
            <a:spAutoFit/>
          </a:bodyPr>
          <a:lstStyle/>
          <a:p>
            <a:pPr algn="just"/>
            <a:r>
              <a:rPr lang="en-US" sz="2500" i="1" dirty="0">
                <a:latin typeface="Nunito Sans" panose="00000500000000000000" pitchFamily="2" charset="0"/>
              </a:rPr>
              <a:t>Then another visitor came, and said he was the friend of the friend of the friend of the man who had brought the duck. </a:t>
            </a:r>
            <a:r>
              <a:rPr lang="en-US" sz="2500" i="1" dirty="0" err="1">
                <a:latin typeface="Nunito Sans" panose="00000500000000000000" pitchFamily="2" charset="0"/>
              </a:rPr>
              <a:t>Nasreddin</a:t>
            </a:r>
            <a:r>
              <a:rPr lang="en-US" sz="2500" i="1" dirty="0">
                <a:latin typeface="Nunito Sans" panose="00000500000000000000" pitchFamily="2" charset="0"/>
              </a:rPr>
              <a:t> invited him to eat dinner with him. His wife served this visitor some soup and the visitor tasted it. “What kind of soup is this?” asked the visitor very curiously. “It tastes just like warm water.” “Ah!” said </a:t>
            </a:r>
            <a:r>
              <a:rPr lang="en-US" sz="2500" i="1" dirty="0" err="1">
                <a:latin typeface="Nunito Sans" panose="00000500000000000000" pitchFamily="2" charset="0"/>
              </a:rPr>
              <a:t>Nasreddin</a:t>
            </a:r>
            <a:r>
              <a:rPr lang="en-US" sz="2500" i="1" dirty="0">
                <a:latin typeface="Nunito Sans" panose="00000500000000000000" pitchFamily="2" charset="0"/>
              </a:rPr>
              <a:t>, “That is the soup of the soup of the soup of the duck.” The visitor was bewildered!</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pic>
        <p:nvPicPr>
          <p:cNvPr id="2" name="Picture 1">
            <a:extLst>
              <a:ext uri="{FF2B5EF4-FFF2-40B4-BE49-F238E27FC236}">
                <a16:creationId xmlns:a16="http://schemas.microsoft.com/office/drawing/2014/main" id="{26F955D7-D9B3-A14D-6DE0-05EBCFEFAA81}"/>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296109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What is the moral of the story?</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Guests should always be welcomed and offered food.</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Use wit and don’t allow others take you for a ride.</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If soup is offered, guests will not pay visits to your home.</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Nasreddin</a:t>
            </a:r>
            <a:r>
              <a:rPr lang="en-US" sz="2500" dirty="0">
                <a:latin typeface="Nunito Sans" panose="00000500000000000000" pitchFamily="2" charset="0"/>
              </a:rPr>
              <a:t> Shah is a clever man.</a:t>
            </a:r>
          </a:p>
        </p:txBody>
      </p:sp>
      <p:pic>
        <p:nvPicPr>
          <p:cNvPr id="2" name="Picture 1">
            <a:extLst>
              <a:ext uri="{FF2B5EF4-FFF2-40B4-BE49-F238E27FC236}">
                <a16:creationId xmlns:a16="http://schemas.microsoft.com/office/drawing/2014/main" id="{A30E90F8-875D-D654-4013-BBB9FFEB5171}"/>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558742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What was the name of the place of the first visitor?</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Kenya</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Chechenya</a:t>
            </a:r>
            <a:endParaRPr lang="en-US" sz="2500"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Konya</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Himalaya</a:t>
            </a:r>
          </a:p>
        </p:txBody>
      </p:sp>
      <p:pic>
        <p:nvPicPr>
          <p:cNvPr id="2" name="Picture 1">
            <a:extLst>
              <a:ext uri="{FF2B5EF4-FFF2-40B4-BE49-F238E27FC236}">
                <a16:creationId xmlns:a16="http://schemas.microsoft.com/office/drawing/2014/main" id="{B2912099-70D1-FC1F-3002-A002D32EA40E}"/>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2916849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Why the visitor became very curious?</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The soup was very delicious.</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Nasreddin’s</a:t>
            </a:r>
            <a:r>
              <a:rPr lang="en-US" sz="2500" dirty="0">
                <a:latin typeface="Nunito Sans" panose="00000500000000000000" pitchFamily="2" charset="0"/>
              </a:rPr>
              <a:t> wife served warm water.</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3</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The dinner didn’t include soup.</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The soup tasted like warm water.</a:t>
            </a:r>
          </a:p>
        </p:txBody>
      </p:sp>
      <p:pic>
        <p:nvPicPr>
          <p:cNvPr id="2" name="Picture 1">
            <a:extLst>
              <a:ext uri="{FF2B5EF4-FFF2-40B4-BE49-F238E27FC236}">
                <a16:creationId xmlns:a16="http://schemas.microsoft.com/office/drawing/2014/main" id="{BED4A84E-B777-9053-FABB-6985F44E2A44}"/>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610976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678204"/>
          </a:xfrm>
          <a:prstGeom prst="rect">
            <a:avLst/>
          </a:prstGeom>
          <a:noFill/>
        </p:spPr>
        <p:txBody>
          <a:bodyPr wrap="square" rtlCol="0">
            <a:spAutoFit/>
          </a:bodyPr>
          <a:lstStyle/>
          <a:p>
            <a:pPr algn="just"/>
            <a:r>
              <a:rPr lang="en-US" sz="2500" b="1" dirty="0">
                <a:latin typeface="Nunito Sans" panose="00000500000000000000" pitchFamily="2" charset="0"/>
              </a:rPr>
              <a:t>Directions: Read the given passages and answer the questions that follow.</a:t>
            </a:r>
          </a:p>
          <a:p>
            <a:pPr algn="just"/>
            <a:r>
              <a:rPr lang="en-US" sz="2500" i="1" dirty="0">
                <a:latin typeface="Nunito Sans" panose="00000500000000000000" pitchFamily="2" charset="0"/>
              </a:rPr>
              <a:t>Dolphins are regarded as the friendliest creatures in the sea and stories of them helping drowning sailors have been common since Roman times. The more we learn about dolphins, the more we realize that their society is more complex than people previously imagined. They look after other dolphins when they are ill, care for pregnant mothers and protect the weakest in the community, as we do. Some scientists have suggested that dolphins have a language but it is much more probable that they communicate with each other without needing words. </a:t>
            </a:r>
          </a:p>
          <a:p>
            <a:pPr algn="just"/>
            <a:endParaRPr lang="en-US" sz="2400" b="1" dirty="0">
              <a:latin typeface="Nunito Sans" panose="00000500000000000000" pitchFamily="2" charset="0"/>
            </a:endParaRPr>
          </a:p>
          <a:p>
            <a:pPr algn="just"/>
            <a:r>
              <a:rPr lang="en-US" sz="2400" b="1" dirty="0">
                <a:latin typeface="Nunito Sans" panose="00000500000000000000" pitchFamily="2" charset="0"/>
              </a:rPr>
              <a:t>							(Contd..)</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4-5</a:t>
            </a:r>
          </a:p>
        </p:txBody>
      </p:sp>
      <p:pic>
        <p:nvPicPr>
          <p:cNvPr id="2" name="Picture 1">
            <a:extLst>
              <a:ext uri="{FF2B5EF4-FFF2-40B4-BE49-F238E27FC236}">
                <a16:creationId xmlns:a16="http://schemas.microsoft.com/office/drawing/2014/main" id="{9D0523B1-543C-6BAC-8BDD-1A36F4BEE7B9}"/>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2006679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2015936"/>
          </a:xfrm>
          <a:prstGeom prst="rect">
            <a:avLst/>
          </a:prstGeom>
          <a:noFill/>
        </p:spPr>
        <p:txBody>
          <a:bodyPr wrap="square" rtlCol="0">
            <a:spAutoFit/>
          </a:bodyPr>
          <a:lstStyle/>
          <a:p>
            <a:pPr algn="just"/>
            <a:r>
              <a:rPr lang="en-US" sz="2500" i="1" dirty="0">
                <a:latin typeface="Nunito Sans" panose="00000500000000000000" pitchFamily="2" charset="0"/>
              </a:rPr>
              <a:t>Could any of these mammals be more intelligent than man? Certainly the most common argument in </a:t>
            </a:r>
            <a:r>
              <a:rPr lang="en-US" sz="2500" i="1" dirty="0" err="1">
                <a:latin typeface="Nunito Sans" panose="00000500000000000000" pitchFamily="2" charset="0"/>
              </a:rPr>
              <a:t>favour</a:t>
            </a:r>
            <a:r>
              <a:rPr lang="en-US" sz="2500" i="1" dirty="0">
                <a:latin typeface="Nunito Sans" panose="00000500000000000000" pitchFamily="2" charset="0"/>
              </a:rPr>
              <a:t> of man’s superiority over them that we can kill them more easily than they can kill us is the least satisfactory. On the contrary, the more we discover about these remarkable creatures, the less we appear superior when we destroy them.</a:t>
            </a:r>
            <a:endParaRPr lang="en-US" sz="2400" i="1"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4-5</a:t>
            </a:r>
          </a:p>
        </p:txBody>
      </p:sp>
      <p:pic>
        <p:nvPicPr>
          <p:cNvPr id="2" name="Picture 1">
            <a:extLst>
              <a:ext uri="{FF2B5EF4-FFF2-40B4-BE49-F238E27FC236}">
                <a16:creationId xmlns:a16="http://schemas.microsoft.com/office/drawing/2014/main" id="{C7FA82D2-7C85-EA1B-E9C6-99E54CEB37A8}"/>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457850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Dolphins belong to which class?</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Marsupials</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Fish</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Reptiles</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Mammals</a:t>
            </a:r>
          </a:p>
        </p:txBody>
      </p:sp>
      <p:pic>
        <p:nvPicPr>
          <p:cNvPr id="2" name="Picture 1">
            <a:extLst>
              <a:ext uri="{FF2B5EF4-FFF2-40B4-BE49-F238E27FC236}">
                <a16:creationId xmlns:a16="http://schemas.microsoft.com/office/drawing/2014/main" id="{3F8B991C-5AEA-1D7F-2F36-0968C68463EA}"/>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19201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Why does the author say that we appear less superior to Dolphins?</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438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438400"/>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Dolphins are more superior to humans because they communicate with each other without needing words.</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Humans can kill Dolphins more easily.</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Dolphins kill other species easily.</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1775486"/>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When humans destroy other species like these Dolphins, the former become less superior to the later as they exhibit more life-saving and friendly traits.</a:t>
            </a:r>
          </a:p>
        </p:txBody>
      </p:sp>
      <p:pic>
        <p:nvPicPr>
          <p:cNvPr id="2" name="Picture 1">
            <a:extLst>
              <a:ext uri="{FF2B5EF4-FFF2-40B4-BE49-F238E27FC236}">
                <a16:creationId xmlns:a16="http://schemas.microsoft.com/office/drawing/2014/main" id="{1751C47B-F375-0EE1-23FA-9FD544C6CEFA}"/>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2601843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5078313"/>
          </a:xfrm>
          <a:prstGeom prst="rect">
            <a:avLst/>
          </a:prstGeom>
          <a:noFill/>
        </p:spPr>
        <p:txBody>
          <a:bodyPr wrap="square" rtlCol="0">
            <a:spAutoFit/>
          </a:bodyPr>
          <a:lstStyle/>
          <a:p>
            <a:pPr algn="just"/>
            <a:r>
              <a:rPr lang="en-US" sz="2500" b="1" dirty="0">
                <a:latin typeface="Nunito Sans" panose="00000500000000000000" pitchFamily="2" charset="0"/>
              </a:rPr>
              <a:t>Directions: Read the given passages and answer the questions that follow.</a:t>
            </a:r>
          </a:p>
          <a:p>
            <a:pPr algn="just"/>
            <a:r>
              <a:rPr lang="en-US" sz="2500" i="1" dirty="0" err="1">
                <a:latin typeface="Nunito Sans" panose="00000500000000000000" pitchFamily="2" charset="0"/>
              </a:rPr>
              <a:t>Organisations</a:t>
            </a:r>
            <a:r>
              <a:rPr lang="en-US" sz="2500" i="1" dirty="0">
                <a:latin typeface="Nunito Sans" panose="00000500000000000000" pitchFamily="2" charset="0"/>
              </a:rPr>
              <a:t> are institutions in which members compete for status and power. They compete for the resources of the </a:t>
            </a:r>
            <a:r>
              <a:rPr lang="en-US" sz="2500" i="1" dirty="0" err="1">
                <a:latin typeface="Nunito Sans" panose="00000500000000000000" pitchFamily="2" charset="0"/>
              </a:rPr>
              <a:t>organisation</a:t>
            </a:r>
            <a:r>
              <a:rPr lang="en-US" sz="2500" i="1" dirty="0">
                <a:latin typeface="Nunito Sans" panose="00000500000000000000" pitchFamily="2" charset="0"/>
              </a:rPr>
              <a:t>, for example, finances to expand their own departments, for career advancement and for power to control the activities of others. In pursuit of these aims, groups are formed and sectional interests emerge. As a result, policy decisions may serve the ends of political and career systems rather than those of the </a:t>
            </a:r>
            <a:r>
              <a:rPr lang="en-US" sz="2500" i="1" dirty="0" err="1">
                <a:latin typeface="Nunito Sans" panose="00000500000000000000" pitchFamily="2" charset="0"/>
              </a:rPr>
              <a:t>organisation</a:t>
            </a:r>
            <a:r>
              <a:rPr lang="en-US" sz="2500" i="1" dirty="0">
                <a:latin typeface="Nunito Sans" panose="00000500000000000000" pitchFamily="2" charset="0"/>
              </a:rPr>
              <a:t>. In this way, the goals of the </a:t>
            </a:r>
            <a:r>
              <a:rPr lang="en-US" sz="2500" i="1" dirty="0" err="1">
                <a:latin typeface="Nunito Sans" panose="00000500000000000000" pitchFamily="2" charset="0"/>
              </a:rPr>
              <a:t>organisation</a:t>
            </a:r>
            <a:r>
              <a:rPr lang="en-US" sz="2500" i="1" dirty="0">
                <a:latin typeface="Nunito Sans" panose="00000500000000000000" pitchFamily="2" charset="0"/>
              </a:rPr>
              <a:t> may give way to </a:t>
            </a:r>
            <a:r>
              <a:rPr lang="en-US" sz="2500" i="1" dirty="0" err="1">
                <a:latin typeface="Nunito Sans" panose="00000500000000000000" pitchFamily="2" charset="0"/>
              </a:rPr>
              <a:t>favour</a:t>
            </a:r>
            <a:r>
              <a:rPr lang="en-US" sz="2500" i="1" dirty="0">
                <a:latin typeface="Nunito Sans" panose="00000500000000000000" pitchFamily="2" charset="0"/>
              </a:rPr>
              <a:t> sectional interests and individual ambitions. These preoccupations sometimes prevent the emergence of organic systems. 			</a:t>
            </a:r>
          </a:p>
          <a:p>
            <a:pPr algn="just"/>
            <a:endParaRPr lang="en-US" sz="2500" dirty="0">
              <a:latin typeface="Nunito Sans" panose="00000500000000000000" pitchFamily="2" charset="0"/>
            </a:endParaRPr>
          </a:p>
          <a:p>
            <a:pPr algn="just"/>
            <a:r>
              <a:rPr lang="en-US" sz="2400" b="1" dirty="0">
                <a:latin typeface="Nunito Sans" panose="00000500000000000000" pitchFamily="2" charset="0"/>
              </a:rPr>
              <a:t>							(Contd..)</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6-10</a:t>
            </a:r>
          </a:p>
        </p:txBody>
      </p:sp>
      <p:pic>
        <p:nvPicPr>
          <p:cNvPr id="2" name="Picture 1">
            <a:extLst>
              <a:ext uri="{FF2B5EF4-FFF2-40B4-BE49-F238E27FC236}">
                <a16:creationId xmlns:a16="http://schemas.microsoft.com/office/drawing/2014/main" id="{DFE819A1-8A1A-BA80-C608-9C206E63A1B2}"/>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2594312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3170099"/>
          </a:xfrm>
          <a:prstGeom prst="rect">
            <a:avLst/>
          </a:prstGeom>
          <a:noFill/>
        </p:spPr>
        <p:txBody>
          <a:bodyPr wrap="square" rtlCol="0">
            <a:spAutoFit/>
          </a:bodyPr>
          <a:lstStyle/>
          <a:p>
            <a:pPr algn="just"/>
            <a:r>
              <a:rPr lang="en-US" sz="2500" i="1" dirty="0">
                <a:latin typeface="Nunito Sans" panose="00000500000000000000" pitchFamily="2" charset="0"/>
              </a:rPr>
              <a:t>Many of the electronic firms in the study had recently created research and development departments employing highly-qualified and well-paid scientists and technicians. Their high pay and expert knowledge were sometimes seen as a threat to the established order of rank, power and privilege. Many senior managers had little knowledge of technicality and possibilities of new developments and electronics. Some felt that close cooperation with the experts in an organic system would reveal their ignorance and show their experience was now redundant.</a:t>
            </a:r>
            <a:endParaRPr lang="en-US" sz="2400" i="1"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6-10</a:t>
            </a:r>
          </a:p>
        </p:txBody>
      </p:sp>
      <p:pic>
        <p:nvPicPr>
          <p:cNvPr id="2" name="Picture 1">
            <a:extLst>
              <a:ext uri="{FF2B5EF4-FFF2-40B4-BE49-F238E27FC236}">
                <a16:creationId xmlns:a16="http://schemas.microsoft.com/office/drawing/2014/main" id="{D0DEA6F4-E1E5-A122-9017-962056CCF45A}"/>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0971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What is the crisis faced by an </a:t>
            </a:r>
            <a:r>
              <a:rPr lang="en-US" sz="2500" dirty="0" err="1">
                <a:latin typeface="Nunito Sans" panose="00000500000000000000" pitchFamily="2" charset="0"/>
              </a:rPr>
              <a:t>organisation</a:t>
            </a:r>
            <a:r>
              <a:rPr lang="en-US" sz="2500" dirty="0">
                <a:latin typeface="Nunito Sans" panose="00000500000000000000" pitchFamily="2" charset="0"/>
              </a:rPr>
              <a:t> as claimed by the author?</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514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089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14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Members of an </a:t>
            </a:r>
            <a:r>
              <a:rPr lang="en-US" sz="2500" dirty="0" err="1">
                <a:latin typeface="Nunito Sans" panose="00000500000000000000" pitchFamily="2" charset="0"/>
              </a:rPr>
              <a:t>organisation</a:t>
            </a:r>
            <a:r>
              <a:rPr lang="en-US" sz="2500" dirty="0">
                <a:latin typeface="Nunito Sans" panose="00000500000000000000" pitchFamily="2" charset="0"/>
              </a:rPr>
              <a:t> compete for status and power.</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089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Members compete for the resources of an </a:t>
            </a:r>
            <a:r>
              <a:rPr lang="en-US" sz="2500" dirty="0" err="1">
                <a:latin typeface="Nunito Sans" panose="00000500000000000000" pitchFamily="2" charset="0"/>
              </a:rPr>
              <a:t>organisation</a:t>
            </a:r>
            <a:r>
              <a:rPr lang="en-US" sz="2500" dirty="0">
                <a:latin typeface="Nunito Sans" panose="00000500000000000000" pitchFamily="2" charset="0"/>
              </a:rPr>
              <a:t>.</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666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666684"/>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Members prefer to expand their own departments for career advancements.</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Members’ inclination towards sectional interests and individual ambitions at the expense of </a:t>
            </a:r>
            <a:r>
              <a:rPr lang="en-US" sz="2500" dirty="0" err="1">
                <a:latin typeface="Nunito Sans" panose="00000500000000000000" pitchFamily="2" charset="0"/>
              </a:rPr>
              <a:t>organisation’s</a:t>
            </a:r>
            <a:r>
              <a:rPr lang="en-US" sz="2500" dirty="0">
                <a:latin typeface="Nunito Sans" panose="00000500000000000000" pitchFamily="2" charset="0"/>
              </a:rPr>
              <a:t> goals.</a:t>
            </a:r>
          </a:p>
        </p:txBody>
      </p:sp>
      <p:pic>
        <p:nvPicPr>
          <p:cNvPr id="2" name="Picture 1">
            <a:extLst>
              <a:ext uri="{FF2B5EF4-FFF2-40B4-BE49-F238E27FC236}">
                <a16:creationId xmlns:a16="http://schemas.microsoft.com/office/drawing/2014/main" id="{B07D98A9-692A-0A4F-D03F-37DDF7275DCA}"/>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736443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What is the holistic effect of the crisis?</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87479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4955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7479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Status and power are the members’ only interest.</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4955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Pursuit of power to control the activities of others.</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7</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2687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2687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Policy decisions may not serve the </a:t>
            </a:r>
            <a:r>
              <a:rPr lang="en-US" sz="2500" dirty="0" err="1">
                <a:latin typeface="Nunito Sans" panose="00000500000000000000" pitchFamily="2" charset="0"/>
              </a:rPr>
              <a:t>organisation</a:t>
            </a:r>
            <a:r>
              <a:rPr lang="en-US" sz="2500" dirty="0">
                <a:latin typeface="Nunito Sans" panose="00000500000000000000" pitchFamily="2" charset="0"/>
              </a:rPr>
              <a:t> as a whole.</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Competition for resources like finance.</a:t>
            </a:r>
          </a:p>
        </p:txBody>
      </p:sp>
      <p:pic>
        <p:nvPicPr>
          <p:cNvPr id="2" name="Picture 1">
            <a:extLst>
              <a:ext uri="{FF2B5EF4-FFF2-40B4-BE49-F238E27FC236}">
                <a16:creationId xmlns:a16="http://schemas.microsoft.com/office/drawing/2014/main" id="{66327A99-0CD1-CB05-8CB1-554A1A42F65B}"/>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705689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In this passage, “organic system” means ______________________.</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133600"/>
            <a:ext cx="696697" cy="646331"/>
          </a:xfrm>
          <a:prstGeom prst="rect">
            <a:avLst/>
          </a:prstGeom>
          <a:noFill/>
        </p:spPr>
        <p:txBody>
          <a:bodyPr wrap="square" lIns="91440" tIns="45720" rIns="91440" bIns="45720">
            <a:spAutoFit/>
          </a:bodyPr>
          <a:lstStyle/>
          <a:p>
            <a:pPr>
              <a:lnSpc>
                <a:spcPct val="150000"/>
              </a:lnSpc>
            </a:pPr>
            <a:r>
              <a:rPr lang="en-US" sz="24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2708360"/>
            <a:ext cx="696697" cy="646331"/>
          </a:xfrm>
          <a:prstGeom prst="rect">
            <a:avLst/>
          </a:prstGeom>
          <a:noFill/>
        </p:spPr>
        <p:txBody>
          <a:bodyPr wrap="square" lIns="91440" tIns="45720" rIns="91440" bIns="45720">
            <a:spAutoFit/>
          </a:bodyPr>
          <a:lstStyle/>
          <a:p>
            <a:pPr>
              <a:lnSpc>
                <a:spcPct val="150000"/>
              </a:lnSpc>
            </a:pPr>
            <a:r>
              <a:rPr lang="en-US" sz="24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133600"/>
            <a:ext cx="10098317" cy="646331"/>
          </a:xfrm>
          <a:prstGeom prst="rect">
            <a:avLst/>
          </a:prstGeom>
          <a:noFill/>
        </p:spPr>
        <p:txBody>
          <a:bodyPr wrap="square" lIns="91440" tIns="45720" rIns="91440" bIns="45720">
            <a:spAutoFit/>
          </a:bodyPr>
          <a:lstStyle/>
          <a:p>
            <a:pPr>
              <a:lnSpc>
                <a:spcPct val="150000"/>
              </a:lnSpc>
            </a:pPr>
            <a:r>
              <a:rPr lang="en-US" sz="2400" dirty="0">
                <a:latin typeface="Nunito Sans" panose="00000500000000000000" pitchFamily="2" charset="0"/>
              </a:rPr>
              <a:t>The way how a tree grows from a seed in an </a:t>
            </a:r>
            <a:r>
              <a:rPr lang="en-US" sz="2400" dirty="0" err="1">
                <a:latin typeface="Nunito Sans" panose="00000500000000000000" pitchFamily="2" charset="0"/>
              </a:rPr>
              <a:t>organisational</a:t>
            </a:r>
            <a:r>
              <a:rPr lang="en-US" sz="2400" dirty="0">
                <a:latin typeface="Nunito Sans" panose="00000500000000000000" pitchFamily="2" charset="0"/>
              </a:rPr>
              <a:t> context.</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2708360"/>
            <a:ext cx="10098317" cy="1454244"/>
          </a:xfrm>
          <a:prstGeom prst="rect">
            <a:avLst/>
          </a:prstGeom>
          <a:noFill/>
        </p:spPr>
        <p:txBody>
          <a:bodyPr wrap="square" lIns="91440" tIns="45720" rIns="91440" bIns="45720">
            <a:spAutoFit/>
          </a:bodyPr>
          <a:lstStyle/>
          <a:p>
            <a:pPr algn="just">
              <a:lnSpc>
                <a:spcPct val="125000"/>
              </a:lnSpc>
            </a:pPr>
            <a:r>
              <a:rPr lang="en-US" sz="2400" dirty="0">
                <a:latin typeface="Nunito Sans" panose="00000500000000000000" pitchFamily="2" charset="0"/>
              </a:rPr>
              <a:t>An </a:t>
            </a:r>
            <a:r>
              <a:rPr lang="en-US" sz="2400" dirty="0" err="1">
                <a:latin typeface="Nunito Sans" panose="00000500000000000000" pitchFamily="2" charset="0"/>
              </a:rPr>
              <a:t>organisational</a:t>
            </a:r>
            <a:r>
              <a:rPr lang="en-US" sz="2400" dirty="0">
                <a:latin typeface="Nunito Sans" panose="00000500000000000000" pitchFamily="2" charset="0"/>
              </a:rPr>
              <a:t> system that is interconnected with departments of equal significance and one that harmoniously helps the </a:t>
            </a:r>
            <a:r>
              <a:rPr lang="en-US" sz="2400" dirty="0" err="1">
                <a:latin typeface="Nunito Sans" panose="00000500000000000000" pitchFamily="2" charset="0"/>
              </a:rPr>
              <a:t>organisation</a:t>
            </a:r>
            <a:r>
              <a:rPr lang="en-US" sz="2400" dirty="0">
                <a:latin typeface="Nunito Sans" panose="00000500000000000000" pitchFamily="2" charset="0"/>
              </a:rPr>
              <a:t> as a whole to grow.</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8</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92101"/>
            <a:ext cx="696697" cy="646331"/>
          </a:xfrm>
          <a:prstGeom prst="rect">
            <a:avLst/>
          </a:prstGeom>
          <a:noFill/>
        </p:spPr>
        <p:txBody>
          <a:bodyPr wrap="square" lIns="91440" tIns="45720" rIns="91440" bIns="45720">
            <a:spAutoFit/>
          </a:bodyPr>
          <a:lstStyle/>
          <a:p>
            <a:pPr>
              <a:lnSpc>
                <a:spcPct val="150000"/>
              </a:lnSpc>
            </a:pPr>
            <a:r>
              <a:rPr lang="en-US" sz="24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992469"/>
            <a:ext cx="696697" cy="646331"/>
          </a:xfrm>
          <a:prstGeom prst="rect">
            <a:avLst/>
          </a:prstGeom>
          <a:noFill/>
        </p:spPr>
        <p:txBody>
          <a:bodyPr wrap="square" lIns="91440" tIns="45720" rIns="91440" bIns="45720">
            <a:spAutoFit/>
          </a:bodyPr>
          <a:lstStyle/>
          <a:p>
            <a:pPr>
              <a:lnSpc>
                <a:spcPct val="150000"/>
              </a:lnSpc>
            </a:pPr>
            <a:r>
              <a:rPr lang="en-US" sz="24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92101"/>
            <a:ext cx="10098317" cy="992579"/>
          </a:xfrm>
          <a:prstGeom prst="rect">
            <a:avLst/>
          </a:prstGeom>
          <a:noFill/>
        </p:spPr>
        <p:txBody>
          <a:bodyPr wrap="square" lIns="91440" tIns="45720" rIns="91440" bIns="45720">
            <a:spAutoFit/>
          </a:bodyPr>
          <a:lstStyle/>
          <a:p>
            <a:pPr>
              <a:lnSpc>
                <a:spcPct val="125000"/>
              </a:lnSpc>
            </a:pPr>
            <a:r>
              <a:rPr lang="en-US" sz="2400" dirty="0">
                <a:latin typeface="Nunito Sans" panose="00000500000000000000" pitchFamily="2" charset="0"/>
              </a:rPr>
              <a:t>The complex hierarchy of an </a:t>
            </a:r>
            <a:r>
              <a:rPr lang="en-US" sz="2400" dirty="0" err="1">
                <a:latin typeface="Nunito Sans" panose="00000500000000000000" pitchFamily="2" charset="0"/>
              </a:rPr>
              <a:t>organisation</a:t>
            </a:r>
            <a:r>
              <a:rPr lang="en-US" sz="2400" dirty="0">
                <a:latin typeface="Nunito Sans" panose="00000500000000000000" pitchFamily="2" charset="0"/>
              </a:rPr>
              <a:t> which resembles an organic living thing.</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992469"/>
            <a:ext cx="10098317" cy="646331"/>
          </a:xfrm>
          <a:prstGeom prst="rect">
            <a:avLst/>
          </a:prstGeom>
          <a:noFill/>
        </p:spPr>
        <p:txBody>
          <a:bodyPr wrap="square" lIns="91440" tIns="45720" rIns="91440" bIns="45720">
            <a:spAutoFit/>
          </a:bodyPr>
          <a:lstStyle/>
          <a:p>
            <a:pPr>
              <a:lnSpc>
                <a:spcPct val="150000"/>
              </a:lnSpc>
            </a:pPr>
            <a:r>
              <a:rPr lang="en-US" sz="2400" dirty="0">
                <a:latin typeface="Nunito Sans" panose="00000500000000000000" pitchFamily="2" charset="0"/>
              </a:rPr>
              <a:t>The term for denoting the various branches of an </a:t>
            </a:r>
            <a:r>
              <a:rPr lang="en-US" sz="2400" dirty="0" err="1">
                <a:latin typeface="Nunito Sans" panose="00000500000000000000" pitchFamily="2" charset="0"/>
              </a:rPr>
              <a:t>organisation</a:t>
            </a:r>
            <a:r>
              <a:rPr lang="en-US" sz="2400" dirty="0">
                <a:latin typeface="Nunito Sans" panose="00000500000000000000" pitchFamily="2" charset="0"/>
              </a:rPr>
              <a:t>.</a:t>
            </a:r>
          </a:p>
        </p:txBody>
      </p:sp>
      <p:pic>
        <p:nvPicPr>
          <p:cNvPr id="2" name="Picture 1">
            <a:extLst>
              <a:ext uri="{FF2B5EF4-FFF2-40B4-BE49-F238E27FC236}">
                <a16:creationId xmlns:a16="http://schemas.microsoft.com/office/drawing/2014/main" id="{D1BF6742-8335-94D7-3646-C5A1B5ADD3E5}"/>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689490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Why does the author think that an organic system is not established here?</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133600"/>
            <a:ext cx="696697" cy="646331"/>
          </a:xfrm>
          <a:prstGeom prst="rect">
            <a:avLst/>
          </a:prstGeom>
          <a:noFill/>
        </p:spPr>
        <p:txBody>
          <a:bodyPr wrap="square" lIns="91440" tIns="45720" rIns="91440" bIns="45720">
            <a:spAutoFit/>
          </a:bodyPr>
          <a:lstStyle/>
          <a:p>
            <a:pPr>
              <a:lnSpc>
                <a:spcPct val="150000"/>
              </a:lnSpc>
            </a:pPr>
            <a:r>
              <a:rPr lang="en-US" sz="24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98421"/>
            <a:ext cx="696697" cy="646331"/>
          </a:xfrm>
          <a:prstGeom prst="rect">
            <a:avLst/>
          </a:prstGeom>
          <a:noFill/>
        </p:spPr>
        <p:txBody>
          <a:bodyPr wrap="square" lIns="91440" tIns="45720" rIns="91440" bIns="45720">
            <a:spAutoFit/>
          </a:bodyPr>
          <a:lstStyle/>
          <a:p>
            <a:pPr>
              <a:lnSpc>
                <a:spcPct val="150000"/>
              </a:lnSpc>
            </a:pPr>
            <a:r>
              <a:rPr lang="en-US" sz="24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133600"/>
            <a:ext cx="10098317" cy="1154162"/>
          </a:xfrm>
          <a:prstGeom prst="rect">
            <a:avLst/>
          </a:prstGeom>
          <a:noFill/>
        </p:spPr>
        <p:txBody>
          <a:bodyPr wrap="square" lIns="91440" tIns="45720" rIns="91440" bIns="45720">
            <a:spAutoFit/>
          </a:bodyPr>
          <a:lstStyle/>
          <a:p>
            <a:pPr algn="just">
              <a:lnSpc>
                <a:spcPct val="150000"/>
              </a:lnSpc>
            </a:pPr>
            <a:r>
              <a:rPr lang="en-US" sz="2400" dirty="0">
                <a:latin typeface="Nunito Sans" panose="00000500000000000000" pitchFamily="2" charset="0"/>
              </a:rPr>
              <a:t>Many senior managers had little knowledge of technicality and possibilities of new developments and electronics.</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98421"/>
            <a:ext cx="10098317" cy="992579"/>
          </a:xfrm>
          <a:prstGeom prst="rect">
            <a:avLst/>
          </a:prstGeom>
          <a:noFill/>
        </p:spPr>
        <p:txBody>
          <a:bodyPr wrap="square" lIns="91440" tIns="45720" rIns="91440" bIns="45720">
            <a:spAutoFit/>
          </a:bodyPr>
          <a:lstStyle/>
          <a:p>
            <a:pPr algn="just">
              <a:lnSpc>
                <a:spcPct val="125000"/>
              </a:lnSpc>
            </a:pPr>
            <a:r>
              <a:rPr lang="en-US" sz="2400" dirty="0">
                <a:latin typeface="Nunito Sans" panose="00000500000000000000" pitchFamily="2" charset="0"/>
              </a:rPr>
              <a:t>All the entities within the </a:t>
            </a:r>
            <a:r>
              <a:rPr lang="en-US" sz="2400" dirty="0" err="1">
                <a:latin typeface="Nunito Sans" panose="00000500000000000000" pitchFamily="2" charset="0"/>
              </a:rPr>
              <a:t>organisation</a:t>
            </a:r>
            <a:r>
              <a:rPr lang="en-US" sz="2400" dirty="0">
                <a:latin typeface="Nunito Sans" panose="00000500000000000000" pitchFamily="2" charset="0"/>
              </a:rPr>
              <a:t> were not willing to work as a cohesive unit. </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9</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92101"/>
            <a:ext cx="696697" cy="646331"/>
          </a:xfrm>
          <a:prstGeom prst="rect">
            <a:avLst/>
          </a:prstGeom>
          <a:noFill/>
        </p:spPr>
        <p:txBody>
          <a:bodyPr wrap="square" lIns="91440" tIns="45720" rIns="91440" bIns="45720">
            <a:spAutoFit/>
          </a:bodyPr>
          <a:lstStyle/>
          <a:p>
            <a:pPr>
              <a:lnSpc>
                <a:spcPct val="150000"/>
              </a:lnSpc>
            </a:pPr>
            <a:r>
              <a:rPr lang="en-US" sz="24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992469"/>
            <a:ext cx="696697" cy="646331"/>
          </a:xfrm>
          <a:prstGeom prst="rect">
            <a:avLst/>
          </a:prstGeom>
          <a:noFill/>
        </p:spPr>
        <p:txBody>
          <a:bodyPr wrap="square" lIns="91440" tIns="45720" rIns="91440" bIns="45720">
            <a:spAutoFit/>
          </a:bodyPr>
          <a:lstStyle/>
          <a:p>
            <a:pPr>
              <a:lnSpc>
                <a:spcPct val="150000"/>
              </a:lnSpc>
            </a:pPr>
            <a:r>
              <a:rPr lang="en-US" sz="24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92101"/>
            <a:ext cx="10098317" cy="992579"/>
          </a:xfrm>
          <a:prstGeom prst="rect">
            <a:avLst/>
          </a:prstGeom>
          <a:noFill/>
        </p:spPr>
        <p:txBody>
          <a:bodyPr wrap="square" lIns="91440" tIns="45720" rIns="91440" bIns="45720">
            <a:spAutoFit/>
          </a:bodyPr>
          <a:lstStyle/>
          <a:p>
            <a:pPr>
              <a:lnSpc>
                <a:spcPct val="125000"/>
              </a:lnSpc>
            </a:pPr>
            <a:r>
              <a:rPr lang="en-US" sz="2400" dirty="0">
                <a:latin typeface="Nunito Sans" panose="00000500000000000000" pitchFamily="2" charset="0"/>
              </a:rPr>
              <a:t>The high pay and expert knowledge of the R&amp;D personnel were seen as a threat to the established order.	</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992469"/>
            <a:ext cx="10098317" cy="600164"/>
          </a:xfrm>
          <a:prstGeom prst="rect">
            <a:avLst/>
          </a:prstGeom>
          <a:noFill/>
        </p:spPr>
        <p:txBody>
          <a:bodyPr wrap="square" lIns="91440" tIns="45720" rIns="91440" bIns="45720">
            <a:spAutoFit/>
          </a:bodyPr>
          <a:lstStyle/>
          <a:p>
            <a:pPr>
              <a:lnSpc>
                <a:spcPct val="150000"/>
              </a:lnSpc>
            </a:pPr>
            <a:r>
              <a:rPr lang="en-US" sz="2400" dirty="0">
                <a:latin typeface="Nunito Sans" panose="00000500000000000000" pitchFamily="2" charset="0"/>
              </a:rPr>
              <a:t>Senior managers were ignorant and under-qualified.</a:t>
            </a:r>
          </a:p>
        </p:txBody>
      </p:sp>
      <p:pic>
        <p:nvPicPr>
          <p:cNvPr id="2" name="Picture 1">
            <a:extLst>
              <a:ext uri="{FF2B5EF4-FFF2-40B4-BE49-F238E27FC236}">
                <a16:creationId xmlns:a16="http://schemas.microsoft.com/office/drawing/2014/main" id="{CB641F3D-E757-65CF-8D71-914C03C9A8F8}"/>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537784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What is the tone of the author in this passage?</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19807" y="3124200"/>
            <a:ext cx="696697" cy="66941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09600" y="3810000"/>
            <a:ext cx="696697" cy="66941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17907" y="3124200"/>
            <a:ext cx="10098317" cy="669414"/>
          </a:xfrm>
          <a:prstGeom prst="rect">
            <a:avLst/>
          </a:prstGeom>
          <a:noFill/>
        </p:spPr>
        <p:txBody>
          <a:bodyPr wrap="square" lIns="91440" tIns="45720" rIns="91440" bIns="45720">
            <a:spAutoFit/>
          </a:bodyPr>
          <a:lstStyle/>
          <a:p>
            <a:pPr algn="just">
              <a:lnSpc>
                <a:spcPct val="150000"/>
              </a:lnSpc>
            </a:pPr>
            <a:r>
              <a:rPr lang="en-US" sz="2500" dirty="0">
                <a:latin typeface="Nunito Sans" panose="00000500000000000000" pitchFamily="2" charset="0"/>
              </a:rPr>
              <a:t>Critical</a:t>
            </a:r>
          </a:p>
        </p:txBody>
      </p:sp>
      <p:sp>
        <p:nvSpPr>
          <p:cNvPr id="24" name="Rectangle 23">
            <a:extLst>
              <a:ext uri="{FF2B5EF4-FFF2-40B4-BE49-F238E27FC236}">
                <a16:creationId xmlns:a16="http://schemas.microsoft.com/office/drawing/2014/main" id="{F62FDC11-1E2D-428B-8217-CF9104F9B6D7}"/>
              </a:ext>
            </a:extLst>
          </p:cNvPr>
          <p:cNvSpPr/>
          <p:nvPr/>
        </p:nvSpPr>
        <p:spPr>
          <a:xfrm>
            <a:off x="1407700" y="3810000"/>
            <a:ext cx="10098317" cy="573234"/>
          </a:xfrm>
          <a:prstGeom prst="rect">
            <a:avLst/>
          </a:prstGeom>
          <a:noFill/>
        </p:spPr>
        <p:txBody>
          <a:bodyPr wrap="square" lIns="91440" tIns="45720" rIns="91440" bIns="45720">
            <a:spAutoFit/>
          </a:bodyPr>
          <a:lstStyle/>
          <a:p>
            <a:pPr algn="just">
              <a:lnSpc>
                <a:spcPct val="125000"/>
              </a:lnSpc>
            </a:pPr>
            <a:r>
              <a:rPr lang="en-US" sz="2500" dirty="0">
                <a:latin typeface="Nunito Sans" panose="00000500000000000000" pitchFamily="2" charset="0"/>
              </a:rPr>
              <a:t>Analytical</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10</a:t>
            </a:r>
          </a:p>
        </p:txBody>
      </p:sp>
      <p:sp>
        <p:nvSpPr>
          <p:cNvPr id="10" name="Rectangle 9">
            <a:extLst>
              <a:ext uri="{FF2B5EF4-FFF2-40B4-BE49-F238E27FC236}">
                <a16:creationId xmlns:a16="http://schemas.microsoft.com/office/drawing/2014/main" id="{E5DD2504-B1FF-4F55-B4FA-4AEA19FF2DD8}"/>
              </a:ext>
            </a:extLst>
          </p:cNvPr>
          <p:cNvSpPr/>
          <p:nvPr/>
        </p:nvSpPr>
        <p:spPr>
          <a:xfrm>
            <a:off x="619807" y="4419600"/>
            <a:ext cx="696697" cy="66941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992469"/>
            <a:ext cx="696697" cy="66941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17907" y="4419600"/>
            <a:ext cx="10098317" cy="573234"/>
          </a:xfrm>
          <a:prstGeom prst="rect">
            <a:avLst/>
          </a:prstGeom>
          <a:noFill/>
        </p:spPr>
        <p:txBody>
          <a:bodyPr wrap="square" lIns="91440" tIns="45720" rIns="91440" bIns="45720">
            <a:spAutoFit/>
          </a:bodyPr>
          <a:lstStyle/>
          <a:p>
            <a:pPr>
              <a:lnSpc>
                <a:spcPct val="125000"/>
              </a:lnSpc>
            </a:pPr>
            <a:r>
              <a:rPr lang="en-US" sz="2500" dirty="0">
                <a:latin typeface="Nunito Sans" panose="00000500000000000000" pitchFamily="2" charset="0"/>
              </a:rPr>
              <a:t>Admirable</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992469"/>
            <a:ext cx="10098317" cy="66941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Sarcastic</a:t>
            </a:r>
          </a:p>
        </p:txBody>
      </p:sp>
      <p:pic>
        <p:nvPicPr>
          <p:cNvPr id="2" name="Picture 1">
            <a:extLst>
              <a:ext uri="{FF2B5EF4-FFF2-40B4-BE49-F238E27FC236}">
                <a16:creationId xmlns:a16="http://schemas.microsoft.com/office/drawing/2014/main" id="{EB08747A-D992-3B64-C731-0F948A36DDEB}"/>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797665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5586145"/>
          </a:xfrm>
          <a:prstGeom prst="rect">
            <a:avLst/>
          </a:prstGeom>
          <a:noFill/>
        </p:spPr>
        <p:txBody>
          <a:bodyPr wrap="square" rtlCol="0">
            <a:spAutoFit/>
          </a:bodyPr>
          <a:lstStyle/>
          <a:p>
            <a:pPr algn="just"/>
            <a:r>
              <a:rPr lang="en-US" sz="2500" b="1" dirty="0">
                <a:latin typeface="Nunito Sans" panose="00000500000000000000" pitchFamily="2" charset="0"/>
              </a:rPr>
              <a:t>Direction: Read the following passage carefully and answer questions given below it. </a:t>
            </a:r>
          </a:p>
          <a:p>
            <a:pPr algn="just"/>
            <a:r>
              <a:rPr lang="en-US" sz="2500" i="1" dirty="0">
                <a:latin typeface="Nunito Sans" panose="00000500000000000000" pitchFamily="2" charset="0"/>
              </a:rPr>
              <a:t>The world dismisses curiosity by calling it idle, or mere idle curiosity - even though curious persons are seldom idle. Parents do their best to extinguish curiosity in their children because it makes life difficult to be faced every day with a string of answerable questions about what makes fire hot or why grass grows. Children whose curiosity survives parental discipline are invited to join our university. Within the university, they go on asking their questions and trying to find the answers. In the eyes of a scholar, that is mainly what a university is for. Some of the questions that scholars ask seem to the world to be scarcely worth asking let alone answering. They ask questions too minute and specialized for you and me to understand without years of explanation..</a:t>
            </a:r>
          </a:p>
          <a:p>
            <a:pPr algn="just"/>
            <a:r>
              <a:rPr lang="en-US" sz="3200" b="1" dirty="0">
                <a:latin typeface="Nunito Sans" panose="00000500000000000000" pitchFamily="2" charset="0"/>
              </a:rPr>
              <a:t>							(Contd..)</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11-15</a:t>
            </a:r>
          </a:p>
        </p:txBody>
      </p:sp>
      <p:pic>
        <p:nvPicPr>
          <p:cNvPr id="2" name="Picture 1">
            <a:extLst>
              <a:ext uri="{FF2B5EF4-FFF2-40B4-BE49-F238E27FC236}">
                <a16:creationId xmlns:a16="http://schemas.microsoft.com/office/drawing/2014/main" id="{32F3E3E6-8078-FE5D-1818-F8DDBAD2563A}"/>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266539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5970865"/>
          </a:xfrm>
          <a:prstGeom prst="rect">
            <a:avLst/>
          </a:prstGeom>
          <a:noFill/>
        </p:spPr>
        <p:txBody>
          <a:bodyPr wrap="square" rtlCol="0">
            <a:spAutoFit/>
          </a:bodyPr>
          <a:lstStyle/>
          <a:p>
            <a:pPr algn="just"/>
            <a:r>
              <a:rPr lang="en-US" sz="2500" i="1" dirty="0">
                <a:latin typeface="Nunito Sans" panose="00000500000000000000" pitchFamily="2" charset="0"/>
              </a:rPr>
              <a:t>If the world inquires of one of them why he wants to know the answer to a particular question he may say, especially if he is a scientist, that the answer will in some obscure way make possible a new machine or weapon or gadget. He talks that way because he knows that the world understands and respects utility. But to you who are now part of the university, he will say that he wants to know the answer simply because he does not know it. The way a mountain climber wants to climb a mountain simply because it is there. Similarly, a historian when asked by outsiders why he studies history may come out with the argument that he has learnt to repeat on such occasions. Something about knowledge of the past making it possible to understand the present and mold the future. </a:t>
            </a:r>
          </a:p>
          <a:p>
            <a:pPr algn="just"/>
            <a:endParaRPr lang="en-US" sz="2500" i="1" dirty="0">
              <a:latin typeface="Nunito Sans" panose="00000500000000000000" pitchFamily="2" charset="0"/>
            </a:endParaRPr>
          </a:p>
          <a:p>
            <a:pPr algn="just"/>
            <a:endParaRPr lang="en-US" sz="2500" i="1" dirty="0">
              <a:latin typeface="Nunito Sans" panose="00000500000000000000" pitchFamily="2" charset="0"/>
            </a:endParaRPr>
          </a:p>
          <a:p>
            <a:pPr algn="just"/>
            <a:r>
              <a:rPr lang="en-US" sz="2800" b="1" dirty="0">
                <a:latin typeface="Nunito Sans" panose="00000500000000000000" pitchFamily="2" charset="0"/>
              </a:rPr>
              <a:t>							(Contd..)</a:t>
            </a:r>
          </a:p>
          <a:p>
            <a:pPr algn="just"/>
            <a:endParaRPr lang="en-US" sz="2500" i="1"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11-15</a:t>
            </a:r>
          </a:p>
        </p:txBody>
      </p:sp>
      <p:pic>
        <p:nvPicPr>
          <p:cNvPr id="2" name="Picture 1">
            <a:extLst>
              <a:ext uri="{FF2B5EF4-FFF2-40B4-BE49-F238E27FC236}">
                <a16:creationId xmlns:a16="http://schemas.microsoft.com/office/drawing/2014/main" id="{1C8A7EA6-EB4F-4856-F369-0807519BF86B}"/>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138601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324261"/>
          </a:xfrm>
          <a:prstGeom prst="rect">
            <a:avLst/>
          </a:prstGeom>
          <a:noFill/>
        </p:spPr>
        <p:txBody>
          <a:bodyPr wrap="square" rtlCol="0">
            <a:spAutoFit/>
          </a:bodyPr>
          <a:lstStyle/>
          <a:p>
            <a:pPr algn="just"/>
            <a:r>
              <a:rPr lang="en-US" sz="2500" i="1" dirty="0">
                <a:latin typeface="Nunito Sans" panose="00000500000000000000" pitchFamily="2" charset="0"/>
              </a:rPr>
              <a:t>But if you really want to know why a historian studies the past, the answer is much simpler: something happened, and he would like to know what. All this does not mean that the answers which scholars find to their questions have no consequences.</a:t>
            </a:r>
          </a:p>
          <a:p>
            <a:pPr algn="just"/>
            <a:endParaRPr lang="en-US" sz="2500" i="1" dirty="0">
              <a:latin typeface="Nunito Sans" panose="00000500000000000000" pitchFamily="2" charset="0"/>
            </a:endParaRPr>
          </a:p>
          <a:p>
            <a:pPr algn="just"/>
            <a:r>
              <a:rPr lang="en-US" sz="2500" i="1" dirty="0">
                <a:latin typeface="Nunito Sans" panose="00000500000000000000" pitchFamily="2" charset="0"/>
              </a:rPr>
              <a:t>They may have enormous consequences but these seldom form the reason for asking the question or pursuing the answers. It is true that scholars can be put to work answering questions for the sake of the consequences as thousands are working now, for example, in search of a cure for cancer. But this is not the primary function of the scholar, for the consequences are usually subordinate to the satisfaction of curiosity.</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11-15</a:t>
            </a:r>
          </a:p>
        </p:txBody>
      </p:sp>
      <p:pic>
        <p:nvPicPr>
          <p:cNvPr id="2" name="Picture 1">
            <a:extLst>
              <a:ext uri="{FF2B5EF4-FFF2-40B4-BE49-F238E27FC236}">
                <a16:creationId xmlns:a16="http://schemas.microsoft.com/office/drawing/2014/main" id="{01304A8F-0954-9AAD-1F27-03CD7B836953}"/>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6418562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According to this passage, the children make life difficult for their parents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by unceasing bombardment of questions</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by asking irrelevant questions</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by their ceaseless curiosity</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by posing profound questions</a:t>
            </a:r>
          </a:p>
        </p:txBody>
      </p:sp>
      <p:pic>
        <p:nvPicPr>
          <p:cNvPr id="2" name="Picture 1">
            <a:extLst>
              <a:ext uri="{FF2B5EF4-FFF2-40B4-BE49-F238E27FC236}">
                <a16:creationId xmlns:a16="http://schemas.microsoft.com/office/drawing/2014/main" id="{84324449-F67B-ABC9-D15C-4B4585D7201F}"/>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79702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Choose the word which is most farthest in meaning to the word </a:t>
            </a:r>
            <a:r>
              <a:rPr lang="en-US" sz="2500" b="1" dirty="0">
                <a:latin typeface="Nunito Sans" panose="00000500000000000000" pitchFamily="2" charset="0"/>
              </a:rPr>
              <a:t>'Intricate‘.</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complicated</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twisted</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12</a:t>
            </a:r>
          </a:p>
        </p:txBody>
      </p:sp>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89410" cy="429768"/>
          </a:xfrm>
          <a:prstGeom prst="rect">
            <a:avLst/>
          </a:prstGeom>
        </p:spPr>
      </p:pic>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extract</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simple</a:t>
            </a:r>
          </a:p>
        </p:txBody>
      </p:sp>
    </p:spTree>
    <p:extLst>
      <p:ext uri="{BB962C8B-B14F-4D97-AF65-F5344CB8AC3E}">
        <p14:creationId xmlns:p14="http://schemas.microsoft.com/office/powerpoint/2010/main" val="1209351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Choose the word which is most nearly the same in meaning to the word </a:t>
            </a:r>
            <a:r>
              <a:rPr lang="en-US" sz="2500" b="1" dirty="0">
                <a:latin typeface="Nunito Sans" panose="00000500000000000000" pitchFamily="2" charset="0"/>
              </a:rPr>
              <a:t>'enormous‘.</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insignificant</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colossal</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ordinary</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tiny</a:t>
            </a:r>
          </a:p>
        </p:txBody>
      </p:sp>
      <p:pic>
        <p:nvPicPr>
          <p:cNvPr id="2" name="Picture 1">
            <a:extLst>
              <a:ext uri="{FF2B5EF4-FFF2-40B4-BE49-F238E27FC236}">
                <a16:creationId xmlns:a16="http://schemas.microsoft.com/office/drawing/2014/main" id="{48BD0DD0-1935-A7C3-CF73-717FAD197ABF}"/>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2753783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In the statement ’that is mainly what a university is for’, the word ’that’ refers to _________________________.</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parental refusal to answer questions.</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children curiosity that survives parental discipline</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14</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questions not worth answering</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the aim and scope of the university to provide an </a:t>
            </a:r>
            <a:r>
              <a:rPr lang="en-US" sz="2500" dirty="0" err="1">
                <a:latin typeface="Nunito Sans" panose="00000500000000000000" pitchFamily="2" charset="0"/>
              </a:rPr>
              <a:t>opporunity</a:t>
            </a:r>
            <a:r>
              <a:rPr lang="en-US" sz="2500" dirty="0">
                <a:latin typeface="Nunito Sans" panose="00000500000000000000" pitchFamily="2" charset="0"/>
              </a:rPr>
              <a:t> to curious minds to find out the answers for their questions.</a:t>
            </a:r>
          </a:p>
        </p:txBody>
      </p:sp>
      <p:pic>
        <p:nvPicPr>
          <p:cNvPr id="2" name="Picture 1">
            <a:extLst>
              <a:ext uri="{FF2B5EF4-FFF2-40B4-BE49-F238E27FC236}">
                <a16:creationId xmlns:a16="http://schemas.microsoft.com/office/drawing/2014/main" id="{29E467EC-A30A-19D8-75FA-D6030450C0B2}"/>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22027095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The word in the passage which means to </a:t>
            </a:r>
            <a:r>
              <a:rPr lang="en-US" sz="2500" b="1" dirty="0">
                <a:latin typeface="Nunito Sans" panose="00000500000000000000" pitchFamily="2" charset="0"/>
              </a:rPr>
              <a:t>put out/finish </a:t>
            </a:r>
            <a:r>
              <a:rPr lang="en-US" sz="2500" dirty="0">
                <a:latin typeface="Nunito Sans" panose="00000500000000000000" pitchFamily="2" charset="0"/>
              </a:rPr>
              <a:t>is __________.</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extinguish</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curious</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15</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answer</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err="1">
                <a:latin typeface="Nunito Sans" panose="00000500000000000000" pitchFamily="2" charset="0"/>
              </a:rPr>
              <a:t>mould</a:t>
            </a:r>
            <a:endParaRPr lang="en-US" sz="2500" dirty="0">
              <a:latin typeface="Nunito Sans" panose="00000500000000000000" pitchFamily="2" charset="0"/>
            </a:endParaRPr>
          </a:p>
        </p:txBody>
      </p:sp>
      <p:pic>
        <p:nvPicPr>
          <p:cNvPr id="2" name="Picture 1">
            <a:extLst>
              <a:ext uri="{FF2B5EF4-FFF2-40B4-BE49-F238E27FC236}">
                <a16:creationId xmlns:a16="http://schemas.microsoft.com/office/drawing/2014/main" id="{29B0E86C-8658-34DA-28E3-B5FBD8F2626C}"/>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2201865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5586145"/>
          </a:xfrm>
          <a:prstGeom prst="rect">
            <a:avLst/>
          </a:prstGeom>
          <a:noFill/>
        </p:spPr>
        <p:txBody>
          <a:bodyPr wrap="square" rtlCol="0">
            <a:spAutoFit/>
          </a:bodyPr>
          <a:lstStyle/>
          <a:p>
            <a:pPr algn="just"/>
            <a:r>
              <a:rPr lang="en-US" sz="2500" b="1" dirty="0">
                <a:latin typeface="Nunito Sans" panose="00000500000000000000" pitchFamily="2" charset="0"/>
              </a:rPr>
              <a:t>Directions: Read the given passages and answer the questions that follow.</a:t>
            </a:r>
          </a:p>
          <a:p>
            <a:pPr algn="just"/>
            <a:r>
              <a:rPr lang="en-US" sz="2500" i="1" dirty="0">
                <a:latin typeface="Nunito Sans" panose="00000500000000000000" pitchFamily="2" charset="0"/>
              </a:rPr>
              <a:t>	Although European decisions during the 16th and 17th centuries to explore, trade with, and colonize large portions of the world brought tremendous economic wealth and vast geographic influence, the enormous success of European maritime ventures during the age of exploration also engendered a litany of unintended consequences for most of the nations with which Europe interacted. Due to their incredible military force, religious zeal, and uncompromising goal of profit, Europeans often imposed their traditions, values, and customs on the people with whom they traded. They frequently acted without regard to the long-term welfare of others as their principal concern was short-term economic gain.</a:t>
            </a:r>
          </a:p>
          <a:p>
            <a:pPr algn="just"/>
            <a:endParaRPr lang="en-US" sz="2500" i="1" dirty="0">
              <a:latin typeface="Nunito Sans" panose="00000500000000000000" pitchFamily="2" charset="0"/>
            </a:endParaRPr>
          </a:p>
          <a:p>
            <a:pPr algn="just"/>
            <a:r>
              <a:rPr lang="en-US" sz="3200" b="1" dirty="0">
                <a:latin typeface="Nunito Sans" panose="00000500000000000000" pitchFamily="2" charset="0"/>
              </a:rPr>
              <a:t>							(Contd..)</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16-20</a:t>
            </a:r>
          </a:p>
        </p:txBody>
      </p:sp>
      <p:pic>
        <p:nvPicPr>
          <p:cNvPr id="2" name="Picture 1">
            <a:extLst>
              <a:ext uri="{FF2B5EF4-FFF2-40B4-BE49-F238E27FC236}">
                <a16:creationId xmlns:a16="http://schemas.microsoft.com/office/drawing/2014/main" id="{5F105F98-EEEA-C223-890D-E1E609A700A1}"/>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621598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5201424"/>
          </a:xfrm>
          <a:prstGeom prst="rect">
            <a:avLst/>
          </a:prstGeom>
          <a:noFill/>
        </p:spPr>
        <p:txBody>
          <a:bodyPr wrap="square" rtlCol="0">
            <a:spAutoFit/>
          </a:bodyPr>
          <a:lstStyle/>
          <a:p>
            <a:pPr algn="just"/>
            <a:r>
              <a:rPr lang="en-US" sz="2500" i="1" dirty="0">
                <a:latin typeface="Nunito Sans" panose="00000500000000000000" pitchFamily="2" charset="0"/>
              </a:rPr>
              <a:t>Since many nations that traded with Europe placed high value on their historical customs, some natives became deeply disconcerted by the changes that occurred as a result of European power. These factors, coupled with perennial domestic political instability, caused numerous countries to grow increasingly resistant to European influence.</a:t>
            </a:r>
          </a:p>
          <a:p>
            <a:pPr algn="just"/>
            <a:endParaRPr lang="en-US" sz="2500" i="1" dirty="0">
              <a:latin typeface="Nunito Sans" panose="00000500000000000000" pitchFamily="2" charset="0"/>
            </a:endParaRPr>
          </a:p>
          <a:p>
            <a:pPr algn="just"/>
            <a:r>
              <a:rPr lang="en-US" sz="2500" i="1" dirty="0">
                <a:latin typeface="Nunito Sans" panose="00000500000000000000" pitchFamily="2" charset="0"/>
              </a:rPr>
              <a:t>	One potent example of this ideological shift can be seen in the actions of the Tokugawa government of Japan. In its Seclusion Edict of 1636, the government attempted to extricate cultural interactions with Europe from the intimate fabric of Japanese society. The Edict attempted to accomplish this by focusing on three areas. </a:t>
            </a:r>
          </a:p>
          <a:p>
            <a:pPr algn="just"/>
            <a:endParaRPr lang="en-US" sz="2500" i="1" dirty="0">
              <a:latin typeface="Nunito Sans" panose="00000500000000000000" pitchFamily="2" charset="0"/>
            </a:endParaRPr>
          </a:p>
          <a:p>
            <a:pPr algn="just"/>
            <a:r>
              <a:rPr lang="en-US" sz="3200" b="1" dirty="0">
                <a:latin typeface="Nunito Sans" panose="00000500000000000000" pitchFamily="2" charset="0"/>
              </a:rPr>
              <a:t>							(Contd..)</a:t>
            </a:r>
            <a:endParaRPr lang="en-US" sz="3200" i="1"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16-20</a:t>
            </a:r>
          </a:p>
        </p:txBody>
      </p:sp>
      <p:pic>
        <p:nvPicPr>
          <p:cNvPr id="2" name="Picture 1">
            <a:extLst>
              <a:ext uri="{FF2B5EF4-FFF2-40B4-BE49-F238E27FC236}">
                <a16:creationId xmlns:a16="http://schemas.microsoft.com/office/drawing/2014/main" id="{73529AF3-4F50-42B8-03C2-251A4C277C29}"/>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6556419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5186035"/>
          </a:xfrm>
          <a:prstGeom prst="rect">
            <a:avLst/>
          </a:prstGeom>
          <a:noFill/>
        </p:spPr>
        <p:txBody>
          <a:bodyPr wrap="square" rtlCol="0">
            <a:spAutoFit/>
          </a:bodyPr>
          <a:lstStyle/>
          <a:p>
            <a:pPr algn="just"/>
            <a:r>
              <a:rPr lang="en-US" sz="2500" i="1" dirty="0">
                <a:latin typeface="Nunito Sans" panose="00000500000000000000" pitchFamily="2" charset="0"/>
              </a:rPr>
              <a:t>First, it sought to curb cultural exchange by eliminating people bringing European ideas into Japan. The Edict stated, “Japanese ships shall by no means be sent abroad. All Japanese residing abroad shall be put to death when they return home.” Second, the Edict focused on limiting trade. Articles 11 through 17 of the Edict imposed stringent regulations on trade and commerce. Third, the government banned Christianity, which it saw as an import from Europe that challenged the long-established and well-enshrined religious traditions of Japan. The government went to considerable lengths to protect its culture. Article eight of the Edict stated, “Even ships shall not be left untouched in the matter of exterminating Christians.”</a:t>
            </a:r>
          </a:p>
          <a:p>
            <a:pPr algn="just"/>
            <a:r>
              <a:rPr lang="en-US" sz="2800" b="1" dirty="0">
                <a:latin typeface="Nunito Sans" panose="00000500000000000000" pitchFamily="2" charset="0"/>
              </a:rPr>
              <a:t>					</a:t>
            </a:r>
          </a:p>
          <a:p>
            <a:pPr algn="just"/>
            <a:r>
              <a:rPr lang="en-US" sz="2800" b="1" dirty="0">
                <a:latin typeface="Nunito Sans" panose="00000500000000000000" pitchFamily="2" charset="0"/>
              </a:rPr>
              <a:t>							(Contd..)</a:t>
            </a:r>
            <a:endParaRPr lang="en-US" sz="2800" i="1"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16-20</a:t>
            </a:r>
          </a:p>
        </p:txBody>
      </p:sp>
      <p:pic>
        <p:nvPicPr>
          <p:cNvPr id="2" name="Picture 1">
            <a:extLst>
              <a:ext uri="{FF2B5EF4-FFF2-40B4-BE49-F238E27FC236}">
                <a16:creationId xmlns:a16="http://schemas.microsoft.com/office/drawing/2014/main" id="{DA743A4F-1070-D8C4-F546-9144CA796F78}"/>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768795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2785378"/>
          </a:xfrm>
          <a:prstGeom prst="rect">
            <a:avLst/>
          </a:prstGeom>
          <a:noFill/>
        </p:spPr>
        <p:txBody>
          <a:bodyPr wrap="square" rtlCol="0">
            <a:spAutoFit/>
          </a:bodyPr>
          <a:lstStyle/>
          <a:p>
            <a:pPr algn="just"/>
            <a:r>
              <a:rPr lang="en-US" sz="2500" i="1" dirty="0">
                <a:latin typeface="Nunito Sans" panose="00000500000000000000" pitchFamily="2" charset="0"/>
              </a:rPr>
              <a:t>	With the example of Japan and the examples of other countries that chose a different response to European influence, it is perhaps not too far of a stretch to conclude that Japan made the right decision in pursuing a path of relative isolationism. As history unfolded during the next 400 years, in general, countries that embraced European hegemony, whether by choice or by force, tended to suffer from pernicious wealth inequality, perennial political instability, and protracted underdevelopment.</a:t>
            </a:r>
            <a:endParaRPr lang="en-US" sz="3200" i="1"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16-20</a:t>
            </a:r>
          </a:p>
        </p:txBody>
      </p:sp>
      <p:pic>
        <p:nvPicPr>
          <p:cNvPr id="2" name="Picture 1">
            <a:extLst>
              <a:ext uri="{FF2B5EF4-FFF2-40B4-BE49-F238E27FC236}">
                <a16:creationId xmlns:a16="http://schemas.microsoft.com/office/drawing/2014/main" id="{B5A47D28-9A2F-911E-6CB3-0DE1BCBDBAEB}"/>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31899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What was the adverse outcome of European decisions to explore, trade with, and colonize large portions of the world?</a:t>
            </a:r>
            <a:endParaRPr lang="en-US" sz="2500" b="1"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16</a:t>
            </a:r>
          </a:p>
        </p:txBody>
      </p:sp>
      <p:pic>
        <p:nvPicPr>
          <p:cNvPr id="2" name="Picture 1">
            <a:extLst>
              <a:ext uri="{FF2B5EF4-FFF2-40B4-BE49-F238E27FC236}">
                <a16:creationId xmlns:a16="http://schemas.microsoft.com/office/drawing/2014/main" id="{25D49A0E-25F0-F102-13AD-980BA373D84C}"/>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76289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5DD2504-B1FF-4F55-B4FA-4AEA19FF2DD8}"/>
              </a:ext>
            </a:extLst>
          </p:cNvPr>
          <p:cNvSpPr/>
          <p:nvPr/>
        </p:nvSpPr>
        <p:spPr>
          <a:xfrm>
            <a:off x="657998" y="1295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237391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1295400"/>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Tremendous economic wealth and vast geographic influence to the European nations.</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2373911"/>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Undesirable consequences to most of the nations with which Europe interacted.</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16</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408435"/>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516595"/>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408435"/>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Many Asian countries were exploited to the maximum by these European colonial masters.</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516595"/>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The economies of regions other than Europe began to decline in the 16th and 17th centuries.</a:t>
            </a:r>
          </a:p>
        </p:txBody>
      </p:sp>
      <p:pic>
        <p:nvPicPr>
          <p:cNvPr id="2" name="Picture 1">
            <a:extLst>
              <a:ext uri="{FF2B5EF4-FFF2-40B4-BE49-F238E27FC236}">
                <a16:creationId xmlns:a16="http://schemas.microsoft.com/office/drawing/2014/main" id="{DB7F5449-8F01-C42C-D3B6-899C5AC617D8}"/>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11605051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Why many countries started resisting European influence?</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438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0131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4384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The ideological shift in the actions of Tokugawa government of Japan.</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0131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The Seclusion Edict of 1636 focused on limited trade.</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17</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35904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3590484"/>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The act of imposing Christianity as the main religion by Europeans in those countries where they traded.</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4622444"/>
            <a:ext cx="10098317" cy="1775486"/>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The act of Europeans’ hegemonic implementation of their own traditions and customs upon those whom they traded and the prolonged political uncertainty in these countries.</a:t>
            </a:r>
          </a:p>
        </p:txBody>
      </p:sp>
      <p:pic>
        <p:nvPicPr>
          <p:cNvPr id="2" name="Picture 1">
            <a:extLst>
              <a:ext uri="{FF2B5EF4-FFF2-40B4-BE49-F238E27FC236}">
                <a16:creationId xmlns:a16="http://schemas.microsoft.com/office/drawing/2014/main" id="{416DDEE3-9663-E13D-212A-B809BA2DE74E}"/>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4032637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Why does the author cite the events that occurred in Japan in the 17th century?</a:t>
            </a:r>
            <a:endParaRPr lang="en-US" sz="2500" b="1"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4384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560592"/>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438400"/>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As an example to show how countries became increasingly resistant to European influence.</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560592"/>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To portray the emergence of Japan in the 17th century.</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18</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13791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69876"/>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137916"/>
            <a:ext cx="10098317" cy="1198405"/>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To stress the ideological shift that is happening in Asian countries at that time.</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69876"/>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To describe about the Seclusion Edict of 1636.</a:t>
            </a:r>
          </a:p>
        </p:txBody>
      </p:sp>
      <p:pic>
        <p:nvPicPr>
          <p:cNvPr id="2" name="Picture 1">
            <a:extLst>
              <a:ext uri="{FF2B5EF4-FFF2-40B4-BE49-F238E27FC236}">
                <a16:creationId xmlns:a16="http://schemas.microsoft.com/office/drawing/2014/main" id="{5D8D5E84-43E8-3CA8-15E7-E93827A14BF9}"/>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28631557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Did all non-European countries show the same kind of response as that of Japan?</a:t>
            </a:r>
            <a:endParaRPr lang="en-US" sz="2500" b="1"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19</a:t>
            </a:r>
          </a:p>
        </p:txBody>
      </p:sp>
      <p:sp>
        <p:nvSpPr>
          <p:cNvPr id="14" name="Rectangle 1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5" name="Rectangle 14">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Yes.</a:t>
            </a:r>
          </a:p>
        </p:txBody>
      </p:sp>
      <p:sp>
        <p:nvSpPr>
          <p:cNvPr id="18" name="Rectangle 17">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a:t>
            </a:r>
          </a:p>
        </p:txBody>
      </p:sp>
      <p:sp>
        <p:nvSpPr>
          <p:cNvPr id="22" name="Rectangle 21">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25" name="Rectangle 24">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6" name="Rectangle 25">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Can’t say.	</a:t>
            </a:r>
          </a:p>
        </p:txBody>
      </p:sp>
      <p:sp>
        <p:nvSpPr>
          <p:cNvPr id="27" name="Rectangle 26">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Hypothetical.</a:t>
            </a:r>
          </a:p>
        </p:txBody>
      </p:sp>
      <p:pic>
        <p:nvPicPr>
          <p:cNvPr id="2" name="Picture 1">
            <a:extLst>
              <a:ext uri="{FF2B5EF4-FFF2-40B4-BE49-F238E27FC236}">
                <a16:creationId xmlns:a16="http://schemas.microsoft.com/office/drawing/2014/main" id="{8F91C90A-46B4-BC9C-950D-EFDDBE780933}"/>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28216807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The countries that were submissive to European suffered from ___________.</a:t>
            </a:r>
            <a:endParaRPr lang="en-US" sz="2500" b="1" dirty="0">
              <a:latin typeface="Nunito Sans" panose="00000500000000000000" pitchFamily="2" charset="0"/>
            </a:endParaRP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20</a:t>
            </a:r>
          </a:p>
        </p:txBody>
      </p:sp>
      <p:sp>
        <p:nvSpPr>
          <p:cNvPr id="14" name="Rectangle 13">
            <a:extLst>
              <a:ext uri="{FF2B5EF4-FFF2-40B4-BE49-F238E27FC236}">
                <a16:creationId xmlns:a16="http://schemas.microsoft.com/office/drawing/2014/main" id="{E5DD2504-B1FF-4F55-B4FA-4AEA19FF2DD8}"/>
              </a:ext>
            </a:extLst>
          </p:cNvPr>
          <p:cNvSpPr/>
          <p:nvPr/>
        </p:nvSpPr>
        <p:spPr>
          <a:xfrm>
            <a:off x="657998" y="28956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5" name="Rectangle 14">
            <a:extLst>
              <a:ext uri="{FF2B5EF4-FFF2-40B4-BE49-F238E27FC236}">
                <a16:creationId xmlns:a16="http://schemas.microsoft.com/office/drawing/2014/main" id="{72143B70-2774-4C1B-BA6C-0E2C89AD6E8B}"/>
              </a:ext>
            </a:extLst>
          </p:cNvPr>
          <p:cNvSpPr/>
          <p:nvPr/>
        </p:nvSpPr>
        <p:spPr>
          <a:xfrm>
            <a:off x="647791" y="34703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116C2E0D-93FB-4ADC-BC2B-83DFED946B7A}"/>
              </a:ext>
            </a:extLst>
          </p:cNvPr>
          <p:cNvSpPr/>
          <p:nvPr/>
        </p:nvSpPr>
        <p:spPr>
          <a:xfrm>
            <a:off x="1456098" y="28956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poverty</a:t>
            </a:r>
          </a:p>
        </p:txBody>
      </p:sp>
      <p:sp>
        <p:nvSpPr>
          <p:cNvPr id="18" name="Rectangle 17">
            <a:extLst>
              <a:ext uri="{FF2B5EF4-FFF2-40B4-BE49-F238E27FC236}">
                <a16:creationId xmlns:a16="http://schemas.microsoft.com/office/drawing/2014/main" id="{F62FDC11-1E2D-428B-8217-CF9104F9B6D7}"/>
              </a:ext>
            </a:extLst>
          </p:cNvPr>
          <p:cNvSpPr/>
          <p:nvPr/>
        </p:nvSpPr>
        <p:spPr>
          <a:xfrm>
            <a:off x="1445891" y="34703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Political stability.</a:t>
            </a:r>
          </a:p>
        </p:txBody>
      </p:sp>
      <p:sp>
        <p:nvSpPr>
          <p:cNvPr id="22" name="Rectangle 21">
            <a:extLst>
              <a:ext uri="{FF2B5EF4-FFF2-40B4-BE49-F238E27FC236}">
                <a16:creationId xmlns:a16="http://schemas.microsoft.com/office/drawing/2014/main" id="{E5DD2504-B1FF-4F55-B4FA-4AEA19FF2DD8}"/>
              </a:ext>
            </a:extLst>
          </p:cNvPr>
          <p:cNvSpPr/>
          <p:nvPr/>
        </p:nvSpPr>
        <p:spPr>
          <a:xfrm>
            <a:off x="657998" y="40476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25" name="Rectangle 24">
            <a:extLst>
              <a:ext uri="{FF2B5EF4-FFF2-40B4-BE49-F238E27FC236}">
                <a16:creationId xmlns:a16="http://schemas.microsoft.com/office/drawing/2014/main" id="{72143B70-2774-4C1B-BA6C-0E2C89AD6E8B}"/>
              </a:ext>
            </a:extLst>
          </p:cNvPr>
          <p:cNvSpPr/>
          <p:nvPr/>
        </p:nvSpPr>
        <p:spPr>
          <a:xfrm>
            <a:off x="647791" y="46224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6" name="Rectangle 25">
            <a:extLst>
              <a:ext uri="{FF2B5EF4-FFF2-40B4-BE49-F238E27FC236}">
                <a16:creationId xmlns:a16="http://schemas.microsoft.com/office/drawing/2014/main" id="{116C2E0D-93FB-4ADC-BC2B-83DFED946B7A}"/>
              </a:ext>
            </a:extLst>
          </p:cNvPr>
          <p:cNvSpPr/>
          <p:nvPr/>
        </p:nvSpPr>
        <p:spPr>
          <a:xfrm>
            <a:off x="1456098" y="40476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Political inequality and protracted underdevelopment.</a:t>
            </a:r>
          </a:p>
        </p:txBody>
      </p:sp>
      <p:sp>
        <p:nvSpPr>
          <p:cNvPr id="27" name="Rectangle 26">
            <a:extLst>
              <a:ext uri="{FF2B5EF4-FFF2-40B4-BE49-F238E27FC236}">
                <a16:creationId xmlns:a16="http://schemas.microsoft.com/office/drawing/2014/main" id="{F62FDC11-1E2D-428B-8217-CF9104F9B6D7}"/>
              </a:ext>
            </a:extLst>
          </p:cNvPr>
          <p:cNvSpPr/>
          <p:nvPr/>
        </p:nvSpPr>
        <p:spPr>
          <a:xfrm>
            <a:off x="1445891" y="46224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pernicious wealth inequality and protracted underdevelopment.</a:t>
            </a:r>
          </a:p>
        </p:txBody>
      </p:sp>
      <p:pic>
        <p:nvPicPr>
          <p:cNvPr id="2" name="Picture 1">
            <a:extLst>
              <a:ext uri="{FF2B5EF4-FFF2-40B4-BE49-F238E27FC236}">
                <a16:creationId xmlns:a16="http://schemas.microsoft.com/office/drawing/2014/main" id="{167797D0-0BF3-4E6F-B8BB-E295C6958436}"/>
              </a:ext>
            </a:extLst>
          </p:cNvPr>
          <p:cNvPicPr>
            <a:picLocks noChangeAspect="1"/>
          </p:cNvPicPr>
          <p:nvPr/>
        </p:nvPicPr>
        <p:blipFill>
          <a:blip r:embed="rId3"/>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122379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2" name="Picture 1">
            <a:extLst>
              <a:ext uri="{FF2B5EF4-FFF2-40B4-BE49-F238E27FC236}">
                <a16:creationId xmlns:a16="http://schemas.microsoft.com/office/drawing/2014/main" id="{FE06BFA5-A6E5-E62B-C0E6-67EAB5004381}"/>
              </a:ext>
            </a:extLst>
          </p:cNvPr>
          <p:cNvPicPr>
            <a:picLocks noChangeAspect="1"/>
          </p:cNvPicPr>
          <p:nvPr/>
        </p:nvPicPr>
        <p:blipFill>
          <a:blip r:embed="rId4"/>
          <a:stretch>
            <a:fillRect/>
          </a:stretch>
        </p:blipFill>
        <p:spPr>
          <a:xfrm>
            <a:off x="9601200" y="6185661"/>
            <a:ext cx="2359356" cy="29873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4253</Words>
  <Application>Microsoft Office PowerPoint</Application>
  <PresentationFormat>Widescreen</PresentationFormat>
  <Paragraphs>371</Paragraphs>
  <Slides>40</Slides>
  <Notes>40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Calibri</vt:lpstr>
      <vt:lpstr>Nunito Sans</vt:lpstr>
      <vt:lpstr>Nunito Sans SemiBold</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2019-07-10T08:30:58Z</dcterms:created>
  <dcterms:modified xsi:type="dcterms:W3CDTF">2025-06-06T07:53:33Z</dcterms:modified>
</cp:coreProperties>
</file>